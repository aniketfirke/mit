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7"/>
  </p:notesMasterIdLst>
  <p:sldIdLst>
    <p:sldId id="256" r:id="rId3"/>
    <p:sldId id="257" r:id="rId4"/>
    <p:sldId id="458" r:id="rId5"/>
    <p:sldId id="411" r:id="rId6"/>
    <p:sldId id="413" r:id="rId7"/>
    <p:sldId id="461" r:id="rId8"/>
    <p:sldId id="327" r:id="rId9"/>
    <p:sldId id="328" r:id="rId10"/>
    <p:sldId id="462" r:id="rId11"/>
    <p:sldId id="259" r:id="rId12"/>
    <p:sldId id="416" r:id="rId13"/>
    <p:sldId id="414" r:id="rId14"/>
    <p:sldId id="418" r:id="rId15"/>
    <p:sldId id="423" r:id="rId16"/>
    <p:sldId id="421" r:id="rId17"/>
    <p:sldId id="326" r:id="rId18"/>
    <p:sldId id="268" r:id="rId19"/>
    <p:sldId id="278" r:id="rId20"/>
    <p:sldId id="309" r:id="rId21"/>
    <p:sldId id="306" r:id="rId22"/>
    <p:sldId id="307" r:id="rId23"/>
    <p:sldId id="279" r:id="rId24"/>
    <p:sldId id="308" r:id="rId25"/>
    <p:sldId id="310" r:id="rId26"/>
    <p:sldId id="311" r:id="rId27"/>
    <p:sldId id="280" r:id="rId28"/>
    <p:sldId id="312" r:id="rId29"/>
    <p:sldId id="313" r:id="rId30"/>
    <p:sldId id="258" r:id="rId31"/>
    <p:sldId id="281" r:id="rId32"/>
    <p:sldId id="465" r:id="rId33"/>
    <p:sldId id="466" r:id="rId34"/>
    <p:sldId id="288" r:id="rId35"/>
    <p:sldId id="282" r:id="rId36"/>
    <p:sldId id="463" r:id="rId37"/>
    <p:sldId id="283" r:id="rId38"/>
    <p:sldId id="284" r:id="rId39"/>
    <p:sldId id="285" r:id="rId40"/>
    <p:sldId id="286" r:id="rId41"/>
    <p:sldId id="287" r:id="rId42"/>
    <p:sldId id="289" r:id="rId43"/>
    <p:sldId id="291" r:id="rId44"/>
    <p:sldId id="503" r:id="rId45"/>
    <p:sldId id="292" r:id="rId46"/>
    <p:sldId id="293" r:id="rId47"/>
    <p:sldId id="303" r:id="rId48"/>
    <p:sldId id="296" r:id="rId49"/>
    <p:sldId id="497" r:id="rId50"/>
    <p:sldId id="298" r:id="rId51"/>
    <p:sldId id="299" r:id="rId52"/>
    <p:sldId id="300" r:id="rId53"/>
    <p:sldId id="301" r:id="rId54"/>
    <p:sldId id="302" r:id="rId55"/>
    <p:sldId id="304" r:id="rId56"/>
    <p:sldId id="305" r:id="rId57"/>
    <p:sldId id="319" r:id="rId58"/>
    <p:sldId id="320" r:id="rId59"/>
    <p:sldId id="496" r:id="rId60"/>
    <p:sldId id="316" r:id="rId61"/>
    <p:sldId id="315" r:id="rId62"/>
    <p:sldId id="317" r:id="rId63"/>
    <p:sldId id="318" r:id="rId64"/>
    <p:sldId id="504" r:id="rId65"/>
    <p:sldId id="467" r:id="rId66"/>
    <p:sldId id="468" r:id="rId67"/>
    <p:sldId id="483" r:id="rId68"/>
    <p:sldId id="323" r:id="rId69"/>
    <p:sldId id="325" r:id="rId70"/>
    <p:sldId id="426" r:id="rId71"/>
    <p:sldId id="499" r:id="rId72"/>
    <p:sldId id="500" r:id="rId73"/>
    <p:sldId id="436" r:id="rId74"/>
    <p:sldId id="508" r:id="rId75"/>
    <p:sldId id="501" r:id="rId76"/>
    <p:sldId id="502" r:id="rId77"/>
    <p:sldId id="431" r:id="rId78"/>
    <p:sldId id="505" r:id="rId79"/>
    <p:sldId id="507" r:id="rId80"/>
    <p:sldId id="509" r:id="rId81"/>
    <p:sldId id="510" r:id="rId82"/>
    <p:sldId id="512" r:id="rId83"/>
    <p:sldId id="513" r:id="rId84"/>
    <p:sldId id="514" r:id="rId85"/>
    <p:sldId id="454"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5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heme" Target="theme/theme1.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microsoft.com/office/2016/11/relationships/changesInfo" Target="changesInfos/changesInfo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et.firke@outlook.com" userId="c4a6b750aa19af50" providerId="LiveId" clId="{98B08D7F-9DDF-4E2A-870C-D46FE2C7C3F0}"/>
    <pc:docChg chg="modSld">
      <pc:chgData name="aniket.firke@outlook.com" userId="c4a6b750aa19af50" providerId="LiveId" clId="{98B08D7F-9DDF-4E2A-870C-D46FE2C7C3F0}" dt="2022-01-17T12:22:30.050" v="92" actId="207"/>
      <pc:docMkLst>
        <pc:docMk/>
      </pc:docMkLst>
      <pc:sldChg chg="modSp mod">
        <pc:chgData name="aniket.firke@outlook.com" userId="c4a6b750aa19af50" providerId="LiveId" clId="{98B08D7F-9DDF-4E2A-870C-D46FE2C7C3F0}" dt="2022-01-17T12:22:30.050" v="92" actId="207"/>
        <pc:sldMkLst>
          <pc:docMk/>
          <pc:sldMk cId="3285344086" sldId="461"/>
        </pc:sldMkLst>
        <pc:spChg chg="mod">
          <ac:chgData name="aniket.firke@outlook.com" userId="c4a6b750aa19af50" providerId="LiveId" clId="{98B08D7F-9DDF-4E2A-870C-D46FE2C7C3F0}" dt="2022-01-17T12:22:30.050" v="92" actId="207"/>
          <ac:spMkLst>
            <pc:docMk/>
            <pc:sldMk cId="3285344086" sldId="461"/>
            <ac:spMk id="2" creationId="{00000000-0000-0000-0000-000000000000}"/>
          </ac:spMkLst>
        </pc:spChg>
        <pc:picChg chg="mod">
          <ac:chgData name="aniket.firke@outlook.com" userId="c4a6b750aa19af50" providerId="LiveId" clId="{98B08D7F-9DDF-4E2A-870C-D46FE2C7C3F0}" dt="2022-01-17T12:21:27.682" v="79" actId="688"/>
          <ac:picMkLst>
            <pc:docMk/>
            <pc:sldMk cId="3285344086" sldId="461"/>
            <ac:picMk id="1027" creationId="{00000000-0000-0000-0000-000000000000}"/>
          </ac:picMkLst>
        </pc:picChg>
      </pc:sldChg>
      <pc:sldChg chg="modSp">
        <pc:chgData name="aniket.firke@outlook.com" userId="c4a6b750aa19af50" providerId="LiveId" clId="{98B08D7F-9DDF-4E2A-870C-D46FE2C7C3F0}" dt="2022-01-17T12:08:05.419" v="17" actId="13926"/>
        <pc:sldMkLst>
          <pc:docMk/>
          <pc:sldMk cId="1317078954" sldId="462"/>
        </pc:sldMkLst>
        <pc:spChg chg="mod">
          <ac:chgData name="aniket.firke@outlook.com" userId="c4a6b750aa19af50" providerId="LiveId" clId="{98B08D7F-9DDF-4E2A-870C-D46FE2C7C3F0}" dt="2022-01-17T12:08:05.419" v="17" actId="13926"/>
          <ac:spMkLst>
            <pc:docMk/>
            <pc:sldMk cId="1317078954" sldId="462"/>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59242-5C03-42DF-AD04-AC4691EEBC7E}" type="datetimeFigureOut">
              <a:rPr lang="en-IN" smtClean="0"/>
              <a:t>17-01-2022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1BD914-A4C2-48C0-A8E0-8078552A23D7}" type="slidenum">
              <a:rPr lang="en-IN" smtClean="0"/>
              <a:t>‹#›</a:t>
            </a:fld>
            <a:endParaRPr lang="en-IN"/>
          </a:p>
        </p:txBody>
      </p:sp>
    </p:spTree>
    <p:extLst>
      <p:ext uri="{BB962C8B-B14F-4D97-AF65-F5344CB8AC3E}">
        <p14:creationId xmlns:p14="http://schemas.microsoft.com/office/powerpoint/2010/main" val="1820051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34E5EC1-1DF7-4B09-89CE-9B7FFA6F3E55}" type="slidenum">
              <a:rPr lang="en-IN" smtClean="0"/>
              <a:t>46</a:t>
            </a:fld>
            <a:endParaRPr lang="en-IN"/>
          </a:p>
        </p:txBody>
      </p:sp>
    </p:spTree>
    <p:extLst>
      <p:ext uri="{BB962C8B-B14F-4D97-AF65-F5344CB8AC3E}">
        <p14:creationId xmlns:p14="http://schemas.microsoft.com/office/powerpoint/2010/main" val="156368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34E5EC1-1DF7-4B09-89CE-9B7FFA6F3E55}" type="slidenum">
              <a:rPr lang="en-IN" smtClean="0"/>
              <a:t>53</a:t>
            </a:fld>
            <a:endParaRPr lang="en-IN"/>
          </a:p>
        </p:txBody>
      </p:sp>
    </p:spTree>
    <p:extLst>
      <p:ext uri="{BB962C8B-B14F-4D97-AF65-F5344CB8AC3E}">
        <p14:creationId xmlns:p14="http://schemas.microsoft.com/office/powerpoint/2010/main" val="3910872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DEE10-F4AA-4F37-B50B-BFFB941EA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885C84-AC8C-4115-B33A-65CC980429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81F293-7B82-483D-B150-7B8FFCA56A78}"/>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a:extLst>
              <a:ext uri="{FF2B5EF4-FFF2-40B4-BE49-F238E27FC236}">
                <a16:creationId xmlns:a16="http://schemas.microsoft.com/office/drawing/2014/main" id="{896C32ED-AD60-4530-AE80-6BB66A176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35DE81-EF27-4ACC-A25C-2C086679DF46}"/>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417940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2D2C9-07D0-4507-9638-3B03275C22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FE54D2-76CE-4945-A449-B40DA5540A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79B94D-AD5A-4D00-AF37-221E2678697A}"/>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a:extLst>
              <a:ext uri="{FF2B5EF4-FFF2-40B4-BE49-F238E27FC236}">
                <a16:creationId xmlns:a16="http://schemas.microsoft.com/office/drawing/2014/main" id="{A61DBC4C-4677-4166-A374-221130E57C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2B0BD1-99CA-4062-907C-1937B4CB0B00}"/>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554226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5A630-A4EF-47A9-9963-19F1618107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3582A5-D227-45ED-8918-073ED9AD44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5C01F1-A875-46C9-948F-170803377D1B}"/>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a:extLst>
              <a:ext uri="{FF2B5EF4-FFF2-40B4-BE49-F238E27FC236}">
                <a16:creationId xmlns:a16="http://schemas.microsoft.com/office/drawing/2014/main" id="{E669ABA9-5E7E-4E05-821B-1A66C5BED6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55C64C-D945-4B2F-841C-CEBD9AD2BA9F}"/>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470039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A4040-0914-4AA5-8005-D4F48F4F39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0F5C6B-F075-490D-8C37-E6EB72CD19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625C32-27FD-475C-8B21-4F40DFF1CE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9CE809-24E9-44AB-8D1E-6C0BF58405EA}"/>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a:extLst>
              <a:ext uri="{FF2B5EF4-FFF2-40B4-BE49-F238E27FC236}">
                <a16:creationId xmlns:a16="http://schemas.microsoft.com/office/drawing/2014/main" id="{65941B25-EFB6-4494-B3A1-F56BE41629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B57A5E-2631-41DA-80DF-6FA0EC4536B7}"/>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426717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8E0F1-76FB-42ED-BA4D-A2CA07E3DF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5DD9F4-5025-4C1F-BF1A-97222F8CAE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77577D-D7F4-4DF9-9205-C0E8F7427F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95C9F1-FD2F-448A-AFD6-4C09AF6E52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0B1996-CB6E-4F4F-9BA4-E5909AED23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05BF75-5DA2-4432-BAD0-AA54E6F04D75}"/>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8" name="Footer Placeholder 7">
            <a:extLst>
              <a:ext uri="{FF2B5EF4-FFF2-40B4-BE49-F238E27FC236}">
                <a16:creationId xmlns:a16="http://schemas.microsoft.com/office/drawing/2014/main" id="{DEEEFFDD-57C3-4D1F-9B3A-8F4766410E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AF06E0-0E8D-4DD4-B084-EC3B8C5CDF7F}"/>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265976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54E76-0DC6-469E-8698-8769CAFF99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699C8B-4FBD-4A8B-89AE-B8EB7454CB1D}"/>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4" name="Footer Placeholder 3">
            <a:extLst>
              <a:ext uri="{FF2B5EF4-FFF2-40B4-BE49-F238E27FC236}">
                <a16:creationId xmlns:a16="http://schemas.microsoft.com/office/drawing/2014/main" id="{ECE95BA5-86CA-446E-924D-953D51CF1C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67A096A-A8EF-4AF5-80E3-9EE6932B8A2F}"/>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4069040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BF699-210C-4BF7-9AE5-0F39D2750756}"/>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3" name="Footer Placeholder 2">
            <a:extLst>
              <a:ext uri="{FF2B5EF4-FFF2-40B4-BE49-F238E27FC236}">
                <a16:creationId xmlns:a16="http://schemas.microsoft.com/office/drawing/2014/main" id="{D6A438DB-B865-4E08-95E8-CAC1D8563BC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14CEF0-DF48-4FC1-8B51-2F2B2597F983}"/>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567624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75F7-BCFE-4BB3-B839-FF29E2EF5A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32622C-FB87-4899-916A-4989BD654B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A1B4851-745F-4337-8480-9451F98B30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10AAF0-A677-4FD9-BDB7-DA6B3550D658}"/>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a:extLst>
              <a:ext uri="{FF2B5EF4-FFF2-40B4-BE49-F238E27FC236}">
                <a16:creationId xmlns:a16="http://schemas.microsoft.com/office/drawing/2014/main" id="{A2FB96AD-0051-479F-AB99-8C907DDD9F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A10727-3808-467E-975F-E1459B7482AA}"/>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761811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67F7-D3F4-4F67-B610-881147427C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463835-C102-450B-A278-E77D9F501C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31193A-F3F5-4D5B-81D5-979A5FC6C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D97A0B-BB5F-449F-868B-DE050D4DEDB1}"/>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a:extLst>
              <a:ext uri="{FF2B5EF4-FFF2-40B4-BE49-F238E27FC236}">
                <a16:creationId xmlns:a16="http://schemas.microsoft.com/office/drawing/2014/main" id="{08D8A458-5C8C-4C3E-A7CD-017957D887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92B7C4-AF1C-4CF4-B768-4D53BE1250C4}"/>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2819694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115AF-F4B0-4811-9405-19C001FDF4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92E9BD-0334-4A4B-9648-82055235AC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261011-ECD7-4F68-B9B8-D04C43EA033C}"/>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a:extLst>
              <a:ext uri="{FF2B5EF4-FFF2-40B4-BE49-F238E27FC236}">
                <a16:creationId xmlns:a16="http://schemas.microsoft.com/office/drawing/2014/main" id="{85043F81-C083-44EF-A3A6-6C7E83E06E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57AAC3-80B1-4EC7-A92A-86D183E6BAF9}"/>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543516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E12907-BBAB-4F8A-8B40-9A39C6AE42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9DAA85-D33A-4288-B774-9C561601DA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6CA3F6-A6F5-42A1-8D67-77154076B85C}"/>
              </a:ext>
            </a:extLst>
          </p:cNvPr>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a:extLst>
              <a:ext uri="{FF2B5EF4-FFF2-40B4-BE49-F238E27FC236}">
                <a16:creationId xmlns:a16="http://schemas.microsoft.com/office/drawing/2014/main" id="{9ABC9F13-F478-4139-A8BA-EE6CCE2B48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3E5C23-D63B-4CD8-88C3-A2754AAFD491}"/>
              </a:ext>
            </a:extLst>
          </p:cNvPr>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923507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437405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494742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2016235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2607087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89DCB1-9819-4CCD-A027-A4E6E929BA5D}" type="datetimeFigureOut">
              <a:rPr lang="en-IN" smtClean="0"/>
              <a:t>17-01-2022</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4246367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89DCB1-9819-4CCD-A027-A4E6E929BA5D}" type="datetimeFigureOut">
              <a:rPr lang="en-IN" smtClean="0"/>
              <a:t>17-01-2022</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7131663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89DCB1-9819-4CCD-A027-A4E6E929BA5D}" type="datetimeFigureOut">
              <a:rPr lang="en-IN" smtClean="0"/>
              <a:t>17-01-2022</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7669057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1913124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6794129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9731809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B9BBDB9-3C43-4ED4-B642-D79DA82D0CB1}"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685120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9759159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B9BBDB9-3C43-4ED4-B642-D79DA82D0CB1}"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228517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F89DCB1-9819-4CCD-A027-A4E6E929BA5D}" type="datetimeFigureOut">
              <a:rPr lang="en-IN" smtClean="0"/>
              <a:t>17-01-2022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38158547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13201961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89DCB1-9819-4CCD-A027-A4E6E929BA5D}" type="datetimeFigureOut">
              <a:rPr lang="en-IN" smtClean="0"/>
              <a:t>17-01-2022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B9BBDB9-3C43-4ED4-B642-D79DA82D0CB1}" type="slidenum">
              <a:rPr lang="en-IN" smtClean="0"/>
              <a:t>‹#›</a:t>
            </a:fld>
            <a:endParaRPr lang="en-IN"/>
          </a:p>
        </p:txBody>
      </p:sp>
    </p:spTree>
    <p:extLst>
      <p:ext uri="{BB962C8B-B14F-4D97-AF65-F5344CB8AC3E}">
        <p14:creationId xmlns:p14="http://schemas.microsoft.com/office/powerpoint/2010/main" val="972408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DF2A01-1F8D-4A82-AF3A-F9E9056D0D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7448D7-4EC6-4171-888D-D0BD3A1AB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8250A0-4B47-4D0F-93C9-A73037F8F4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89DCB1-9819-4CCD-A027-A4E6E929BA5D}" type="datetimeFigureOut">
              <a:rPr lang="en-IN" smtClean="0"/>
              <a:t>17-01-2022</a:t>
            </a:fld>
            <a:endParaRPr lang="en-IN"/>
          </a:p>
        </p:txBody>
      </p:sp>
      <p:sp>
        <p:nvSpPr>
          <p:cNvPr id="5" name="Footer Placeholder 4">
            <a:extLst>
              <a:ext uri="{FF2B5EF4-FFF2-40B4-BE49-F238E27FC236}">
                <a16:creationId xmlns:a16="http://schemas.microsoft.com/office/drawing/2014/main" id="{DE7CD71D-E04A-489E-A9A4-C45711D57D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459D72-15C8-4415-A366-28A0403359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9BBDB9-3C43-4ED4-B642-D79DA82D0CB1}" type="slidenum">
              <a:rPr lang="en-IN" smtClean="0"/>
              <a:t>‹#›</a:t>
            </a:fld>
            <a:endParaRPr lang="en-IN"/>
          </a:p>
        </p:txBody>
      </p:sp>
    </p:spTree>
    <p:extLst>
      <p:ext uri="{BB962C8B-B14F-4D97-AF65-F5344CB8AC3E}">
        <p14:creationId xmlns:p14="http://schemas.microsoft.com/office/powerpoint/2010/main" val="169508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F89DCB1-9819-4CCD-A027-A4E6E929BA5D}" type="datetimeFigureOut">
              <a:rPr lang="en-IN" smtClean="0"/>
              <a:t>17-01-2022</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B9BBDB9-3C43-4ED4-B642-D79DA82D0CB1}" type="slidenum">
              <a:rPr lang="en-IN" smtClean="0"/>
              <a:t>‹#›</a:t>
            </a:fld>
            <a:endParaRPr lang="en-IN"/>
          </a:p>
        </p:txBody>
      </p:sp>
    </p:spTree>
    <p:extLst>
      <p:ext uri="{BB962C8B-B14F-4D97-AF65-F5344CB8AC3E}">
        <p14:creationId xmlns:p14="http://schemas.microsoft.com/office/powerpoint/2010/main" val="2049607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hyperlink" Target="https://www.geeksforgeeks.org/vi-editor-unix/" TargetMode="External"/><Relationship Id="rId2" Type="http://schemas.openxmlformats.org/officeDocument/2006/relationships/hyperlink" Target="https://www.geeksforgeeks.org/sed-command-in-unix/" TargetMode="Externa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B1F8F-3745-4005-8E09-9FB0534D233B}"/>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8201B4F-8822-43D9-8DC5-3F83D6DBC58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30068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 Programming Language</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274134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UNIT 1</a:t>
            </a:r>
            <a:endParaRPr lang="en-IN" dirty="0"/>
          </a:p>
        </p:txBody>
      </p:sp>
      <p:sp>
        <p:nvSpPr>
          <p:cNvPr id="3" name="Subtitle 2"/>
          <p:cNvSpPr>
            <a:spLocks noGrp="1"/>
          </p:cNvSpPr>
          <p:nvPr>
            <p:ph type="subTitle" idx="1"/>
          </p:nvPr>
        </p:nvSpPr>
        <p:spPr/>
        <p:txBody>
          <a:bodyPr/>
          <a:lstStyle/>
          <a:p>
            <a:r>
              <a:rPr lang="en-US" dirty="0"/>
              <a:t>PROCESS OF PROGRAMMING</a:t>
            </a:r>
            <a:endParaRPr lang="en-IN" dirty="0"/>
          </a:p>
        </p:txBody>
      </p:sp>
    </p:spTree>
    <p:extLst>
      <p:ext uri="{BB962C8B-B14F-4D97-AF65-F5344CB8AC3E}">
        <p14:creationId xmlns:p14="http://schemas.microsoft.com/office/powerpoint/2010/main" val="3397457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1026" name="Picture 2" descr="C:\Users\Darshan\AppData\Local\Temp\WhatsApp Image 2021-02-16 at 2.53.41 PM.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6" y="404664"/>
            <a:ext cx="6912768" cy="6120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848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we need a Programming language</a:t>
            </a:r>
            <a:endParaRPr lang="en-IN" dirty="0"/>
          </a:p>
        </p:txBody>
      </p:sp>
      <p:sp>
        <p:nvSpPr>
          <p:cNvPr id="3" name="Content Placeholder 2"/>
          <p:cNvSpPr>
            <a:spLocks noGrp="1"/>
          </p:cNvSpPr>
          <p:nvPr>
            <p:ph idx="1"/>
          </p:nvPr>
        </p:nvSpPr>
        <p:spPr/>
        <p:txBody>
          <a:bodyPr/>
          <a:lstStyle/>
          <a:p>
            <a:r>
              <a:rPr lang="en-IN" dirty="0"/>
              <a:t>For </a:t>
            </a:r>
            <a:r>
              <a:rPr lang="en-IN" b="1" dirty="0"/>
              <a:t>e.g.,</a:t>
            </a:r>
          </a:p>
          <a:p>
            <a:pPr marL="0" indent="0">
              <a:buNone/>
            </a:pPr>
            <a:r>
              <a:rPr lang="en-IN" dirty="0"/>
              <a:t> an activity like </a:t>
            </a:r>
            <a:r>
              <a:rPr lang="en-IN" b="1" dirty="0"/>
              <a:t>send greeting card</a:t>
            </a:r>
            <a:r>
              <a:rPr lang="en-IN" dirty="0"/>
              <a:t> </a:t>
            </a:r>
          </a:p>
          <a:p>
            <a:pPr>
              <a:buFont typeface="Arial" pitchFamily="34" charset="0"/>
              <a:buChar char="•"/>
            </a:pPr>
            <a:r>
              <a:rPr lang="en-IN" dirty="0"/>
              <a:t>It will contain small steps like go to the greeting card shop, choose it, pay for it, write the names and address, go to the post office, buy stamps, affix the stamps and drop the card in the post drop box.</a:t>
            </a:r>
          </a:p>
          <a:p>
            <a:pPr>
              <a:buFont typeface="Arial" pitchFamily="34" charset="0"/>
              <a:buChar char="•"/>
            </a:pPr>
            <a:r>
              <a:rPr lang="en-IN" dirty="0"/>
              <a:t>In this some steps like going to the post office, buying stamps and dropping the card in the post box are </a:t>
            </a:r>
            <a:r>
              <a:rPr lang="en-IN" b="1" dirty="0"/>
              <a:t>time-consuming</a:t>
            </a:r>
            <a:r>
              <a:rPr lang="en-IN" dirty="0"/>
              <a:t> and </a:t>
            </a:r>
            <a:r>
              <a:rPr lang="en-IN" b="1" dirty="0"/>
              <a:t>repetitive</a:t>
            </a:r>
            <a:r>
              <a:rPr lang="en-IN" dirty="0"/>
              <a:t> </a:t>
            </a:r>
          </a:p>
          <a:p>
            <a:endParaRPr lang="en-IN" dirty="0"/>
          </a:p>
        </p:txBody>
      </p:sp>
    </p:spTree>
    <p:extLst>
      <p:ext uri="{BB962C8B-B14F-4D97-AF65-F5344CB8AC3E}">
        <p14:creationId xmlns:p14="http://schemas.microsoft.com/office/powerpoint/2010/main" val="3288553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5408075" cy="1280890"/>
          </a:xfrm>
        </p:spPr>
        <p:txBody>
          <a:bodyPr/>
          <a:lstStyle/>
          <a:p>
            <a:r>
              <a:rPr lang="en-IN" sz="4400" dirty="0">
                <a:solidFill>
                  <a:schemeClr val="accent2"/>
                </a:solidFill>
              </a:rPr>
              <a:t>Computer</a:t>
            </a:r>
            <a:r>
              <a:rPr lang="en-IN" dirty="0"/>
              <a:t> </a:t>
            </a:r>
            <a:r>
              <a:rPr lang="en-IN" dirty="0">
                <a:solidFill>
                  <a:srgbClr val="FFFF00"/>
                </a:solidFill>
              </a:rPr>
              <a:t>Programs</a:t>
            </a:r>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79577" y="1935164"/>
            <a:ext cx="7074361" cy="4734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5344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76672"/>
            <a:ext cx="8229600" cy="1008112"/>
          </a:xfrm>
        </p:spPr>
        <p:txBody>
          <a:bodyPr>
            <a:normAutofit fontScale="90000"/>
          </a:bodyPr>
          <a:lstStyle/>
          <a:p>
            <a:r>
              <a:rPr lang="en-IN" b="1" dirty="0"/>
              <a:t>Computer System</a:t>
            </a:r>
            <a:br>
              <a:rPr lang="en-IN" b="1" dirty="0"/>
            </a:br>
            <a:endParaRPr lang="en-IN" dirty="0"/>
          </a:p>
        </p:txBody>
      </p:sp>
      <p:sp>
        <p:nvSpPr>
          <p:cNvPr id="3" name="Content Placeholder 2"/>
          <p:cNvSpPr>
            <a:spLocks noGrp="1"/>
          </p:cNvSpPr>
          <p:nvPr>
            <p:ph idx="1"/>
          </p:nvPr>
        </p:nvSpPr>
        <p:spPr>
          <a:xfrm>
            <a:off x="1981200" y="908720"/>
            <a:ext cx="8229600" cy="5415880"/>
          </a:xfrm>
        </p:spPr>
        <p:txBody>
          <a:bodyPr/>
          <a:lstStyle/>
          <a:p>
            <a:r>
              <a:rPr lang="en-IN" dirty="0"/>
              <a:t>Computer is basically a group of electronic devices that can accept data, conduct a series of </a:t>
            </a:r>
            <a:r>
              <a:rPr lang="en-IN" b="1" dirty="0"/>
              <a:t>arithmetic and logical operations</a:t>
            </a:r>
            <a:r>
              <a:rPr lang="en-IN" dirty="0"/>
              <a:t> on it and give result of these operations as information that is useful to </a:t>
            </a:r>
            <a:r>
              <a:rPr lang="en-IN"/>
              <a:t>people.</a:t>
            </a:r>
          </a:p>
          <a:p>
            <a:r>
              <a:rPr lang="en-IN"/>
              <a:t>A </a:t>
            </a:r>
            <a:r>
              <a:rPr lang="en-IN" dirty="0"/>
              <a:t>computer system consists of two major components, namely, </a:t>
            </a:r>
            <a:r>
              <a:rPr lang="en-IN" b="1" dirty="0"/>
              <a:t>hardware and software</a:t>
            </a:r>
            <a:r>
              <a:rPr lang="en-IN" dirty="0"/>
              <a:t>.</a:t>
            </a:r>
          </a:p>
          <a:p>
            <a:r>
              <a:rPr lang="en-IN" dirty="0"/>
              <a:t>All physical components that forms computer system are known as </a:t>
            </a:r>
            <a:r>
              <a:rPr lang="en-IN" b="1" dirty="0"/>
              <a:t>computer hardware</a:t>
            </a:r>
            <a:r>
              <a:rPr lang="en-IN" dirty="0"/>
              <a:t>.</a:t>
            </a:r>
          </a:p>
          <a:p>
            <a:r>
              <a:rPr lang="en-IN" dirty="0"/>
              <a:t>Software is basically </a:t>
            </a:r>
            <a:r>
              <a:rPr lang="en-IN" b="1" dirty="0"/>
              <a:t>collection of different programs</a:t>
            </a:r>
            <a:r>
              <a:rPr lang="en-IN" dirty="0"/>
              <a:t> that tells computer’s hardware what to do.</a:t>
            </a:r>
          </a:p>
          <a:p>
            <a:endParaRPr lang="en-IN" dirty="0"/>
          </a:p>
        </p:txBody>
      </p:sp>
    </p:spTree>
    <p:extLst>
      <p:ext uri="{BB962C8B-B14F-4D97-AF65-F5344CB8AC3E}">
        <p14:creationId xmlns:p14="http://schemas.microsoft.com/office/powerpoint/2010/main" val="3255733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Computer Block Diagram</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446245" y="2133600"/>
            <a:ext cx="5201335" cy="37782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528" y="2564905"/>
            <a:ext cx="3810000" cy="3096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1045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32656"/>
            <a:ext cx="8229600" cy="576064"/>
          </a:xfrm>
        </p:spPr>
        <p:txBody>
          <a:bodyPr>
            <a:normAutofit fontScale="90000"/>
          </a:bodyPr>
          <a:lstStyle/>
          <a:p>
            <a:r>
              <a:rPr lang="en-US" dirty="0"/>
              <a:t>Introduction  to Computer</a:t>
            </a:r>
            <a:endParaRPr lang="en-IN" dirty="0"/>
          </a:p>
        </p:txBody>
      </p:sp>
      <p:sp>
        <p:nvSpPr>
          <p:cNvPr id="3" name="Content Placeholder 2"/>
          <p:cNvSpPr>
            <a:spLocks noGrp="1"/>
          </p:cNvSpPr>
          <p:nvPr>
            <p:ph idx="1"/>
          </p:nvPr>
        </p:nvSpPr>
        <p:spPr>
          <a:xfrm>
            <a:off x="1919537" y="1052736"/>
            <a:ext cx="8424935" cy="5505978"/>
          </a:xfrm>
        </p:spPr>
        <p:txBody>
          <a:bodyPr>
            <a:normAutofit/>
          </a:bodyPr>
          <a:lstStyle/>
          <a:p>
            <a:r>
              <a:rPr lang="en-IN" dirty="0"/>
              <a:t>Computer is basically a group of electronic devices that can accept data, conduct a series of </a:t>
            </a:r>
            <a:r>
              <a:rPr lang="en-IN" b="1" dirty="0"/>
              <a:t>arithmetic and logical operations</a:t>
            </a:r>
            <a:r>
              <a:rPr lang="en-IN" dirty="0"/>
              <a:t> on it and give result of these operations as information that is useful to people.</a:t>
            </a:r>
          </a:p>
          <a:p>
            <a:r>
              <a:rPr lang="en-IN" dirty="0"/>
              <a:t>All the modern computers are digital and represents information in binary digits. They represent data using two distinct values. </a:t>
            </a:r>
          </a:p>
          <a:p>
            <a:r>
              <a:rPr lang="en-IN" dirty="0"/>
              <a:t>In binary system we have only </a:t>
            </a:r>
            <a:r>
              <a:rPr lang="en-IN" b="1" dirty="0"/>
              <a:t>two digits (bits) – 0 and 1 </a:t>
            </a:r>
            <a:r>
              <a:rPr lang="en-IN" dirty="0"/>
              <a:t>to represent data. Since the bit is a very small unit, virtually, it cannot convey much information while used single. </a:t>
            </a:r>
          </a:p>
          <a:p>
            <a:r>
              <a:rPr lang="en-IN" dirty="0"/>
              <a:t>Combination of eight bits is called a byte. A byte is the fundamental unit of data representation in computer. A byte can represent one character of data. Modern computers are capable of processing more than one byte at a time.</a:t>
            </a:r>
          </a:p>
          <a:p>
            <a:endParaRPr lang="en-IN" dirty="0"/>
          </a:p>
        </p:txBody>
      </p:sp>
    </p:spTree>
    <p:extLst>
      <p:ext uri="{BB962C8B-B14F-4D97-AF65-F5344CB8AC3E}">
        <p14:creationId xmlns:p14="http://schemas.microsoft.com/office/powerpoint/2010/main" val="131707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04088"/>
            <a:ext cx="8229600" cy="708688"/>
          </a:xfrm>
        </p:spPr>
        <p:txBody>
          <a:bodyPr>
            <a:normAutofit fontScale="90000"/>
          </a:bodyPr>
          <a:lstStyle/>
          <a:p>
            <a:r>
              <a:rPr lang="en-IN" b="1" dirty="0"/>
              <a:t>Programming Languages</a:t>
            </a:r>
            <a:br>
              <a:rPr lang="en-IN" b="1" dirty="0"/>
            </a:br>
            <a:endParaRPr lang="en-IN" dirty="0"/>
          </a:p>
        </p:txBody>
      </p:sp>
      <p:sp>
        <p:nvSpPr>
          <p:cNvPr id="3" name="Content Placeholder 2"/>
          <p:cNvSpPr>
            <a:spLocks noGrp="1"/>
          </p:cNvSpPr>
          <p:nvPr>
            <p:ph idx="1"/>
          </p:nvPr>
        </p:nvSpPr>
        <p:spPr>
          <a:xfrm>
            <a:off x="1703512" y="764704"/>
            <a:ext cx="8856984" cy="5904656"/>
          </a:xfrm>
        </p:spPr>
        <p:txBody>
          <a:bodyPr>
            <a:normAutofit/>
          </a:bodyPr>
          <a:lstStyle/>
          <a:p>
            <a:r>
              <a:rPr lang="en-IN" b="1" dirty="0"/>
              <a:t>Programming languages</a:t>
            </a:r>
            <a:r>
              <a:rPr lang="en-IN" dirty="0"/>
              <a:t> are the basic building blocks for all software, allowing people to tell computers what to do and the means by which software are developed. </a:t>
            </a:r>
          </a:p>
          <a:p>
            <a:endParaRPr lang="en-IN" dirty="0"/>
          </a:p>
          <a:p>
            <a:r>
              <a:rPr lang="en-IN" dirty="0">
                <a:latin typeface="Times New Roman" pitchFamily="18" charset="0"/>
                <a:cs typeface="Times New Roman" pitchFamily="18" charset="0"/>
              </a:rPr>
              <a:t>A </a:t>
            </a:r>
            <a:r>
              <a:rPr lang="en-IN" spc="150" dirty="0">
                <a:latin typeface="Times New Roman" pitchFamily="18" charset="0"/>
                <a:cs typeface="Times New Roman" pitchFamily="18" charset="0"/>
              </a:rPr>
              <a:t>programming language </a:t>
            </a:r>
            <a:r>
              <a:rPr lang="en-IN" spc="110" dirty="0">
                <a:latin typeface="Times New Roman" pitchFamily="18" charset="0"/>
                <a:cs typeface="Times New Roman" pitchFamily="18" charset="0"/>
              </a:rPr>
              <a:t>is </a:t>
            </a:r>
            <a:r>
              <a:rPr lang="en-IN" spc="220" dirty="0">
                <a:latin typeface="Times New Roman" pitchFamily="18" charset="0"/>
                <a:cs typeface="Times New Roman" pitchFamily="18" charset="0"/>
              </a:rPr>
              <a:t>a </a:t>
            </a:r>
            <a:r>
              <a:rPr lang="en-IN" spc="120" dirty="0">
                <a:latin typeface="Times New Roman" pitchFamily="18" charset="0"/>
                <a:cs typeface="Times New Roman" pitchFamily="18" charset="0"/>
              </a:rPr>
              <a:t>formal </a:t>
            </a:r>
            <a:r>
              <a:rPr lang="en-IN" spc="140" dirty="0">
                <a:latin typeface="Times New Roman" pitchFamily="18" charset="0"/>
                <a:cs typeface="Times New Roman" pitchFamily="18" charset="0"/>
              </a:rPr>
              <a:t>computer </a:t>
            </a:r>
            <a:r>
              <a:rPr lang="en-IN" spc="150" dirty="0">
                <a:latin typeface="Times New Roman" pitchFamily="18" charset="0"/>
                <a:cs typeface="Times New Roman" pitchFamily="18" charset="0"/>
              </a:rPr>
              <a:t>language  </a:t>
            </a:r>
            <a:r>
              <a:rPr lang="en-IN" spc="125" dirty="0">
                <a:latin typeface="Times New Roman" pitchFamily="18" charset="0"/>
                <a:cs typeface="Times New Roman" pitchFamily="18" charset="0"/>
              </a:rPr>
              <a:t>designed </a:t>
            </a:r>
            <a:r>
              <a:rPr lang="en-IN" spc="105" dirty="0">
                <a:latin typeface="Times New Roman" pitchFamily="18" charset="0"/>
                <a:cs typeface="Times New Roman" pitchFamily="18" charset="0"/>
              </a:rPr>
              <a:t>to </a:t>
            </a:r>
            <a:r>
              <a:rPr lang="en-IN" spc="135" dirty="0">
                <a:latin typeface="Times New Roman" pitchFamily="18" charset="0"/>
                <a:cs typeface="Times New Roman" pitchFamily="18" charset="0"/>
              </a:rPr>
              <a:t>communicate </a:t>
            </a:r>
            <a:r>
              <a:rPr lang="en-IN" spc="145" dirty="0">
                <a:latin typeface="Times New Roman" pitchFamily="18" charset="0"/>
                <a:cs typeface="Times New Roman" pitchFamily="18" charset="0"/>
              </a:rPr>
              <a:t>instruction </a:t>
            </a:r>
            <a:r>
              <a:rPr lang="en-IN" spc="105" dirty="0">
                <a:latin typeface="Times New Roman" pitchFamily="18" charset="0"/>
                <a:cs typeface="Times New Roman" pitchFamily="18" charset="0"/>
              </a:rPr>
              <a:t>to </a:t>
            </a:r>
            <a:r>
              <a:rPr lang="en-IN" spc="220" dirty="0">
                <a:latin typeface="Times New Roman" pitchFamily="18" charset="0"/>
                <a:cs typeface="Times New Roman" pitchFamily="18" charset="0"/>
              </a:rPr>
              <a:t>a</a:t>
            </a:r>
            <a:r>
              <a:rPr lang="en-IN" spc="-285" dirty="0">
                <a:latin typeface="Times New Roman" pitchFamily="18" charset="0"/>
                <a:cs typeface="Times New Roman" pitchFamily="18" charset="0"/>
              </a:rPr>
              <a:t> </a:t>
            </a:r>
            <a:r>
              <a:rPr lang="en-IN" spc="140" dirty="0">
                <a:latin typeface="Times New Roman" pitchFamily="18" charset="0"/>
                <a:cs typeface="Times New Roman" pitchFamily="18" charset="0"/>
              </a:rPr>
              <a:t>machine, </a:t>
            </a:r>
            <a:r>
              <a:rPr lang="en-IN" spc="145" dirty="0">
                <a:latin typeface="Times New Roman" pitchFamily="18" charset="0"/>
                <a:cs typeface="Times New Roman" pitchFamily="18" charset="0"/>
              </a:rPr>
              <a:t>particularly  </a:t>
            </a:r>
            <a:r>
              <a:rPr lang="en-IN" spc="220" dirty="0">
                <a:latin typeface="Times New Roman" pitchFamily="18" charset="0"/>
                <a:cs typeface="Times New Roman" pitchFamily="18" charset="0"/>
              </a:rPr>
              <a:t>a </a:t>
            </a:r>
            <a:r>
              <a:rPr lang="en-IN" spc="130" dirty="0">
                <a:latin typeface="Times New Roman" pitchFamily="18" charset="0"/>
                <a:cs typeface="Times New Roman" pitchFamily="18" charset="0"/>
              </a:rPr>
              <a:t>computer. </a:t>
            </a:r>
          </a:p>
          <a:p>
            <a:endParaRPr lang="en-IN" spc="130" dirty="0">
              <a:latin typeface="Times New Roman" pitchFamily="18" charset="0"/>
              <a:cs typeface="Times New Roman" pitchFamily="18" charset="0"/>
            </a:endParaRPr>
          </a:p>
          <a:p>
            <a:r>
              <a:rPr lang="en-IN" dirty="0"/>
              <a:t>A programming language or computer language is a standardized communication technique for expressing instructions to a computer. </a:t>
            </a:r>
          </a:p>
          <a:p>
            <a:r>
              <a:rPr lang="en-IN" dirty="0"/>
              <a:t>To communicate with computer, we need to use language which computer can understand and process i.e. programs should be written in computer understandable languages called programming languages. </a:t>
            </a:r>
          </a:p>
          <a:p>
            <a:r>
              <a:rPr lang="en-IN" dirty="0"/>
              <a:t>Programming language consists of a set of characters, symbols and set of rules known as syntax rule. Programmer has to follow all specified rules strictly to get desired results. </a:t>
            </a:r>
          </a:p>
          <a:p>
            <a:r>
              <a:rPr lang="en-IN" dirty="0"/>
              <a:t>In general, programming language is a set of syntactic and semantic rules used to define computer programs.</a:t>
            </a:r>
            <a:endParaRPr lang="en-US" dirty="0"/>
          </a:p>
          <a:p>
            <a:endParaRPr lang="en-IN" dirty="0"/>
          </a:p>
        </p:txBody>
      </p:sp>
    </p:spTree>
    <p:extLst>
      <p:ext uri="{BB962C8B-B14F-4D97-AF65-F5344CB8AC3E}">
        <p14:creationId xmlns:p14="http://schemas.microsoft.com/office/powerpoint/2010/main" val="3561363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91544" y="1412776"/>
            <a:ext cx="7704856"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652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5400" spc="180" dirty="0">
                <a:solidFill>
                  <a:srgbClr val="FF0000"/>
                </a:solidFill>
                <a:latin typeface="Times New Roman"/>
                <a:cs typeface="Times New Roman"/>
              </a:rPr>
              <a:t>What </a:t>
            </a:r>
            <a:r>
              <a:rPr lang="en-IN" sz="5400" spc="105" dirty="0">
                <a:solidFill>
                  <a:srgbClr val="FF0000"/>
                </a:solidFill>
                <a:latin typeface="Times New Roman"/>
                <a:cs typeface="Times New Roman"/>
              </a:rPr>
              <a:t>is</a:t>
            </a:r>
            <a:r>
              <a:rPr lang="en-IN" sz="5400" spc="-240" dirty="0">
                <a:solidFill>
                  <a:srgbClr val="FF0000"/>
                </a:solidFill>
                <a:latin typeface="Times New Roman"/>
                <a:cs typeface="Times New Roman"/>
              </a:rPr>
              <a:t> </a:t>
            </a:r>
            <a:r>
              <a:rPr lang="en-IN" sz="5400" spc="145" dirty="0">
                <a:solidFill>
                  <a:srgbClr val="FF0000"/>
                </a:solidFill>
                <a:latin typeface="Times New Roman"/>
                <a:cs typeface="Times New Roman"/>
              </a:rPr>
              <a:t>Program?</a:t>
            </a:r>
            <a:endParaRPr lang="en-IN" dirty="0"/>
          </a:p>
        </p:txBody>
      </p:sp>
      <p:sp>
        <p:nvSpPr>
          <p:cNvPr id="3" name="Content Placeholder 2"/>
          <p:cNvSpPr>
            <a:spLocks noGrp="1"/>
          </p:cNvSpPr>
          <p:nvPr>
            <p:ph idx="1"/>
          </p:nvPr>
        </p:nvSpPr>
        <p:spPr/>
        <p:txBody>
          <a:bodyPr>
            <a:normAutofit fontScale="92500"/>
          </a:bodyPr>
          <a:lstStyle/>
          <a:p>
            <a:pPr marL="63500" algn="just">
              <a:lnSpc>
                <a:spcPct val="100000"/>
              </a:lnSpc>
              <a:spcBef>
                <a:spcPts val="100"/>
              </a:spcBef>
            </a:pPr>
            <a:r>
              <a:rPr lang="en-IN" sz="3200" u="heavy" spc="110" dirty="0">
                <a:solidFill>
                  <a:srgbClr val="FF0000"/>
                </a:solidFill>
                <a:uFill>
                  <a:solidFill>
                    <a:srgbClr val="FF0000"/>
                  </a:solidFill>
                </a:uFill>
                <a:latin typeface="Times New Roman"/>
                <a:cs typeface="Times New Roman"/>
              </a:rPr>
              <a:t>Definition:-</a:t>
            </a:r>
          </a:p>
          <a:p>
            <a:pPr marL="63500" algn="just">
              <a:lnSpc>
                <a:spcPct val="100000"/>
              </a:lnSpc>
              <a:spcBef>
                <a:spcPts val="100"/>
              </a:spcBef>
            </a:pPr>
            <a:endParaRPr lang="en-IN" sz="3200" u="heavy" spc="110" dirty="0">
              <a:solidFill>
                <a:srgbClr val="FF0000"/>
              </a:solidFill>
              <a:uFill>
                <a:solidFill>
                  <a:srgbClr val="FF0000"/>
                </a:solidFill>
              </a:uFill>
              <a:latin typeface="Times New Roman"/>
              <a:cs typeface="Times New Roman"/>
            </a:endParaRPr>
          </a:p>
          <a:p>
            <a:pPr marL="336550" marR="55880" indent="514350" algn="just">
              <a:spcBef>
                <a:spcPts val="600"/>
              </a:spcBef>
            </a:pPr>
            <a:r>
              <a:rPr lang="en-IN" dirty="0"/>
              <a:t>A </a:t>
            </a:r>
            <a:r>
              <a:rPr lang="en-IN" i="1" dirty="0"/>
              <a:t>computer program</a:t>
            </a:r>
            <a:r>
              <a:rPr lang="en-IN" dirty="0"/>
              <a:t> is a collection of data and instructions that can be executed by a </a:t>
            </a:r>
            <a:r>
              <a:rPr lang="en-IN" i="1" dirty="0"/>
              <a:t>computer</a:t>
            </a:r>
            <a:r>
              <a:rPr lang="en-IN" dirty="0"/>
              <a:t> to perform a specific task. </a:t>
            </a:r>
          </a:p>
          <a:p>
            <a:pPr marL="336550" marR="55880" indent="514350" algn="just">
              <a:lnSpc>
                <a:spcPct val="100000"/>
              </a:lnSpc>
              <a:spcBef>
                <a:spcPts val="600"/>
              </a:spcBef>
            </a:pPr>
            <a:r>
              <a:rPr lang="en-IN" dirty="0">
                <a:latin typeface="Times New Roman"/>
                <a:cs typeface="Times New Roman"/>
              </a:rPr>
              <a:t>A </a:t>
            </a:r>
            <a:r>
              <a:rPr lang="en-IN" spc="140" dirty="0">
                <a:latin typeface="Times New Roman"/>
                <a:cs typeface="Times New Roman"/>
              </a:rPr>
              <a:t>computer </a:t>
            </a:r>
            <a:r>
              <a:rPr lang="en-IN" spc="155" dirty="0">
                <a:latin typeface="Times New Roman"/>
                <a:cs typeface="Times New Roman"/>
              </a:rPr>
              <a:t>program </a:t>
            </a:r>
            <a:r>
              <a:rPr lang="en-IN" spc="105" dirty="0">
                <a:latin typeface="Times New Roman"/>
                <a:cs typeface="Times New Roman"/>
              </a:rPr>
              <a:t>is </a:t>
            </a:r>
            <a:r>
              <a:rPr lang="en-IN" spc="220" dirty="0">
                <a:latin typeface="Times New Roman"/>
                <a:cs typeface="Times New Roman"/>
              </a:rPr>
              <a:t>a </a:t>
            </a:r>
            <a:r>
              <a:rPr lang="en-IN" spc="75" dirty="0">
                <a:latin typeface="Times New Roman"/>
                <a:cs typeface="Times New Roman"/>
              </a:rPr>
              <a:t>collection </a:t>
            </a:r>
            <a:r>
              <a:rPr lang="en-IN" dirty="0">
                <a:latin typeface="Times New Roman"/>
                <a:cs typeface="Times New Roman"/>
              </a:rPr>
              <a:t>of </a:t>
            </a:r>
            <a:r>
              <a:rPr lang="en-IN" spc="145" dirty="0">
                <a:latin typeface="Times New Roman"/>
                <a:cs typeface="Times New Roman"/>
              </a:rPr>
              <a:t>instructions </a:t>
            </a:r>
            <a:r>
              <a:rPr lang="en-IN" spc="220" dirty="0">
                <a:latin typeface="Times New Roman"/>
                <a:cs typeface="Times New Roman"/>
              </a:rPr>
              <a:t>that  </a:t>
            </a:r>
            <a:r>
              <a:rPr lang="en-IN" spc="130" dirty="0">
                <a:latin typeface="Times New Roman"/>
                <a:cs typeface="Times New Roman"/>
              </a:rPr>
              <a:t>performs </a:t>
            </a:r>
            <a:r>
              <a:rPr lang="en-IN" spc="220" dirty="0">
                <a:latin typeface="Times New Roman"/>
                <a:cs typeface="Times New Roman"/>
              </a:rPr>
              <a:t>a </a:t>
            </a:r>
            <a:r>
              <a:rPr lang="en-IN" spc="70" dirty="0">
                <a:latin typeface="Times New Roman"/>
                <a:cs typeface="Times New Roman"/>
              </a:rPr>
              <a:t>specific </a:t>
            </a:r>
            <a:r>
              <a:rPr lang="en-IN" spc="190" dirty="0">
                <a:latin typeface="Times New Roman"/>
                <a:cs typeface="Times New Roman"/>
              </a:rPr>
              <a:t>task </a:t>
            </a:r>
            <a:r>
              <a:rPr lang="en-IN" spc="165" dirty="0">
                <a:latin typeface="Times New Roman"/>
                <a:cs typeface="Times New Roman"/>
              </a:rPr>
              <a:t>when </a:t>
            </a:r>
            <a:r>
              <a:rPr lang="en-IN" spc="125" dirty="0">
                <a:latin typeface="Times New Roman"/>
                <a:cs typeface="Times New Roman"/>
              </a:rPr>
              <a:t>executed </a:t>
            </a:r>
            <a:r>
              <a:rPr lang="en-IN" spc="95" dirty="0">
                <a:latin typeface="Times New Roman"/>
                <a:cs typeface="Times New Roman"/>
              </a:rPr>
              <a:t>by </a:t>
            </a:r>
            <a:r>
              <a:rPr lang="en-IN" spc="220" dirty="0">
                <a:latin typeface="Times New Roman"/>
                <a:cs typeface="Times New Roman"/>
              </a:rPr>
              <a:t>a </a:t>
            </a:r>
            <a:r>
              <a:rPr lang="en-IN" spc="130" dirty="0">
                <a:latin typeface="Times New Roman"/>
                <a:cs typeface="Times New Roman"/>
              </a:rPr>
              <a:t>computer.</a:t>
            </a:r>
          </a:p>
          <a:p>
            <a:pPr marL="336550" marR="55880" indent="514350" algn="just">
              <a:lnSpc>
                <a:spcPct val="100000"/>
              </a:lnSpc>
              <a:spcBef>
                <a:spcPts val="600"/>
              </a:spcBef>
            </a:pPr>
            <a:r>
              <a:rPr lang="en-IN" dirty="0"/>
              <a:t>A </a:t>
            </a:r>
            <a:r>
              <a:rPr lang="en-IN" i="1" dirty="0"/>
              <a:t>computer program</a:t>
            </a:r>
            <a:r>
              <a:rPr lang="en-IN" dirty="0"/>
              <a:t> is usually written by a </a:t>
            </a:r>
            <a:r>
              <a:rPr lang="en-IN" i="1" dirty="0"/>
              <a:t>computer</a:t>
            </a:r>
            <a:r>
              <a:rPr lang="en-IN" dirty="0"/>
              <a:t> programmer in a </a:t>
            </a:r>
            <a:r>
              <a:rPr lang="en-IN" i="1" dirty="0"/>
              <a:t>programming</a:t>
            </a:r>
            <a:r>
              <a:rPr lang="en-IN" dirty="0"/>
              <a:t> language</a:t>
            </a:r>
          </a:p>
          <a:p>
            <a:pPr marL="336550" marR="55880" indent="514350" algn="just">
              <a:lnSpc>
                <a:spcPct val="100000"/>
              </a:lnSpc>
              <a:spcBef>
                <a:spcPts val="600"/>
              </a:spcBef>
            </a:pPr>
            <a:r>
              <a:rPr lang="en-IN" dirty="0"/>
              <a:t>A </a:t>
            </a:r>
            <a:r>
              <a:rPr lang="en-IN" i="1" dirty="0"/>
              <a:t>computer program</a:t>
            </a:r>
            <a:r>
              <a:rPr lang="en-IN" dirty="0"/>
              <a:t> is a list of instructions that tell a </a:t>
            </a:r>
            <a:r>
              <a:rPr lang="en-IN" i="1" dirty="0"/>
              <a:t>computer</a:t>
            </a:r>
            <a:r>
              <a:rPr lang="en-IN" dirty="0"/>
              <a:t> what to do</a:t>
            </a:r>
          </a:p>
          <a:p>
            <a:pPr marL="336550" marR="55880" indent="514350" algn="just">
              <a:lnSpc>
                <a:spcPct val="100000"/>
              </a:lnSpc>
              <a:spcBef>
                <a:spcPts val="600"/>
              </a:spcBef>
            </a:pPr>
            <a:r>
              <a:rPr lang="en-IN" dirty="0">
                <a:latin typeface="Times New Roman"/>
                <a:cs typeface="Times New Roman"/>
              </a:rPr>
              <a:t>A </a:t>
            </a:r>
            <a:r>
              <a:rPr lang="en-IN" spc="140" dirty="0">
                <a:latin typeface="Times New Roman"/>
                <a:cs typeface="Times New Roman"/>
              </a:rPr>
              <a:t>computer </a:t>
            </a:r>
            <a:r>
              <a:rPr lang="en-IN" spc="150" dirty="0">
                <a:latin typeface="Times New Roman"/>
                <a:cs typeface="Times New Roman"/>
              </a:rPr>
              <a:t>requires </a:t>
            </a:r>
            <a:r>
              <a:rPr lang="en-IN" spc="155" dirty="0">
                <a:latin typeface="Times New Roman"/>
                <a:cs typeface="Times New Roman"/>
              </a:rPr>
              <a:t>programs </a:t>
            </a:r>
            <a:r>
              <a:rPr lang="en-IN" spc="105" dirty="0">
                <a:latin typeface="Times New Roman"/>
                <a:cs typeface="Times New Roman"/>
              </a:rPr>
              <a:t>to </a:t>
            </a:r>
            <a:r>
              <a:rPr lang="en-IN" spc="110" dirty="0">
                <a:latin typeface="Times New Roman"/>
                <a:cs typeface="Times New Roman"/>
              </a:rPr>
              <a:t>function, </a:t>
            </a:r>
            <a:r>
              <a:rPr lang="en-IN" spc="190" dirty="0">
                <a:latin typeface="Times New Roman"/>
                <a:cs typeface="Times New Roman"/>
              </a:rPr>
              <a:t>and </a:t>
            </a:r>
            <a:r>
              <a:rPr lang="en-IN" spc="105" dirty="0">
                <a:latin typeface="Times New Roman"/>
                <a:cs typeface="Times New Roman"/>
              </a:rPr>
              <a:t>typically</a:t>
            </a:r>
            <a:r>
              <a:rPr lang="en-IN" spc="-165" dirty="0">
                <a:latin typeface="Times New Roman"/>
                <a:cs typeface="Times New Roman"/>
              </a:rPr>
              <a:t> </a:t>
            </a:r>
            <a:r>
              <a:rPr lang="en-IN" spc="125" dirty="0">
                <a:latin typeface="Times New Roman"/>
                <a:cs typeface="Times New Roman"/>
              </a:rPr>
              <a:t>executes  </a:t>
            </a:r>
            <a:r>
              <a:rPr lang="en-IN" spc="180" dirty="0">
                <a:latin typeface="Times New Roman"/>
                <a:cs typeface="Times New Roman"/>
              </a:rPr>
              <a:t>the</a:t>
            </a:r>
            <a:r>
              <a:rPr lang="en-IN" spc="75" dirty="0">
                <a:latin typeface="Times New Roman"/>
                <a:cs typeface="Times New Roman"/>
              </a:rPr>
              <a:t> </a:t>
            </a:r>
            <a:r>
              <a:rPr lang="en-IN" spc="140" dirty="0">
                <a:latin typeface="Times New Roman"/>
                <a:cs typeface="Times New Roman"/>
              </a:rPr>
              <a:t>program's</a:t>
            </a:r>
            <a:r>
              <a:rPr lang="en-IN" spc="45" dirty="0">
                <a:latin typeface="Times New Roman"/>
                <a:cs typeface="Times New Roman"/>
              </a:rPr>
              <a:t> </a:t>
            </a:r>
            <a:r>
              <a:rPr lang="en-IN" spc="145" dirty="0">
                <a:latin typeface="Times New Roman"/>
                <a:cs typeface="Times New Roman"/>
              </a:rPr>
              <a:t>instructions</a:t>
            </a:r>
            <a:r>
              <a:rPr lang="en-IN" spc="45" dirty="0">
                <a:latin typeface="Times New Roman"/>
                <a:cs typeface="Times New Roman"/>
              </a:rPr>
              <a:t> </a:t>
            </a:r>
            <a:r>
              <a:rPr lang="en-IN" spc="150" dirty="0">
                <a:latin typeface="Times New Roman"/>
                <a:cs typeface="Times New Roman"/>
              </a:rPr>
              <a:t>in</a:t>
            </a:r>
            <a:r>
              <a:rPr lang="en-IN" spc="45" dirty="0">
                <a:latin typeface="Times New Roman"/>
                <a:cs typeface="Times New Roman"/>
              </a:rPr>
              <a:t> </a:t>
            </a:r>
            <a:r>
              <a:rPr lang="en-IN" spc="220" dirty="0">
                <a:latin typeface="Times New Roman"/>
                <a:cs typeface="Times New Roman"/>
              </a:rPr>
              <a:t>a</a:t>
            </a:r>
            <a:r>
              <a:rPr lang="en-IN" spc="60" dirty="0">
                <a:latin typeface="Times New Roman"/>
                <a:cs typeface="Times New Roman"/>
              </a:rPr>
              <a:t> </a:t>
            </a:r>
            <a:r>
              <a:rPr lang="en-IN" spc="150" dirty="0">
                <a:latin typeface="Times New Roman"/>
                <a:cs typeface="Times New Roman"/>
              </a:rPr>
              <a:t>central</a:t>
            </a:r>
            <a:r>
              <a:rPr lang="en-IN" spc="50" dirty="0">
                <a:latin typeface="Times New Roman"/>
                <a:cs typeface="Times New Roman"/>
              </a:rPr>
              <a:t> </a:t>
            </a:r>
            <a:r>
              <a:rPr lang="en-IN" spc="110" dirty="0">
                <a:latin typeface="Times New Roman"/>
                <a:cs typeface="Times New Roman"/>
              </a:rPr>
              <a:t>processing</a:t>
            </a:r>
            <a:r>
              <a:rPr lang="en-IN" spc="55" dirty="0">
                <a:latin typeface="Times New Roman"/>
                <a:cs typeface="Times New Roman"/>
              </a:rPr>
              <a:t> </a:t>
            </a:r>
            <a:r>
              <a:rPr lang="en-IN" spc="155" dirty="0">
                <a:latin typeface="Times New Roman"/>
                <a:cs typeface="Times New Roman"/>
              </a:rPr>
              <a:t>unit.</a:t>
            </a:r>
            <a:endParaRPr lang="en-IN" dirty="0">
              <a:latin typeface="Times New Roman"/>
              <a:cs typeface="Times New Roman"/>
            </a:endParaRPr>
          </a:p>
          <a:p>
            <a:endParaRPr lang="en-IN" dirty="0"/>
          </a:p>
        </p:txBody>
      </p:sp>
    </p:spTree>
    <p:extLst>
      <p:ext uri="{BB962C8B-B14F-4D97-AF65-F5344CB8AC3E}">
        <p14:creationId xmlns:p14="http://schemas.microsoft.com/office/powerpoint/2010/main" val="1038767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History of c language</a:t>
            </a:r>
            <a:endParaRPr lang="en-IN" dirty="0"/>
          </a:p>
        </p:txBody>
      </p:sp>
      <p:sp>
        <p:nvSpPr>
          <p:cNvPr id="3" name="Content Placeholder 2"/>
          <p:cNvSpPr>
            <a:spLocks noGrp="1"/>
          </p:cNvSpPr>
          <p:nvPr>
            <p:ph idx="1"/>
          </p:nvPr>
        </p:nvSpPr>
        <p:spPr/>
        <p:txBody>
          <a:bodyPr/>
          <a:lstStyle/>
          <a:p>
            <a:pPr>
              <a:spcBef>
                <a:spcPts val="600"/>
              </a:spcBef>
              <a:buClr>
                <a:srgbClr val="B13F9A"/>
              </a:buClr>
              <a:buSzPct val="73000"/>
              <a:buFont typeface="Wingdings" pitchFamily="2" charset="2"/>
              <a:buChar char="Ø"/>
            </a:pPr>
            <a:r>
              <a:rPr lang="en-US" dirty="0">
                <a:solidFill>
                  <a:prstClr val="black"/>
                </a:solidFill>
                <a:latin typeface="Trebuchet MS"/>
              </a:rPr>
              <a:t>C programming language was developed in 1972 by Dennis Ritchie at bell laboratories of AT&amp;T(American Telephone &amp; Telegraph), located in U.S.A.</a:t>
            </a:r>
          </a:p>
          <a:p>
            <a:pPr>
              <a:spcBef>
                <a:spcPts val="600"/>
              </a:spcBef>
              <a:buClr>
                <a:srgbClr val="B13F9A"/>
              </a:buClr>
              <a:buSzPct val="73000"/>
              <a:buFont typeface="Wingdings" pitchFamily="2" charset="2"/>
              <a:buChar char="Ø"/>
            </a:pPr>
            <a:r>
              <a:rPr lang="en-US" dirty="0">
                <a:solidFill>
                  <a:prstClr val="black"/>
                </a:solidFill>
                <a:latin typeface="Trebuchet MS"/>
              </a:rPr>
              <a:t>Dennis Ritchie is known as founder of c language.</a:t>
            </a:r>
          </a:p>
          <a:p>
            <a:pPr>
              <a:spcBef>
                <a:spcPts val="600"/>
              </a:spcBef>
              <a:buClr>
                <a:srgbClr val="B13F9A"/>
              </a:buClr>
              <a:buSzPct val="73000"/>
              <a:buFont typeface="Wingdings" pitchFamily="2" charset="2"/>
              <a:buChar char="Ø"/>
            </a:pPr>
            <a:r>
              <a:rPr lang="en-US" dirty="0">
                <a:solidFill>
                  <a:prstClr val="black"/>
                </a:solidFill>
                <a:latin typeface="Trebuchet MS"/>
              </a:rPr>
              <a:t>It was developed to be used in UNIX Operating system.</a:t>
            </a:r>
          </a:p>
          <a:p>
            <a:pPr>
              <a:spcBef>
                <a:spcPts val="600"/>
              </a:spcBef>
              <a:buClr>
                <a:srgbClr val="B13F9A"/>
              </a:buClr>
              <a:buSzPct val="73000"/>
              <a:buFont typeface="Wingdings" pitchFamily="2" charset="2"/>
              <a:buChar char="Ø"/>
            </a:pPr>
            <a:r>
              <a:rPr lang="en-US" dirty="0">
                <a:solidFill>
                  <a:prstClr val="black"/>
                </a:solidFill>
                <a:latin typeface="Trebuchet MS"/>
              </a:rPr>
              <a:t>It inherits many features of previous languages such as B and BPCL.</a:t>
            </a:r>
          </a:p>
          <a:p>
            <a:endParaRPr lang="en-IN" dirty="0"/>
          </a:p>
        </p:txBody>
      </p:sp>
      <p:pic>
        <p:nvPicPr>
          <p:cNvPr id="4" name="Picture 3" descr="dennis_ritchie.jpg"/>
          <p:cNvPicPr>
            <a:picLocks noChangeAspect="1"/>
          </p:cNvPicPr>
          <p:nvPr/>
        </p:nvPicPr>
        <p:blipFill>
          <a:blip r:embed="rId2"/>
          <a:stretch>
            <a:fillRect/>
          </a:stretch>
        </p:blipFill>
        <p:spPr>
          <a:xfrm>
            <a:off x="8472265" y="188640"/>
            <a:ext cx="1952625" cy="1988840"/>
          </a:xfrm>
          <a:prstGeom prst="rect">
            <a:avLst/>
          </a:prstGeom>
        </p:spPr>
      </p:pic>
    </p:spTree>
    <p:extLst>
      <p:ext uri="{BB962C8B-B14F-4D97-AF65-F5344CB8AC3E}">
        <p14:creationId xmlns:p14="http://schemas.microsoft.com/office/powerpoint/2010/main" val="1380207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History of c programming</a:t>
            </a:r>
            <a:endParaRPr lang="en-IN" dirty="0"/>
          </a:p>
        </p:txBody>
      </p:sp>
      <p:sp>
        <p:nvSpPr>
          <p:cNvPr id="3" name="Content Placeholder 2"/>
          <p:cNvSpPr>
            <a:spLocks noGrp="1"/>
          </p:cNvSpPr>
          <p:nvPr>
            <p:ph idx="1"/>
          </p:nvPr>
        </p:nvSpPr>
        <p:spPr/>
        <p:txBody>
          <a:bodyPr/>
          <a:lstStyle/>
          <a:p>
            <a:endParaRPr lang="en-US" dirty="0"/>
          </a:p>
          <a:p>
            <a:endParaRPr lang="en-IN" dirty="0"/>
          </a:p>
        </p:txBody>
      </p:sp>
      <p:graphicFrame>
        <p:nvGraphicFramePr>
          <p:cNvPr id="4" name="Table 3"/>
          <p:cNvGraphicFramePr>
            <a:graphicFrameLocks noGrp="1"/>
          </p:cNvGraphicFramePr>
          <p:nvPr/>
        </p:nvGraphicFramePr>
        <p:xfrm>
          <a:off x="1981201" y="1935165"/>
          <a:ext cx="7931223" cy="4446162"/>
        </p:xfrm>
        <a:graphic>
          <a:graphicData uri="http://schemas.openxmlformats.org/drawingml/2006/table">
            <a:tbl>
              <a:tblPr firstRow="1" bandRow="1"/>
              <a:tblGrid>
                <a:gridCol w="2643741">
                  <a:extLst>
                    <a:ext uri="{9D8B030D-6E8A-4147-A177-3AD203B41FA5}">
                      <a16:colId xmlns:a16="http://schemas.microsoft.com/office/drawing/2014/main" val="20000"/>
                    </a:ext>
                  </a:extLst>
                </a:gridCol>
                <a:gridCol w="2643741">
                  <a:extLst>
                    <a:ext uri="{9D8B030D-6E8A-4147-A177-3AD203B41FA5}">
                      <a16:colId xmlns:a16="http://schemas.microsoft.com/office/drawing/2014/main" val="20001"/>
                    </a:ext>
                  </a:extLst>
                </a:gridCol>
                <a:gridCol w="2643741">
                  <a:extLst>
                    <a:ext uri="{9D8B030D-6E8A-4147-A177-3AD203B41FA5}">
                      <a16:colId xmlns:a16="http://schemas.microsoft.com/office/drawing/2014/main" val="20002"/>
                    </a:ext>
                  </a:extLst>
                </a:gridCol>
              </a:tblGrid>
              <a:tr h="413070">
                <a:tc>
                  <a:txBody>
                    <a:bodyPr/>
                    <a:lstStyle>
                      <a:lvl1pPr marL="0" algn="l" rtl="0" eaLnBrk="1" latinLnBrk="0" hangingPunct="1">
                        <a:defRPr kumimoji="0" b="1" kern="1200">
                          <a:solidFill>
                            <a:schemeClr val="lt1"/>
                          </a:solidFill>
                          <a:latin typeface="Trebuchet MS"/>
                        </a:defRPr>
                      </a:lvl1pPr>
                      <a:lvl2pPr marL="457200" algn="l" rtl="0" eaLnBrk="1" latinLnBrk="0" hangingPunct="1">
                        <a:defRPr kumimoji="0" b="1" kern="1200">
                          <a:solidFill>
                            <a:schemeClr val="lt1"/>
                          </a:solidFill>
                          <a:latin typeface="Trebuchet MS"/>
                        </a:defRPr>
                      </a:lvl2pPr>
                      <a:lvl3pPr marL="914400" algn="l" rtl="0" eaLnBrk="1" latinLnBrk="0" hangingPunct="1">
                        <a:defRPr kumimoji="0" b="1" kern="1200">
                          <a:solidFill>
                            <a:schemeClr val="lt1"/>
                          </a:solidFill>
                          <a:latin typeface="Trebuchet MS"/>
                        </a:defRPr>
                      </a:lvl3pPr>
                      <a:lvl4pPr marL="1371600" algn="l" rtl="0" eaLnBrk="1" latinLnBrk="0" hangingPunct="1">
                        <a:defRPr kumimoji="0" b="1" kern="1200">
                          <a:solidFill>
                            <a:schemeClr val="lt1"/>
                          </a:solidFill>
                          <a:latin typeface="Trebuchet MS"/>
                        </a:defRPr>
                      </a:lvl4pPr>
                      <a:lvl5pPr marL="1828800" algn="l" rtl="0" eaLnBrk="1" latinLnBrk="0" hangingPunct="1">
                        <a:defRPr kumimoji="0" b="1" kern="1200">
                          <a:solidFill>
                            <a:schemeClr val="lt1"/>
                          </a:solidFill>
                          <a:latin typeface="Trebuchet MS"/>
                        </a:defRPr>
                      </a:lvl5pPr>
                      <a:lvl6pPr marL="2286000" algn="l" rtl="0" eaLnBrk="1" latinLnBrk="0" hangingPunct="1">
                        <a:defRPr kumimoji="0" b="1" kern="1200">
                          <a:solidFill>
                            <a:schemeClr val="lt1"/>
                          </a:solidFill>
                          <a:latin typeface="Trebuchet MS"/>
                        </a:defRPr>
                      </a:lvl6pPr>
                      <a:lvl7pPr marL="2743200" algn="l" rtl="0" eaLnBrk="1" latinLnBrk="0" hangingPunct="1">
                        <a:defRPr kumimoji="0" b="1" kern="1200">
                          <a:solidFill>
                            <a:schemeClr val="lt1"/>
                          </a:solidFill>
                          <a:latin typeface="Trebuchet MS"/>
                        </a:defRPr>
                      </a:lvl7pPr>
                      <a:lvl8pPr marL="3200400" algn="l" rtl="0" eaLnBrk="1" latinLnBrk="0" hangingPunct="1">
                        <a:defRPr kumimoji="0" b="1" kern="1200">
                          <a:solidFill>
                            <a:schemeClr val="lt1"/>
                          </a:solidFill>
                          <a:latin typeface="Trebuchet MS"/>
                        </a:defRPr>
                      </a:lvl8pPr>
                      <a:lvl9pPr marL="3657600" algn="l" rtl="0" eaLnBrk="1" latinLnBrk="0" hangingPunct="1">
                        <a:defRPr kumimoji="0" b="1" kern="1200">
                          <a:solidFill>
                            <a:schemeClr val="lt1"/>
                          </a:solidFill>
                          <a:latin typeface="Trebuchet MS"/>
                        </a:defRPr>
                      </a:lvl9pPr>
                    </a:lstStyle>
                    <a:p>
                      <a:r>
                        <a:rPr lang="en-US" dirty="0"/>
                        <a:t>Language</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B83D68"/>
                    </a:solidFill>
                  </a:tcPr>
                </a:tc>
                <a:tc>
                  <a:txBody>
                    <a:bodyPr/>
                    <a:lstStyle>
                      <a:lvl1pPr marL="0" algn="l" rtl="0" eaLnBrk="1" latinLnBrk="0" hangingPunct="1">
                        <a:defRPr kumimoji="0" b="1" kern="1200">
                          <a:solidFill>
                            <a:schemeClr val="lt1"/>
                          </a:solidFill>
                          <a:latin typeface="Trebuchet MS"/>
                        </a:defRPr>
                      </a:lvl1pPr>
                      <a:lvl2pPr marL="457200" algn="l" rtl="0" eaLnBrk="1" latinLnBrk="0" hangingPunct="1">
                        <a:defRPr kumimoji="0" b="1" kern="1200">
                          <a:solidFill>
                            <a:schemeClr val="lt1"/>
                          </a:solidFill>
                          <a:latin typeface="Trebuchet MS"/>
                        </a:defRPr>
                      </a:lvl2pPr>
                      <a:lvl3pPr marL="914400" algn="l" rtl="0" eaLnBrk="1" latinLnBrk="0" hangingPunct="1">
                        <a:defRPr kumimoji="0" b="1" kern="1200">
                          <a:solidFill>
                            <a:schemeClr val="lt1"/>
                          </a:solidFill>
                          <a:latin typeface="Trebuchet MS"/>
                        </a:defRPr>
                      </a:lvl3pPr>
                      <a:lvl4pPr marL="1371600" algn="l" rtl="0" eaLnBrk="1" latinLnBrk="0" hangingPunct="1">
                        <a:defRPr kumimoji="0" b="1" kern="1200">
                          <a:solidFill>
                            <a:schemeClr val="lt1"/>
                          </a:solidFill>
                          <a:latin typeface="Trebuchet MS"/>
                        </a:defRPr>
                      </a:lvl4pPr>
                      <a:lvl5pPr marL="1828800" algn="l" rtl="0" eaLnBrk="1" latinLnBrk="0" hangingPunct="1">
                        <a:defRPr kumimoji="0" b="1" kern="1200">
                          <a:solidFill>
                            <a:schemeClr val="lt1"/>
                          </a:solidFill>
                          <a:latin typeface="Trebuchet MS"/>
                        </a:defRPr>
                      </a:lvl5pPr>
                      <a:lvl6pPr marL="2286000" algn="l" rtl="0" eaLnBrk="1" latinLnBrk="0" hangingPunct="1">
                        <a:defRPr kumimoji="0" b="1" kern="1200">
                          <a:solidFill>
                            <a:schemeClr val="lt1"/>
                          </a:solidFill>
                          <a:latin typeface="Trebuchet MS"/>
                        </a:defRPr>
                      </a:lvl6pPr>
                      <a:lvl7pPr marL="2743200" algn="l" rtl="0" eaLnBrk="1" latinLnBrk="0" hangingPunct="1">
                        <a:defRPr kumimoji="0" b="1" kern="1200">
                          <a:solidFill>
                            <a:schemeClr val="lt1"/>
                          </a:solidFill>
                          <a:latin typeface="Trebuchet MS"/>
                        </a:defRPr>
                      </a:lvl7pPr>
                      <a:lvl8pPr marL="3200400" algn="l" rtl="0" eaLnBrk="1" latinLnBrk="0" hangingPunct="1">
                        <a:defRPr kumimoji="0" b="1" kern="1200">
                          <a:solidFill>
                            <a:schemeClr val="lt1"/>
                          </a:solidFill>
                          <a:latin typeface="Trebuchet MS"/>
                        </a:defRPr>
                      </a:lvl8pPr>
                      <a:lvl9pPr marL="3657600" algn="l" rtl="0" eaLnBrk="1" latinLnBrk="0" hangingPunct="1">
                        <a:defRPr kumimoji="0" b="1" kern="1200">
                          <a:solidFill>
                            <a:schemeClr val="lt1"/>
                          </a:solidFill>
                          <a:latin typeface="Trebuchet MS"/>
                        </a:defRPr>
                      </a:lvl9pPr>
                    </a:lstStyle>
                    <a:p>
                      <a:r>
                        <a:rPr lang="en-US" dirty="0"/>
                        <a:t>year</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B83D68"/>
                    </a:solidFill>
                  </a:tcPr>
                </a:tc>
                <a:tc>
                  <a:txBody>
                    <a:bodyPr/>
                    <a:lstStyle>
                      <a:lvl1pPr marL="0" algn="l" rtl="0" eaLnBrk="1" latinLnBrk="0" hangingPunct="1">
                        <a:defRPr kumimoji="0" b="1" kern="1200">
                          <a:solidFill>
                            <a:schemeClr val="lt1"/>
                          </a:solidFill>
                          <a:latin typeface="Trebuchet MS"/>
                        </a:defRPr>
                      </a:lvl1pPr>
                      <a:lvl2pPr marL="457200" algn="l" rtl="0" eaLnBrk="1" latinLnBrk="0" hangingPunct="1">
                        <a:defRPr kumimoji="0" b="1" kern="1200">
                          <a:solidFill>
                            <a:schemeClr val="lt1"/>
                          </a:solidFill>
                          <a:latin typeface="Trebuchet MS"/>
                        </a:defRPr>
                      </a:lvl2pPr>
                      <a:lvl3pPr marL="914400" algn="l" rtl="0" eaLnBrk="1" latinLnBrk="0" hangingPunct="1">
                        <a:defRPr kumimoji="0" b="1" kern="1200">
                          <a:solidFill>
                            <a:schemeClr val="lt1"/>
                          </a:solidFill>
                          <a:latin typeface="Trebuchet MS"/>
                        </a:defRPr>
                      </a:lvl3pPr>
                      <a:lvl4pPr marL="1371600" algn="l" rtl="0" eaLnBrk="1" latinLnBrk="0" hangingPunct="1">
                        <a:defRPr kumimoji="0" b="1" kern="1200">
                          <a:solidFill>
                            <a:schemeClr val="lt1"/>
                          </a:solidFill>
                          <a:latin typeface="Trebuchet MS"/>
                        </a:defRPr>
                      </a:lvl4pPr>
                      <a:lvl5pPr marL="1828800" algn="l" rtl="0" eaLnBrk="1" latinLnBrk="0" hangingPunct="1">
                        <a:defRPr kumimoji="0" b="1" kern="1200">
                          <a:solidFill>
                            <a:schemeClr val="lt1"/>
                          </a:solidFill>
                          <a:latin typeface="Trebuchet MS"/>
                        </a:defRPr>
                      </a:lvl5pPr>
                      <a:lvl6pPr marL="2286000" algn="l" rtl="0" eaLnBrk="1" latinLnBrk="0" hangingPunct="1">
                        <a:defRPr kumimoji="0" b="1" kern="1200">
                          <a:solidFill>
                            <a:schemeClr val="lt1"/>
                          </a:solidFill>
                          <a:latin typeface="Trebuchet MS"/>
                        </a:defRPr>
                      </a:lvl6pPr>
                      <a:lvl7pPr marL="2743200" algn="l" rtl="0" eaLnBrk="1" latinLnBrk="0" hangingPunct="1">
                        <a:defRPr kumimoji="0" b="1" kern="1200">
                          <a:solidFill>
                            <a:schemeClr val="lt1"/>
                          </a:solidFill>
                          <a:latin typeface="Trebuchet MS"/>
                        </a:defRPr>
                      </a:lvl7pPr>
                      <a:lvl8pPr marL="3200400" algn="l" rtl="0" eaLnBrk="1" latinLnBrk="0" hangingPunct="1">
                        <a:defRPr kumimoji="0" b="1" kern="1200">
                          <a:solidFill>
                            <a:schemeClr val="lt1"/>
                          </a:solidFill>
                          <a:latin typeface="Trebuchet MS"/>
                        </a:defRPr>
                      </a:lvl8pPr>
                      <a:lvl9pPr marL="3657600" algn="l" rtl="0" eaLnBrk="1" latinLnBrk="0" hangingPunct="1">
                        <a:defRPr kumimoji="0" b="1" kern="1200">
                          <a:solidFill>
                            <a:schemeClr val="lt1"/>
                          </a:solidFill>
                          <a:latin typeface="Trebuchet MS"/>
                        </a:defRPr>
                      </a:lvl9pPr>
                    </a:lstStyle>
                    <a:p>
                      <a:r>
                        <a:rPr lang="en-US" dirty="0"/>
                        <a:t>Developed By</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B83D68"/>
                    </a:solidFill>
                  </a:tcPr>
                </a:tc>
                <a:extLst>
                  <a:ext uri="{0D108BD9-81ED-4DB2-BD59-A6C34878D82A}">
                    <a16:rowId xmlns:a16="http://schemas.microsoft.com/office/drawing/2014/main" val="10000"/>
                  </a:ext>
                </a:extLst>
              </a:tr>
              <a:tr h="413070">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ALGOL</a:t>
                      </a:r>
                    </a:p>
                  </a:txBody>
                  <a:tcPr marL="80886" marR="80886">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1960</a:t>
                      </a:r>
                    </a:p>
                  </a:txBody>
                  <a:tcPr marL="80886" marR="80886">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International Group</a:t>
                      </a:r>
                    </a:p>
                  </a:txBody>
                  <a:tcPr marL="80886" marR="80886">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extLst>
                  <a:ext uri="{0D108BD9-81ED-4DB2-BD59-A6C34878D82A}">
                    <a16:rowId xmlns:a16="http://schemas.microsoft.com/office/drawing/2014/main" val="10001"/>
                  </a:ext>
                </a:extLst>
              </a:tr>
              <a:tr h="413070">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BPCL</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1967</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Martin</a:t>
                      </a:r>
                      <a:r>
                        <a:rPr lang="en-US" baseline="0" dirty="0"/>
                        <a:t> Richards</a:t>
                      </a:r>
                      <a:endParaRPr lang="en-US" dirty="0"/>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extLst>
                  <a:ext uri="{0D108BD9-81ED-4DB2-BD59-A6C34878D82A}">
                    <a16:rowId xmlns:a16="http://schemas.microsoft.com/office/drawing/2014/main" val="10002"/>
                  </a:ext>
                </a:extLst>
              </a:tr>
              <a:tr h="413070">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B</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1970</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Ken Thompson</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extLst>
                  <a:ext uri="{0D108BD9-81ED-4DB2-BD59-A6C34878D82A}">
                    <a16:rowId xmlns:a16="http://schemas.microsoft.com/office/drawing/2014/main" val="10003"/>
                  </a:ext>
                </a:extLst>
              </a:tr>
              <a:tr h="413070">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Traditional C</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1972</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Dennis Ritchie</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extLst>
                  <a:ext uri="{0D108BD9-81ED-4DB2-BD59-A6C34878D82A}">
                    <a16:rowId xmlns:a16="http://schemas.microsoft.com/office/drawing/2014/main" val="10004"/>
                  </a:ext>
                </a:extLst>
              </a:tr>
              <a:tr h="712971">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K &amp; R C</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lang="en-US" dirty="0"/>
                        <a:t>1978</a:t>
                      </a:r>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kumimoji="0" lang="en-US" b="0" i="0" kern="1200" dirty="0">
                          <a:solidFill>
                            <a:schemeClr val="dk1"/>
                          </a:solidFill>
                          <a:latin typeface="+mn-lt"/>
                          <a:ea typeface="+mn-ea"/>
                          <a:cs typeface="+mn-cs"/>
                        </a:rPr>
                        <a:t>Kernighan &amp; Dennis Ritchie</a:t>
                      </a:r>
                      <a:endParaRPr lang="en-US" dirty="0"/>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extLst>
                  <a:ext uri="{0D108BD9-81ED-4DB2-BD59-A6C34878D82A}">
                    <a16:rowId xmlns:a16="http://schemas.microsoft.com/office/drawing/2014/main" val="10005"/>
                  </a:ext>
                </a:extLst>
              </a:tr>
              <a:tr h="454094">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r>
                        <a:rPr kumimoji="0" lang="en-US" b="0" i="0" kern="1200" dirty="0">
                          <a:solidFill>
                            <a:schemeClr val="dk1"/>
                          </a:solidFill>
                          <a:latin typeface="+mn-lt"/>
                          <a:ea typeface="+mn-ea"/>
                          <a:cs typeface="+mn-cs"/>
                        </a:rPr>
                        <a:t>ANSI C</a:t>
                      </a:r>
                      <a:endParaRPr lang="en-US" dirty="0"/>
                    </a:p>
                  </a:txBody>
                  <a:tcPr marL="80886" marR="8088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fontAlgn="t"/>
                      <a:r>
                        <a:rPr lang="en-US" b="0" i="0" dirty="0">
                          <a:solidFill>
                            <a:srgbClr val="000000"/>
                          </a:solidFill>
                          <a:latin typeface="Verdana"/>
                        </a:rPr>
                        <a:t>1989</a:t>
                      </a:r>
                    </a:p>
                  </a:txBody>
                  <a:tcPr marL="42128" marR="42128" marT="66675" marB="6667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fontAlgn="t"/>
                      <a:r>
                        <a:rPr lang="en-US" b="0" i="0" dirty="0">
                          <a:solidFill>
                            <a:srgbClr val="000000"/>
                          </a:solidFill>
                          <a:latin typeface="Verdana"/>
                        </a:rPr>
                        <a:t>ANSI Committee</a:t>
                      </a:r>
                    </a:p>
                  </a:txBody>
                  <a:tcPr marL="42128" marR="42128" marT="66675" marB="6667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extLst>
                  <a:ext uri="{0D108BD9-81ED-4DB2-BD59-A6C34878D82A}">
                    <a16:rowId xmlns:a16="http://schemas.microsoft.com/office/drawing/2014/main" val="10006"/>
                  </a:ext>
                </a:extLst>
              </a:tr>
              <a:tr h="454094">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fontAlgn="t"/>
                      <a:r>
                        <a:rPr lang="en-US" b="0" i="0" dirty="0">
                          <a:solidFill>
                            <a:srgbClr val="000000"/>
                          </a:solidFill>
                          <a:latin typeface="Verdana"/>
                        </a:rPr>
                        <a:t>ANSI/ISO C</a:t>
                      </a:r>
                    </a:p>
                  </a:txBody>
                  <a:tcPr marL="42128" marR="42128" marT="66675" marB="6667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fontAlgn="t"/>
                      <a:r>
                        <a:rPr lang="en-US" b="0" i="0" dirty="0">
                          <a:solidFill>
                            <a:srgbClr val="000000"/>
                          </a:solidFill>
                          <a:latin typeface="Verdana"/>
                        </a:rPr>
                        <a:t>1990</a:t>
                      </a:r>
                    </a:p>
                  </a:txBody>
                  <a:tcPr marL="42128" marR="42128" marT="66675" marB="6667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fontAlgn="t"/>
                      <a:r>
                        <a:rPr lang="en-US" b="0" i="0" dirty="0">
                          <a:solidFill>
                            <a:srgbClr val="000000"/>
                          </a:solidFill>
                          <a:latin typeface="Verdana"/>
                        </a:rPr>
                        <a:t>ISO Committee</a:t>
                      </a:r>
                    </a:p>
                  </a:txBody>
                  <a:tcPr marL="42128" marR="42128" marT="66675" marB="6667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40000"/>
                      </a:srgbClr>
                    </a:solidFill>
                  </a:tcPr>
                </a:tc>
                <a:extLst>
                  <a:ext uri="{0D108BD9-81ED-4DB2-BD59-A6C34878D82A}">
                    <a16:rowId xmlns:a16="http://schemas.microsoft.com/office/drawing/2014/main" val="10007"/>
                  </a:ext>
                </a:extLst>
              </a:tr>
              <a:tr h="759653">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fontAlgn="t"/>
                      <a:r>
                        <a:rPr lang="en-US" b="0" i="0" dirty="0">
                          <a:solidFill>
                            <a:srgbClr val="000000"/>
                          </a:solidFill>
                          <a:latin typeface="Verdana"/>
                        </a:rPr>
                        <a:t>C99</a:t>
                      </a:r>
                    </a:p>
                  </a:txBody>
                  <a:tcPr marL="42128" marR="42128" marT="66675" marB="6667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fontAlgn="t"/>
                      <a:r>
                        <a:rPr lang="en-US" b="0" i="0" dirty="0">
                          <a:solidFill>
                            <a:srgbClr val="000000"/>
                          </a:solidFill>
                          <a:latin typeface="Verdana"/>
                        </a:rPr>
                        <a:t>1999</a:t>
                      </a:r>
                    </a:p>
                  </a:txBody>
                  <a:tcPr marL="42128" marR="42128" marT="66675" marB="6667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tc>
                  <a:txBody>
                    <a:bodyPr/>
                    <a:lstStyle>
                      <a:lvl1pPr marL="0" algn="l" rtl="0" eaLnBrk="1" latinLnBrk="0" hangingPunct="1">
                        <a:defRPr kumimoji="0" kern="1200">
                          <a:solidFill>
                            <a:schemeClr val="dk1"/>
                          </a:solidFill>
                          <a:latin typeface="Trebuchet MS"/>
                        </a:defRPr>
                      </a:lvl1pPr>
                      <a:lvl2pPr marL="457200" algn="l" rtl="0" eaLnBrk="1" latinLnBrk="0" hangingPunct="1">
                        <a:defRPr kumimoji="0" kern="1200">
                          <a:solidFill>
                            <a:schemeClr val="dk1"/>
                          </a:solidFill>
                          <a:latin typeface="Trebuchet MS"/>
                        </a:defRPr>
                      </a:lvl2pPr>
                      <a:lvl3pPr marL="914400" algn="l" rtl="0" eaLnBrk="1" latinLnBrk="0" hangingPunct="1">
                        <a:defRPr kumimoji="0" kern="1200">
                          <a:solidFill>
                            <a:schemeClr val="dk1"/>
                          </a:solidFill>
                          <a:latin typeface="Trebuchet MS"/>
                        </a:defRPr>
                      </a:lvl3pPr>
                      <a:lvl4pPr marL="1371600" algn="l" rtl="0" eaLnBrk="1" latinLnBrk="0" hangingPunct="1">
                        <a:defRPr kumimoji="0" kern="1200">
                          <a:solidFill>
                            <a:schemeClr val="dk1"/>
                          </a:solidFill>
                          <a:latin typeface="Trebuchet MS"/>
                        </a:defRPr>
                      </a:lvl4pPr>
                      <a:lvl5pPr marL="1828800" algn="l" rtl="0" eaLnBrk="1" latinLnBrk="0" hangingPunct="1">
                        <a:defRPr kumimoji="0" kern="1200">
                          <a:solidFill>
                            <a:schemeClr val="dk1"/>
                          </a:solidFill>
                          <a:latin typeface="Trebuchet MS"/>
                        </a:defRPr>
                      </a:lvl5pPr>
                      <a:lvl6pPr marL="2286000" algn="l" rtl="0" eaLnBrk="1" latinLnBrk="0" hangingPunct="1">
                        <a:defRPr kumimoji="0" kern="1200">
                          <a:solidFill>
                            <a:schemeClr val="dk1"/>
                          </a:solidFill>
                          <a:latin typeface="Trebuchet MS"/>
                        </a:defRPr>
                      </a:lvl6pPr>
                      <a:lvl7pPr marL="2743200" algn="l" rtl="0" eaLnBrk="1" latinLnBrk="0" hangingPunct="1">
                        <a:defRPr kumimoji="0" kern="1200">
                          <a:solidFill>
                            <a:schemeClr val="dk1"/>
                          </a:solidFill>
                          <a:latin typeface="Trebuchet MS"/>
                        </a:defRPr>
                      </a:lvl7pPr>
                      <a:lvl8pPr marL="3200400" algn="l" rtl="0" eaLnBrk="1" latinLnBrk="0" hangingPunct="1">
                        <a:defRPr kumimoji="0" kern="1200">
                          <a:solidFill>
                            <a:schemeClr val="dk1"/>
                          </a:solidFill>
                          <a:latin typeface="Trebuchet MS"/>
                        </a:defRPr>
                      </a:lvl8pPr>
                      <a:lvl9pPr marL="3657600" algn="l" rtl="0" eaLnBrk="1" latinLnBrk="0" hangingPunct="1">
                        <a:defRPr kumimoji="0" kern="1200">
                          <a:solidFill>
                            <a:schemeClr val="dk1"/>
                          </a:solidFill>
                          <a:latin typeface="Trebuchet MS"/>
                        </a:defRPr>
                      </a:lvl9pPr>
                    </a:lstStyle>
                    <a:p>
                      <a:pPr fontAlgn="t"/>
                      <a:r>
                        <a:rPr lang="en-US" b="0" i="0" dirty="0">
                          <a:solidFill>
                            <a:srgbClr val="000000"/>
                          </a:solidFill>
                          <a:latin typeface="Verdana"/>
                        </a:rPr>
                        <a:t>Standardization Committee</a:t>
                      </a:r>
                    </a:p>
                  </a:txBody>
                  <a:tcPr marL="42128" marR="42128" marT="66675" marB="6667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83D68">
                        <a:tint val="2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70548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Features of C Language</a:t>
            </a:r>
            <a:br>
              <a:rPr lang="en-IN" b="1"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C is the widely used language. It provides many </a:t>
            </a:r>
            <a:r>
              <a:rPr lang="en-IN" b="1" dirty="0"/>
              <a:t>features</a:t>
            </a:r>
            <a:r>
              <a:rPr lang="en-IN" dirty="0"/>
              <a:t> that are given below.</a:t>
            </a:r>
          </a:p>
          <a:p>
            <a:r>
              <a:rPr lang="en-IN" dirty="0"/>
              <a:t>Simple</a:t>
            </a:r>
          </a:p>
          <a:p>
            <a:r>
              <a:rPr lang="en-IN" dirty="0"/>
              <a:t>Machine Independent or Portable</a:t>
            </a:r>
          </a:p>
          <a:p>
            <a:r>
              <a:rPr lang="en-IN" dirty="0"/>
              <a:t>Mid-level programming language</a:t>
            </a:r>
          </a:p>
          <a:p>
            <a:r>
              <a:rPr lang="en-IN" dirty="0"/>
              <a:t>structured programming language</a:t>
            </a:r>
          </a:p>
          <a:p>
            <a:r>
              <a:rPr lang="en-IN" dirty="0"/>
              <a:t>Rich Library</a:t>
            </a:r>
          </a:p>
          <a:p>
            <a:r>
              <a:rPr lang="en-IN" dirty="0"/>
              <a:t>Memory Management</a:t>
            </a:r>
          </a:p>
          <a:p>
            <a:r>
              <a:rPr lang="en-IN" dirty="0"/>
              <a:t>Fast Speed</a:t>
            </a:r>
          </a:p>
          <a:p>
            <a:r>
              <a:rPr lang="en-IN" dirty="0"/>
              <a:t>Pointers</a:t>
            </a:r>
          </a:p>
          <a:p>
            <a:r>
              <a:rPr lang="en-IN" dirty="0"/>
              <a:t>Recursion</a:t>
            </a:r>
          </a:p>
          <a:p>
            <a:r>
              <a:rPr lang="en-IN" dirty="0"/>
              <a:t>Extensible</a:t>
            </a:r>
          </a:p>
          <a:p>
            <a:endParaRPr lang="en-IN" dirty="0"/>
          </a:p>
        </p:txBody>
      </p:sp>
    </p:spTree>
    <p:extLst>
      <p:ext uri="{BB962C8B-B14F-4D97-AF65-F5344CB8AC3E}">
        <p14:creationId xmlns:p14="http://schemas.microsoft.com/office/powerpoint/2010/main" val="294262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System </a:t>
            </a:r>
            <a:r>
              <a:rPr lang="en-IN" b="1" dirty="0" err="1"/>
              <a:t>vs</a:t>
            </a:r>
            <a:r>
              <a:rPr lang="en-IN" b="1" dirty="0"/>
              <a:t> Application Software</a:t>
            </a:r>
            <a:br>
              <a:rPr lang="en-IN" b="1" dirty="0"/>
            </a:br>
            <a:endParaRPr lang="en-IN" dirty="0"/>
          </a:p>
        </p:txBody>
      </p:sp>
      <p:sp>
        <p:nvSpPr>
          <p:cNvPr id="3" name="Content Placeholder 2"/>
          <p:cNvSpPr>
            <a:spLocks noGrp="1"/>
          </p:cNvSpPr>
          <p:nvPr>
            <p:ph idx="1"/>
          </p:nvPr>
        </p:nvSpPr>
        <p:spPr>
          <a:xfrm>
            <a:off x="1981200" y="1268760"/>
            <a:ext cx="8229600" cy="5055840"/>
          </a:xfrm>
        </p:spPr>
        <p:txBody>
          <a:bodyPr>
            <a:normAutofit lnSpcReduction="10000"/>
          </a:bodyPr>
          <a:lstStyle/>
          <a:p>
            <a:r>
              <a:rPr lang="en-IN" dirty="0"/>
              <a:t>Set of computer programs that are designed to control computer hardware and to provide service.</a:t>
            </a:r>
          </a:p>
          <a:p>
            <a:r>
              <a:rPr lang="en-IN" dirty="0"/>
              <a:t>Computer program that is designed to perform specific task.</a:t>
            </a:r>
          </a:p>
          <a:p>
            <a:endParaRPr lang="en-IN" dirty="0"/>
          </a:p>
          <a:p>
            <a:r>
              <a:rPr lang="en-IN" dirty="0"/>
              <a:t>System software manages computer resources and provides platform for the execution of application software.</a:t>
            </a:r>
          </a:p>
          <a:p>
            <a:r>
              <a:rPr lang="en-IN" dirty="0"/>
              <a:t>Application software manages their specific tasks to suit their needs.</a:t>
            </a:r>
          </a:p>
          <a:p>
            <a:endParaRPr lang="en-IN" dirty="0"/>
          </a:p>
          <a:p>
            <a:r>
              <a:rPr lang="en-IN" dirty="0"/>
              <a:t>System software can exist as a lone entity.</a:t>
            </a:r>
          </a:p>
          <a:p>
            <a:r>
              <a:rPr lang="en-IN" dirty="0"/>
              <a:t>Application software needs system software for its existence.</a:t>
            </a:r>
          </a:p>
          <a:p>
            <a:endParaRPr lang="en-IN" dirty="0"/>
          </a:p>
          <a:p>
            <a:r>
              <a:rPr lang="en-IN" dirty="0"/>
              <a:t>Examples: MS Windows, Mac OS, Unix, Linux etc.</a:t>
            </a:r>
          </a:p>
          <a:p>
            <a:r>
              <a:rPr lang="en-IN" dirty="0"/>
              <a:t>Examples: Web browsers, Word processor, Image Editors, </a:t>
            </a:r>
            <a:r>
              <a:rPr lang="en-IN" dirty="0" err="1"/>
              <a:t>Spreadsheets</a:t>
            </a:r>
            <a:r>
              <a:rPr lang="en-IN" dirty="0"/>
              <a:t> etc.</a:t>
            </a:r>
          </a:p>
          <a:p>
            <a:endParaRPr lang="en-IN" dirty="0"/>
          </a:p>
        </p:txBody>
      </p:sp>
    </p:spTree>
    <p:extLst>
      <p:ext uri="{BB962C8B-B14F-4D97-AF65-F5344CB8AC3E}">
        <p14:creationId xmlns:p14="http://schemas.microsoft.com/office/powerpoint/2010/main" val="812398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20688"/>
            <a:ext cx="8229600" cy="792088"/>
          </a:xfrm>
        </p:spPr>
        <p:txBody>
          <a:bodyPr>
            <a:normAutofit/>
          </a:bodyPr>
          <a:lstStyle/>
          <a:p>
            <a:r>
              <a:rPr lang="en-US" dirty="0"/>
              <a:t>Computer Programming Language</a:t>
            </a:r>
            <a:endParaRPr lang="en-IN"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51584" y="1628800"/>
            <a:ext cx="7488832"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7019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04088"/>
            <a:ext cx="8229600" cy="924712"/>
          </a:xfrm>
        </p:spPr>
        <p:txBody>
          <a:bodyPr/>
          <a:lstStyle/>
          <a:p>
            <a:r>
              <a:rPr lang="en-US" dirty="0"/>
              <a:t>High Level Language(HLL)</a:t>
            </a:r>
            <a:endParaRPr lang="en-IN" dirty="0"/>
          </a:p>
        </p:txBody>
      </p:sp>
      <p:sp>
        <p:nvSpPr>
          <p:cNvPr id="3" name="Content Placeholder 2"/>
          <p:cNvSpPr>
            <a:spLocks noGrp="1"/>
          </p:cNvSpPr>
          <p:nvPr>
            <p:ph idx="1"/>
          </p:nvPr>
        </p:nvSpPr>
        <p:spPr/>
        <p:txBody>
          <a:bodyPr>
            <a:normAutofit/>
          </a:bodyPr>
          <a:lstStyle/>
          <a:p>
            <a:r>
              <a:rPr lang="en-US" dirty="0"/>
              <a:t>A HLL is a programming language which enables a normal human being like us to write programs that helps he computer to perform any of the required instruction task.</a:t>
            </a:r>
          </a:p>
          <a:p>
            <a:r>
              <a:rPr lang="en-IN" dirty="0"/>
              <a:t>It is easy to understand, read  and write.</a:t>
            </a:r>
          </a:p>
          <a:p>
            <a:r>
              <a:rPr lang="en-IN" dirty="0"/>
              <a:t>It is programmer friendly language, so  computer can’t understood.</a:t>
            </a:r>
          </a:p>
          <a:p>
            <a:r>
              <a:rPr lang="en-IN" dirty="0"/>
              <a:t>It needs compiler or interpreter for translation.</a:t>
            </a:r>
          </a:p>
          <a:p>
            <a:r>
              <a:rPr lang="en-US" dirty="0"/>
              <a:t>To make computer understand it first convert it into assembly language  then into machine language .</a:t>
            </a:r>
          </a:p>
          <a:p>
            <a:r>
              <a:rPr lang="en-IN" dirty="0"/>
              <a:t>It is portable.</a:t>
            </a:r>
          </a:p>
          <a:p>
            <a:endParaRPr lang="en-IN" dirty="0"/>
          </a:p>
        </p:txBody>
      </p:sp>
    </p:spTree>
    <p:extLst>
      <p:ext uri="{BB962C8B-B14F-4D97-AF65-F5344CB8AC3E}">
        <p14:creationId xmlns:p14="http://schemas.microsoft.com/office/powerpoint/2010/main" val="178098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Level Language(HLL)</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5600" y="3212977"/>
            <a:ext cx="6336704" cy="1278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863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04088"/>
            <a:ext cx="8229600" cy="708688"/>
          </a:xfrm>
        </p:spPr>
        <p:txBody>
          <a:bodyPr>
            <a:normAutofit fontScale="90000"/>
          </a:bodyPr>
          <a:lstStyle/>
          <a:p>
            <a:r>
              <a:rPr lang="en-IN" b="1" dirty="0"/>
              <a:t>Advantage of High Level Language</a:t>
            </a:r>
            <a:br>
              <a:rPr lang="en-IN" b="1" dirty="0"/>
            </a:br>
            <a:endParaRPr lang="en-IN" dirty="0"/>
          </a:p>
        </p:txBody>
      </p:sp>
      <p:sp>
        <p:nvSpPr>
          <p:cNvPr id="3" name="Content Placeholder 2"/>
          <p:cNvSpPr>
            <a:spLocks noGrp="1"/>
          </p:cNvSpPr>
          <p:nvPr>
            <p:ph idx="1"/>
          </p:nvPr>
        </p:nvSpPr>
        <p:spPr>
          <a:xfrm>
            <a:off x="2783632" y="1484784"/>
            <a:ext cx="7427168" cy="5256584"/>
          </a:xfrm>
        </p:spPr>
        <p:txBody>
          <a:bodyPr>
            <a:normAutofit fontScale="92500" lnSpcReduction="10000"/>
          </a:bodyPr>
          <a:lstStyle/>
          <a:p>
            <a:r>
              <a:rPr lang="en-IN" b="1" dirty="0"/>
              <a:t>High level language has following advantages : </a:t>
            </a:r>
            <a:endParaRPr lang="en-IN" dirty="0"/>
          </a:p>
          <a:p>
            <a:r>
              <a:rPr lang="en-IN" b="1" dirty="0"/>
              <a:t>Easy to Use and Understand : </a:t>
            </a:r>
            <a:r>
              <a:rPr lang="en-IN" dirty="0"/>
              <a:t>High level language uses English like words and they are closer to natural language which makes easy to learn and understand. Programmer need not to understand detailed computer architecture for writing programs using high level language.</a:t>
            </a:r>
          </a:p>
          <a:p>
            <a:r>
              <a:rPr lang="en-IN" b="1" dirty="0"/>
              <a:t>Machine Independent : </a:t>
            </a:r>
            <a:r>
              <a:rPr lang="en-IN" dirty="0"/>
              <a:t>Programs written in high level language are portable and hence program written using high level language can be executed on any type of computer with little or no modification at all.</a:t>
            </a:r>
          </a:p>
          <a:p>
            <a:r>
              <a:rPr lang="en-IN" b="1" dirty="0"/>
              <a:t>Debugging is Easy : </a:t>
            </a:r>
            <a:r>
              <a:rPr lang="en-IN" dirty="0"/>
              <a:t>High level language makes easier to write and debug a program and gives the programmer time to think about overall logic rather than thinking about program code. Because of the use of compilers and interpreters, errors can be detected and located easily.</a:t>
            </a:r>
          </a:p>
          <a:p>
            <a:r>
              <a:rPr lang="en-IN" b="1" dirty="0"/>
              <a:t>Easy to Maintain Program :</a:t>
            </a:r>
            <a:r>
              <a:rPr lang="en-IN" dirty="0"/>
              <a:t> Modification and maintenance of program written in high level language is easy compared low level language.</a:t>
            </a:r>
          </a:p>
          <a:p>
            <a:endParaRPr lang="en-IN" dirty="0"/>
          </a:p>
        </p:txBody>
      </p:sp>
    </p:spTree>
    <p:extLst>
      <p:ext uri="{BB962C8B-B14F-4D97-AF65-F5344CB8AC3E}">
        <p14:creationId xmlns:p14="http://schemas.microsoft.com/office/powerpoint/2010/main" val="7583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04664"/>
            <a:ext cx="8229600" cy="1152128"/>
          </a:xfrm>
        </p:spPr>
        <p:txBody>
          <a:bodyPr>
            <a:normAutofit fontScale="90000"/>
          </a:bodyPr>
          <a:lstStyle/>
          <a:p>
            <a:br>
              <a:rPr lang="en-IN" b="1" dirty="0"/>
            </a:br>
            <a:r>
              <a:rPr lang="en-IN" b="1" dirty="0"/>
              <a:t>Disadvantages of High Level Language</a:t>
            </a:r>
            <a:endParaRPr lang="en-IN" dirty="0"/>
          </a:p>
        </p:txBody>
      </p:sp>
      <p:sp>
        <p:nvSpPr>
          <p:cNvPr id="3" name="Content Placeholder 2"/>
          <p:cNvSpPr>
            <a:spLocks noGrp="1"/>
          </p:cNvSpPr>
          <p:nvPr>
            <p:ph idx="1"/>
          </p:nvPr>
        </p:nvSpPr>
        <p:spPr>
          <a:xfrm>
            <a:off x="1981200" y="1556792"/>
            <a:ext cx="8229600" cy="5184576"/>
          </a:xfrm>
        </p:spPr>
        <p:txBody>
          <a:bodyPr/>
          <a:lstStyle/>
          <a:p>
            <a:r>
              <a:rPr lang="en-IN" b="1" dirty="0"/>
              <a:t>High level language has following disadvantages :</a:t>
            </a:r>
            <a:endParaRPr lang="en-IN" dirty="0"/>
          </a:p>
          <a:p>
            <a:endParaRPr lang="en-IN" b="1" dirty="0"/>
          </a:p>
          <a:p>
            <a:r>
              <a:rPr lang="en-IN" b="1" dirty="0"/>
              <a:t>Poor Control on Hardware:</a:t>
            </a:r>
            <a:r>
              <a:rPr lang="en-IN" dirty="0"/>
              <a:t> Since high level languages are away from hardware and programmer does not need to be aware of hardware, accessing and controlling hardware directly is difficult.</a:t>
            </a:r>
          </a:p>
          <a:p>
            <a:endParaRPr lang="en-IN" dirty="0"/>
          </a:p>
          <a:p>
            <a:r>
              <a:rPr lang="en-IN" b="1" dirty="0"/>
              <a:t>Slow Execution:</a:t>
            </a:r>
            <a:r>
              <a:rPr lang="en-IN" dirty="0"/>
              <a:t> Program written in high level language need to be translated to machine language. This translation process increases the execution time of program.</a:t>
            </a:r>
          </a:p>
          <a:p>
            <a:endParaRPr lang="en-IN" dirty="0"/>
          </a:p>
        </p:txBody>
      </p:sp>
    </p:spTree>
    <p:extLst>
      <p:ext uri="{BB962C8B-B14F-4D97-AF65-F5344CB8AC3E}">
        <p14:creationId xmlns:p14="http://schemas.microsoft.com/office/powerpoint/2010/main" val="2568720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7528" y="704088"/>
            <a:ext cx="8363272" cy="780696"/>
          </a:xfrm>
        </p:spPr>
        <p:txBody>
          <a:bodyPr>
            <a:normAutofit/>
          </a:bodyPr>
          <a:lstStyle/>
          <a:p>
            <a:r>
              <a:rPr lang="en-US" sz="2800" dirty="0"/>
              <a:t>Medium</a:t>
            </a:r>
            <a:r>
              <a:rPr lang="en-IN" sz="2800" b="1" dirty="0"/>
              <a:t> language</a:t>
            </a:r>
            <a:r>
              <a:rPr lang="en-US" sz="2800" dirty="0"/>
              <a:t> /</a:t>
            </a:r>
            <a:r>
              <a:rPr lang="en-IN" sz="2800" b="1" dirty="0"/>
              <a:t> Assembly language</a:t>
            </a:r>
            <a:r>
              <a:rPr lang="en-US" sz="2800" dirty="0"/>
              <a:t> </a:t>
            </a:r>
            <a:endParaRPr lang="en-IN" sz="2800" dirty="0"/>
          </a:p>
        </p:txBody>
      </p:sp>
      <p:sp>
        <p:nvSpPr>
          <p:cNvPr id="3" name="Content Placeholder 2"/>
          <p:cNvSpPr>
            <a:spLocks noGrp="1"/>
          </p:cNvSpPr>
          <p:nvPr>
            <p:ph idx="1"/>
          </p:nvPr>
        </p:nvSpPr>
        <p:spPr>
          <a:xfrm>
            <a:off x="2567608" y="2348880"/>
            <a:ext cx="7643192" cy="3975720"/>
          </a:xfrm>
        </p:spPr>
        <p:txBody>
          <a:bodyPr>
            <a:normAutofit/>
          </a:bodyPr>
          <a:lstStyle/>
          <a:p>
            <a:r>
              <a:rPr lang="en-IN" b="1" dirty="0"/>
              <a:t>Assembly language </a:t>
            </a:r>
            <a:r>
              <a:rPr lang="en-IN" dirty="0"/>
              <a:t>is the more than low level and less than high-level language so it is intermediary language.</a:t>
            </a:r>
          </a:p>
          <a:p>
            <a:r>
              <a:rPr lang="en-IN" dirty="0"/>
              <a:t>Assembly language is only understand by human beings not by the computers.</a:t>
            </a:r>
          </a:p>
          <a:p>
            <a:r>
              <a:rPr lang="en-IN" dirty="0"/>
              <a:t>In assembly language data can be represented with the help of </a:t>
            </a:r>
            <a:r>
              <a:rPr lang="en-IN" b="1" dirty="0"/>
              <a:t>mnemonics </a:t>
            </a:r>
            <a:r>
              <a:rPr lang="en-IN" dirty="0"/>
              <a:t>such as </a:t>
            </a:r>
            <a:r>
              <a:rPr lang="en-IN" dirty="0" err="1"/>
              <a:t>Mov</a:t>
            </a:r>
            <a:r>
              <a:rPr lang="en-IN" dirty="0"/>
              <a:t>, Add, Sub, End etc.</a:t>
            </a:r>
          </a:p>
          <a:p>
            <a:r>
              <a:rPr lang="en-IN" dirty="0"/>
              <a:t>Assembler is used as translator to convert mnemonics into machine understandable form.</a:t>
            </a:r>
          </a:p>
          <a:p>
            <a:r>
              <a:rPr lang="en-IN" dirty="0"/>
              <a:t>Assembly language is the machine dependent and it is not portable.</a:t>
            </a:r>
          </a:p>
          <a:p>
            <a:endParaRPr lang="en-IN" dirty="0"/>
          </a:p>
        </p:txBody>
      </p:sp>
    </p:spTree>
    <p:extLst>
      <p:ext uri="{BB962C8B-B14F-4D97-AF65-F5344CB8AC3E}">
        <p14:creationId xmlns:p14="http://schemas.microsoft.com/office/powerpoint/2010/main" val="76864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800" b="1" dirty="0"/>
              <a:t>Assembly language</a:t>
            </a:r>
            <a:r>
              <a:rPr lang="en-US" sz="4800" dirty="0"/>
              <a:t> </a:t>
            </a: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3632" y="2852936"/>
            <a:ext cx="6264696" cy="18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0649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Advantages of Assembly Language</a:t>
            </a:r>
            <a:br>
              <a:rPr lang="en-IN" b="1" dirty="0"/>
            </a:br>
            <a:endParaRPr lang="en-IN" dirty="0"/>
          </a:p>
        </p:txBody>
      </p:sp>
      <p:sp>
        <p:nvSpPr>
          <p:cNvPr id="3" name="Content Placeholder 2"/>
          <p:cNvSpPr>
            <a:spLocks noGrp="1"/>
          </p:cNvSpPr>
          <p:nvPr>
            <p:ph idx="1"/>
          </p:nvPr>
        </p:nvSpPr>
        <p:spPr/>
        <p:txBody>
          <a:bodyPr>
            <a:normAutofit/>
          </a:bodyPr>
          <a:lstStyle/>
          <a:p>
            <a:r>
              <a:rPr lang="en-IN" b="1" dirty="0"/>
              <a:t>Assembly language has following advantages :</a:t>
            </a:r>
            <a:endParaRPr lang="en-IN" dirty="0"/>
          </a:p>
          <a:p>
            <a:r>
              <a:rPr lang="en-IN" b="1" dirty="0"/>
              <a:t>Easy to Understand and Use: </a:t>
            </a:r>
            <a:r>
              <a:rPr lang="en-IN" dirty="0"/>
              <a:t>Assembly language uses mnemonic codes which are easy to use and remember. So, errors which can occur while writing program using assembly language are less as compared to writing program using machine language. Also, assembler provides a way to locate and correct errors.</a:t>
            </a:r>
          </a:p>
          <a:p>
            <a:r>
              <a:rPr lang="en-IN" b="1" dirty="0"/>
              <a:t>Speed: </a:t>
            </a:r>
            <a:r>
              <a:rPr lang="en-IN" dirty="0"/>
              <a:t>Program written in assembly language executes faster than program written high level language.</a:t>
            </a:r>
          </a:p>
          <a:p>
            <a:endParaRPr lang="en-IN" dirty="0"/>
          </a:p>
        </p:txBody>
      </p:sp>
    </p:spTree>
    <p:extLst>
      <p:ext uri="{BB962C8B-B14F-4D97-AF65-F5344CB8AC3E}">
        <p14:creationId xmlns:p14="http://schemas.microsoft.com/office/powerpoint/2010/main" val="1981800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Disadvantages of Assembly Language</a:t>
            </a:r>
            <a:br>
              <a:rPr lang="en-IN" sz="2800" b="1" dirty="0"/>
            </a:br>
            <a:endParaRPr lang="en-IN" sz="2800" dirty="0"/>
          </a:p>
        </p:txBody>
      </p:sp>
      <p:sp>
        <p:nvSpPr>
          <p:cNvPr id="3" name="Content Placeholder 2"/>
          <p:cNvSpPr>
            <a:spLocks noGrp="1"/>
          </p:cNvSpPr>
          <p:nvPr>
            <p:ph idx="1"/>
          </p:nvPr>
        </p:nvSpPr>
        <p:spPr/>
        <p:txBody>
          <a:bodyPr>
            <a:normAutofit/>
          </a:bodyPr>
          <a:lstStyle/>
          <a:p>
            <a:r>
              <a:rPr lang="en-IN" b="1" dirty="0"/>
              <a:t>Machine Dependent: </a:t>
            </a:r>
            <a:r>
              <a:rPr lang="en-IN" dirty="0"/>
              <a:t>Program written in assembly language are machine dependent and hence program developed for one system does not execute on other system.</a:t>
            </a:r>
          </a:p>
          <a:p>
            <a:r>
              <a:rPr lang="en-IN" b="1" dirty="0"/>
              <a:t>Difficult to Learn :</a:t>
            </a:r>
            <a:r>
              <a:rPr lang="en-IN" dirty="0"/>
              <a:t>Since assembly language is machine dependent so every type of computer architecture requires a different assembly language. Programmer need to study and understand different mnemonic code according to the architecture used.</a:t>
            </a:r>
          </a:p>
          <a:p>
            <a:r>
              <a:rPr lang="en-IN" b="1" dirty="0"/>
              <a:t>Slow Program Development Time: </a:t>
            </a:r>
            <a:r>
              <a:rPr lang="en-IN" dirty="0"/>
              <a:t>Developing program in assembly language is slow process as compared to high level language.</a:t>
            </a:r>
          </a:p>
        </p:txBody>
      </p:sp>
    </p:spTree>
    <p:extLst>
      <p:ext uri="{BB962C8B-B14F-4D97-AF65-F5344CB8AC3E}">
        <p14:creationId xmlns:p14="http://schemas.microsoft.com/office/powerpoint/2010/main" val="167287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48680"/>
            <a:ext cx="8229600" cy="792088"/>
          </a:xfrm>
        </p:spPr>
        <p:txBody>
          <a:bodyPr>
            <a:normAutofit fontScale="90000"/>
          </a:bodyPr>
          <a:lstStyle/>
          <a:p>
            <a:r>
              <a:rPr lang="en-IN" dirty="0"/>
              <a:t>Machine Language/Low level Language</a:t>
            </a:r>
          </a:p>
        </p:txBody>
      </p:sp>
      <p:sp>
        <p:nvSpPr>
          <p:cNvPr id="3" name="Content Placeholder 2"/>
          <p:cNvSpPr>
            <a:spLocks noGrp="1"/>
          </p:cNvSpPr>
          <p:nvPr>
            <p:ph idx="1"/>
          </p:nvPr>
        </p:nvSpPr>
        <p:spPr>
          <a:xfrm>
            <a:off x="1981200" y="1556792"/>
            <a:ext cx="8229600" cy="4767808"/>
          </a:xfrm>
        </p:spPr>
        <p:txBody>
          <a:bodyPr/>
          <a:lstStyle/>
          <a:p>
            <a:r>
              <a:rPr lang="en-US" dirty="0"/>
              <a:t>It is programming language that deals with a computer’s Hardware.</a:t>
            </a:r>
            <a:endParaRPr lang="en-IN" dirty="0"/>
          </a:p>
          <a:p>
            <a:r>
              <a:rPr lang="en-IN" dirty="0"/>
              <a:t>Machine language is only understand by the computers.</a:t>
            </a:r>
          </a:p>
          <a:p>
            <a:r>
              <a:rPr lang="en-IN" dirty="0"/>
              <a:t>In machine language data only represented with the help of binary format(0s and 1s).</a:t>
            </a:r>
          </a:p>
          <a:p>
            <a:r>
              <a:rPr lang="en-IN" dirty="0"/>
              <a:t>Machine language is very difficult to understand by the human beings.</a:t>
            </a:r>
          </a:p>
          <a:p>
            <a:r>
              <a:rPr lang="en-IN" dirty="0"/>
              <a:t>Machine language is very difficult to memorize so it is not possible to learn the machine language.</a:t>
            </a:r>
          </a:p>
          <a:p>
            <a:endParaRPr lang="en-IN" dirty="0"/>
          </a:p>
        </p:txBody>
      </p:sp>
    </p:spTree>
    <p:extLst>
      <p:ext uri="{BB962C8B-B14F-4D97-AF65-F5344CB8AC3E}">
        <p14:creationId xmlns:p14="http://schemas.microsoft.com/office/powerpoint/2010/main" val="298597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76672"/>
            <a:ext cx="8229600" cy="936104"/>
          </a:xfrm>
        </p:spPr>
        <p:txBody>
          <a:bodyPr>
            <a:normAutofit fontScale="90000"/>
          </a:bodyPr>
          <a:lstStyle/>
          <a:p>
            <a:r>
              <a:rPr lang="en-IN" b="1" dirty="0"/>
              <a:t>Advantage of Machine Language</a:t>
            </a:r>
            <a:br>
              <a:rPr lang="en-IN" b="1" dirty="0"/>
            </a:br>
            <a:endParaRPr lang="en-IN" dirty="0"/>
          </a:p>
        </p:txBody>
      </p:sp>
      <p:sp>
        <p:nvSpPr>
          <p:cNvPr id="3" name="Content Placeholder 2"/>
          <p:cNvSpPr>
            <a:spLocks noGrp="1"/>
          </p:cNvSpPr>
          <p:nvPr>
            <p:ph idx="1"/>
          </p:nvPr>
        </p:nvSpPr>
        <p:spPr/>
        <p:txBody>
          <a:bodyPr>
            <a:normAutofit/>
          </a:bodyPr>
          <a:lstStyle/>
          <a:p>
            <a:r>
              <a:rPr lang="en-IN" b="1" dirty="0"/>
              <a:t>Machine language has following advantages :</a:t>
            </a:r>
            <a:endParaRPr lang="en-IN" dirty="0"/>
          </a:p>
          <a:p>
            <a:r>
              <a:rPr lang="en-IN" b="1" dirty="0"/>
              <a:t>Translation Free :</a:t>
            </a:r>
            <a:r>
              <a:rPr lang="en-IN" dirty="0"/>
              <a:t> Machine language is the only language that computer understands. Program written in languages other than machine language must be translated to machine language. However, the program written in machine language can be directly executed without any translation.</a:t>
            </a:r>
          </a:p>
          <a:p>
            <a:r>
              <a:rPr lang="en-IN" b="1" dirty="0"/>
              <a:t>High Speed : </a:t>
            </a:r>
            <a:r>
              <a:rPr lang="en-IN" dirty="0"/>
              <a:t>Since program written in machine language need not to be translated and hence conversion time is saved which enables execution of machine language program extremely fast.</a:t>
            </a:r>
          </a:p>
          <a:p>
            <a:endParaRPr lang="en-IN" dirty="0"/>
          </a:p>
        </p:txBody>
      </p:sp>
    </p:spTree>
    <p:extLst>
      <p:ext uri="{BB962C8B-B14F-4D97-AF65-F5344CB8AC3E}">
        <p14:creationId xmlns:p14="http://schemas.microsoft.com/office/powerpoint/2010/main" val="4099431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20688"/>
            <a:ext cx="8229600" cy="864096"/>
          </a:xfrm>
        </p:spPr>
        <p:txBody>
          <a:bodyPr>
            <a:normAutofit fontScale="90000"/>
          </a:bodyPr>
          <a:lstStyle/>
          <a:p>
            <a:r>
              <a:rPr lang="en-IN" sz="3600" b="1" dirty="0"/>
              <a:t>Disadvantage of Machine Language</a:t>
            </a:r>
            <a:br>
              <a:rPr lang="en-IN" sz="3600" b="1" dirty="0"/>
            </a:br>
            <a:endParaRPr lang="en-IN" sz="3600" dirty="0"/>
          </a:p>
        </p:txBody>
      </p:sp>
      <p:sp>
        <p:nvSpPr>
          <p:cNvPr id="3" name="Content Placeholder 2"/>
          <p:cNvSpPr>
            <a:spLocks noGrp="1"/>
          </p:cNvSpPr>
          <p:nvPr>
            <p:ph idx="1"/>
          </p:nvPr>
        </p:nvSpPr>
        <p:spPr>
          <a:xfrm>
            <a:off x="1981200" y="1412776"/>
            <a:ext cx="8229600" cy="5040560"/>
          </a:xfrm>
        </p:spPr>
        <p:txBody>
          <a:bodyPr>
            <a:normAutofit/>
          </a:bodyPr>
          <a:lstStyle/>
          <a:p>
            <a:r>
              <a:rPr lang="en-IN" b="1" dirty="0"/>
              <a:t>Machine language has following disadvantages :</a:t>
            </a:r>
            <a:endParaRPr lang="en-IN" dirty="0"/>
          </a:p>
          <a:p>
            <a:r>
              <a:rPr lang="en-IN" b="1" dirty="0"/>
              <a:t>Machine Dependent : </a:t>
            </a:r>
            <a:r>
              <a:rPr lang="en-IN" dirty="0"/>
              <a:t>Program written in machine language are machine dependent and hence program developed for one system does not execute on other system.</a:t>
            </a:r>
          </a:p>
          <a:p>
            <a:r>
              <a:rPr lang="en-IN" b="1" dirty="0"/>
              <a:t>Complex Language for Programming : </a:t>
            </a:r>
            <a:r>
              <a:rPr lang="en-IN" dirty="0"/>
              <a:t>Since machine language consists only sequence of 0s and 1s, so it is very difficult for programmer to remember and write each instructions. </a:t>
            </a:r>
          </a:p>
          <a:p>
            <a:r>
              <a:rPr lang="en-IN" b="1" dirty="0"/>
              <a:t>Error Prone : </a:t>
            </a:r>
            <a:r>
              <a:rPr lang="en-IN" dirty="0"/>
              <a:t>While programming using machine language everything need to be expressed in sequence of 0s and 1s which is very tedious task. So errors are frequently occurred while programming using machine language.</a:t>
            </a:r>
          </a:p>
          <a:p>
            <a:r>
              <a:rPr lang="en-IN" b="1" dirty="0"/>
              <a:t>Time Consuming : </a:t>
            </a:r>
            <a:r>
              <a:rPr lang="en-IN" dirty="0"/>
              <a:t>Writing program in machine language is time consuming process.</a:t>
            </a:r>
          </a:p>
          <a:p>
            <a:endParaRPr lang="en-IN" dirty="0"/>
          </a:p>
        </p:txBody>
      </p:sp>
    </p:spTree>
    <p:extLst>
      <p:ext uri="{BB962C8B-B14F-4D97-AF65-F5344CB8AC3E}">
        <p14:creationId xmlns:p14="http://schemas.microsoft.com/office/powerpoint/2010/main" val="1875202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04088"/>
            <a:ext cx="8229600" cy="420656"/>
          </a:xfrm>
        </p:spPr>
        <p:txBody>
          <a:bodyPr>
            <a:normAutofit fontScale="90000"/>
          </a:bodyPr>
          <a:lstStyle/>
          <a:p>
            <a:r>
              <a:rPr lang="en-US" dirty="0"/>
              <a:t>Continue </a:t>
            </a:r>
            <a:endParaRPr lang="en-IN" dirty="0"/>
          </a:p>
        </p:txBody>
      </p:sp>
      <p:sp>
        <p:nvSpPr>
          <p:cNvPr id="3" name="Content Placeholder 2"/>
          <p:cNvSpPr>
            <a:spLocks noGrp="1"/>
          </p:cNvSpPr>
          <p:nvPr>
            <p:ph idx="1"/>
          </p:nvPr>
        </p:nvSpPr>
        <p:spPr>
          <a:xfrm>
            <a:off x="1981200" y="1196752"/>
            <a:ext cx="8229600" cy="5127848"/>
          </a:xfrm>
        </p:spPr>
        <p:txBody>
          <a:bodyPr/>
          <a:lstStyle/>
          <a:p>
            <a:r>
              <a:rPr lang="en-IN" dirty="0"/>
              <a:t>A </a:t>
            </a:r>
            <a:r>
              <a:rPr lang="en-IN" i="1" dirty="0"/>
              <a:t>binary code</a:t>
            </a:r>
            <a:r>
              <a:rPr lang="en-IN" dirty="0"/>
              <a:t> represents text, computer processor instructions, or any other data using a two-symbol system. The two-symbol system used is often "0" and "1" from the </a:t>
            </a:r>
            <a:r>
              <a:rPr lang="en-IN" i="1" dirty="0"/>
              <a:t>binary</a:t>
            </a:r>
            <a:r>
              <a:rPr lang="en-IN" dirty="0"/>
              <a:t> number system.</a:t>
            </a:r>
          </a:p>
          <a:p>
            <a:r>
              <a:rPr lang="en-US" dirty="0"/>
              <a:t>      Binary Language</a:t>
            </a:r>
          </a:p>
          <a:p>
            <a:pPr marL="0" indent="0">
              <a:buNone/>
            </a:pPr>
            <a:endParaRPr lang="en-US" dirty="0"/>
          </a:p>
          <a:p>
            <a:pPr marL="0" indent="0">
              <a:buNone/>
            </a:pPr>
            <a:r>
              <a:rPr lang="en-US" dirty="0"/>
              <a:t>0                                 1</a:t>
            </a:r>
          </a:p>
          <a:p>
            <a:pPr marL="0" indent="0">
              <a:buNone/>
            </a:pPr>
            <a:r>
              <a:rPr lang="en-US" dirty="0"/>
              <a:t>Low level            high level</a:t>
            </a:r>
          </a:p>
          <a:p>
            <a:pPr marL="0" indent="0">
              <a:buNone/>
            </a:pPr>
            <a:r>
              <a:rPr lang="en-US" dirty="0"/>
              <a:t>    signal                    signal</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83542" y="3318729"/>
            <a:ext cx="4360931" cy="284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a:xfrm flipH="1">
            <a:off x="2495600" y="3284984"/>
            <a:ext cx="1368152" cy="7116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3863753" y="3284985"/>
            <a:ext cx="1220197" cy="6744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476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20688"/>
            <a:ext cx="8229600" cy="936104"/>
          </a:xfrm>
        </p:spPr>
        <p:txBody>
          <a:bodyPr/>
          <a:lstStyle/>
          <a:p>
            <a:r>
              <a:rPr lang="en-IN" dirty="0"/>
              <a:t>Algorithm</a:t>
            </a:r>
          </a:p>
        </p:txBody>
      </p:sp>
      <p:sp>
        <p:nvSpPr>
          <p:cNvPr id="3" name="Content Placeholder 2"/>
          <p:cNvSpPr>
            <a:spLocks noGrp="1"/>
          </p:cNvSpPr>
          <p:nvPr>
            <p:ph idx="1"/>
          </p:nvPr>
        </p:nvSpPr>
        <p:spPr>
          <a:xfrm>
            <a:off x="1981200" y="1628800"/>
            <a:ext cx="8229600" cy="4896544"/>
          </a:xfrm>
        </p:spPr>
        <p:txBody>
          <a:bodyPr>
            <a:normAutofit/>
          </a:bodyPr>
          <a:lstStyle/>
          <a:p>
            <a:r>
              <a:rPr lang="en-IN" dirty="0"/>
              <a:t>An algorithm is a set of well-defined instructions in sequence to solve a problem.</a:t>
            </a:r>
          </a:p>
          <a:p>
            <a:r>
              <a:rPr lang="en-IN" dirty="0"/>
              <a:t>Algorithm is a step-by-step procedure, which defines a set of instructions to be executed in a certain order to get the desired output. </a:t>
            </a:r>
          </a:p>
          <a:p>
            <a:r>
              <a:rPr lang="en-US" dirty="0"/>
              <a:t>It is a step by step procedure that provides solution to given problem.</a:t>
            </a:r>
            <a:endParaRPr lang="en-IN" dirty="0"/>
          </a:p>
          <a:p>
            <a:r>
              <a:rPr lang="en-US" dirty="0"/>
              <a:t>An Algorithm is a finite set of precise instruction for performing a computational problems.</a:t>
            </a:r>
          </a:p>
          <a:p>
            <a:r>
              <a:rPr lang="en-US" dirty="0"/>
              <a:t>In algorithm we are using simple English statement  as per your convenience.</a:t>
            </a:r>
          </a:p>
          <a:p>
            <a:endParaRPr lang="en-IN" dirty="0"/>
          </a:p>
          <a:p>
            <a:endParaRPr lang="en-IN" dirty="0"/>
          </a:p>
        </p:txBody>
      </p:sp>
    </p:spTree>
    <p:extLst>
      <p:ext uri="{BB962C8B-B14F-4D97-AF65-F5344CB8AC3E}">
        <p14:creationId xmlns:p14="http://schemas.microsoft.com/office/powerpoint/2010/main" val="412100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48680"/>
            <a:ext cx="8229600" cy="648072"/>
          </a:xfrm>
        </p:spPr>
        <p:txBody>
          <a:bodyPr>
            <a:normAutofit fontScale="90000"/>
          </a:bodyPr>
          <a:lstStyle/>
          <a:p>
            <a:r>
              <a:rPr lang="en-US" dirty="0"/>
              <a:t>Algorithm  for writing a </a:t>
            </a:r>
            <a:r>
              <a:rPr lang="en-US" dirty="0" err="1"/>
              <a:t>gmail</a:t>
            </a:r>
            <a:r>
              <a:rPr lang="en-US" dirty="0"/>
              <a:t> to xyz person</a:t>
            </a:r>
            <a:endParaRPr lang="en-IN" dirty="0"/>
          </a:p>
        </p:txBody>
      </p:sp>
      <p:sp>
        <p:nvSpPr>
          <p:cNvPr id="3" name="Content Placeholder 2"/>
          <p:cNvSpPr>
            <a:spLocks noGrp="1"/>
          </p:cNvSpPr>
          <p:nvPr>
            <p:ph idx="1"/>
          </p:nvPr>
        </p:nvSpPr>
        <p:spPr>
          <a:xfrm>
            <a:off x="1981200" y="1196752"/>
            <a:ext cx="8229600" cy="5127848"/>
          </a:xfrm>
        </p:spPr>
        <p:txBody>
          <a:bodyPr>
            <a:normAutofit/>
          </a:bodyPr>
          <a:lstStyle/>
          <a:p>
            <a:r>
              <a:rPr lang="en-US" dirty="0"/>
              <a:t>Step 1: start</a:t>
            </a:r>
          </a:p>
          <a:p>
            <a:r>
              <a:rPr lang="en-US" dirty="0"/>
              <a:t>Step2: open bowser  ,the go to </a:t>
            </a:r>
            <a:r>
              <a:rPr lang="en-US" dirty="0" err="1"/>
              <a:t>google</a:t>
            </a:r>
            <a:r>
              <a:rPr lang="en-US" dirty="0"/>
              <a:t>,&amp;   then go to </a:t>
            </a:r>
            <a:r>
              <a:rPr lang="en-US" dirty="0" err="1"/>
              <a:t>gmail</a:t>
            </a:r>
            <a:r>
              <a:rPr lang="en-US" dirty="0"/>
              <a:t>.</a:t>
            </a:r>
          </a:p>
          <a:p>
            <a:r>
              <a:rPr lang="en-US" dirty="0"/>
              <a:t>Step 3: if I am new user, then I have to create a Gmail account</a:t>
            </a:r>
          </a:p>
          <a:p>
            <a:r>
              <a:rPr lang="en-US" dirty="0"/>
              <a:t>Step 4: click on login into Gmail account</a:t>
            </a:r>
          </a:p>
          <a:p>
            <a:r>
              <a:rPr lang="en-US" dirty="0"/>
              <a:t>Step  5: enter your </a:t>
            </a:r>
            <a:r>
              <a:rPr lang="en-US" dirty="0" err="1"/>
              <a:t>gmail</a:t>
            </a:r>
            <a:r>
              <a:rPr lang="en-US" dirty="0"/>
              <a:t>  id</a:t>
            </a:r>
          </a:p>
          <a:p>
            <a:r>
              <a:rPr lang="en-US" dirty="0"/>
              <a:t>Step 6: enter your </a:t>
            </a:r>
            <a:r>
              <a:rPr lang="en-US" dirty="0" err="1"/>
              <a:t>passward</a:t>
            </a:r>
            <a:endParaRPr lang="en-US" dirty="0"/>
          </a:p>
          <a:p>
            <a:r>
              <a:rPr lang="en-US" dirty="0"/>
              <a:t>Step  7: we have to click on sign in </a:t>
            </a:r>
            <a:r>
              <a:rPr lang="en-US" dirty="0" err="1"/>
              <a:t>buttton</a:t>
            </a:r>
            <a:r>
              <a:rPr lang="en-US" dirty="0"/>
              <a:t>.</a:t>
            </a:r>
          </a:p>
          <a:p>
            <a:r>
              <a:rPr lang="en-US" dirty="0"/>
              <a:t>Step 8: click on compose mail</a:t>
            </a:r>
          </a:p>
          <a:p>
            <a:r>
              <a:rPr lang="en-US" dirty="0"/>
              <a:t>Step 9: u have to mention the sender mail </a:t>
            </a:r>
            <a:r>
              <a:rPr lang="en-US" dirty="0" err="1"/>
              <a:t>id,content</a:t>
            </a:r>
            <a:r>
              <a:rPr lang="en-US" dirty="0"/>
              <a:t>.</a:t>
            </a:r>
          </a:p>
          <a:p>
            <a:r>
              <a:rPr lang="en-US" dirty="0"/>
              <a:t>Step 10: click on send button</a:t>
            </a:r>
          </a:p>
          <a:p>
            <a:r>
              <a:rPr lang="en-US" dirty="0"/>
              <a:t>Step 11: End</a:t>
            </a:r>
          </a:p>
          <a:p>
            <a:endParaRPr lang="en-IN" dirty="0"/>
          </a:p>
        </p:txBody>
      </p:sp>
    </p:spTree>
    <p:extLst>
      <p:ext uri="{BB962C8B-B14F-4D97-AF65-F5344CB8AC3E}">
        <p14:creationId xmlns:p14="http://schemas.microsoft.com/office/powerpoint/2010/main" val="619482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for writing Gmail</a:t>
            </a:r>
            <a:endParaRPr lang="en-IN" dirty="0"/>
          </a:p>
        </p:txBody>
      </p:sp>
      <p:sp>
        <p:nvSpPr>
          <p:cNvPr id="3" name="Content Placeholder 2"/>
          <p:cNvSpPr>
            <a:spLocks noGrp="1"/>
          </p:cNvSpPr>
          <p:nvPr>
            <p:ph idx="1"/>
          </p:nvPr>
        </p:nvSpPr>
        <p:spPr/>
        <p:txBody>
          <a:bodyPr>
            <a:normAutofit fontScale="92500" lnSpcReduction="20000"/>
          </a:bodyPr>
          <a:lstStyle/>
          <a:p>
            <a:r>
              <a:rPr lang="en-US" dirty="0"/>
              <a:t>Step 1: start</a:t>
            </a:r>
          </a:p>
          <a:p>
            <a:r>
              <a:rPr lang="en-US" dirty="0"/>
              <a:t>Step 2: open browser </a:t>
            </a:r>
          </a:p>
          <a:p>
            <a:r>
              <a:rPr lang="en-US" dirty="0"/>
              <a:t>Step 3: open Google &amp; in that type Gmail sign in</a:t>
            </a:r>
          </a:p>
          <a:p>
            <a:r>
              <a:rPr lang="en-US" dirty="0"/>
              <a:t>Step 4: if the person is new user ,he/she will create </a:t>
            </a:r>
            <a:r>
              <a:rPr lang="en-US" dirty="0" err="1"/>
              <a:t>gmail</a:t>
            </a:r>
            <a:r>
              <a:rPr lang="en-US" dirty="0"/>
              <a:t> login</a:t>
            </a:r>
          </a:p>
          <a:p>
            <a:r>
              <a:rPr lang="en-US" dirty="0"/>
              <a:t>Step 5: sign In into  </a:t>
            </a:r>
            <a:r>
              <a:rPr lang="en-US" dirty="0" err="1"/>
              <a:t>gmail</a:t>
            </a:r>
            <a:r>
              <a:rPr lang="en-US" dirty="0"/>
              <a:t> </a:t>
            </a:r>
          </a:p>
          <a:p>
            <a:r>
              <a:rPr lang="en-US" dirty="0"/>
              <a:t>Step 6: enter your </a:t>
            </a:r>
            <a:r>
              <a:rPr lang="en-US" dirty="0" err="1"/>
              <a:t>gmail</a:t>
            </a:r>
            <a:r>
              <a:rPr lang="en-US" dirty="0"/>
              <a:t> id</a:t>
            </a:r>
          </a:p>
          <a:p>
            <a:r>
              <a:rPr lang="en-US" dirty="0"/>
              <a:t>Step 7: enter your  password.</a:t>
            </a:r>
          </a:p>
          <a:p>
            <a:r>
              <a:rPr lang="en-US" dirty="0"/>
              <a:t>Step 8: click on compose mail</a:t>
            </a:r>
          </a:p>
          <a:p>
            <a:r>
              <a:rPr lang="en-US" dirty="0"/>
              <a:t>Step 9: write  sender mail id &amp; content in write box</a:t>
            </a:r>
          </a:p>
          <a:p>
            <a:r>
              <a:rPr lang="en-US" dirty="0"/>
              <a:t>Step 10: click on send button.</a:t>
            </a:r>
          </a:p>
          <a:p>
            <a:r>
              <a:rPr lang="en-US" dirty="0"/>
              <a:t>Step 11: end.</a:t>
            </a:r>
          </a:p>
          <a:p>
            <a:endParaRPr lang="en-IN" dirty="0"/>
          </a:p>
        </p:txBody>
      </p:sp>
    </p:spTree>
    <p:extLst>
      <p:ext uri="{BB962C8B-B14F-4D97-AF65-F5344CB8AC3E}">
        <p14:creationId xmlns:p14="http://schemas.microsoft.com/office/powerpoint/2010/main" val="4149545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76672"/>
            <a:ext cx="8229600" cy="792088"/>
          </a:xfrm>
        </p:spPr>
        <p:txBody>
          <a:bodyPr>
            <a:normAutofit/>
          </a:bodyPr>
          <a:lstStyle/>
          <a:p>
            <a:r>
              <a:rPr lang="en-US" dirty="0"/>
              <a:t>Algorithm for mail in Gmail</a:t>
            </a:r>
            <a:endParaRPr lang="en-IN" dirty="0"/>
          </a:p>
        </p:txBody>
      </p:sp>
      <p:sp>
        <p:nvSpPr>
          <p:cNvPr id="3" name="Content Placeholder 2"/>
          <p:cNvSpPr>
            <a:spLocks noGrp="1"/>
          </p:cNvSpPr>
          <p:nvPr>
            <p:ph idx="1"/>
          </p:nvPr>
        </p:nvSpPr>
        <p:spPr>
          <a:xfrm>
            <a:off x="1981200" y="1412776"/>
            <a:ext cx="8229600" cy="4911824"/>
          </a:xfrm>
        </p:spPr>
        <p:txBody>
          <a:bodyPr>
            <a:normAutofit/>
          </a:bodyPr>
          <a:lstStyle/>
          <a:p>
            <a:r>
              <a:rPr lang="en-IN" dirty="0"/>
              <a:t>Step1-open the chrome or browser.</a:t>
            </a:r>
          </a:p>
          <a:p>
            <a:r>
              <a:rPr lang="en-IN" dirty="0"/>
              <a:t>Step2-Sign into Gmail.</a:t>
            </a:r>
          </a:p>
          <a:p>
            <a:r>
              <a:rPr lang="en-IN" dirty="0"/>
              <a:t>Step3-If new user then create new account in </a:t>
            </a:r>
            <a:r>
              <a:rPr lang="en-IN" dirty="0" err="1"/>
              <a:t>gmail</a:t>
            </a:r>
            <a:r>
              <a:rPr lang="en-IN" dirty="0"/>
              <a:t> .</a:t>
            </a:r>
          </a:p>
          <a:p>
            <a:r>
              <a:rPr lang="en-IN" dirty="0"/>
              <a:t>Step4-Sign into Gmail.</a:t>
            </a:r>
          </a:p>
          <a:p>
            <a:r>
              <a:rPr lang="en-IN" dirty="0"/>
              <a:t>Step5-Enter the email or phone.</a:t>
            </a:r>
          </a:p>
          <a:p>
            <a:r>
              <a:rPr lang="en-IN" dirty="0"/>
              <a:t>Step6-Enter password.</a:t>
            </a:r>
          </a:p>
          <a:p>
            <a:r>
              <a:rPr lang="en-IN" dirty="0"/>
              <a:t>Step7-click on compose mail.</a:t>
            </a:r>
          </a:p>
          <a:p>
            <a:r>
              <a:rPr lang="en-IN" dirty="0"/>
              <a:t>Step8-write the  receiver  </a:t>
            </a:r>
            <a:r>
              <a:rPr lang="en-IN" dirty="0" err="1"/>
              <a:t>email_id</a:t>
            </a:r>
            <a:r>
              <a:rPr lang="en-IN" dirty="0"/>
              <a:t> , subject &amp; data in it </a:t>
            </a:r>
          </a:p>
          <a:p>
            <a:r>
              <a:rPr lang="en-IN" dirty="0"/>
              <a:t>Step9-Send mail.</a:t>
            </a:r>
          </a:p>
          <a:p>
            <a:endParaRPr lang="en-IN" dirty="0"/>
          </a:p>
          <a:p>
            <a:endParaRPr lang="en-IN" dirty="0"/>
          </a:p>
        </p:txBody>
      </p:sp>
    </p:spTree>
    <p:extLst>
      <p:ext uri="{BB962C8B-B14F-4D97-AF65-F5344CB8AC3E}">
        <p14:creationId xmlns:p14="http://schemas.microsoft.com/office/powerpoint/2010/main" val="206216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The following is an algorithm for making a cup of tea.</a:t>
            </a:r>
            <a:endParaRPr lang="en-IN" dirty="0"/>
          </a:p>
        </p:txBody>
      </p:sp>
      <p:sp>
        <p:nvSpPr>
          <p:cNvPr id="3" name="Content Placeholder 2"/>
          <p:cNvSpPr>
            <a:spLocks noGrp="1"/>
          </p:cNvSpPr>
          <p:nvPr>
            <p:ph idx="1"/>
          </p:nvPr>
        </p:nvSpPr>
        <p:spPr/>
        <p:txBody>
          <a:bodyPr/>
          <a:lstStyle/>
          <a:p>
            <a:r>
              <a:rPr lang="en-IN" dirty="0"/>
              <a:t>Step1-Put the teabag in a cup.</a:t>
            </a:r>
          </a:p>
          <a:p>
            <a:r>
              <a:rPr lang="en-IN" dirty="0"/>
              <a:t>Step2-Fill the kettle with water.</a:t>
            </a:r>
          </a:p>
          <a:p>
            <a:r>
              <a:rPr lang="en-IN" dirty="0"/>
              <a:t>Step3-Boil the water in the kettle.</a:t>
            </a:r>
          </a:p>
          <a:p>
            <a:r>
              <a:rPr lang="en-IN" dirty="0"/>
              <a:t>Step4-Pour some of the boiled water into the cup.</a:t>
            </a:r>
          </a:p>
          <a:p>
            <a:r>
              <a:rPr lang="en-IN" dirty="0"/>
              <a:t>Step5-Add milk to the cup.</a:t>
            </a:r>
          </a:p>
          <a:p>
            <a:r>
              <a:rPr lang="en-IN" dirty="0"/>
              <a:t>Step6-Add sugar to the cup.</a:t>
            </a:r>
          </a:p>
          <a:p>
            <a:r>
              <a:rPr lang="en-IN" dirty="0"/>
              <a:t>Step7-Stir the </a:t>
            </a:r>
            <a:r>
              <a:rPr lang="en-IN" b="1" dirty="0"/>
              <a:t>tea</a:t>
            </a:r>
            <a:r>
              <a:rPr lang="en-IN" dirty="0"/>
              <a:t>.</a:t>
            </a:r>
          </a:p>
          <a:p>
            <a:r>
              <a:rPr lang="en-IN" dirty="0"/>
              <a:t>Step8-Drink the </a:t>
            </a:r>
            <a:r>
              <a:rPr lang="en-IN" b="1" dirty="0"/>
              <a:t>tea</a:t>
            </a:r>
            <a:r>
              <a:rPr lang="en-IN" dirty="0"/>
              <a:t>.</a:t>
            </a:r>
          </a:p>
          <a:p>
            <a:endParaRPr lang="en-IN" dirty="0"/>
          </a:p>
        </p:txBody>
      </p:sp>
    </p:spTree>
    <p:extLst>
      <p:ext uri="{BB962C8B-B14F-4D97-AF65-F5344CB8AC3E}">
        <p14:creationId xmlns:p14="http://schemas.microsoft.com/office/powerpoint/2010/main" val="697673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9656" y="260648"/>
            <a:ext cx="7211144" cy="864096"/>
          </a:xfrm>
        </p:spPr>
        <p:txBody>
          <a:bodyPr>
            <a:normAutofit fontScale="90000"/>
          </a:bodyPr>
          <a:lstStyle/>
          <a:p>
            <a:r>
              <a:rPr lang="en-US" dirty="0"/>
              <a:t>Write a  C program for doing addition of  two no</a:t>
            </a:r>
            <a:endParaRPr lang="en-IN" dirty="0"/>
          </a:p>
        </p:txBody>
      </p:sp>
      <p:sp>
        <p:nvSpPr>
          <p:cNvPr id="3" name="Content Placeholder 2"/>
          <p:cNvSpPr>
            <a:spLocks noGrp="1"/>
          </p:cNvSpPr>
          <p:nvPr>
            <p:ph idx="1"/>
          </p:nvPr>
        </p:nvSpPr>
        <p:spPr>
          <a:xfrm>
            <a:off x="3287688" y="1772816"/>
            <a:ext cx="6923112" cy="4551784"/>
          </a:xfrm>
        </p:spPr>
        <p:txBody>
          <a:bodyPr/>
          <a:lstStyle/>
          <a:p>
            <a:r>
              <a:rPr lang="en-US" dirty="0"/>
              <a:t>Step 1: start</a:t>
            </a:r>
          </a:p>
          <a:p>
            <a:r>
              <a:rPr lang="en-US" dirty="0"/>
              <a:t>Step2 :open the c software or </a:t>
            </a:r>
            <a:r>
              <a:rPr lang="en-US" dirty="0" err="1"/>
              <a:t>turboc</a:t>
            </a:r>
            <a:endParaRPr lang="en-US" dirty="0"/>
          </a:p>
          <a:p>
            <a:r>
              <a:rPr lang="en-US" dirty="0"/>
              <a:t>Step 3:  taking inputs of 2 no  num1 n num2  ,sum</a:t>
            </a:r>
          </a:p>
          <a:p>
            <a:r>
              <a:rPr lang="en-US" dirty="0"/>
              <a:t>Step 4: adding two no </a:t>
            </a:r>
            <a:r>
              <a:rPr lang="en-US" dirty="0" err="1"/>
              <a:t>i.e</a:t>
            </a:r>
            <a:r>
              <a:rPr lang="en-US" dirty="0"/>
              <a:t> num1 + num2 </a:t>
            </a:r>
          </a:p>
          <a:p>
            <a:r>
              <a:rPr lang="en-US" dirty="0"/>
              <a:t>Store in variable sum=num1 + num2 </a:t>
            </a:r>
          </a:p>
          <a:p>
            <a:r>
              <a:rPr lang="en-US" dirty="0"/>
              <a:t>Step 5: show  result  sum.</a:t>
            </a:r>
          </a:p>
          <a:p>
            <a:r>
              <a:rPr lang="en-US" dirty="0"/>
              <a:t>Step 6: End</a:t>
            </a:r>
          </a:p>
          <a:p>
            <a:endParaRPr lang="en-IN" dirty="0"/>
          </a:p>
        </p:txBody>
      </p:sp>
    </p:spTree>
    <p:extLst>
      <p:ext uri="{BB962C8B-B14F-4D97-AF65-F5344CB8AC3E}">
        <p14:creationId xmlns:p14="http://schemas.microsoft.com/office/powerpoint/2010/main" val="10399591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04088"/>
            <a:ext cx="8229600" cy="780696"/>
          </a:xfrm>
        </p:spPr>
        <p:txBody>
          <a:bodyPr>
            <a:normAutofit/>
          </a:bodyPr>
          <a:lstStyle/>
          <a:p>
            <a:r>
              <a:rPr lang="en-US" dirty="0"/>
              <a:t>           To Add 2 no</a:t>
            </a:r>
            <a:endParaRPr lang="en-IN" dirty="0"/>
          </a:p>
        </p:txBody>
      </p:sp>
      <p:sp>
        <p:nvSpPr>
          <p:cNvPr id="3" name="Content Placeholder 2"/>
          <p:cNvSpPr>
            <a:spLocks noGrp="1"/>
          </p:cNvSpPr>
          <p:nvPr>
            <p:ph idx="1"/>
          </p:nvPr>
        </p:nvSpPr>
        <p:spPr>
          <a:xfrm>
            <a:off x="2855641" y="1628800"/>
            <a:ext cx="7202760" cy="4282422"/>
          </a:xfrm>
        </p:spPr>
        <p:txBody>
          <a:bodyPr/>
          <a:lstStyle/>
          <a:p>
            <a:r>
              <a:rPr lang="en-IN" dirty="0"/>
              <a:t>Step 1: Start </a:t>
            </a:r>
          </a:p>
          <a:p>
            <a:r>
              <a:rPr lang="en-IN" dirty="0"/>
              <a:t>Step 2: Declare  variables num1, num2 and sum. </a:t>
            </a:r>
          </a:p>
          <a:p>
            <a:r>
              <a:rPr lang="en-IN" dirty="0"/>
              <a:t>Step 3: Read values num1=2 and num2=3. </a:t>
            </a:r>
          </a:p>
          <a:p>
            <a:r>
              <a:rPr lang="en-IN" dirty="0"/>
              <a:t>Step 4: Add num1 and num2 and assign the result to sum. sum←num1+num2 </a:t>
            </a:r>
          </a:p>
          <a:p>
            <a:r>
              <a:rPr lang="en-IN" dirty="0"/>
              <a:t>Step 5: Display sum </a:t>
            </a:r>
          </a:p>
          <a:p>
            <a:r>
              <a:rPr lang="en-IN" dirty="0"/>
              <a:t>Step 6: Stop</a:t>
            </a:r>
          </a:p>
          <a:p>
            <a:endParaRPr lang="en-IN" dirty="0"/>
          </a:p>
        </p:txBody>
      </p:sp>
    </p:spTree>
    <p:extLst>
      <p:ext uri="{BB962C8B-B14F-4D97-AF65-F5344CB8AC3E}">
        <p14:creationId xmlns:p14="http://schemas.microsoft.com/office/powerpoint/2010/main" val="748294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9696" y="476672"/>
            <a:ext cx="6851104" cy="1370416"/>
          </a:xfrm>
        </p:spPr>
        <p:txBody>
          <a:bodyPr>
            <a:normAutofit fontScale="90000"/>
          </a:bodyPr>
          <a:lstStyle/>
          <a:p>
            <a:r>
              <a:rPr lang="en-IN" b="1" dirty="0"/>
              <a:t>Characteristics of an Algorithm</a:t>
            </a:r>
            <a:br>
              <a:rPr lang="en-IN" b="1" dirty="0"/>
            </a:br>
            <a:endParaRPr lang="en-IN"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345608" y="1847088"/>
            <a:ext cx="6141155" cy="377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405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Characteristics of an Algorithm</a:t>
            </a:r>
            <a:endParaRPr lang="en-IN" dirty="0"/>
          </a:p>
        </p:txBody>
      </p:sp>
      <p:sp>
        <p:nvSpPr>
          <p:cNvPr id="3" name="Content Placeholder 2"/>
          <p:cNvSpPr>
            <a:spLocks noGrp="1"/>
          </p:cNvSpPr>
          <p:nvPr>
            <p:ph idx="1"/>
          </p:nvPr>
        </p:nvSpPr>
        <p:spPr/>
        <p:txBody>
          <a:bodyPr>
            <a:normAutofit fontScale="92500" lnSpcReduction="20000"/>
          </a:bodyPr>
          <a:lstStyle/>
          <a:p>
            <a:r>
              <a:rPr lang="en-IN" b="1" dirty="0"/>
              <a:t>Clear and Unambiguous</a:t>
            </a:r>
            <a:r>
              <a:rPr lang="en-IN" dirty="0"/>
              <a:t>: Algorithm should be clear and unambiguous. Each of its steps should be clear in all aspects and must lead to only one meaning.</a:t>
            </a:r>
          </a:p>
          <a:p>
            <a:r>
              <a:rPr lang="en-IN" b="1" dirty="0"/>
              <a:t>Well-Defined Inputs</a:t>
            </a:r>
            <a:r>
              <a:rPr lang="en-IN" dirty="0"/>
              <a:t>: If an algorithm says to take inputs, it should be well-defined inputs.</a:t>
            </a:r>
          </a:p>
          <a:p>
            <a:r>
              <a:rPr lang="en-IN" b="1" dirty="0"/>
              <a:t>Well-Defined Outputs:</a:t>
            </a:r>
            <a:r>
              <a:rPr lang="en-IN" dirty="0"/>
              <a:t> The algorithm must clearly define what output will be yielded and it should be well-defined as well.</a:t>
            </a:r>
          </a:p>
          <a:p>
            <a:r>
              <a:rPr lang="en-IN" b="1" dirty="0"/>
              <a:t>Finite-ness:</a:t>
            </a:r>
            <a:r>
              <a:rPr lang="en-IN" dirty="0"/>
              <a:t> The algorithm must be finite, i.e. it should not end up in an infinite loops or similar.</a:t>
            </a:r>
          </a:p>
          <a:p>
            <a:r>
              <a:rPr lang="en-IN" b="1" dirty="0"/>
              <a:t>Feasible:</a:t>
            </a:r>
            <a:r>
              <a:rPr lang="en-IN" dirty="0"/>
              <a:t> The algorithm must be simple, generic and practical, such that it can be executed upon will the available resources. It must not contain some future technology, or anything.</a:t>
            </a:r>
          </a:p>
          <a:p>
            <a:r>
              <a:rPr lang="en-IN" b="1" dirty="0"/>
              <a:t>Language Independent:</a:t>
            </a:r>
            <a:r>
              <a:rPr lang="en-IN" dirty="0"/>
              <a:t> The Algorithm designed must be language-independent, i.e. it must be just plain instructions that can be implemented in any language, and yet the output will be same, as expected.</a:t>
            </a:r>
          </a:p>
          <a:p>
            <a:endParaRPr lang="en-IN" dirty="0"/>
          </a:p>
          <a:p>
            <a:endParaRPr lang="en-IN" dirty="0"/>
          </a:p>
        </p:txBody>
      </p:sp>
    </p:spTree>
    <p:extLst>
      <p:ext uri="{BB962C8B-B14F-4D97-AF65-F5344CB8AC3E}">
        <p14:creationId xmlns:p14="http://schemas.microsoft.com/office/powerpoint/2010/main" val="3423375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Advantages of Algorithms:</a:t>
            </a:r>
            <a:br>
              <a:rPr lang="en-IN" b="1" dirty="0"/>
            </a:br>
            <a:endParaRPr lang="en-IN" dirty="0"/>
          </a:p>
        </p:txBody>
      </p:sp>
      <p:sp>
        <p:nvSpPr>
          <p:cNvPr id="3" name="Content Placeholder 2"/>
          <p:cNvSpPr>
            <a:spLocks noGrp="1"/>
          </p:cNvSpPr>
          <p:nvPr>
            <p:ph idx="1"/>
          </p:nvPr>
        </p:nvSpPr>
        <p:spPr/>
        <p:txBody>
          <a:bodyPr/>
          <a:lstStyle/>
          <a:p>
            <a:r>
              <a:rPr lang="en-IN" dirty="0"/>
              <a:t>It is easy to understand.</a:t>
            </a:r>
          </a:p>
          <a:p>
            <a:r>
              <a:rPr lang="en-US" dirty="0"/>
              <a:t>An Algorithm gives a language independent layout of the program or process.</a:t>
            </a:r>
            <a:endParaRPr lang="en-IN" dirty="0"/>
          </a:p>
          <a:p>
            <a:r>
              <a:rPr lang="en-IN" dirty="0"/>
              <a:t>Algorithm is a step-wise representation of a solution to a given problem.</a:t>
            </a:r>
          </a:p>
          <a:p>
            <a:r>
              <a:rPr lang="en-IN" dirty="0"/>
              <a:t>In Algorithm the problem is broken down into smaller pieces or steps hence, it is easier for the programmer to convert it into an actual program.</a:t>
            </a:r>
          </a:p>
          <a:p>
            <a:endParaRPr lang="en-IN" dirty="0"/>
          </a:p>
        </p:txBody>
      </p:sp>
    </p:spTree>
    <p:extLst>
      <p:ext uri="{BB962C8B-B14F-4D97-AF65-F5344CB8AC3E}">
        <p14:creationId xmlns:p14="http://schemas.microsoft.com/office/powerpoint/2010/main" val="422109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Disadvantages of Algorithms:</a:t>
            </a:r>
            <a:br>
              <a:rPr lang="en-IN" b="1" dirty="0"/>
            </a:br>
            <a:endParaRPr lang="en-IN" dirty="0"/>
          </a:p>
        </p:txBody>
      </p:sp>
      <p:sp>
        <p:nvSpPr>
          <p:cNvPr id="3" name="Content Placeholder 2"/>
          <p:cNvSpPr>
            <a:spLocks noGrp="1"/>
          </p:cNvSpPr>
          <p:nvPr>
            <p:ph idx="1"/>
          </p:nvPr>
        </p:nvSpPr>
        <p:spPr>
          <a:xfrm>
            <a:off x="1981200" y="1628800"/>
            <a:ext cx="8229600" cy="4104456"/>
          </a:xfrm>
        </p:spPr>
        <p:txBody>
          <a:bodyPr/>
          <a:lstStyle/>
          <a:p>
            <a:r>
              <a:rPr lang="en-IN" dirty="0"/>
              <a:t>Writing an algorithm takes a long time so it is time-consuming.</a:t>
            </a:r>
          </a:p>
          <a:p>
            <a:r>
              <a:rPr lang="en-IN" dirty="0"/>
              <a:t>Branching and Looping statements are difficult to show in Algorithms.</a:t>
            </a:r>
          </a:p>
          <a:p>
            <a:r>
              <a:rPr lang="en-US" dirty="0"/>
              <a:t>For large algorithms it becomes difficult to understand the flow of program control.</a:t>
            </a:r>
          </a:p>
          <a:p>
            <a:endParaRPr lang="en-IN" dirty="0"/>
          </a:p>
        </p:txBody>
      </p:sp>
    </p:spTree>
    <p:extLst>
      <p:ext uri="{BB962C8B-B14F-4D97-AF65-F5344CB8AC3E}">
        <p14:creationId xmlns:p14="http://schemas.microsoft.com/office/powerpoint/2010/main" val="21710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04664"/>
            <a:ext cx="8229600" cy="864096"/>
          </a:xfrm>
        </p:spPr>
        <p:txBody>
          <a:bodyPr>
            <a:normAutofit/>
          </a:bodyPr>
          <a:lstStyle/>
          <a:p>
            <a:r>
              <a:rPr lang="en-US" dirty="0"/>
              <a:t>              Flowchart </a:t>
            </a:r>
            <a:endParaRPr lang="en-IN" dirty="0"/>
          </a:p>
        </p:txBody>
      </p:sp>
      <p:sp>
        <p:nvSpPr>
          <p:cNvPr id="3" name="Content Placeholder 2"/>
          <p:cNvSpPr>
            <a:spLocks noGrp="1"/>
          </p:cNvSpPr>
          <p:nvPr>
            <p:ph idx="1"/>
          </p:nvPr>
        </p:nvSpPr>
        <p:spPr>
          <a:xfrm>
            <a:off x="2927648" y="1268760"/>
            <a:ext cx="7283152" cy="5055840"/>
          </a:xfrm>
        </p:spPr>
        <p:txBody>
          <a:bodyPr>
            <a:normAutofit/>
          </a:bodyPr>
          <a:lstStyle/>
          <a:p>
            <a:r>
              <a:rPr lang="en-US" dirty="0"/>
              <a:t>A pictorial representation of an algorithm is called  a Flowchart.</a:t>
            </a:r>
          </a:p>
          <a:p>
            <a:r>
              <a:rPr lang="en-IN" dirty="0"/>
              <a:t>flowchart is a graphical representation that explains the sequence of operations to be performed in order to solve a problem under consideration.</a:t>
            </a:r>
            <a:endParaRPr lang="en-US" dirty="0"/>
          </a:p>
          <a:p>
            <a:r>
              <a:rPr lang="en-US" dirty="0"/>
              <a:t>In flowchart, The steps in the algorithm are represented in the form of different shapes of boxes and the logical flow is indicated by interconnecting arrows.</a:t>
            </a:r>
          </a:p>
          <a:p>
            <a:r>
              <a:rPr lang="en-US" dirty="0"/>
              <a:t>The boxes are used to represent different operations and the arrows are used to repent the sequence of these operations.</a:t>
            </a:r>
          </a:p>
          <a:p>
            <a:r>
              <a:rPr lang="en-US" dirty="0"/>
              <a:t>Since this is visual way of algorithm representations, it helps the programmer in understanding the logic of the program</a:t>
            </a:r>
            <a:endParaRPr lang="en-IN" dirty="0"/>
          </a:p>
        </p:txBody>
      </p:sp>
    </p:spTree>
    <p:extLst>
      <p:ext uri="{BB962C8B-B14F-4D97-AF65-F5344CB8AC3E}">
        <p14:creationId xmlns:p14="http://schemas.microsoft.com/office/powerpoint/2010/main" val="163772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6064" y="188640"/>
            <a:ext cx="6624736" cy="1080120"/>
          </a:xfrm>
        </p:spPr>
        <p:txBody>
          <a:bodyPr>
            <a:normAutofit/>
          </a:bodyPr>
          <a:lstStyle/>
          <a:p>
            <a:r>
              <a:rPr lang="en-US" dirty="0"/>
              <a:t>Standard Symbol</a:t>
            </a:r>
            <a:endParaRPr lang="en-IN" dirty="0"/>
          </a:p>
        </p:txBody>
      </p:sp>
      <p:sp>
        <p:nvSpPr>
          <p:cNvPr id="4" name="Content Placeholder 3"/>
          <p:cNvSpPr>
            <a:spLocks noGrp="1"/>
          </p:cNvSpPr>
          <p:nvPr>
            <p:ph idx="1"/>
          </p:nvPr>
        </p:nvSpPr>
        <p:spPr>
          <a:xfrm>
            <a:off x="3586064" y="438150"/>
            <a:ext cx="6624736" cy="5886450"/>
          </a:xfrm>
        </p:spPr>
        <p:txBody>
          <a:bodyPr/>
          <a:lstStyle/>
          <a:p>
            <a:pPr marL="0" indent="0">
              <a:buNone/>
            </a:pPr>
            <a:r>
              <a:rPr lang="en-IN" sz="2000" dirty="0"/>
              <a:t>:</a:t>
            </a:r>
          </a:p>
          <a:p>
            <a:pPr marL="0" indent="0">
              <a:buNone/>
            </a:pPr>
            <a:r>
              <a:rPr lang="en-US" dirty="0"/>
              <a:t>                                                                                                              </a:t>
            </a:r>
            <a:endParaRPr lang="en-IN"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352" y="1412776"/>
            <a:ext cx="6347048"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227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1000"/>
                                        <p:tgtEl>
                                          <p:spTgt spid="1028"/>
                                        </p:tgtEl>
                                      </p:cBhvr>
                                    </p:animEffect>
                                    <p:anim calcmode="lin" valueType="num">
                                      <p:cBhvr>
                                        <p:cTn id="8" dur="1000" fill="hold"/>
                                        <p:tgtEl>
                                          <p:spTgt spid="1028"/>
                                        </p:tgtEl>
                                        <p:attrNameLst>
                                          <p:attrName>ppt_x</p:attrName>
                                        </p:attrNameLst>
                                      </p:cBhvr>
                                      <p:tavLst>
                                        <p:tav tm="0">
                                          <p:val>
                                            <p:strVal val="#ppt_x"/>
                                          </p:val>
                                        </p:tav>
                                        <p:tav tm="100000">
                                          <p:val>
                                            <p:strVal val="#ppt_x"/>
                                          </p:val>
                                        </p:tav>
                                      </p:tavLst>
                                    </p:anim>
                                    <p:anim calcmode="lin" valueType="num">
                                      <p:cBhvr>
                                        <p:cTn id="9"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3D31-90BC-4307-B0B3-10515CAA2C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A890C3E-169F-4211-8A0D-D2C5E53D8DDC}"/>
              </a:ext>
            </a:extLst>
          </p:cNvPr>
          <p:cNvSpPr>
            <a:spLocks noGrp="1"/>
          </p:cNvSpPr>
          <p:nvPr>
            <p:ph idx="1"/>
          </p:nvPr>
        </p:nvSpPr>
        <p:spPr/>
        <p:txBody>
          <a:bodyPr/>
          <a:lstStyle/>
          <a:p>
            <a:r>
              <a:rPr lang="en-US" dirty="0"/>
              <a:t>Rahul</a:t>
            </a:r>
          </a:p>
          <a:p>
            <a:r>
              <a:rPr lang="en-US" dirty="0"/>
              <a:t>Name of the student</a:t>
            </a:r>
          </a:p>
          <a:p>
            <a:r>
              <a:rPr lang="en-US" dirty="0"/>
              <a:t>Dob</a:t>
            </a:r>
          </a:p>
          <a:p>
            <a:r>
              <a:rPr lang="en-US" dirty="0"/>
              <a:t>Address</a:t>
            </a:r>
          </a:p>
          <a:p>
            <a:r>
              <a:rPr lang="en-US" dirty="0"/>
              <a:t>Mobile no </a:t>
            </a:r>
          </a:p>
          <a:p>
            <a:r>
              <a:rPr lang="en-US" dirty="0"/>
              <a:t>roll</a:t>
            </a:r>
            <a:endParaRPr lang="en-IN" dirty="0"/>
          </a:p>
        </p:txBody>
      </p:sp>
    </p:spTree>
    <p:extLst>
      <p:ext uri="{BB962C8B-B14F-4D97-AF65-F5344CB8AC3E}">
        <p14:creationId xmlns:p14="http://schemas.microsoft.com/office/powerpoint/2010/main" val="23026399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Symbol</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237038" y="2336800"/>
            <a:ext cx="5619750"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9819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anim calcmode="lin" valueType="num">
                                      <p:cBhvr>
                                        <p:cTn id="8" dur="1000" fill="hold"/>
                                        <p:tgtEl>
                                          <p:spTgt spid="3074"/>
                                        </p:tgtEl>
                                        <p:attrNameLst>
                                          <p:attrName>ppt_x</p:attrName>
                                        </p:attrNameLst>
                                      </p:cBhvr>
                                      <p:tavLst>
                                        <p:tav tm="0">
                                          <p:val>
                                            <p:strVal val="#ppt_x"/>
                                          </p:val>
                                        </p:tav>
                                        <p:tav tm="100000">
                                          <p:val>
                                            <p:strVal val="#ppt_x"/>
                                          </p:val>
                                        </p:tav>
                                      </p:tavLst>
                                    </p:anim>
                                    <p:anim calcmode="lin" valueType="num">
                                      <p:cBhvr>
                                        <p:cTn id="9"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28080" y="2133600"/>
            <a:ext cx="5037666" cy="377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4907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568" y="188640"/>
            <a:ext cx="8003232" cy="720080"/>
          </a:xfrm>
        </p:spPr>
        <p:txBody>
          <a:bodyPr>
            <a:normAutofit fontScale="90000"/>
          </a:bodyPr>
          <a:lstStyle/>
          <a:p>
            <a:r>
              <a:rPr lang="en-IN" sz="3200" b="1" dirty="0"/>
              <a:t>Guidelines for Preparing Flowchart</a:t>
            </a:r>
            <a:br>
              <a:rPr lang="en-IN" sz="2000" b="1" dirty="0"/>
            </a:br>
            <a:endParaRPr lang="en-IN" sz="2000" dirty="0"/>
          </a:p>
        </p:txBody>
      </p:sp>
      <p:sp>
        <p:nvSpPr>
          <p:cNvPr id="3" name="Content Placeholder 2"/>
          <p:cNvSpPr>
            <a:spLocks noGrp="1"/>
          </p:cNvSpPr>
          <p:nvPr>
            <p:ph idx="1"/>
          </p:nvPr>
        </p:nvSpPr>
        <p:spPr>
          <a:xfrm>
            <a:off x="2783632" y="1268760"/>
            <a:ext cx="7560840" cy="5040560"/>
          </a:xfrm>
        </p:spPr>
        <p:txBody>
          <a:bodyPr>
            <a:normAutofit fontScale="85000" lnSpcReduction="10000"/>
          </a:bodyPr>
          <a:lstStyle/>
          <a:p>
            <a:pPr marL="0" indent="0">
              <a:buNone/>
            </a:pPr>
            <a:r>
              <a:rPr lang="en-IN" dirty="0"/>
              <a:t>       Following </a:t>
            </a:r>
            <a:r>
              <a:rPr lang="en-IN" b="1" dirty="0"/>
              <a:t>guidelines</a:t>
            </a:r>
            <a:r>
              <a:rPr lang="en-IN" dirty="0"/>
              <a:t> must be followed while preparing the  flowcharts:</a:t>
            </a:r>
          </a:p>
          <a:p>
            <a:endParaRPr lang="en-IN" dirty="0"/>
          </a:p>
          <a:p>
            <a:r>
              <a:rPr lang="en-IN" dirty="0"/>
              <a:t>Standard symbols should be used while drawing flowchart.</a:t>
            </a:r>
          </a:p>
          <a:p>
            <a:r>
              <a:rPr lang="en-IN" dirty="0"/>
              <a:t>Ensure that flowchart has START (or BEGIN) and STOP (or END).</a:t>
            </a:r>
          </a:p>
          <a:p>
            <a:r>
              <a:rPr lang="en-IN" dirty="0"/>
              <a:t>Flowchart should be neat, clean and easy to follow. There should be no any ambiguity.</a:t>
            </a:r>
          </a:p>
          <a:p>
            <a:r>
              <a:rPr lang="en-IN" dirty="0"/>
              <a:t>The usual direction of flowchart is from top to bottom or from left to right.</a:t>
            </a:r>
          </a:p>
          <a:p>
            <a:r>
              <a:rPr lang="en-IN" dirty="0"/>
              <a:t>The terminal symbol, that is, START/BEGIN or STOP/END should have only one flow line.</a:t>
            </a:r>
          </a:p>
          <a:p>
            <a:r>
              <a:rPr lang="en-IN" dirty="0"/>
              <a:t>Only one flow line should come out from process symbol.</a:t>
            </a:r>
          </a:p>
          <a:p>
            <a:r>
              <a:rPr lang="en-IN" dirty="0"/>
              <a:t>Only one flow line should enter a decision symbol, but two or three flow-lines, one for each possible answer, can leave the decision symbol.</a:t>
            </a:r>
          </a:p>
          <a:p>
            <a:r>
              <a:rPr lang="en-IN" dirty="0"/>
              <a:t>If the flowchart is lengthy and complex connector symbol should be used to reduce the number of flow lines.</a:t>
            </a:r>
          </a:p>
          <a:p>
            <a:r>
              <a:rPr lang="en-IN" dirty="0"/>
              <a:t>Avoid intersection of flow lines.</a:t>
            </a:r>
          </a:p>
          <a:p>
            <a:r>
              <a:rPr lang="en-IN" dirty="0"/>
              <a:t>Use annotation symbol to describe steps more clearly.</a:t>
            </a:r>
          </a:p>
          <a:p>
            <a:endParaRPr lang="en-IN" dirty="0"/>
          </a:p>
        </p:txBody>
      </p:sp>
    </p:spTree>
    <p:extLst>
      <p:ext uri="{BB962C8B-B14F-4D97-AF65-F5344CB8AC3E}">
        <p14:creationId xmlns:p14="http://schemas.microsoft.com/office/powerpoint/2010/main" val="58414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Effect transition="in" filter="fade">
                                      <p:cBhvr>
                                        <p:cTn id="49" dur="500"/>
                                        <p:tgtEl>
                                          <p:spTgt spid="3">
                                            <p:txEl>
                                              <p:pRg st="10" end="1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Effect transition="in" filter="fade">
                                      <p:cBhvr>
                                        <p:cTn id="54"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7688" y="704088"/>
            <a:ext cx="6923112" cy="780696"/>
          </a:xfrm>
        </p:spPr>
        <p:txBody>
          <a:bodyPr>
            <a:normAutofit fontScale="90000"/>
          </a:bodyPr>
          <a:lstStyle/>
          <a:p>
            <a:r>
              <a:rPr lang="en-US" dirty="0"/>
              <a:t>Algorithm for  Addition of  2 no’s</a:t>
            </a:r>
            <a:endParaRPr lang="en-IN" dirty="0"/>
          </a:p>
        </p:txBody>
      </p:sp>
      <p:sp>
        <p:nvSpPr>
          <p:cNvPr id="3" name="Content Placeholder 2"/>
          <p:cNvSpPr>
            <a:spLocks noGrp="1"/>
          </p:cNvSpPr>
          <p:nvPr>
            <p:ph idx="1"/>
          </p:nvPr>
        </p:nvSpPr>
        <p:spPr>
          <a:xfrm>
            <a:off x="2855640" y="1700808"/>
            <a:ext cx="7355160" cy="4623792"/>
          </a:xfrm>
        </p:spPr>
        <p:txBody>
          <a:bodyPr/>
          <a:lstStyle/>
          <a:p>
            <a:r>
              <a:rPr lang="en-IN" dirty="0"/>
              <a:t>Step 1: Start </a:t>
            </a:r>
          </a:p>
          <a:p>
            <a:r>
              <a:rPr lang="en-IN" dirty="0"/>
              <a:t>Step 2: Declare  variables num1, num2 and sum. </a:t>
            </a:r>
          </a:p>
          <a:p>
            <a:r>
              <a:rPr lang="en-IN" dirty="0"/>
              <a:t>Step 3: Read values num1 and num2. </a:t>
            </a:r>
          </a:p>
          <a:p>
            <a:r>
              <a:rPr lang="en-IN" dirty="0"/>
              <a:t>Step 4: Add num1 and num2 and assign the result to sum. sum←num1+num2 </a:t>
            </a:r>
          </a:p>
          <a:p>
            <a:r>
              <a:rPr lang="en-IN" dirty="0"/>
              <a:t>Step 5: Display sum </a:t>
            </a:r>
          </a:p>
          <a:p>
            <a:r>
              <a:rPr lang="en-IN" dirty="0"/>
              <a:t>Step 6: Stop</a:t>
            </a:r>
          </a:p>
          <a:p>
            <a:endParaRPr lang="en-IN" dirty="0"/>
          </a:p>
        </p:txBody>
      </p:sp>
    </p:spTree>
    <p:extLst>
      <p:ext uri="{BB962C8B-B14F-4D97-AF65-F5344CB8AC3E}">
        <p14:creationId xmlns:p14="http://schemas.microsoft.com/office/powerpoint/2010/main" val="231423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7AA42-B029-44BB-B4EA-152BE7ABBDD6}"/>
              </a:ext>
            </a:extLst>
          </p:cNvPr>
          <p:cNvSpPr>
            <a:spLocks noGrp="1"/>
          </p:cNvSpPr>
          <p:nvPr>
            <p:ph type="title"/>
          </p:nvPr>
        </p:nvSpPr>
        <p:spPr/>
        <p:txBody>
          <a:bodyPr/>
          <a:lstStyle/>
          <a:p>
            <a:r>
              <a:rPr lang="en-US" dirty="0"/>
              <a:t>Flowchart for Addition of  2 no’s</a:t>
            </a:r>
            <a:endParaRPr lang="en-IN" dirty="0"/>
          </a:p>
        </p:txBody>
      </p:sp>
      <p:pic>
        <p:nvPicPr>
          <p:cNvPr id="6" name="Content Placeholder 5">
            <a:extLst>
              <a:ext uri="{FF2B5EF4-FFF2-40B4-BE49-F238E27FC236}">
                <a16:creationId xmlns:a16="http://schemas.microsoft.com/office/drawing/2014/main" id="{46FD4542-4E89-49CA-B57E-06C019F49328}"/>
              </a:ext>
            </a:extLst>
          </p:cNvPr>
          <p:cNvPicPr>
            <a:picLocks noGrp="1" noChangeAspect="1"/>
          </p:cNvPicPr>
          <p:nvPr>
            <p:ph idx="1"/>
          </p:nvPr>
        </p:nvPicPr>
        <p:blipFill>
          <a:blip r:embed="rId2"/>
          <a:stretch>
            <a:fillRect/>
          </a:stretch>
        </p:blipFill>
        <p:spPr>
          <a:xfrm>
            <a:off x="4655840" y="1844824"/>
            <a:ext cx="3021310" cy="4248472"/>
          </a:xfrm>
          <a:prstGeom prst="rect">
            <a:avLst/>
          </a:prstGeom>
        </p:spPr>
      </p:pic>
    </p:spTree>
    <p:extLst>
      <p:ext uri="{BB962C8B-B14F-4D97-AF65-F5344CB8AC3E}">
        <p14:creationId xmlns:p14="http://schemas.microsoft.com/office/powerpoint/2010/main" val="6105162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Area of circle</a:t>
            </a:r>
            <a:endParaRPr lang="en-IN" dirty="0"/>
          </a:p>
        </p:txBody>
      </p:sp>
      <p:sp>
        <p:nvSpPr>
          <p:cNvPr id="3" name="Content Placeholder 2"/>
          <p:cNvSpPr>
            <a:spLocks noGrp="1"/>
          </p:cNvSpPr>
          <p:nvPr>
            <p:ph idx="1"/>
          </p:nvPr>
        </p:nvSpPr>
        <p:spPr/>
        <p:txBody>
          <a:bodyPr/>
          <a:lstStyle/>
          <a:p>
            <a:r>
              <a:rPr lang="en-IN" dirty="0"/>
              <a:t>Step 1: Start </a:t>
            </a:r>
          </a:p>
          <a:p>
            <a:r>
              <a:rPr lang="en-IN" dirty="0"/>
              <a:t>Step 2: Input read radius r</a:t>
            </a:r>
          </a:p>
          <a:p>
            <a:r>
              <a:rPr lang="en-IN" dirty="0"/>
              <a:t>Step 3: Area=3.14*r*r</a:t>
            </a:r>
          </a:p>
          <a:p>
            <a:r>
              <a:rPr lang="en-IN" dirty="0"/>
              <a:t>Step 4: Display  Area</a:t>
            </a:r>
          </a:p>
          <a:p>
            <a:r>
              <a:rPr lang="en-IN" dirty="0"/>
              <a:t>Step 5: Stop</a:t>
            </a:r>
          </a:p>
          <a:p>
            <a:endParaRPr lang="en-IN" dirty="0"/>
          </a:p>
        </p:txBody>
      </p:sp>
    </p:spTree>
    <p:extLst>
      <p:ext uri="{BB962C8B-B14F-4D97-AF65-F5344CB8AC3E}">
        <p14:creationId xmlns:p14="http://schemas.microsoft.com/office/powerpoint/2010/main" val="86484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Flowchart for CIRCLE</a:t>
            </a:r>
            <a:endParaRPr lang="en-IN"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808663" y="2146300"/>
            <a:ext cx="2476500" cy="37528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88125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1000"/>
                                        <p:tgtEl>
                                          <p:spTgt spid="7170"/>
                                        </p:tgtEl>
                                      </p:cBhvr>
                                    </p:animEffect>
                                    <p:anim calcmode="lin" valueType="num">
                                      <p:cBhvr>
                                        <p:cTn id="8" dur="1000" fill="hold"/>
                                        <p:tgtEl>
                                          <p:spTgt spid="7170"/>
                                        </p:tgtEl>
                                        <p:attrNameLst>
                                          <p:attrName>ppt_x</p:attrName>
                                        </p:attrNameLst>
                                      </p:cBhvr>
                                      <p:tavLst>
                                        <p:tav tm="0">
                                          <p:val>
                                            <p:strVal val="#ppt_x"/>
                                          </p:val>
                                        </p:tav>
                                        <p:tav tm="100000">
                                          <p:val>
                                            <p:strVal val="#ppt_x"/>
                                          </p:val>
                                        </p:tav>
                                      </p:tavLst>
                                    </p:anim>
                                    <p:anim calcmode="lin" valueType="num">
                                      <p:cBhvr>
                                        <p:cTn id="9" dur="1000" fill="hold"/>
                                        <p:tgtEl>
                                          <p:spTgt spid="71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1704" y="476672"/>
            <a:ext cx="6779096" cy="1008112"/>
          </a:xfrm>
        </p:spPr>
        <p:txBody>
          <a:bodyPr>
            <a:normAutofit fontScale="90000"/>
          </a:bodyPr>
          <a:lstStyle/>
          <a:p>
            <a:r>
              <a:rPr lang="en-US" sz="2800" dirty="0"/>
              <a:t>Algorithm &amp; flowchart that will read the two sides of a rectangle and calculate its area.</a:t>
            </a:r>
            <a:endParaRPr lang="en-IN" sz="2800" dirty="0"/>
          </a:p>
        </p:txBody>
      </p:sp>
      <p:sp>
        <p:nvSpPr>
          <p:cNvPr id="3" name="Content Placeholder 2"/>
          <p:cNvSpPr>
            <a:spLocks noGrp="1"/>
          </p:cNvSpPr>
          <p:nvPr>
            <p:ph idx="1"/>
          </p:nvPr>
        </p:nvSpPr>
        <p:spPr>
          <a:xfrm>
            <a:off x="2999656" y="2276872"/>
            <a:ext cx="7211144" cy="4047728"/>
          </a:xfrm>
        </p:spPr>
        <p:txBody>
          <a:bodyPr/>
          <a:lstStyle/>
          <a:p>
            <a:r>
              <a:rPr lang="en-US" dirty="0"/>
              <a:t> </a:t>
            </a:r>
            <a:r>
              <a:rPr lang="en-IN" dirty="0"/>
              <a:t>Step 1: Start </a:t>
            </a:r>
          </a:p>
          <a:p>
            <a:r>
              <a:rPr lang="en-IN" dirty="0"/>
              <a:t>Step 2: Input  width w ,length l</a:t>
            </a:r>
          </a:p>
          <a:p>
            <a:r>
              <a:rPr lang="en-IN" dirty="0"/>
              <a:t>Step 3: Area=w*l</a:t>
            </a:r>
          </a:p>
          <a:p>
            <a:r>
              <a:rPr lang="en-IN" dirty="0"/>
              <a:t>Step 4: Display  Area</a:t>
            </a:r>
          </a:p>
          <a:p>
            <a:r>
              <a:rPr lang="en-IN" dirty="0"/>
              <a:t>Step 5: Stop</a:t>
            </a:r>
          </a:p>
          <a:p>
            <a:endParaRPr lang="en-IN" dirty="0"/>
          </a:p>
        </p:txBody>
      </p:sp>
    </p:spTree>
    <p:extLst>
      <p:ext uri="{BB962C8B-B14F-4D97-AF65-F5344CB8AC3E}">
        <p14:creationId xmlns:p14="http://schemas.microsoft.com/office/powerpoint/2010/main" val="1687084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Flowchart for Rectangle</a:t>
            </a:r>
            <a:endParaRPr lang="en-IN" dirty="0"/>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630069" y="2133600"/>
            <a:ext cx="2833687" cy="37782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58647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1000"/>
                                        <p:tgtEl>
                                          <p:spTgt spid="8194"/>
                                        </p:tgtEl>
                                      </p:cBhvr>
                                    </p:animEffect>
                                    <p:anim calcmode="lin" valueType="num">
                                      <p:cBhvr>
                                        <p:cTn id="8" dur="1000" fill="hold"/>
                                        <p:tgtEl>
                                          <p:spTgt spid="8194"/>
                                        </p:tgtEl>
                                        <p:attrNameLst>
                                          <p:attrName>ppt_x</p:attrName>
                                        </p:attrNameLst>
                                      </p:cBhvr>
                                      <p:tavLst>
                                        <p:tav tm="0">
                                          <p:val>
                                            <p:strVal val="#ppt_x"/>
                                          </p:val>
                                        </p:tav>
                                        <p:tav tm="100000">
                                          <p:val>
                                            <p:strVal val="#ppt_x"/>
                                          </p:val>
                                        </p:tav>
                                      </p:tavLst>
                                    </p:anim>
                                    <p:anim calcmode="lin" valueType="num">
                                      <p:cBhvr>
                                        <p:cTn id="9" dur="1000" fill="hold"/>
                                        <p:tgtEl>
                                          <p:spTgt spid="81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32656"/>
            <a:ext cx="8229600" cy="504056"/>
          </a:xfrm>
        </p:spPr>
        <p:txBody>
          <a:bodyPr>
            <a:noAutofit/>
          </a:bodyPr>
          <a:lstStyle/>
          <a:p>
            <a:br>
              <a:rPr lang="en-IN" sz="3600" b="1" dirty="0"/>
            </a:br>
            <a:r>
              <a:rPr lang="en-IN" sz="3600" b="1" dirty="0"/>
              <a:t>        Advantages of Flowchart</a:t>
            </a:r>
            <a:endParaRPr lang="en-IN" sz="3600" dirty="0"/>
          </a:p>
        </p:txBody>
      </p:sp>
      <p:sp>
        <p:nvSpPr>
          <p:cNvPr id="3" name="Content Placeholder 2"/>
          <p:cNvSpPr>
            <a:spLocks noGrp="1"/>
          </p:cNvSpPr>
          <p:nvPr>
            <p:ph idx="1"/>
          </p:nvPr>
        </p:nvSpPr>
        <p:spPr>
          <a:xfrm>
            <a:off x="2783632" y="1844824"/>
            <a:ext cx="7427168" cy="4479776"/>
          </a:xfrm>
        </p:spPr>
        <p:txBody>
          <a:bodyPr>
            <a:normAutofit/>
          </a:bodyPr>
          <a:lstStyle/>
          <a:p>
            <a:r>
              <a:rPr lang="en-IN" b="1" dirty="0"/>
              <a:t>Effective Communication : </a:t>
            </a:r>
            <a:r>
              <a:rPr lang="en-IN" dirty="0"/>
              <a:t>Flowcharts are better way of communicating the logic of the system.</a:t>
            </a:r>
          </a:p>
          <a:p>
            <a:r>
              <a:rPr lang="en-IN" b="1" dirty="0"/>
              <a:t>Effective Analysis : </a:t>
            </a:r>
            <a:r>
              <a:rPr lang="en-IN" dirty="0"/>
              <a:t>Using flowchart problem can be </a:t>
            </a:r>
            <a:r>
              <a:rPr lang="en-IN" dirty="0" err="1"/>
              <a:t>analyzed</a:t>
            </a:r>
            <a:r>
              <a:rPr lang="en-IN" dirty="0"/>
              <a:t> more efficiently.</a:t>
            </a:r>
          </a:p>
          <a:p>
            <a:r>
              <a:rPr lang="en-IN" b="1" dirty="0"/>
              <a:t>Easy Debugging and Efficient Testing : </a:t>
            </a:r>
            <a:r>
              <a:rPr lang="en-IN" dirty="0"/>
              <a:t>The Flowchart helps in debugging and testing process.</a:t>
            </a:r>
          </a:p>
          <a:p>
            <a:r>
              <a:rPr lang="en-IN" b="1" dirty="0"/>
              <a:t>Efficient Coding : </a:t>
            </a:r>
            <a:r>
              <a:rPr lang="en-IN" dirty="0"/>
              <a:t>The flowcharts are very useful during program development phase.</a:t>
            </a:r>
          </a:p>
          <a:p>
            <a:r>
              <a:rPr lang="en-IN" b="1" dirty="0"/>
              <a:t>Proper Documentation : </a:t>
            </a:r>
            <a:r>
              <a:rPr lang="en-IN" dirty="0"/>
              <a:t>Flowcharts serves as a good program documentation, which is needed for various purpose.</a:t>
            </a:r>
          </a:p>
          <a:p>
            <a:r>
              <a:rPr lang="en-IN" b="1" dirty="0"/>
              <a:t>Efficient Program Maintenance :</a:t>
            </a:r>
            <a:r>
              <a:rPr lang="en-IN" dirty="0"/>
              <a:t> Maintenance of operating programs becomes easy with the help of flowchart.</a:t>
            </a:r>
          </a:p>
          <a:p>
            <a:endParaRPr lang="en-IN" dirty="0"/>
          </a:p>
        </p:txBody>
      </p:sp>
    </p:spTree>
    <p:extLst>
      <p:ext uri="{BB962C8B-B14F-4D97-AF65-F5344CB8AC3E}">
        <p14:creationId xmlns:p14="http://schemas.microsoft.com/office/powerpoint/2010/main" val="2366226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Disadvantages of Flowchart</a:t>
            </a:r>
            <a:br>
              <a:rPr lang="en-IN" b="1" dirty="0"/>
            </a:br>
            <a:endParaRPr lang="en-IN" dirty="0"/>
          </a:p>
        </p:txBody>
      </p:sp>
      <p:sp>
        <p:nvSpPr>
          <p:cNvPr id="3" name="Content Placeholder 2"/>
          <p:cNvSpPr>
            <a:spLocks noGrp="1"/>
          </p:cNvSpPr>
          <p:nvPr>
            <p:ph idx="1"/>
          </p:nvPr>
        </p:nvSpPr>
        <p:spPr>
          <a:xfrm>
            <a:off x="3215680" y="2060848"/>
            <a:ext cx="6995120" cy="4263752"/>
          </a:xfrm>
        </p:spPr>
        <p:txBody>
          <a:bodyPr/>
          <a:lstStyle/>
          <a:p>
            <a:r>
              <a:rPr lang="en-IN" b="1" dirty="0"/>
              <a:t>Complex Logic:</a:t>
            </a:r>
            <a:r>
              <a:rPr lang="en-IN" dirty="0"/>
              <a:t> For complicated logic, flowchart becomes complex and clumsy.</a:t>
            </a:r>
          </a:p>
          <a:p>
            <a:r>
              <a:rPr lang="en-IN" b="1" dirty="0"/>
              <a:t>Difficulty in Modifications:</a:t>
            </a:r>
            <a:r>
              <a:rPr lang="en-IN" dirty="0"/>
              <a:t> If change is required in the logic then flowchart needs to be redrawn and requires a lot of time.</a:t>
            </a:r>
          </a:p>
          <a:p>
            <a:endParaRPr lang="en-IN" dirty="0"/>
          </a:p>
        </p:txBody>
      </p:sp>
    </p:spTree>
    <p:extLst>
      <p:ext uri="{BB962C8B-B14F-4D97-AF65-F5344CB8AC3E}">
        <p14:creationId xmlns:p14="http://schemas.microsoft.com/office/powerpoint/2010/main" val="24065458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Coding (Programming)</a:t>
            </a:r>
            <a:br>
              <a:rPr lang="en-IN" b="1" dirty="0"/>
            </a:br>
            <a:endParaRPr lang="en-IN" dirty="0"/>
          </a:p>
        </p:txBody>
      </p:sp>
      <p:sp>
        <p:nvSpPr>
          <p:cNvPr id="3" name="Content Placeholder 2"/>
          <p:cNvSpPr>
            <a:spLocks noGrp="1"/>
          </p:cNvSpPr>
          <p:nvPr>
            <p:ph idx="1"/>
          </p:nvPr>
        </p:nvSpPr>
        <p:spPr/>
        <p:txBody>
          <a:bodyPr/>
          <a:lstStyle/>
          <a:p>
            <a:r>
              <a:rPr lang="en-IN" dirty="0"/>
              <a:t>In this stage, process of writing actual program takes place. </a:t>
            </a:r>
          </a:p>
          <a:p>
            <a:r>
              <a:rPr lang="en-IN" dirty="0"/>
              <a:t>A coded program is most popularly referred to as a source code. </a:t>
            </a:r>
          </a:p>
          <a:p>
            <a:r>
              <a:rPr lang="en-IN" dirty="0"/>
              <a:t>The coding process can be done in any language (high level and low level). </a:t>
            </a:r>
          </a:p>
          <a:p>
            <a:r>
              <a:rPr lang="en-IN" dirty="0"/>
              <a:t>The actual use of computer takes place in this stage in which the programmer writes a sequence of instructions ready for execution. Coding is also known as programming.</a:t>
            </a:r>
          </a:p>
          <a:p>
            <a:endParaRPr lang="en-IN" dirty="0"/>
          </a:p>
        </p:txBody>
      </p:sp>
    </p:spTree>
    <p:extLst>
      <p:ext uri="{BB962C8B-B14F-4D97-AF65-F5344CB8AC3E}">
        <p14:creationId xmlns:p14="http://schemas.microsoft.com/office/powerpoint/2010/main" val="16217244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Editing the program</a:t>
            </a:r>
            <a:endParaRPr lang="en-IN" dirty="0"/>
          </a:p>
        </p:txBody>
      </p:sp>
      <p:sp>
        <p:nvSpPr>
          <p:cNvPr id="3" name="Content Placeholder 2"/>
          <p:cNvSpPr>
            <a:spLocks noGrp="1"/>
          </p:cNvSpPr>
          <p:nvPr>
            <p:ph idx="1"/>
          </p:nvPr>
        </p:nvSpPr>
        <p:spPr>
          <a:xfrm>
            <a:off x="3071665" y="1412776"/>
            <a:ext cx="6591985" cy="3777622"/>
          </a:xfrm>
        </p:spPr>
        <p:txBody>
          <a:bodyPr/>
          <a:lstStyle/>
          <a:p>
            <a:pPr marL="0" indent="0">
              <a:buNone/>
            </a:pPr>
            <a:r>
              <a:rPr lang="en-US" b="1" dirty="0"/>
              <a:t>Developing in c program we have to following Steps.</a:t>
            </a:r>
          </a:p>
          <a:p>
            <a:pPr marL="0" indent="0">
              <a:buNone/>
            </a:pPr>
            <a:endParaRPr lang="en-US" b="1" dirty="0"/>
          </a:p>
          <a:p>
            <a:pPr marL="0" indent="0">
              <a:buNone/>
            </a:pPr>
            <a:r>
              <a:rPr lang="en-US" dirty="0"/>
              <a:t>Editing</a:t>
            </a:r>
          </a:p>
          <a:p>
            <a:pPr marL="0" indent="0">
              <a:buNone/>
            </a:pPr>
            <a:r>
              <a:rPr lang="en-US" dirty="0"/>
              <a:t>Compiling</a:t>
            </a:r>
          </a:p>
          <a:p>
            <a:pPr marL="0" indent="0">
              <a:buNone/>
            </a:pPr>
            <a:r>
              <a:rPr lang="en-US" dirty="0"/>
              <a:t>Linking</a:t>
            </a:r>
          </a:p>
          <a:p>
            <a:pPr marL="0" indent="0">
              <a:buNone/>
            </a:pPr>
            <a:r>
              <a:rPr lang="en-US" dirty="0"/>
              <a:t>Executable Files</a:t>
            </a:r>
          </a:p>
          <a:p>
            <a:pPr marL="0" indent="0">
              <a:buNone/>
            </a:pPr>
            <a:endParaRPr lang="en-US" b="1" dirty="0"/>
          </a:p>
          <a:p>
            <a:endParaRPr lang="en-IN" dirty="0"/>
          </a:p>
        </p:txBody>
      </p:sp>
    </p:spTree>
    <p:extLst>
      <p:ext uri="{BB962C8B-B14F-4D97-AF65-F5344CB8AC3E}">
        <p14:creationId xmlns:p14="http://schemas.microsoft.com/office/powerpoint/2010/main" val="28017598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7648" y="476672"/>
            <a:ext cx="7283152" cy="1152128"/>
          </a:xfrm>
        </p:spPr>
        <p:txBody>
          <a:bodyPr>
            <a:normAutofit fontScale="90000"/>
          </a:bodyPr>
          <a:lstStyle/>
          <a:p>
            <a:r>
              <a:rPr lang="en-US" b="1" dirty="0"/>
              <a:t>           Editing</a:t>
            </a:r>
            <a:br>
              <a:rPr lang="en-US" b="1" dirty="0"/>
            </a:br>
            <a:endParaRPr lang="en-IN" dirty="0"/>
          </a:p>
        </p:txBody>
      </p:sp>
      <p:sp>
        <p:nvSpPr>
          <p:cNvPr id="3" name="Content Placeholder 2"/>
          <p:cNvSpPr>
            <a:spLocks noGrp="1"/>
          </p:cNvSpPr>
          <p:nvPr>
            <p:ph idx="1"/>
          </p:nvPr>
        </p:nvSpPr>
        <p:spPr>
          <a:xfrm>
            <a:off x="2927648" y="1268760"/>
            <a:ext cx="7283152" cy="5055840"/>
          </a:xfrm>
        </p:spPr>
        <p:txBody>
          <a:bodyPr>
            <a:normAutofit/>
          </a:bodyPr>
          <a:lstStyle/>
          <a:p>
            <a:r>
              <a:rPr lang="en-US" b="0" i="0" dirty="0">
                <a:solidFill>
                  <a:srgbClr val="273239"/>
                </a:solidFill>
                <a:effectLst/>
              </a:rPr>
              <a:t>Editors or text editors are software programs that enable the user to create and edit text files. In the field of programming, the term editor usually refers to source code editors that include many special features for writing and editing code</a:t>
            </a:r>
            <a:endParaRPr lang="en-IN" dirty="0"/>
          </a:p>
          <a:p>
            <a:r>
              <a:rPr lang="en-US" dirty="0"/>
              <a:t>Notepad, </a:t>
            </a:r>
            <a:r>
              <a:rPr lang="en-US" dirty="0" err="1"/>
              <a:t>Wordpad</a:t>
            </a:r>
            <a:r>
              <a:rPr lang="en-US" dirty="0"/>
              <a:t> are some of the common editors used on Windows OS and vi, emacs, Jed, </a:t>
            </a:r>
            <a:r>
              <a:rPr lang="en-US" dirty="0" err="1"/>
              <a:t>pico</a:t>
            </a:r>
            <a:r>
              <a:rPr lang="en-US" dirty="0"/>
              <a:t> are the editors on UNIX OS. </a:t>
            </a:r>
          </a:p>
          <a:p>
            <a:r>
              <a:rPr lang="en-US" dirty="0"/>
              <a:t>Features normally associated with text editors are — moving the cursor, deleting, replacing, pasting, finding, finding and replacing, saving etc. </a:t>
            </a:r>
            <a:endParaRPr lang="en-IN" dirty="0"/>
          </a:p>
        </p:txBody>
      </p:sp>
    </p:spTree>
    <p:extLst>
      <p:ext uri="{BB962C8B-B14F-4D97-AF65-F5344CB8AC3E}">
        <p14:creationId xmlns:p14="http://schemas.microsoft.com/office/powerpoint/2010/main" val="697942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AB8A6-03C1-46A5-8AA3-A12B6A303CAB}"/>
              </a:ext>
            </a:extLst>
          </p:cNvPr>
          <p:cNvSpPr>
            <a:spLocks noGrp="1"/>
          </p:cNvSpPr>
          <p:nvPr>
            <p:ph type="title"/>
          </p:nvPr>
        </p:nvSpPr>
        <p:spPr>
          <a:xfrm>
            <a:off x="3215680" y="260648"/>
            <a:ext cx="6995120" cy="648072"/>
          </a:xfrm>
        </p:spPr>
        <p:txBody>
          <a:bodyPr>
            <a:normAutofit/>
          </a:bodyPr>
          <a:lstStyle/>
          <a:p>
            <a:r>
              <a:rPr lang="en-US" b="1" i="0" dirty="0">
                <a:solidFill>
                  <a:srgbClr val="273239"/>
                </a:solidFill>
                <a:effectLst/>
                <a:latin typeface="urw-din"/>
              </a:rPr>
              <a:t>Types of Editors</a:t>
            </a:r>
            <a:r>
              <a:rPr lang="en-US" b="0" i="0" dirty="0">
                <a:solidFill>
                  <a:srgbClr val="273239"/>
                </a:solidFill>
                <a:effectLst/>
                <a:latin typeface="urw-din"/>
              </a:rPr>
              <a:t> </a:t>
            </a:r>
            <a:endParaRPr lang="en-IN" dirty="0"/>
          </a:p>
        </p:txBody>
      </p:sp>
      <p:sp>
        <p:nvSpPr>
          <p:cNvPr id="3" name="Content Placeholder 2">
            <a:extLst>
              <a:ext uri="{FF2B5EF4-FFF2-40B4-BE49-F238E27FC236}">
                <a16:creationId xmlns:a16="http://schemas.microsoft.com/office/drawing/2014/main" id="{A5A53CE3-0608-4287-81BF-1E55A149C29E}"/>
              </a:ext>
            </a:extLst>
          </p:cNvPr>
          <p:cNvSpPr>
            <a:spLocks noGrp="1"/>
          </p:cNvSpPr>
          <p:nvPr>
            <p:ph idx="1"/>
          </p:nvPr>
        </p:nvSpPr>
        <p:spPr>
          <a:xfrm>
            <a:off x="2855640" y="1052736"/>
            <a:ext cx="7355160" cy="5544616"/>
          </a:xfrm>
        </p:spPr>
        <p:txBody>
          <a:bodyPr>
            <a:normAutofit fontScale="92500" lnSpcReduction="20000"/>
          </a:bodyPr>
          <a:lstStyle/>
          <a:p>
            <a:pPr marL="0" indent="0" fontAlgn="base">
              <a:buNone/>
            </a:pPr>
            <a:br>
              <a:rPr lang="en-US" b="0" i="0" dirty="0">
                <a:solidFill>
                  <a:srgbClr val="273239"/>
                </a:solidFill>
                <a:effectLst/>
              </a:rPr>
            </a:br>
            <a:r>
              <a:rPr lang="en-US" b="0" i="0" dirty="0">
                <a:solidFill>
                  <a:srgbClr val="273239"/>
                </a:solidFill>
                <a:effectLst/>
              </a:rPr>
              <a:t>There are generally five types of editors as described below: </a:t>
            </a:r>
            <a:br>
              <a:rPr lang="en-US" b="0" i="0" dirty="0">
                <a:solidFill>
                  <a:srgbClr val="273239"/>
                </a:solidFill>
                <a:effectLst/>
              </a:rPr>
            </a:br>
            <a:r>
              <a:rPr lang="en-US" b="0" i="0" dirty="0">
                <a:solidFill>
                  <a:srgbClr val="273239"/>
                </a:solidFill>
                <a:effectLst/>
              </a:rPr>
              <a:t> </a:t>
            </a:r>
          </a:p>
          <a:p>
            <a:pPr algn="l" fontAlgn="base">
              <a:buFont typeface="+mj-lt"/>
              <a:buAutoNum type="arabicPeriod"/>
            </a:pPr>
            <a:r>
              <a:rPr lang="en-US" b="1" i="0" dirty="0">
                <a:solidFill>
                  <a:srgbClr val="273239"/>
                </a:solidFill>
                <a:effectLst/>
              </a:rPr>
              <a:t>Line editor</a:t>
            </a:r>
            <a:r>
              <a:rPr lang="en-US" b="0" i="0" dirty="0">
                <a:solidFill>
                  <a:srgbClr val="273239"/>
                </a:solidFill>
                <a:effectLst/>
              </a:rPr>
              <a:t>: In this, you can only edit one line at a time or an integral number of lines. You cannot have a free-flowing sequence of characters. It will take care of only one line. </a:t>
            </a:r>
            <a:br>
              <a:rPr lang="en-US" b="0" i="0" dirty="0">
                <a:solidFill>
                  <a:srgbClr val="273239"/>
                </a:solidFill>
                <a:effectLst/>
              </a:rPr>
            </a:br>
            <a:r>
              <a:rPr lang="en-US" b="0" i="0" dirty="0">
                <a:solidFill>
                  <a:srgbClr val="273239"/>
                </a:solidFill>
                <a:effectLst/>
              </a:rPr>
              <a:t>Ex : Teleprinter, </a:t>
            </a:r>
            <a:r>
              <a:rPr lang="en-US" b="0" i="0" dirty="0" err="1">
                <a:solidFill>
                  <a:srgbClr val="273239"/>
                </a:solidFill>
                <a:effectLst/>
              </a:rPr>
              <a:t>edlin</a:t>
            </a:r>
            <a:r>
              <a:rPr lang="en-US" b="0" i="0" dirty="0">
                <a:solidFill>
                  <a:srgbClr val="273239"/>
                </a:solidFill>
                <a:effectLst/>
              </a:rPr>
              <a:t>, </a:t>
            </a:r>
            <a:r>
              <a:rPr lang="en-US" b="0" i="0" dirty="0" err="1">
                <a:solidFill>
                  <a:srgbClr val="273239"/>
                </a:solidFill>
                <a:effectLst/>
              </a:rPr>
              <a:t>teco</a:t>
            </a:r>
            <a:r>
              <a:rPr lang="en-US" b="0" i="0" dirty="0">
                <a:solidFill>
                  <a:srgbClr val="273239"/>
                </a:solidFill>
                <a:effectLst/>
              </a:rPr>
              <a:t> </a:t>
            </a:r>
            <a:br>
              <a:rPr lang="en-US" b="0" i="0" dirty="0">
                <a:solidFill>
                  <a:srgbClr val="273239"/>
                </a:solidFill>
                <a:effectLst/>
              </a:rPr>
            </a:br>
            <a:r>
              <a:rPr lang="en-US" b="0" i="0" dirty="0">
                <a:solidFill>
                  <a:srgbClr val="273239"/>
                </a:solidFill>
                <a:effectLst/>
              </a:rPr>
              <a:t> </a:t>
            </a:r>
          </a:p>
          <a:p>
            <a:pPr algn="l" fontAlgn="base">
              <a:buFont typeface="+mj-lt"/>
              <a:buAutoNum type="arabicPeriod"/>
            </a:pPr>
            <a:r>
              <a:rPr lang="en-US" b="1" i="0" dirty="0">
                <a:solidFill>
                  <a:srgbClr val="273239"/>
                </a:solidFill>
                <a:effectLst/>
              </a:rPr>
              <a:t>Stream editors</a:t>
            </a:r>
            <a:r>
              <a:rPr lang="en-US" b="0" i="0" dirty="0">
                <a:solidFill>
                  <a:srgbClr val="273239"/>
                </a:solidFill>
                <a:effectLst/>
              </a:rPr>
              <a:t>: In this type of editors, the file is treated as continuous flow or sequence of characters instead of line numbers, which means here you can type paragraphs. </a:t>
            </a:r>
            <a:br>
              <a:rPr lang="en-US" b="0" i="0" dirty="0">
                <a:solidFill>
                  <a:srgbClr val="273239"/>
                </a:solidFill>
                <a:effectLst/>
              </a:rPr>
            </a:br>
            <a:r>
              <a:rPr lang="en-US" b="0" i="0" dirty="0">
                <a:solidFill>
                  <a:srgbClr val="273239"/>
                </a:solidFill>
                <a:effectLst/>
              </a:rPr>
              <a:t>Ex : </a:t>
            </a:r>
            <a:r>
              <a:rPr lang="en-US" b="0" i="0" u="sng" dirty="0">
                <a:solidFill>
                  <a:srgbClr val="273239"/>
                </a:solidFill>
                <a:effectLst/>
                <a:hlinkClick r:id="rId2"/>
              </a:rPr>
              <a:t>Sed editor</a:t>
            </a:r>
            <a:r>
              <a:rPr lang="en-US" b="0" i="0" dirty="0">
                <a:solidFill>
                  <a:srgbClr val="273239"/>
                </a:solidFill>
                <a:effectLst/>
              </a:rPr>
              <a:t> in UNIX</a:t>
            </a:r>
          </a:p>
          <a:p>
            <a:pPr algn="l" fontAlgn="base">
              <a:buFont typeface="+mj-lt"/>
              <a:buAutoNum type="arabicPeriod"/>
            </a:pPr>
            <a:r>
              <a:rPr lang="en-US" b="1" i="0" dirty="0">
                <a:solidFill>
                  <a:srgbClr val="273239"/>
                </a:solidFill>
                <a:effectLst/>
              </a:rPr>
              <a:t>Screen editors</a:t>
            </a:r>
            <a:r>
              <a:rPr lang="en-US" b="0" i="0" dirty="0">
                <a:solidFill>
                  <a:srgbClr val="273239"/>
                </a:solidFill>
                <a:effectLst/>
              </a:rPr>
              <a:t>: In this type of editors, the user is able to see the cursor on the screen and can make a copy, cut, paste operation easily. It is very easy to use mouse pointer. </a:t>
            </a:r>
            <a:br>
              <a:rPr lang="en-US" b="0" i="0" dirty="0">
                <a:solidFill>
                  <a:srgbClr val="273239"/>
                </a:solidFill>
                <a:effectLst/>
              </a:rPr>
            </a:br>
            <a:r>
              <a:rPr lang="en-US" b="0" i="0" dirty="0">
                <a:solidFill>
                  <a:srgbClr val="273239"/>
                </a:solidFill>
                <a:effectLst/>
              </a:rPr>
              <a:t>Ex : </a:t>
            </a:r>
            <a:r>
              <a:rPr lang="en-US" b="0" i="0" u="sng" dirty="0">
                <a:solidFill>
                  <a:srgbClr val="273239"/>
                </a:solidFill>
                <a:effectLst/>
                <a:hlinkClick r:id="rId3"/>
              </a:rPr>
              <a:t>vi</a:t>
            </a:r>
            <a:r>
              <a:rPr lang="en-US" b="0" i="0" dirty="0">
                <a:solidFill>
                  <a:srgbClr val="273239"/>
                </a:solidFill>
                <a:effectLst/>
              </a:rPr>
              <a:t>, emacs, Notepad</a:t>
            </a:r>
          </a:p>
          <a:p>
            <a:pPr algn="l" fontAlgn="base">
              <a:buFont typeface="+mj-lt"/>
              <a:buAutoNum type="arabicPeriod"/>
            </a:pPr>
            <a:r>
              <a:rPr lang="en-US" b="1" i="0" dirty="0">
                <a:solidFill>
                  <a:srgbClr val="273239"/>
                </a:solidFill>
                <a:effectLst/>
              </a:rPr>
              <a:t>Word Processor</a:t>
            </a:r>
            <a:r>
              <a:rPr lang="en-US" b="0" i="0" dirty="0">
                <a:solidFill>
                  <a:srgbClr val="273239"/>
                </a:solidFill>
                <a:effectLst/>
              </a:rPr>
              <a:t>: Overcoming the limitations of screen editors, it allows one to use some format to insert images, files, videos, use font, size, style features. It majorly focuses on Natural language.</a:t>
            </a:r>
          </a:p>
          <a:p>
            <a:pPr algn="l" fontAlgn="base">
              <a:buFont typeface="+mj-lt"/>
              <a:buAutoNum type="arabicPeriod"/>
            </a:pPr>
            <a:r>
              <a:rPr lang="en-US" b="1" i="0" dirty="0">
                <a:solidFill>
                  <a:srgbClr val="273239"/>
                </a:solidFill>
                <a:effectLst/>
              </a:rPr>
              <a:t>Structure Editor</a:t>
            </a:r>
            <a:r>
              <a:rPr lang="en-US" b="0" i="0" dirty="0">
                <a:solidFill>
                  <a:srgbClr val="273239"/>
                </a:solidFill>
                <a:effectLst/>
              </a:rPr>
              <a:t>: Structure editor focuses on programming languages. It provides features to write and edit source code. </a:t>
            </a:r>
            <a:br>
              <a:rPr lang="en-US" b="0" i="0" dirty="0">
                <a:solidFill>
                  <a:srgbClr val="273239"/>
                </a:solidFill>
                <a:effectLst/>
              </a:rPr>
            </a:br>
            <a:r>
              <a:rPr lang="en-US" b="0" i="0" dirty="0">
                <a:solidFill>
                  <a:srgbClr val="273239"/>
                </a:solidFill>
                <a:effectLst/>
              </a:rPr>
              <a:t>Ex : </a:t>
            </a:r>
            <a:r>
              <a:rPr lang="en-US" b="0" i="0" dirty="0" err="1">
                <a:solidFill>
                  <a:srgbClr val="273239"/>
                </a:solidFill>
                <a:effectLst/>
              </a:rPr>
              <a:t>Netbeans</a:t>
            </a:r>
            <a:r>
              <a:rPr lang="en-US" b="0" i="0" dirty="0">
                <a:solidFill>
                  <a:srgbClr val="273239"/>
                </a:solidFill>
                <a:effectLst/>
              </a:rPr>
              <a:t> IDE, </a:t>
            </a:r>
            <a:r>
              <a:rPr lang="en-US" b="0" i="0" dirty="0" err="1">
                <a:solidFill>
                  <a:srgbClr val="273239"/>
                </a:solidFill>
                <a:effectLst/>
              </a:rPr>
              <a:t>gEdit</a:t>
            </a:r>
            <a:endParaRPr lang="en-US" b="0" i="0" dirty="0">
              <a:solidFill>
                <a:srgbClr val="273239"/>
              </a:solidFill>
              <a:effectLst/>
            </a:endParaRPr>
          </a:p>
          <a:p>
            <a:endParaRPr lang="en-IN" dirty="0"/>
          </a:p>
        </p:txBody>
      </p:sp>
    </p:spTree>
    <p:extLst>
      <p:ext uri="{BB962C8B-B14F-4D97-AF65-F5344CB8AC3E}">
        <p14:creationId xmlns:p14="http://schemas.microsoft.com/office/powerpoint/2010/main" val="2622805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8814" y="548680"/>
            <a:ext cx="6591986" cy="1080120"/>
          </a:xfrm>
        </p:spPr>
        <p:txBody>
          <a:bodyPr>
            <a:normAutofit/>
          </a:bodyPr>
          <a:lstStyle/>
          <a:p>
            <a:r>
              <a:rPr lang="en-IN" sz="2400" b="1" dirty="0"/>
              <a:t>Compilation and Execution Process</a:t>
            </a:r>
            <a:endParaRPr lang="en-IN" sz="2400" dirty="0"/>
          </a:p>
        </p:txBody>
      </p:sp>
      <p:sp>
        <p:nvSpPr>
          <p:cNvPr id="3" name="Content Placeholder 2"/>
          <p:cNvSpPr>
            <a:spLocks noGrp="1"/>
          </p:cNvSpPr>
          <p:nvPr>
            <p:ph idx="1"/>
          </p:nvPr>
        </p:nvSpPr>
        <p:spPr>
          <a:xfrm>
            <a:off x="2855641" y="980728"/>
            <a:ext cx="7202760" cy="5760640"/>
          </a:xfrm>
        </p:spPr>
        <p:txBody>
          <a:bodyPr/>
          <a:lstStyle/>
          <a:p>
            <a:r>
              <a:rPr lang="en-US" dirty="0"/>
              <a:t>What is a compilation?</a:t>
            </a:r>
          </a:p>
          <a:p>
            <a:r>
              <a:rPr lang="en-US" dirty="0"/>
              <a:t>The compilation is a process of converting the source code into </a:t>
            </a:r>
            <a:r>
              <a:rPr lang="en-IN" dirty="0"/>
              <a:t>machine code</a:t>
            </a:r>
            <a:r>
              <a:rPr lang="en-US" dirty="0"/>
              <a:t>. </a:t>
            </a:r>
          </a:p>
          <a:p>
            <a:r>
              <a:rPr lang="en-US" dirty="0"/>
              <a:t>It is done with the help of the compiler.</a:t>
            </a:r>
          </a:p>
          <a:p>
            <a:r>
              <a:rPr lang="en-US" dirty="0"/>
              <a:t>The compiler checks the source code for the syntactical or structural errors, and if the source code is error-free, then it generates the object code/</a:t>
            </a:r>
            <a:r>
              <a:rPr lang="en-IN" dirty="0"/>
              <a:t> machine code</a:t>
            </a:r>
            <a:r>
              <a:rPr lang="en-US" dirty="0"/>
              <a:t>.</a:t>
            </a:r>
          </a:p>
          <a:p>
            <a:r>
              <a:rPr lang="en-US" dirty="0"/>
              <a:t>The c compilation process converts the source code taken as input into the object code or machine code</a:t>
            </a:r>
          </a:p>
        </p:txBody>
      </p:sp>
      <p:pic>
        <p:nvPicPr>
          <p:cNvPr id="4" name="Picture 3">
            <a:extLst>
              <a:ext uri="{FF2B5EF4-FFF2-40B4-BE49-F238E27FC236}">
                <a16:creationId xmlns:a16="http://schemas.microsoft.com/office/drawing/2014/main" id="{971BD331-9BF6-485F-8C40-B05AEC9542A6}"/>
              </a:ext>
            </a:extLst>
          </p:cNvPr>
          <p:cNvPicPr>
            <a:picLocks noChangeAspect="1"/>
          </p:cNvPicPr>
          <p:nvPr/>
        </p:nvPicPr>
        <p:blipFill>
          <a:blip r:embed="rId2"/>
          <a:stretch>
            <a:fillRect/>
          </a:stretch>
        </p:blipFill>
        <p:spPr>
          <a:xfrm>
            <a:off x="3595969" y="4437112"/>
            <a:ext cx="4705350" cy="1257300"/>
          </a:xfrm>
          <a:prstGeom prst="rect">
            <a:avLst/>
          </a:prstGeom>
        </p:spPr>
      </p:pic>
    </p:spTree>
    <p:extLst>
      <p:ext uri="{BB962C8B-B14F-4D97-AF65-F5344CB8AC3E}">
        <p14:creationId xmlns:p14="http://schemas.microsoft.com/office/powerpoint/2010/main" val="91447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1665" y="624110"/>
            <a:ext cx="6986737" cy="716658"/>
          </a:xfrm>
        </p:spPr>
        <p:txBody>
          <a:bodyPr>
            <a:normAutofit fontScale="90000"/>
          </a:bodyPr>
          <a:lstStyle/>
          <a:p>
            <a:r>
              <a:rPr lang="en-IN" sz="3600" b="1" dirty="0"/>
              <a:t>Compilation and Execution Process</a:t>
            </a:r>
            <a:br>
              <a:rPr lang="en-IN" b="1" dirty="0"/>
            </a:br>
            <a:br>
              <a:rPr lang="en-IN" sz="4000" b="1" dirty="0"/>
            </a:br>
            <a:endParaRPr lang="en-IN" sz="4000" dirty="0"/>
          </a:p>
        </p:txBody>
      </p:sp>
      <p:pic>
        <p:nvPicPr>
          <p:cNvPr id="409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208832" y="2133600"/>
            <a:ext cx="5676161" cy="377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74644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9656" y="704088"/>
            <a:ext cx="7211144" cy="852704"/>
          </a:xfrm>
        </p:spPr>
        <p:txBody>
          <a:bodyPr>
            <a:normAutofit/>
          </a:bodyPr>
          <a:lstStyle/>
          <a:p>
            <a:r>
              <a:rPr lang="en-IN" sz="2400" b="1" dirty="0"/>
              <a:t>Compilation and Execution Process</a:t>
            </a:r>
            <a:endParaRPr lang="en-IN" sz="2400" dirty="0"/>
          </a:p>
        </p:txBody>
      </p:sp>
      <p:sp>
        <p:nvSpPr>
          <p:cNvPr id="3" name="Content Placeholder 2"/>
          <p:cNvSpPr>
            <a:spLocks noGrp="1"/>
          </p:cNvSpPr>
          <p:nvPr>
            <p:ph idx="1"/>
          </p:nvPr>
        </p:nvSpPr>
        <p:spPr>
          <a:xfrm>
            <a:off x="2999656" y="1484784"/>
            <a:ext cx="7211144" cy="4839816"/>
          </a:xfrm>
        </p:spPr>
        <p:txBody>
          <a:bodyPr>
            <a:normAutofit/>
          </a:bodyPr>
          <a:lstStyle/>
          <a:p>
            <a:r>
              <a:rPr lang="en-IN" dirty="0"/>
              <a:t>In an interpreted program, each program statement is converted into machine code before program is executed. </a:t>
            </a:r>
          </a:p>
          <a:p>
            <a:r>
              <a:rPr lang="en-IN" dirty="0"/>
              <a:t>The execution occurs immediately one statement at a time sequentially. </a:t>
            </a:r>
          </a:p>
          <a:p>
            <a:r>
              <a:rPr lang="en-IN" dirty="0"/>
              <a:t>BASIC is one of the frequently used interpreted language. </a:t>
            </a:r>
          </a:p>
          <a:p>
            <a:r>
              <a:rPr lang="en-IN" dirty="0"/>
              <a:t>In contrast to interpreter, a compiler converts a given source code into object code. </a:t>
            </a:r>
          </a:p>
          <a:p>
            <a:r>
              <a:rPr lang="en-IN" dirty="0"/>
              <a:t>Once an object code is obtained, the compiled programs can be faster and more efficient than interpreted programs.</a:t>
            </a:r>
          </a:p>
        </p:txBody>
      </p:sp>
    </p:spTree>
    <p:extLst>
      <p:ext uri="{BB962C8B-B14F-4D97-AF65-F5344CB8AC3E}">
        <p14:creationId xmlns:p14="http://schemas.microsoft.com/office/powerpoint/2010/main" val="38305882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1664" y="272147"/>
            <a:ext cx="7139137" cy="924604"/>
          </a:xfrm>
        </p:spPr>
        <p:txBody>
          <a:bodyPr>
            <a:normAutofit fontScale="90000"/>
          </a:bodyPr>
          <a:lstStyle/>
          <a:p>
            <a:r>
              <a:rPr lang="en-IN" b="1" dirty="0"/>
              <a:t>Compilation Process</a:t>
            </a:r>
            <a:br>
              <a:rPr lang="en-IN" b="1" dirty="0"/>
            </a:br>
            <a:r>
              <a:rPr lang="en-US" dirty="0"/>
              <a:t> </a:t>
            </a:r>
            <a:r>
              <a:rPr lang="en-US" sz="1600" dirty="0"/>
              <a:t>The compilation process can be divided into four steps, i.e., Pre-processing, Compiling, Assembling, and Linking.</a:t>
            </a:r>
            <a:br>
              <a:rPr lang="en-US" sz="1600" dirty="0"/>
            </a:br>
            <a:br>
              <a:rPr lang="en-IN" b="1" dirty="0"/>
            </a:br>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89943" y="1844824"/>
            <a:ext cx="3099980" cy="46756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8048" y="1484785"/>
            <a:ext cx="3460998" cy="48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15322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9202" y="624110"/>
            <a:ext cx="6589199" cy="788666"/>
          </a:xfrm>
        </p:spPr>
        <p:txBody>
          <a:bodyPr/>
          <a:lstStyle/>
          <a:p>
            <a:r>
              <a:rPr lang="en-IN" b="1" dirty="0"/>
              <a:t>Compilation Process</a:t>
            </a:r>
            <a:endParaRPr lang="en-IN" dirty="0"/>
          </a:p>
        </p:txBody>
      </p:sp>
      <p:sp>
        <p:nvSpPr>
          <p:cNvPr id="3" name="Content Placeholder 2"/>
          <p:cNvSpPr>
            <a:spLocks noGrp="1"/>
          </p:cNvSpPr>
          <p:nvPr>
            <p:ph idx="1"/>
          </p:nvPr>
        </p:nvSpPr>
        <p:spPr>
          <a:xfrm>
            <a:off x="2927649" y="1556792"/>
            <a:ext cx="7130752" cy="4354430"/>
          </a:xfrm>
        </p:spPr>
        <p:txBody>
          <a:bodyPr>
            <a:normAutofit/>
          </a:bodyPr>
          <a:lstStyle/>
          <a:p>
            <a:r>
              <a:rPr lang="en-IN" b="1" dirty="0" err="1"/>
              <a:t>Preprocessor</a:t>
            </a:r>
            <a:endParaRPr lang="en-IN" b="1" dirty="0"/>
          </a:p>
          <a:p>
            <a:r>
              <a:rPr lang="en-IN" dirty="0"/>
              <a:t>The source code is the code which is written in a text editor and the source code file is given an extension ".c". This source code is first passed to the </a:t>
            </a:r>
            <a:r>
              <a:rPr lang="en-IN" dirty="0" err="1"/>
              <a:t>preprocessor</a:t>
            </a:r>
            <a:r>
              <a:rPr lang="en-IN" dirty="0"/>
              <a:t>, and then the </a:t>
            </a:r>
            <a:r>
              <a:rPr lang="en-IN" dirty="0" err="1"/>
              <a:t>preprocessor</a:t>
            </a:r>
            <a:r>
              <a:rPr lang="en-IN" dirty="0"/>
              <a:t> expands this code. After expanding the code, the expanded code is passed to the compiler.</a:t>
            </a:r>
          </a:p>
          <a:p>
            <a:r>
              <a:rPr lang="en-IN" b="1" dirty="0"/>
              <a:t>Compiler</a:t>
            </a:r>
          </a:p>
          <a:p>
            <a:r>
              <a:rPr lang="en-IN" dirty="0"/>
              <a:t>The code which is expanded by the </a:t>
            </a:r>
            <a:r>
              <a:rPr lang="en-IN" dirty="0" err="1"/>
              <a:t>preprocessor</a:t>
            </a:r>
            <a:r>
              <a:rPr lang="en-IN" dirty="0"/>
              <a:t> is passed to the compiler. The compiler converts this code into assembly code. Or we can say that the C compiler converts the pre-processed code into assembly code.</a:t>
            </a:r>
          </a:p>
          <a:p>
            <a:endParaRPr lang="en-IN" dirty="0"/>
          </a:p>
          <a:p>
            <a:endParaRPr lang="en-IN" dirty="0"/>
          </a:p>
        </p:txBody>
      </p:sp>
    </p:spTree>
    <p:extLst>
      <p:ext uri="{BB962C8B-B14F-4D97-AF65-F5344CB8AC3E}">
        <p14:creationId xmlns:p14="http://schemas.microsoft.com/office/powerpoint/2010/main" val="392455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9202" y="624110"/>
            <a:ext cx="6589199" cy="932682"/>
          </a:xfrm>
        </p:spPr>
        <p:txBody>
          <a:bodyPr/>
          <a:lstStyle/>
          <a:p>
            <a:r>
              <a:rPr lang="en-IN" b="1" dirty="0"/>
              <a:t>Compilation Process</a:t>
            </a:r>
            <a:endParaRPr lang="en-IN" dirty="0"/>
          </a:p>
        </p:txBody>
      </p:sp>
      <p:sp>
        <p:nvSpPr>
          <p:cNvPr id="3" name="Content Placeholder 2"/>
          <p:cNvSpPr>
            <a:spLocks noGrp="1"/>
          </p:cNvSpPr>
          <p:nvPr>
            <p:ph idx="1"/>
          </p:nvPr>
        </p:nvSpPr>
        <p:spPr>
          <a:xfrm>
            <a:off x="2999657" y="1556792"/>
            <a:ext cx="7058744" cy="4354430"/>
          </a:xfrm>
        </p:spPr>
        <p:txBody>
          <a:bodyPr/>
          <a:lstStyle/>
          <a:p>
            <a:r>
              <a:rPr lang="en-IN" b="1" dirty="0"/>
              <a:t>Assembler</a:t>
            </a:r>
          </a:p>
          <a:p>
            <a:r>
              <a:rPr lang="en-IN" dirty="0"/>
              <a:t>The assembly code is converted into object code by using an assembler. The name of the object file generated by the assembler is the same as the source file. The extension of the object file in DOS is '.</a:t>
            </a:r>
            <a:r>
              <a:rPr lang="en-IN" dirty="0" err="1"/>
              <a:t>obj</a:t>
            </a:r>
            <a:r>
              <a:rPr lang="en-IN" dirty="0"/>
              <a:t>,' and in UNIX, the extension is 'o'. </a:t>
            </a:r>
          </a:p>
          <a:p>
            <a:r>
              <a:rPr lang="en-IN" dirty="0"/>
              <a:t>If the name of the source file is </a:t>
            </a:r>
            <a:r>
              <a:rPr lang="en-IN" b="1" dirty="0"/>
              <a:t>'</a:t>
            </a:r>
            <a:r>
              <a:rPr lang="en-IN" b="1" dirty="0" err="1"/>
              <a:t>hello.c</a:t>
            </a:r>
            <a:r>
              <a:rPr lang="en-IN" b="1" dirty="0"/>
              <a:t>',</a:t>
            </a:r>
            <a:r>
              <a:rPr lang="en-IN" dirty="0"/>
              <a:t> then the name of the object file would be 'hello.obj'.</a:t>
            </a:r>
          </a:p>
          <a:p>
            <a:endParaRPr lang="en-IN" dirty="0"/>
          </a:p>
        </p:txBody>
      </p:sp>
    </p:spTree>
    <p:extLst>
      <p:ext uri="{BB962C8B-B14F-4D97-AF65-F5344CB8AC3E}">
        <p14:creationId xmlns:p14="http://schemas.microsoft.com/office/powerpoint/2010/main" val="356390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9202" y="624110"/>
            <a:ext cx="6589199" cy="788666"/>
          </a:xfrm>
        </p:spPr>
        <p:txBody>
          <a:bodyPr/>
          <a:lstStyle/>
          <a:p>
            <a:r>
              <a:rPr lang="en-IN" b="1" dirty="0"/>
              <a:t>Compilation Process</a:t>
            </a:r>
            <a:endParaRPr lang="en-IN" dirty="0"/>
          </a:p>
        </p:txBody>
      </p:sp>
      <p:sp>
        <p:nvSpPr>
          <p:cNvPr id="3" name="Content Placeholder 2"/>
          <p:cNvSpPr>
            <a:spLocks noGrp="1"/>
          </p:cNvSpPr>
          <p:nvPr>
            <p:ph idx="1"/>
          </p:nvPr>
        </p:nvSpPr>
        <p:spPr>
          <a:xfrm>
            <a:off x="3143672" y="1412776"/>
            <a:ext cx="7128792" cy="5256584"/>
          </a:xfrm>
        </p:spPr>
        <p:txBody>
          <a:bodyPr>
            <a:normAutofit fontScale="85000" lnSpcReduction="20000"/>
          </a:bodyPr>
          <a:lstStyle/>
          <a:p>
            <a:r>
              <a:rPr lang="en-IN" b="1" dirty="0"/>
              <a:t>Linker</a:t>
            </a:r>
          </a:p>
          <a:p>
            <a:endParaRPr lang="en-IN" dirty="0"/>
          </a:p>
          <a:p>
            <a:r>
              <a:rPr lang="en-IN" dirty="0"/>
              <a:t>Mainly, all the programs written in C use library functions. These library functions are pre-compiled, and the object code of these library files is stored with '.lib' (or '.a') extension. </a:t>
            </a:r>
          </a:p>
          <a:p>
            <a:r>
              <a:rPr lang="en-IN" b="1" dirty="0"/>
              <a:t>The main working of the linker is to combine the object code of library files with the object code of our program. </a:t>
            </a:r>
          </a:p>
          <a:p>
            <a:r>
              <a:rPr lang="en-IN" b="1" dirty="0"/>
              <a:t>Sometimes the situation arises when our program refers to the functions defined in other files; then linker plays a very important role in this. </a:t>
            </a:r>
          </a:p>
          <a:p>
            <a:r>
              <a:rPr lang="en-IN" b="1" dirty="0"/>
              <a:t>It links the object code of these files to our program. </a:t>
            </a:r>
          </a:p>
          <a:p>
            <a:r>
              <a:rPr lang="en-IN" b="1" dirty="0"/>
              <a:t>Therefore, we conclude that the job of the linker is to link the object code of our program with the object code of the library files and other files. </a:t>
            </a:r>
          </a:p>
          <a:p>
            <a:r>
              <a:rPr lang="en-IN" b="1" dirty="0"/>
              <a:t>The output of the linker is the executable file. </a:t>
            </a:r>
          </a:p>
          <a:p>
            <a:r>
              <a:rPr lang="en-IN" b="1" dirty="0"/>
              <a:t>The name of the executable file is the same as the source file but differs only in their extensions. </a:t>
            </a:r>
          </a:p>
          <a:p>
            <a:r>
              <a:rPr lang="en-IN" dirty="0"/>
              <a:t>In DOS, the extension of the executable file is '.exe', and in UNIX, the executable file can be named as '</a:t>
            </a:r>
            <a:r>
              <a:rPr lang="en-IN" dirty="0" err="1"/>
              <a:t>a.out</a:t>
            </a:r>
            <a:r>
              <a:rPr lang="en-IN" dirty="0"/>
              <a:t>'. For example, if we are using </a:t>
            </a:r>
            <a:r>
              <a:rPr lang="en-IN" dirty="0" err="1"/>
              <a:t>printf</a:t>
            </a:r>
            <a:r>
              <a:rPr lang="en-IN" dirty="0"/>
              <a:t>() function in a program, then the linker adds its associated code in an output file.</a:t>
            </a:r>
          </a:p>
        </p:txBody>
      </p:sp>
    </p:spTree>
    <p:extLst>
      <p:ext uri="{BB962C8B-B14F-4D97-AF65-F5344CB8AC3E}">
        <p14:creationId xmlns:p14="http://schemas.microsoft.com/office/powerpoint/2010/main" val="278456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Testing</a:t>
            </a:r>
            <a:br>
              <a:rPr lang="en-IN" b="1" dirty="0"/>
            </a:br>
            <a:endParaRPr lang="en-IN" dirty="0"/>
          </a:p>
        </p:txBody>
      </p:sp>
      <p:sp>
        <p:nvSpPr>
          <p:cNvPr id="3" name="Content Placeholder 2"/>
          <p:cNvSpPr>
            <a:spLocks noGrp="1"/>
          </p:cNvSpPr>
          <p:nvPr>
            <p:ph idx="1"/>
          </p:nvPr>
        </p:nvSpPr>
        <p:spPr>
          <a:xfrm>
            <a:off x="3287689" y="1484784"/>
            <a:ext cx="6770712" cy="4426438"/>
          </a:xfrm>
        </p:spPr>
        <p:txBody>
          <a:bodyPr/>
          <a:lstStyle/>
          <a:p>
            <a:r>
              <a:rPr lang="en-IN" dirty="0"/>
              <a:t>Testing is performed to verify that whether the completed software package functions or works according to the expectations defined by the requirements. </a:t>
            </a:r>
          </a:p>
          <a:p>
            <a:r>
              <a:rPr lang="en-IN" dirty="0"/>
              <a:t>Testing is generally performed by testing team which repetitively executes program with intent to find error. </a:t>
            </a:r>
          </a:p>
          <a:p>
            <a:r>
              <a:rPr lang="en-IN" dirty="0"/>
              <a:t>After testing, list of errors and related information is sent to program developer or development team. </a:t>
            </a:r>
          </a:p>
          <a:p>
            <a:endParaRPr lang="en-IN" dirty="0"/>
          </a:p>
        </p:txBody>
      </p:sp>
    </p:spTree>
    <p:extLst>
      <p:ext uri="{BB962C8B-B14F-4D97-AF65-F5344CB8AC3E}">
        <p14:creationId xmlns:p14="http://schemas.microsoft.com/office/powerpoint/2010/main" val="205487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Debugging</a:t>
            </a:r>
            <a:br>
              <a:rPr lang="en-IN" b="1" dirty="0"/>
            </a:br>
            <a:endParaRPr lang="en-IN" dirty="0"/>
          </a:p>
        </p:txBody>
      </p:sp>
      <p:sp>
        <p:nvSpPr>
          <p:cNvPr id="3" name="Content Placeholder 2"/>
          <p:cNvSpPr>
            <a:spLocks noGrp="1"/>
          </p:cNvSpPr>
          <p:nvPr>
            <p:ph idx="1"/>
          </p:nvPr>
        </p:nvSpPr>
        <p:spPr>
          <a:xfrm>
            <a:off x="3466416" y="1484784"/>
            <a:ext cx="6591985" cy="4426438"/>
          </a:xfrm>
        </p:spPr>
        <p:txBody>
          <a:bodyPr>
            <a:normAutofit/>
          </a:bodyPr>
          <a:lstStyle/>
          <a:p>
            <a:r>
              <a:rPr lang="en-IN" dirty="0"/>
              <a:t>Debugging is the process of finding errors and removing them from a computer program, otherwise they will lead to failure of the program. </a:t>
            </a:r>
          </a:p>
          <a:p>
            <a:r>
              <a:rPr lang="en-IN" dirty="0"/>
              <a:t>Even after taking full care during program design and coding, some errors may remain in the program and these errors appear during compilation or linking or execution. </a:t>
            </a:r>
          </a:p>
          <a:p>
            <a:r>
              <a:rPr lang="en-IN" dirty="0"/>
              <a:t>Debugging is generally done by program developer.</a:t>
            </a:r>
          </a:p>
          <a:p>
            <a:endParaRPr lang="en-IN" dirty="0"/>
          </a:p>
        </p:txBody>
      </p:sp>
    </p:spTree>
    <p:extLst>
      <p:ext uri="{BB962C8B-B14F-4D97-AF65-F5344CB8AC3E}">
        <p14:creationId xmlns:p14="http://schemas.microsoft.com/office/powerpoint/2010/main" val="181869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Debugging </a:t>
            </a:r>
            <a:r>
              <a:rPr lang="en-IN" b="1" dirty="0" err="1"/>
              <a:t>vs</a:t>
            </a:r>
            <a:r>
              <a:rPr lang="en-IN" b="1" dirty="0"/>
              <a:t> Testing</a:t>
            </a:r>
            <a:br>
              <a:rPr lang="en-IN" b="1" dirty="0"/>
            </a:br>
            <a:endParaRPr lang="en-IN" dirty="0"/>
          </a:p>
        </p:txBody>
      </p:sp>
      <p:sp>
        <p:nvSpPr>
          <p:cNvPr id="3" name="Content Placeholder 2"/>
          <p:cNvSpPr>
            <a:spLocks noGrp="1"/>
          </p:cNvSpPr>
          <p:nvPr>
            <p:ph idx="1"/>
          </p:nvPr>
        </p:nvSpPr>
        <p:spPr>
          <a:xfrm>
            <a:off x="1981200" y="1340768"/>
            <a:ext cx="8229600" cy="5184576"/>
          </a:xfrm>
        </p:spPr>
        <p:txBody>
          <a:bodyPr>
            <a:normAutofit/>
          </a:bodyPr>
          <a:lstStyle/>
          <a:p>
            <a:r>
              <a:rPr lang="en-IN" dirty="0"/>
              <a:t>Debugging is the process of fixing errors.</a:t>
            </a:r>
          </a:p>
          <a:p>
            <a:r>
              <a:rPr lang="en-IN" dirty="0"/>
              <a:t>Testing is the process of finding as many errors as possible.</a:t>
            </a:r>
          </a:p>
          <a:p>
            <a:endParaRPr lang="en-IN" dirty="0"/>
          </a:p>
          <a:p>
            <a:r>
              <a:rPr lang="en-IN" dirty="0"/>
              <a:t>Debugging is done during program development phase.</a:t>
            </a:r>
          </a:p>
          <a:p>
            <a:r>
              <a:rPr lang="en-IN" dirty="0"/>
              <a:t>Testing is done during testing phase which comes after development phase.</a:t>
            </a:r>
          </a:p>
          <a:p>
            <a:endParaRPr lang="en-IN" dirty="0"/>
          </a:p>
          <a:p>
            <a:r>
              <a:rPr lang="en-IN" dirty="0"/>
              <a:t>Debugging is done by program developer.</a:t>
            </a:r>
          </a:p>
          <a:p>
            <a:r>
              <a:rPr lang="en-IN" dirty="0"/>
              <a:t>Testing is generally carried out by separate testing team rather than program developer.</a:t>
            </a:r>
          </a:p>
          <a:p>
            <a:endParaRPr lang="en-IN" dirty="0"/>
          </a:p>
        </p:txBody>
      </p:sp>
    </p:spTree>
    <p:extLst>
      <p:ext uri="{BB962C8B-B14F-4D97-AF65-F5344CB8AC3E}">
        <p14:creationId xmlns:p14="http://schemas.microsoft.com/office/powerpoint/2010/main" val="157696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1000"/>
                                        <p:tgtEl>
                                          <p:spTgt spid="3">
                                            <p:txEl>
                                              <p:pRg st="6" end="6"/>
                                            </p:txEl>
                                          </p:spTgt>
                                        </p:tgtEl>
                                      </p:cBhvr>
                                    </p:animEffect>
                                    <p:anim calcmode="lin" valueType="num">
                                      <p:cBhvr>
                                        <p:cTn id="3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1000"/>
                                        <p:tgtEl>
                                          <p:spTgt spid="3">
                                            <p:txEl>
                                              <p:pRg st="7" end="7"/>
                                            </p:txEl>
                                          </p:spTgt>
                                        </p:tgtEl>
                                      </p:cBhvr>
                                    </p:animEffect>
                                    <p:anim calcmode="lin" valueType="num">
                                      <p:cBhvr>
                                        <p:cTn id="3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9202" y="404664"/>
            <a:ext cx="6589199" cy="720080"/>
          </a:xfrm>
        </p:spPr>
        <p:txBody>
          <a:bodyPr>
            <a:normAutofit/>
          </a:bodyPr>
          <a:lstStyle/>
          <a:p>
            <a:r>
              <a:rPr lang="en-IN" sz="2400" b="1" dirty="0">
                <a:latin typeface="Calibri" panose="020F0502020204030204" pitchFamily="34" charset="0"/>
                <a:ea typeface="Calibri" panose="020F0502020204030204" pitchFamily="34" charset="0"/>
                <a:cs typeface="Times New Roman" panose="02020603050405020304" pitchFamily="18" charset="0"/>
              </a:rPr>
              <a:t>Error Checking in c</a:t>
            </a:r>
            <a:endParaRPr lang="en-IN" sz="2400" b="1" dirty="0"/>
          </a:p>
        </p:txBody>
      </p:sp>
      <p:sp>
        <p:nvSpPr>
          <p:cNvPr id="3" name="Content Placeholder 2"/>
          <p:cNvSpPr>
            <a:spLocks noGrp="1"/>
          </p:cNvSpPr>
          <p:nvPr>
            <p:ph idx="1"/>
          </p:nvPr>
        </p:nvSpPr>
        <p:spPr>
          <a:xfrm>
            <a:off x="3287688" y="1052736"/>
            <a:ext cx="6770713" cy="5616624"/>
          </a:xfrm>
        </p:spPr>
        <p:txBody>
          <a:bodyPr>
            <a:normAutofit fontScale="85000" lnSpcReduction="20000"/>
          </a:bodyPr>
          <a:lstStyle/>
          <a:p>
            <a:r>
              <a:rPr lang="en-IN" b="1" dirty="0"/>
              <a:t>Error</a:t>
            </a:r>
            <a:r>
              <a:rPr lang="en-IN" dirty="0"/>
              <a:t> is a abnormal condition whenever it occurs execution of the program is stopped..</a:t>
            </a:r>
          </a:p>
          <a:p>
            <a:r>
              <a:rPr lang="en-IN" b="1" dirty="0"/>
              <a:t>these are mainly 2 Types of Error in C</a:t>
            </a:r>
          </a:p>
          <a:p>
            <a:r>
              <a:rPr lang="en-IN" b="1" dirty="0"/>
              <a:t>Compile Time Error</a:t>
            </a:r>
          </a:p>
          <a:p>
            <a:r>
              <a:rPr lang="en-IN" b="1" dirty="0"/>
              <a:t>Run time error</a:t>
            </a:r>
          </a:p>
          <a:p>
            <a:r>
              <a:rPr lang="en-US" b="0" i="0" dirty="0">
                <a:solidFill>
                  <a:srgbClr val="333333"/>
                </a:solidFill>
                <a:effectLst/>
                <a:latin typeface="inter-regular"/>
              </a:rPr>
              <a:t>Compile-time and Runtime are the two programming terms used in the software development.</a:t>
            </a:r>
          </a:p>
          <a:p>
            <a:r>
              <a:rPr lang="en-US" b="0" i="0" dirty="0">
                <a:solidFill>
                  <a:srgbClr val="333333"/>
                </a:solidFill>
                <a:effectLst/>
                <a:latin typeface="inter-regular"/>
              </a:rPr>
              <a:t>Compile-time is the time at which the source code is converted into an executable code .</a:t>
            </a:r>
          </a:p>
          <a:p>
            <a:r>
              <a:rPr lang="en-US" b="0" i="0" dirty="0">
                <a:solidFill>
                  <a:srgbClr val="333333"/>
                </a:solidFill>
                <a:effectLst/>
                <a:latin typeface="inter-regular"/>
              </a:rPr>
              <a:t>The run time is the time at which the executable code is started running. Both the compile-time and runtime refer to different types of error.</a:t>
            </a:r>
            <a:endParaRPr lang="en-IN" dirty="0"/>
          </a:p>
          <a:p>
            <a:r>
              <a:rPr lang="en-US" b="0" i="0" dirty="0">
                <a:solidFill>
                  <a:srgbClr val="333333"/>
                </a:solidFill>
                <a:effectLst/>
                <a:latin typeface="inter-regular"/>
              </a:rPr>
              <a:t>Again these errors are divided into 2</a:t>
            </a:r>
          </a:p>
          <a:p>
            <a:r>
              <a:rPr lang="en-IN" b="1" dirty="0"/>
              <a:t>Compile Time Error</a:t>
            </a:r>
          </a:p>
          <a:p>
            <a:pPr marL="0" indent="0">
              <a:buNone/>
            </a:pPr>
            <a:r>
              <a:rPr lang="en-IN" dirty="0"/>
              <a:t>         1. Syntactic Error</a:t>
            </a:r>
          </a:p>
          <a:p>
            <a:pPr marL="0" indent="0">
              <a:buNone/>
            </a:pPr>
            <a:r>
              <a:rPr lang="en-IN" dirty="0"/>
              <a:t>           2. Semantic Error</a:t>
            </a:r>
          </a:p>
          <a:p>
            <a:endParaRPr lang="en-IN" dirty="0"/>
          </a:p>
          <a:p>
            <a:r>
              <a:rPr lang="en-IN" b="1" dirty="0"/>
              <a:t>Run time error</a:t>
            </a:r>
          </a:p>
          <a:p>
            <a:pPr marL="0" indent="0">
              <a:buNone/>
            </a:pPr>
            <a:r>
              <a:rPr lang="en-IN" dirty="0"/>
              <a:t>            1.Logical Error</a:t>
            </a:r>
          </a:p>
          <a:p>
            <a:pPr marL="0" indent="0">
              <a:buNone/>
            </a:pPr>
            <a:r>
              <a:rPr lang="en-IN" dirty="0"/>
              <a:t>            2.Divide by zero</a:t>
            </a:r>
          </a:p>
          <a:p>
            <a:endParaRPr lang="en-US" b="0" i="0" dirty="0">
              <a:solidFill>
                <a:srgbClr val="333333"/>
              </a:solidFill>
              <a:effectLst/>
              <a:latin typeface="inter-regular"/>
            </a:endParaRPr>
          </a:p>
          <a:p>
            <a:pPr marL="0" indent="0">
              <a:buNone/>
            </a:pPr>
            <a:endParaRPr lang="en-US"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33760170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0B0FA-3268-4101-A254-59BC0B5CB128}"/>
              </a:ext>
            </a:extLst>
          </p:cNvPr>
          <p:cNvSpPr>
            <a:spLocks noGrp="1"/>
          </p:cNvSpPr>
          <p:nvPr>
            <p:ph type="title"/>
          </p:nvPr>
        </p:nvSpPr>
        <p:spPr>
          <a:xfrm>
            <a:off x="3469202" y="332656"/>
            <a:ext cx="6589199" cy="1296144"/>
          </a:xfrm>
        </p:spPr>
        <p:txBody>
          <a:bodyPr>
            <a:normAutofit/>
          </a:bodyPr>
          <a:lstStyle/>
          <a:p>
            <a:r>
              <a:rPr lang="en-US" b="0" i="0" dirty="0">
                <a:solidFill>
                  <a:srgbClr val="610B4B"/>
                </a:solidFill>
                <a:effectLst/>
                <a:latin typeface="erdana"/>
              </a:rPr>
              <a:t>Compile-time errors</a:t>
            </a:r>
            <a:br>
              <a:rPr lang="en-US"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82C6C940-C0AB-4ED9-9DEF-1EE34DF9E337}"/>
              </a:ext>
            </a:extLst>
          </p:cNvPr>
          <p:cNvSpPr>
            <a:spLocks noGrp="1"/>
          </p:cNvSpPr>
          <p:nvPr>
            <p:ph idx="1"/>
          </p:nvPr>
        </p:nvSpPr>
        <p:spPr>
          <a:xfrm>
            <a:off x="2999657" y="1196752"/>
            <a:ext cx="7058744" cy="4714470"/>
          </a:xfrm>
        </p:spPr>
        <p:txBody>
          <a:bodyPr>
            <a:normAutofit/>
          </a:bodyPr>
          <a:lstStyle/>
          <a:p>
            <a:pPr algn="just"/>
            <a:r>
              <a:rPr lang="en-US" b="0" i="0" dirty="0">
                <a:solidFill>
                  <a:srgbClr val="333333"/>
                </a:solidFill>
                <a:effectLst/>
                <a:latin typeface="inter-regular"/>
              </a:rPr>
              <a:t>Compile-time errors are the errors that occurred when we write the wrong syntax. If we write the wrong syntax or semantics of any programming language, then the compile-time errors will be thrown by the compiler. </a:t>
            </a:r>
          </a:p>
          <a:p>
            <a:pPr algn="just"/>
            <a:r>
              <a:rPr lang="en-US" b="0" i="0" dirty="0">
                <a:solidFill>
                  <a:srgbClr val="333333"/>
                </a:solidFill>
                <a:effectLst/>
                <a:latin typeface="inter-regular"/>
              </a:rPr>
              <a:t>The compiler will not allow to run the program until all the errors are removed from the program. When all the errors are removed from the program, then the compiler will generate the executable file.</a:t>
            </a:r>
          </a:p>
          <a:p>
            <a:pPr algn="just"/>
            <a:r>
              <a:rPr lang="en-US" b="0" i="0" dirty="0">
                <a:solidFill>
                  <a:srgbClr val="333333"/>
                </a:solidFill>
                <a:effectLst/>
                <a:latin typeface="inter-regular"/>
              </a:rPr>
              <a:t>The compile-time errors can be:</a:t>
            </a:r>
          </a:p>
          <a:p>
            <a:pPr algn="just">
              <a:buFont typeface="Arial" panose="020B0604020202020204" pitchFamily="34" charset="0"/>
              <a:buChar char="•"/>
            </a:pPr>
            <a:r>
              <a:rPr lang="en-US" b="0" i="0" dirty="0">
                <a:solidFill>
                  <a:srgbClr val="000000"/>
                </a:solidFill>
                <a:effectLst/>
                <a:latin typeface="inter-regular"/>
              </a:rPr>
              <a:t>Syntax errors</a:t>
            </a:r>
          </a:p>
          <a:p>
            <a:pPr algn="just">
              <a:buFont typeface="Arial" panose="020B0604020202020204" pitchFamily="34" charset="0"/>
              <a:buChar char="•"/>
            </a:pPr>
            <a:r>
              <a:rPr lang="en-US" b="0" i="0" dirty="0">
                <a:solidFill>
                  <a:srgbClr val="000000"/>
                </a:solidFill>
                <a:effectLst/>
                <a:latin typeface="inter-regular"/>
              </a:rPr>
              <a:t>Semantic errors</a:t>
            </a:r>
          </a:p>
        </p:txBody>
      </p:sp>
    </p:spTree>
    <p:extLst>
      <p:ext uri="{BB962C8B-B14F-4D97-AF65-F5344CB8AC3E}">
        <p14:creationId xmlns:p14="http://schemas.microsoft.com/office/powerpoint/2010/main" val="3787776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E791C-EB01-4BA3-B141-2E2B710CAC6E}"/>
              </a:ext>
            </a:extLst>
          </p:cNvPr>
          <p:cNvSpPr>
            <a:spLocks noGrp="1"/>
          </p:cNvSpPr>
          <p:nvPr>
            <p:ph type="title"/>
          </p:nvPr>
        </p:nvSpPr>
        <p:spPr>
          <a:xfrm>
            <a:off x="3469202" y="624110"/>
            <a:ext cx="6589199" cy="716658"/>
          </a:xfrm>
        </p:spPr>
        <p:txBody>
          <a:bodyPr>
            <a:normAutofit/>
          </a:bodyPr>
          <a:lstStyle/>
          <a:p>
            <a:r>
              <a:rPr lang="en-US" b="0" i="0" dirty="0">
                <a:solidFill>
                  <a:srgbClr val="610B4B"/>
                </a:solidFill>
                <a:effectLst/>
                <a:latin typeface="erdana"/>
              </a:rPr>
              <a:t>Compile-time errors</a:t>
            </a:r>
            <a:endParaRPr lang="en-IN" dirty="0"/>
          </a:p>
        </p:txBody>
      </p:sp>
      <p:sp>
        <p:nvSpPr>
          <p:cNvPr id="3" name="Content Placeholder 2">
            <a:extLst>
              <a:ext uri="{FF2B5EF4-FFF2-40B4-BE49-F238E27FC236}">
                <a16:creationId xmlns:a16="http://schemas.microsoft.com/office/drawing/2014/main" id="{1575CA84-B18D-4F51-9EB0-F12E13225C58}"/>
              </a:ext>
            </a:extLst>
          </p:cNvPr>
          <p:cNvSpPr>
            <a:spLocks noGrp="1"/>
          </p:cNvSpPr>
          <p:nvPr>
            <p:ph idx="1"/>
          </p:nvPr>
        </p:nvSpPr>
        <p:spPr>
          <a:xfrm>
            <a:off x="3466416" y="1268760"/>
            <a:ext cx="6591985" cy="5328592"/>
          </a:xfrm>
        </p:spPr>
        <p:txBody>
          <a:bodyPr>
            <a:normAutofit/>
          </a:bodyPr>
          <a:lstStyle/>
          <a:p>
            <a:pPr algn="just"/>
            <a:r>
              <a:rPr lang="en-US" b="1" i="0" dirty="0">
                <a:solidFill>
                  <a:srgbClr val="610B4B"/>
                </a:solidFill>
                <a:effectLst/>
                <a:latin typeface="erdana"/>
              </a:rPr>
              <a:t>Syntax errors</a:t>
            </a:r>
          </a:p>
          <a:p>
            <a:pPr algn="just"/>
            <a:r>
              <a:rPr lang="en-US" b="0" i="0" dirty="0">
                <a:solidFill>
                  <a:srgbClr val="333333"/>
                </a:solidFill>
                <a:effectLst/>
                <a:latin typeface="inter-regular"/>
              </a:rPr>
              <a:t>When the programmer does not follow the syntax of any programming language, then the compiler will throw the syntax error.</a:t>
            </a:r>
          </a:p>
          <a:p>
            <a:pPr algn="just"/>
            <a:r>
              <a:rPr lang="en-US" b="0" i="0" dirty="0">
                <a:solidFill>
                  <a:srgbClr val="333333"/>
                </a:solidFill>
                <a:effectLst/>
                <a:latin typeface="inter-regular"/>
              </a:rPr>
              <a:t>For example,</a:t>
            </a:r>
          </a:p>
          <a:p>
            <a:pPr algn="just"/>
            <a:r>
              <a:rPr lang="en-US" b="0" i="0" dirty="0">
                <a:solidFill>
                  <a:srgbClr val="333333"/>
                </a:solidFill>
                <a:effectLst/>
                <a:latin typeface="inter-regular"/>
              </a:rPr>
              <a:t>int a, b:</a:t>
            </a:r>
          </a:p>
          <a:p>
            <a:pPr algn="just"/>
            <a:r>
              <a:rPr lang="en-US" b="0" i="0" dirty="0">
                <a:solidFill>
                  <a:srgbClr val="333333"/>
                </a:solidFill>
                <a:effectLst/>
                <a:latin typeface="inter-regular"/>
              </a:rPr>
              <a:t>The above declaration generates the compile-time error as in C, every statement ends with the semicolon, but we put a colon (:) at the end of the statement.</a:t>
            </a:r>
          </a:p>
          <a:p>
            <a:endParaRPr lang="en-IN" dirty="0"/>
          </a:p>
        </p:txBody>
      </p:sp>
    </p:spTree>
    <p:extLst>
      <p:ext uri="{BB962C8B-B14F-4D97-AF65-F5344CB8AC3E}">
        <p14:creationId xmlns:p14="http://schemas.microsoft.com/office/powerpoint/2010/main" val="393196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solidFill>
                  <a:srgbClr val="610B4B"/>
                </a:solidFill>
                <a:effectLst/>
                <a:latin typeface="erdana"/>
              </a:rPr>
              <a:t>Syntax errors example</a:t>
            </a:r>
            <a:br>
              <a:rPr lang="en-US" b="1" i="0" dirty="0">
                <a:solidFill>
                  <a:srgbClr val="610B4B"/>
                </a:solidFill>
                <a:effectLst/>
                <a:latin typeface="erdana"/>
              </a:rPr>
            </a:br>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024313" y="2133600"/>
            <a:ext cx="6045200" cy="377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76694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C308C-E7A5-4684-AFD5-24014245E0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DF78044-935F-4DF8-B2E6-CE7C382F5921}"/>
              </a:ext>
            </a:extLst>
          </p:cNvPr>
          <p:cNvSpPr>
            <a:spLocks noGrp="1"/>
          </p:cNvSpPr>
          <p:nvPr>
            <p:ph idx="1"/>
          </p:nvPr>
        </p:nvSpPr>
        <p:spPr/>
        <p:txBody>
          <a:bodyPr/>
          <a:lstStyle/>
          <a:p>
            <a:pPr algn="just"/>
            <a:r>
              <a:rPr lang="en-US" b="1" i="0" dirty="0">
                <a:solidFill>
                  <a:srgbClr val="610B4B"/>
                </a:solidFill>
                <a:effectLst/>
                <a:latin typeface="erdana"/>
              </a:rPr>
              <a:t>Semantic errors</a:t>
            </a:r>
          </a:p>
          <a:p>
            <a:pPr algn="just"/>
            <a:r>
              <a:rPr lang="en-US" b="0" i="0" dirty="0">
                <a:solidFill>
                  <a:srgbClr val="333333"/>
                </a:solidFill>
                <a:effectLst/>
                <a:latin typeface="inter-regular"/>
              </a:rPr>
              <a:t>The semantic errors exist when the statements are not meaningful to the compiler.</a:t>
            </a:r>
          </a:p>
          <a:p>
            <a:pPr algn="just"/>
            <a:r>
              <a:rPr lang="en-US" b="0" i="0" dirty="0">
                <a:solidFill>
                  <a:srgbClr val="333333"/>
                </a:solidFill>
                <a:effectLst/>
                <a:latin typeface="inter-regular"/>
              </a:rPr>
              <a:t>For example,</a:t>
            </a:r>
          </a:p>
          <a:p>
            <a:pPr algn="just"/>
            <a:r>
              <a:rPr lang="en-US" b="0" i="0" dirty="0">
                <a:solidFill>
                  <a:srgbClr val="333333"/>
                </a:solidFill>
                <a:effectLst/>
                <a:latin typeface="inter-regular"/>
              </a:rPr>
              <a:t>The above statement throws a compile-time errors. In the above statement, we are assigning the value of 'c' to the summation of 'a' and 'b' which is not possible in C programming language as it can contain only one variable on the left of the assignment operator while right of the assignment operator can contain more than one variable.</a:t>
            </a:r>
          </a:p>
          <a:p>
            <a:endParaRPr lang="en-IN" dirty="0"/>
          </a:p>
        </p:txBody>
      </p:sp>
    </p:spTree>
    <p:extLst>
      <p:ext uri="{BB962C8B-B14F-4D97-AF65-F5344CB8AC3E}">
        <p14:creationId xmlns:p14="http://schemas.microsoft.com/office/powerpoint/2010/main" val="2563815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24254-D71F-4645-8CFB-913737ECD634}"/>
              </a:ext>
            </a:extLst>
          </p:cNvPr>
          <p:cNvSpPr>
            <a:spLocks noGrp="1"/>
          </p:cNvSpPr>
          <p:nvPr>
            <p:ph type="title"/>
          </p:nvPr>
        </p:nvSpPr>
        <p:spPr>
          <a:xfrm>
            <a:off x="3469202" y="624110"/>
            <a:ext cx="6589199" cy="788666"/>
          </a:xfrm>
        </p:spPr>
        <p:txBody>
          <a:bodyPr>
            <a:normAutofit fontScale="90000"/>
          </a:bodyPr>
          <a:lstStyle/>
          <a:p>
            <a:r>
              <a:rPr lang="en-US" b="0" i="0" dirty="0">
                <a:solidFill>
                  <a:srgbClr val="610B4B"/>
                </a:solidFill>
                <a:effectLst/>
                <a:latin typeface="erdana"/>
              </a:rPr>
              <a:t>Runtime errors</a:t>
            </a:r>
            <a:br>
              <a:rPr lang="en-US"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33253223-947C-4E67-B78B-59D21E6C72A0}"/>
              </a:ext>
            </a:extLst>
          </p:cNvPr>
          <p:cNvSpPr>
            <a:spLocks noGrp="1"/>
          </p:cNvSpPr>
          <p:nvPr>
            <p:ph idx="1"/>
          </p:nvPr>
        </p:nvSpPr>
        <p:spPr>
          <a:xfrm>
            <a:off x="3466416" y="1340768"/>
            <a:ext cx="6591985" cy="4570454"/>
          </a:xfrm>
        </p:spPr>
        <p:txBody>
          <a:bodyPr>
            <a:normAutofit/>
          </a:bodyPr>
          <a:lstStyle/>
          <a:p>
            <a:pPr algn="just"/>
            <a:r>
              <a:rPr lang="en-US" b="0" i="0" dirty="0">
                <a:solidFill>
                  <a:srgbClr val="273239"/>
                </a:solidFill>
                <a:effectLst/>
                <a:latin typeface="urw-din"/>
              </a:rPr>
              <a:t>A runtime error in a program is an error that occurs while the program is running after being successfully compiled.</a:t>
            </a:r>
          </a:p>
          <a:p>
            <a:pPr algn="just"/>
            <a:r>
              <a:rPr lang="en-US" b="0" i="0" dirty="0">
                <a:solidFill>
                  <a:srgbClr val="333333"/>
                </a:solidFill>
                <a:effectLst/>
                <a:latin typeface="inter-regular"/>
              </a:rPr>
              <a:t>Sometimes the errors exist during the execution-time even after the successful compilation known as run-time errors</a:t>
            </a:r>
            <a:endParaRPr lang="en-US" b="0" i="0" dirty="0">
              <a:solidFill>
                <a:srgbClr val="273239"/>
              </a:solidFill>
              <a:effectLst/>
              <a:latin typeface="urw-din"/>
            </a:endParaRPr>
          </a:p>
          <a:p>
            <a:pPr algn="just"/>
            <a:endParaRPr lang="en-US" dirty="0">
              <a:solidFill>
                <a:srgbClr val="333333"/>
              </a:solidFill>
              <a:latin typeface="inter-regular"/>
            </a:endParaRPr>
          </a:p>
          <a:p>
            <a:pPr algn="just"/>
            <a:r>
              <a:rPr lang="en-US" b="0" i="0" dirty="0">
                <a:solidFill>
                  <a:srgbClr val="333333"/>
                </a:solidFill>
                <a:effectLst/>
                <a:latin typeface="inter-regular"/>
              </a:rPr>
              <a:t>The examples of runtime errors are division by zero, etc. These errors are not easy to detect as the compiler does not point to these errors.</a:t>
            </a:r>
          </a:p>
          <a:p>
            <a:pPr algn="just"/>
            <a:endParaRPr lang="en-IN" dirty="0"/>
          </a:p>
        </p:txBody>
      </p:sp>
    </p:spTree>
    <p:extLst>
      <p:ext uri="{BB962C8B-B14F-4D97-AF65-F5344CB8AC3E}">
        <p14:creationId xmlns:p14="http://schemas.microsoft.com/office/powerpoint/2010/main" val="10078107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BFD02-E05A-4E6A-97D0-91ED524F4FAD}"/>
              </a:ext>
            </a:extLst>
          </p:cNvPr>
          <p:cNvSpPr>
            <a:spLocks noGrp="1"/>
          </p:cNvSpPr>
          <p:nvPr>
            <p:ph type="title"/>
          </p:nvPr>
        </p:nvSpPr>
        <p:spPr>
          <a:xfrm>
            <a:off x="3469202" y="624110"/>
            <a:ext cx="6589199" cy="644650"/>
          </a:xfrm>
        </p:spPr>
        <p:txBody>
          <a:bodyPr>
            <a:normAutofit/>
          </a:bodyPr>
          <a:lstStyle/>
          <a:p>
            <a:r>
              <a:rPr lang="en-US" b="0" i="0" dirty="0">
                <a:solidFill>
                  <a:srgbClr val="610B4B"/>
                </a:solidFill>
                <a:effectLst/>
                <a:latin typeface="erdana"/>
              </a:rPr>
              <a:t>Runtime errors</a:t>
            </a:r>
            <a:endParaRPr lang="en-IN" dirty="0"/>
          </a:p>
        </p:txBody>
      </p:sp>
      <p:sp>
        <p:nvSpPr>
          <p:cNvPr id="3" name="Content Placeholder 2">
            <a:extLst>
              <a:ext uri="{FF2B5EF4-FFF2-40B4-BE49-F238E27FC236}">
                <a16:creationId xmlns:a16="http://schemas.microsoft.com/office/drawing/2014/main" id="{62F6CE8C-7A25-4DC5-A6A7-332B2AE1DDD2}"/>
              </a:ext>
            </a:extLst>
          </p:cNvPr>
          <p:cNvSpPr>
            <a:spLocks noGrp="1"/>
          </p:cNvSpPr>
          <p:nvPr>
            <p:ph idx="1"/>
          </p:nvPr>
        </p:nvSpPr>
        <p:spPr>
          <a:xfrm>
            <a:off x="3215681" y="1628800"/>
            <a:ext cx="6842720" cy="4282422"/>
          </a:xfrm>
        </p:spPr>
        <p:txBody>
          <a:bodyPr>
            <a:normAutofit fontScale="92500" lnSpcReduction="20000"/>
          </a:bodyPr>
          <a:lstStyle/>
          <a:p>
            <a:pPr algn="l"/>
            <a:r>
              <a:rPr lang="en-US" b="1" i="0" dirty="0">
                <a:solidFill>
                  <a:srgbClr val="1375B0"/>
                </a:solidFill>
                <a:effectLst/>
                <a:latin typeface="Nunito Sans" panose="020B0604020202020204" pitchFamily="2" charset="0"/>
              </a:rPr>
              <a:t>Divide by Zero Error</a:t>
            </a:r>
          </a:p>
          <a:p>
            <a:pPr algn="l"/>
            <a:r>
              <a:rPr lang="en-US" b="0" i="0" dirty="0">
                <a:solidFill>
                  <a:srgbClr val="4D5968"/>
                </a:solidFill>
                <a:effectLst/>
                <a:latin typeface="Nunito Sans" panose="020B0604020202020204" pitchFamily="2" charset="0"/>
              </a:rPr>
              <a:t>The statement itself defines the error as this is displayed or occurred when the divisor is zero before a division command so this leads to dividing by zero error.</a:t>
            </a:r>
          </a:p>
          <a:p>
            <a:pPr algn="just"/>
            <a:r>
              <a:rPr lang="en-US" b="1" i="0" dirty="0">
                <a:solidFill>
                  <a:srgbClr val="333333"/>
                </a:solidFill>
                <a:effectLst/>
                <a:latin typeface="inter-bold"/>
              </a:rPr>
              <a:t>Example of runtime error</a:t>
            </a:r>
            <a:endParaRPr lang="en-US" b="0" i="0" dirty="0">
              <a:solidFill>
                <a:srgbClr val="333333"/>
              </a:solidFill>
              <a:effectLst/>
              <a:latin typeface="inter-regular"/>
            </a:endParaRPr>
          </a:p>
          <a:p>
            <a:pPr algn="just">
              <a:buFont typeface="+mj-lt"/>
              <a:buAutoNum type="arabicPeriod"/>
            </a:pPr>
            <a:r>
              <a:rPr lang="en-US" b="0" i="0" dirty="0">
                <a:solidFill>
                  <a:srgbClr val="0000FF"/>
                </a:solidFill>
                <a:effectLst/>
                <a:latin typeface="inter-regular"/>
              </a:rPr>
              <a:t>#include &lt;</a:t>
            </a:r>
            <a:r>
              <a:rPr lang="en-US" b="0" i="0" dirty="0" err="1">
                <a:solidFill>
                  <a:srgbClr val="0000FF"/>
                </a:solidFill>
                <a:effectLst/>
                <a:latin typeface="inter-regular"/>
              </a:rPr>
              <a:t>stdio.h</a:t>
            </a:r>
            <a:r>
              <a:rPr lang="en-US" b="0" i="0" dirty="0">
                <a:solidFill>
                  <a:srgbClr val="0000FF"/>
                </a:solidFill>
                <a:effectLst/>
                <a:latin typeface="inter-regular"/>
              </a:rPr>
              <a:t>&gt;</a:t>
            </a:r>
            <a:r>
              <a:rPr lang="en-US" b="0" i="0" dirty="0">
                <a:solidFill>
                  <a:srgbClr val="000000"/>
                </a:solidFill>
                <a:effectLst/>
                <a:latin typeface="inter-regular"/>
              </a:rPr>
              <a:t>  </a:t>
            </a:r>
          </a:p>
          <a:p>
            <a:pPr algn="just">
              <a:buFont typeface="+mj-lt"/>
              <a:buAutoNum type="arabicPeriod"/>
            </a:pPr>
            <a:r>
              <a:rPr lang="en-US" b="1" i="0" dirty="0">
                <a:solidFill>
                  <a:srgbClr val="2E8B57"/>
                </a:solidFill>
                <a:effectLst/>
                <a:latin typeface="inter-regular"/>
              </a:rPr>
              <a:t>int</a:t>
            </a:r>
            <a:r>
              <a:rPr lang="en-US" b="0" i="0" dirty="0">
                <a:solidFill>
                  <a:srgbClr val="000000"/>
                </a:solidFill>
                <a:effectLst/>
                <a:latin typeface="inter-regular"/>
              </a:rPr>
              <a:t> main()  </a:t>
            </a:r>
          </a:p>
          <a:p>
            <a:pPr algn="just">
              <a:buFont typeface="+mj-lt"/>
              <a:buAutoNum type="arabicPeriod"/>
            </a:pP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r>
              <a:rPr lang="en-US" b="1" i="0" dirty="0">
                <a:solidFill>
                  <a:srgbClr val="2E8B57"/>
                </a:solidFill>
                <a:effectLst/>
                <a:latin typeface="inter-regular"/>
              </a:rPr>
              <a:t>int</a:t>
            </a:r>
            <a:r>
              <a:rPr lang="en-US" b="0" i="0" dirty="0">
                <a:solidFill>
                  <a:srgbClr val="000000"/>
                </a:solidFill>
                <a:effectLst/>
                <a:latin typeface="inter-regular"/>
              </a:rPr>
              <a:t> a=20;  </a:t>
            </a:r>
          </a:p>
          <a:p>
            <a:pPr algn="just">
              <a:buFont typeface="+mj-lt"/>
              <a:buAutoNum type="arabicPeriod"/>
            </a:pPr>
            <a:r>
              <a:rPr lang="en-US" b="0" i="0" dirty="0">
                <a:solidFill>
                  <a:srgbClr val="000000"/>
                </a:solidFill>
                <a:effectLst/>
                <a:latin typeface="inter-regular"/>
              </a:rPr>
              <a:t>    </a:t>
            </a:r>
            <a:r>
              <a:rPr lang="en-US" b="1" i="0" dirty="0">
                <a:solidFill>
                  <a:srgbClr val="2E8B57"/>
                </a:solidFill>
                <a:effectLst/>
                <a:latin typeface="inter-regular"/>
              </a:rPr>
              <a:t>int</a:t>
            </a:r>
            <a:r>
              <a:rPr lang="en-US" b="0" i="0" dirty="0">
                <a:solidFill>
                  <a:srgbClr val="000000"/>
                </a:solidFill>
                <a:effectLst/>
                <a:latin typeface="inter-regular"/>
              </a:rPr>
              <a:t> b=a/0; </a:t>
            </a:r>
            <a:r>
              <a:rPr lang="en-US" b="0" i="0" dirty="0">
                <a:solidFill>
                  <a:srgbClr val="008200"/>
                </a:solidFill>
                <a:effectLst/>
                <a:latin typeface="inter-regular"/>
              </a:rPr>
              <a:t>// division by zero</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r>
              <a:rPr lang="en-US" b="0" i="0" dirty="0" err="1">
                <a:solidFill>
                  <a:srgbClr val="000000"/>
                </a:solidFill>
                <a:effectLst/>
                <a:latin typeface="inter-regular"/>
              </a:rPr>
              <a:t>printf</a:t>
            </a:r>
            <a:r>
              <a:rPr lang="en-US" b="0" i="0" dirty="0">
                <a:solidFill>
                  <a:srgbClr val="000000"/>
                </a:solidFill>
                <a:effectLst/>
                <a:latin typeface="inter-regular"/>
              </a:rPr>
              <a:t>(</a:t>
            </a:r>
            <a:r>
              <a:rPr lang="en-US" b="0" i="0" dirty="0">
                <a:solidFill>
                  <a:srgbClr val="0000FF"/>
                </a:solidFill>
                <a:effectLst/>
                <a:latin typeface="inter-regular"/>
              </a:rPr>
              <a:t>"The value of b is : %</a:t>
            </a:r>
            <a:r>
              <a:rPr lang="en-US" b="0" i="0" dirty="0" err="1">
                <a:solidFill>
                  <a:srgbClr val="0000FF"/>
                </a:solidFill>
                <a:effectLst/>
                <a:latin typeface="inter-regular"/>
              </a:rPr>
              <a:t>d"</a:t>
            </a:r>
            <a:r>
              <a:rPr lang="en-US" b="0" i="0" dirty="0" err="1">
                <a:solidFill>
                  <a:srgbClr val="000000"/>
                </a:solidFill>
                <a:effectLst/>
                <a:latin typeface="inter-regular"/>
              </a:rPr>
              <a:t>,b</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    </a:t>
            </a:r>
            <a:r>
              <a:rPr lang="en-US" b="1" i="0" dirty="0">
                <a:solidFill>
                  <a:srgbClr val="006699"/>
                </a:solidFill>
                <a:effectLst/>
                <a:latin typeface="inter-regular"/>
              </a:rPr>
              <a:t>return</a:t>
            </a:r>
            <a:r>
              <a:rPr lang="en-US" b="0" i="0" dirty="0">
                <a:solidFill>
                  <a:srgbClr val="000000"/>
                </a:solidFill>
                <a:effectLst/>
                <a:latin typeface="inter-regular"/>
              </a:rPr>
              <a:t> 0;  </a:t>
            </a:r>
          </a:p>
          <a:p>
            <a:pPr algn="just">
              <a:buFont typeface="+mj-lt"/>
              <a:buAutoNum type="arabicPeriod"/>
            </a:pPr>
            <a:r>
              <a:rPr lang="en-US" b="0" i="0" dirty="0">
                <a:solidFill>
                  <a:srgbClr val="000000"/>
                </a:solidFill>
                <a:effectLst/>
                <a:latin typeface="inter-regular"/>
              </a:rPr>
              <a:t>}  </a:t>
            </a:r>
          </a:p>
          <a:p>
            <a:endParaRPr lang="en-IN" dirty="0"/>
          </a:p>
        </p:txBody>
      </p:sp>
    </p:spTree>
    <p:extLst>
      <p:ext uri="{BB962C8B-B14F-4D97-AF65-F5344CB8AC3E}">
        <p14:creationId xmlns:p14="http://schemas.microsoft.com/office/powerpoint/2010/main" val="10781186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7568" y="1268760"/>
            <a:ext cx="6936432"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53410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16F7-1450-479D-A128-0D090F10B4C7}"/>
              </a:ext>
            </a:extLst>
          </p:cNvPr>
          <p:cNvSpPr>
            <a:spLocks noGrp="1"/>
          </p:cNvSpPr>
          <p:nvPr>
            <p:ph type="title"/>
          </p:nvPr>
        </p:nvSpPr>
        <p:spPr/>
        <p:txBody>
          <a:bodyPr/>
          <a:lstStyle/>
          <a:p>
            <a:r>
              <a:rPr lang="en-US" b="0" i="0" dirty="0">
                <a:solidFill>
                  <a:srgbClr val="610B4B"/>
                </a:solidFill>
                <a:effectLst/>
                <a:latin typeface="erdana"/>
              </a:rPr>
              <a:t>Runtime errors</a:t>
            </a:r>
            <a:endParaRPr lang="en-IN" dirty="0"/>
          </a:p>
        </p:txBody>
      </p:sp>
      <p:sp>
        <p:nvSpPr>
          <p:cNvPr id="3" name="Content Placeholder 2">
            <a:extLst>
              <a:ext uri="{FF2B5EF4-FFF2-40B4-BE49-F238E27FC236}">
                <a16:creationId xmlns:a16="http://schemas.microsoft.com/office/drawing/2014/main" id="{CCCEA6FB-CB42-4260-BDF2-512F0B37BB83}"/>
              </a:ext>
            </a:extLst>
          </p:cNvPr>
          <p:cNvSpPr>
            <a:spLocks noGrp="1"/>
          </p:cNvSpPr>
          <p:nvPr>
            <p:ph idx="1"/>
          </p:nvPr>
        </p:nvSpPr>
        <p:spPr/>
        <p:txBody>
          <a:bodyPr>
            <a:normAutofit/>
          </a:bodyPr>
          <a:lstStyle/>
          <a:p>
            <a:r>
              <a:rPr lang="en-US" b="1" i="0" dirty="0">
                <a:solidFill>
                  <a:srgbClr val="273239"/>
                </a:solidFill>
                <a:effectLst/>
                <a:latin typeface="urw-din"/>
              </a:rPr>
              <a:t>Logical Errors :</a:t>
            </a:r>
          </a:p>
          <a:p>
            <a:r>
              <a:rPr lang="en-US" b="1" i="0" dirty="0">
                <a:solidFill>
                  <a:srgbClr val="273239"/>
                </a:solidFill>
                <a:effectLst/>
                <a:latin typeface="urw-din"/>
              </a:rPr>
              <a:t> </a:t>
            </a:r>
            <a:r>
              <a:rPr lang="en-US" b="0" i="0" dirty="0">
                <a:solidFill>
                  <a:srgbClr val="333333"/>
                </a:solidFill>
                <a:effectLst/>
                <a:latin typeface="inter-regular"/>
              </a:rPr>
              <a:t>The logical error is an error that leads to an undesired output. These errors produce the incorrect output, but they are error-free, known as logical errors. </a:t>
            </a:r>
          </a:p>
          <a:p>
            <a:r>
              <a:rPr lang="en-US" b="0" i="0" dirty="0">
                <a:solidFill>
                  <a:srgbClr val="273239"/>
                </a:solidFill>
                <a:effectLst/>
                <a:latin typeface="urw-din"/>
              </a:rPr>
              <a:t>These are one of the most common errors done by beginners of programming. </a:t>
            </a:r>
          </a:p>
          <a:p>
            <a:r>
              <a:rPr lang="en-US" b="0" i="0" dirty="0">
                <a:solidFill>
                  <a:srgbClr val="333333"/>
                </a:solidFill>
                <a:effectLst/>
                <a:latin typeface="inter-regular"/>
              </a:rPr>
              <a:t>The occurrence of these errors mainly depends upon the logical thinking of the developer.</a:t>
            </a:r>
          </a:p>
          <a:p>
            <a:r>
              <a:rPr lang="en-US" b="0" i="0" dirty="0">
                <a:solidFill>
                  <a:srgbClr val="333333"/>
                </a:solidFill>
                <a:effectLst/>
                <a:latin typeface="inter-regular"/>
              </a:rPr>
              <a:t> If the programmers sound logically good, then there will be fewer chances of these errors.</a:t>
            </a:r>
            <a:endParaRPr lang="en-IN" dirty="0"/>
          </a:p>
        </p:txBody>
      </p:sp>
    </p:spTree>
    <p:extLst>
      <p:ext uri="{BB962C8B-B14F-4D97-AF65-F5344CB8AC3E}">
        <p14:creationId xmlns:p14="http://schemas.microsoft.com/office/powerpoint/2010/main" val="7074175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C224C-8A02-4F89-90F2-3D110CE20B68}"/>
              </a:ext>
            </a:extLst>
          </p:cNvPr>
          <p:cNvSpPr>
            <a:spLocks noGrp="1"/>
          </p:cNvSpPr>
          <p:nvPr>
            <p:ph type="title"/>
          </p:nvPr>
        </p:nvSpPr>
        <p:spPr>
          <a:xfrm>
            <a:off x="3469202" y="624110"/>
            <a:ext cx="6589199" cy="572642"/>
          </a:xfrm>
        </p:spPr>
        <p:txBody>
          <a:bodyPr>
            <a:normAutofit fontScale="90000"/>
          </a:bodyPr>
          <a:lstStyle/>
          <a:p>
            <a:r>
              <a:rPr lang="en-US" b="0" i="0" dirty="0">
                <a:solidFill>
                  <a:srgbClr val="610B4B"/>
                </a:solidFill>
                <a:effectLst/>
                <a:latin typeface="erdana"/>
              </a:rPr>
              <a:t>Runtime errors</a:t>
            </a:r>
            <a:endParaRPr lang="en-IN" dirty="0"/>
          </a:p>
        </p:txBody>
      </p:sp>
      <p:sp>
        <p:nvSpPr>
          <p:cNvPr id="3" name="Content Placeholder 2">
            <a:extLst>
              <a:ext uri="{FF2B5EF4-FFF2-40B4-BE49-F238E27FC236}">
                <a16:creationId xmlns:a16="http://schemas.microsoft.com/office/drawing/2014/main" id="{AC2F3D43-8710-4D0F-B764-8B0CF19C2A26}"/>
              </a:ext>
            </a:extLst>
          </p:cNvPr>
          <p:cNvSpPr>
            <a:spLocks noGrp="1"/>
          </p:cNvSpPr>
          <p:nvPr>
            <p:ph idx="1"/>
          </p:nvPr>
        </p:nvSpPr>
        <p:spPr>
          <a:xfrm>
            <a:off x="3071664" y="1340768"/>
            <a:ext cx="6986737" cy="5256584"/>
          </a:xfrm>
        </p:spPr>
        <p:style>
          <a:lnRef idx="2">
            <a:schemeClr val="accent3"/>
          </a:lnRef>
          <a:fillRef idx="1">
            <a:schemeClr val="lt1"/>
          </a:fillRef>
          <a:effectRef idx="0">
            <a:schemeClr val="accent3"/>
          </a:effectRef>
          <a:fontRef idx="minor">
            <a:schemeClr val="dk1"/>
          </a:fontRef>
        </p:style>
        <p:txBody>
          <a:bodyPr>
            <a:normAutofit fontScale="92500" lnSpcReduction="10000"/>
          </a:bodyPr>
          <a:lstStyle/>
          <a:p>
            <a:r>
              <a:rPr lang="en-US" b="1" i="0" dirty="0">
                <a:solidFill>
                  <a:srgbClr val="333333"/>
                </a:solidFill>
                <a:effectLst/>
                <a:latin typeface="inter-bold"/>
              </a:rPr>
              <a:t>Let's understand through an example.</a:t>
            </a:r>
          </a:p>
          <a:p>
            <a:pPr algn="just">
              <a:buFont typeface="+mj-lt"/>
              <a:buAutoNum type="arabicPeriod"/>
            </a:pPr>
            <a:r>
              <a:rPr lang="en-IN" sz="1400" dirty="0">
                <a:solidFill>
                  <a:srgbClr val="0000FF"/>
                </a:solidFill>
                <a:latin typeface="inter-regular"/>
              </a:rPr>
              <a:t>#include &lt;</a:t>
            </a:r>
            <a:r>
              <a:rPr lang="en-IN" sz="1400" dirty="0" err="1">
                <a:solidFill>
                  <a:srgbClr val="0000FF"/>
                </a:solidFill>
                <a:latin typeface="inter-regular"/>
              </a:rPr>
              <a:t>stdio.h</a:t>
            </a:r>
            <a:r>
              <a:rPr lang="en-IN" sz="1400" dirty="0">
                <a:solidFill>
                  <a:srgbClr val="0000FF"/>
                </a:solidFill>
                <a:latin typeface="inter-regular"/>
              </a:rPr>
              <a:t>&gt;</a:t>
            </a:r>
            <a:r>
              <a:rPr lang="en-IN" sz="1400" dirty="0">
                <a:solidFill>
                  <a:srgbClr val="000000"/>
                </a:solidFill>
                <a:latin typeface="inter-regular"/>
              </a:rPr>
              <a:t>  </a:t>
            </a:r>
          </a:p>
          <a:p>
            <a:pPr algn="just">
              <a:buFont typeface="+mj-lt"/>
              <a:buAutoNum type="arabicPeriod"/>
            </a:pPr>
            <a:r>
              <a:rPr lang="en-IN" sz="1400" b="1" dirty="0">
                <a:solidFill>
                  <a:srgbClr val="2E8B57"/>
                </a:solidFill>
                <a:latin typeface="inter-regular"/>
              </a:rPr>
              <a:t>int</a:t>
            </a:r>
            <a:r>
              <a:rPr lang="en-IN" sz="1400" dirty="0">
                <a:solidFill>
                  <a:srgbClr val="000000"/>
                </a:solidFill>
                <a:latin typeface="inter-regular"/>
              </a:rPr>
              <a:t> main()  </a:t>
            </a:r>
          </a:p>
          <a:p>
            <a:pPr algn="just">
              <a:buFont typeface="+mj-lt"/>
              <a:buAutoNum type="arabicPeriod"/>
            </a:pPr>
            <a:r>
              <a:rPr lang="en-IN" sz="1400" dirty="0">
                <a:solidFill>
                  <a:srgbClr val="000000"/>
                </a:solidFill>
                <a:latin typeface="inter-regular"/>
              </a:rPr>
              <a:t>{  </a:t>
            </a:r>
          </a:p>
          <a:p>
            <a:pPr algn="just">
              <a:buFont typeface="+mj-lt"/>
              <a:buAutoNum type="arabicPeriod"/>
            </a:pPr>
            <a:r>
              <a:rPr lang="en-IN" sz="1400" dirty="0">
                <a:solidFill>
                  <a:srgbClr val="000000"/>
                </a:solidFill>
                <a:latin typeface="inter-regular"/>
              </a:rPr>
              <a:t>   </a:t>
            </a:r>
            <a:r>
              <a:rPr lang="en-IN" sz="1400" b="1" dirty="0">
                <a:solidFill>
                  <a:srgbClr val="2E8B57"/>
                </a:solidFill>
                <a:latin typeface="inter-regular"/>
              </a:rPr>
              <a:t>int</a:t>
            </a:r>
            <a:r>
              <a:rPr lang="en-IN" sz="1400" dirty="0">
                <a:solidFill>
                  <a:srgbClr val="000000"/>
                </a:solidFill>
                <a:latin typeface="inter-regular"/>
              </a:rPr>
              <a:t> sum=0; </a:t>
            </a:r>
            <a:r>
              <a:rPr lang="en-IN" sz="1400" dirty="0">
                <a:solidFill>
                  <a:srgbClr val="008200"/>
                </a:solidFill>
                <a:latin typeface="inter-regular"/>
              </a:rPr>
              <a:t>// variable initialization</a:t>
            </a:r>
            <a:r>
              <a:rPr lang="en-IN" sz="1400" dirty="0">
                <a:solidFill>
                  <a:srgbClr val="000000"/>
                </a:solidFill>
                <a:latin typeface="inter-regular"/>
              </a:rPr>
              <a:t>  </a:t>
            </a:r>
          </a:p>
          <a:p>
            <a:pPr algn="just">
              <a:buFont typeface="+mj-lt"/>
              <a:buAutoNum type="arabicPeriod"/>
            </a:pPr>
            <a:r>
              <a:rPr lang="en-IN" sz="1400" dirty="0">
                <a:solidFill>
                  <a:srgbClr val="000000"/>
                </a:solidFill>
                <a:latin typeface="inter-regular"/>
              </a:rPr>
              <a:t>   </a:t>
            </a:r>
            <a:r>
              <a:rPr lang="en-IN" sz="1400" b="1" dirty="0">
                <a:solidFill>
                  <a:srgbClr val="2E8B57"/>
                </a:solidFill>
                <a:latin typeface="inter-regular"/>
              </a:rPr>
              <a:t>int</a:t>
            </a:r>
            <a:r>
              <a:rPr lang="en-IN" sz="1400" dirty="0">
                <a:solidFill>
                  <a:srgbClr val="000000"/>
                </a:solidFill>
                <a:latin typeface="inter-regular"/>
              </a:rPr>
              <a:t> k=1;  </a:t>
            </a:r>
          </a:p>
          <a:p>
            <a:pPr algn="just">
              <a:buFont typeface="+mj-lt"/>
              <a:buAutoNum type="arabicPeriod"/>
            </a:pPr>
            <a:r>
              <a:rPr lang="en-IN" sz="1400" dirty="0">
                <a:solidFill>
                  <a:srgbClr val="000000"/>
                </a:solidFill>
                <a:latin typeface="inter-regular"/>
              </a:rPr>
              <a:t>   </a:t>
            </a:r>
            <a:r>
              <a:rPr lang="en-IN" sz="1400" b="1" dirty="0">
                <a:solidFill>
                  <a:srgbClr val="006699"/>
                </a:solidFill>
                <a:latin typeface="inter-regular"/>
              </a:rPr>
              <a:t>for</a:t>
            </a:r>
            <a:r>
              <a:rPr lang="en-IN" sz="1400" dirty="0">
                <a:solidFill>
                  <a:srgbClr val="000000"/>
                </a:solidFill>
                <a:latin typeface="inter-regular"/>
              </a:rPr>
              <a:t>(</a:t>
            </a:r>
            <a:r>
              <a:rPr lang="en-IN" sz="1400" b="1" dirty="0">
                <a:solidFill>
                  <a:srgbClr val="2E8B57"/>
                </a:solidFill>
                <a:latin typeface="inter-regular"/>
              </a:rPr>
              <a:t>int</a:t>
            </a:r>
            <a:r>
              <a:rPr lang="en-IN" sz="1400" dirty="0">
                <a:solidFill>
                  <a:srgbClr val="000000"/>
                </a:solidFill>
                <a:latin typeface="inter-regular"/>
              </a:rPr>
              <a:t> </a:t>
            </a:r>
            <a:r>
              <a:rPr lang="en-IN" sz="1400" dirty="0" err="1">
                <a:solidFill>
                  <a:srgbClr val="000000"/>
                </a:solidFill>
                <a:latin typeface="inter-regular"/>
              </a:rPr>
              <a:t>i</a:t>
            </a:r>
            <a:r>
              <a:rPr lang="en-IN" sz="1400" dirty="0">
                <a:solidFill>
                  <a:srgbClr val="000000"/>
                </a:solidFill>
                <a:latin typeface="inter-regular"/>
              </a:rPr>
              <a:t>=1;i&lt;=10;i++); </a:t>
            </a:r>
            <a:r>
              <a:rPr lang="en-IN" sz="1400" dirty="0">
                <a:solidFill>
                  <a:srgbClr val="008200"/>
                </a:solidFill>
                <a:latin typeface="inter-regular"/>
              </a:rPr>
              <a:t>// logical error, as we put the semicolon after loop</a:t>
            </a:r>
            <a:r>
              <a:rPr lang="en-IN" sz="1400" dirty="0">
                <a:solidFill>
                  <a:srgbClr val="000000"/>
                </a:solidFill>
                <a:latin typeface="inter-regular"/>
              </a:rPr>
              <a:t>  </a:t>
            </a:r>
          </a:p>
          <a:p>
            <a:pPr algn="just">
              <a:buFont typeface="+mj-lt"/>
              <a:buAutoNum type="arabicPeriod"/>
            </a:pPr>
            <a:r>
              <a:rPr lang="en-IN" sz="1400" dirty="0">
                <a:solidFill>
                  <a:srgbClr val="000000"/>
                </a:solidFill>
                <a:latin typeface="inter-regular"/>
              </a:rPr>
              <a:t>   {  </a:t>
            </a:r>
          </a:p>
          <a:p>
            <a:pPr algn="just">
              <a:buFont typeface="+mj-lt"/>
              <a:buAutoNum type="arabicPeriod"/>
            </a:pPr>
            <a:r>
              <a:rPr lang="en-IN" sz="1400" dirty="0">
                <a:solidFill>
                  <a:srgbClr val="000000"/>
                </a:solidFill>
                <a:latin typeface="inter-regular"/>
              </a:rPr>
              <a:t>       sum=</a:t>
            </a:r>
            <a:r>
              <a:rPr lang="en-IN" sz="1400" dirty="0" err="1">
                <a:solidFill>
                  <a:srgbClr val="000000"/>
                </a:solidFill>
                <a:latin typeface="inter-regular"/>
              </a:rPr>
              <a:t>sum+k</a:t>
            </a:r>
            <a:r>
              <a:rPr lang="en-IN" sz="1400" dirty="0">
                <a:solidFill>
                  <a:srgbClr val="000000"/>
                </a:solidFill>
                <a:latin typeface="inter-regular"/>
              </a:rPr>
              <a:t>;  </a:t>
            </a:r>
          </a:p>
          <a:p>
            <a:pPr algn="just">
              <a:buFont typeface="+mj-lt"/>
              <a:buAutoNum type="arabicPeriod"/>
            </a:pPr>
            <a:r>
              <a:rPr lang="en-IN" sz="1400" dirty="0">
                <a:solidFill>
                  <a:srgbClr val="000000"/>
                </a:solidFill>
                <a:latin typeface="inter-regular"/>
              </a:rPr>
              <a:t>       k++;  </a:t>
            </a:r>
          </a:p>
          <a:p>
            <a:pPr algn="just">
              <a:buFont typeface="+mj-lt"/>
              <a:buAutoNum type="arabicPeriod"/>
            </a:pPr>
            <a:r>
              <a:rPr lang="en-IN" sz="1400" dirty="0">
                <a:solidFill>
                  <a:srgbClr val="000000"/>
                </a:solidFill>
                <a:latin typeface="inter-regular"/>
              </a:rPr>
              <a:t>   }  </a:t>
            </a:r>
          </a:p>
          <a:p>
            <a:pPr algn="just">
              <a:buFont typeface="+mj-lt"/>
              <a:buAutoNum type="arabicPeriod"/>
            </a:pPr>
            <a:r>
              <a:rPr lang="en-IN" sz="1400" dirty="0" err="1">
                <a:solidFill>
                  <a:srgbClr val="000000"/>
                </a:solidFill>
                <a:latin typeface="inter-regular"/>
              </a:rPr>
              <a:t>printf</a:t>
            </a:r>
            <a:r>
              <a:rPr lang="en-IN" sz="1400" dirty="0">
                <a:solidFill>
                  <a:srgbClr val="000000"/>
                </a:solidFill>
                <a:latin typeface="inter-regular"/>
              </a:rPr>
              <a:t>(</a:t>
            </a:r>
            <a:r>
              <a:rPr lang="en-IN" sz="1400" dirty="0">
                <a:solidFill>
                  <a:srgbClr val="0000FF"/>
                </a:solidFill>
                <a:latin typeface="inter-regular"/>
              </a:rPr>
              <a:t>"The  value of sum is %d"</a:t>
            </a:r>
            <a:r>
              <a:rPr lang="en-IN" sz="1400" dirty="0">
                <a:solidFill>
                  <a:srgbClr val="000000"/>
                </a:solidFill>
                <a:latin typeface="inter-regular"/>
              </a:rPr>
              <a:t>, sum);  </a:t>
            </a:r>
          </a:p>
          <a:p>
            <a:pPr algn="just">
              <a:buFont typeface="+mj-lt"/>
              <a:buAutoNum type="arabicPeriod"/>
            </a:pPr>
            <a:r>
              <a:rPr lang="en-IN" sz="1400" dirty="0">
                <a:solidFill>
                  <a:srgbClr val="000000"/>
                </a:solidFill>
                <a:latin typeface="inter-regular"/>
              </a:rPr>
              <a:t>    </a:t>
            </a:r>
            <a:r>
              <a:rPr lang="en-IN" sz="1400" b="1" dirty="0">
                <a:solidFill>
                  <a:srgbClr val="006699"/>
                </a:solidFill>
                <a:latin typeface="inter-regular"/>
              </a:rPr>
              <a:t>return</a:t>
            </a:r>
            <a:r>
              <a:rPr lang="en-IN" sz="1400" dirty="0">
                <a:solidFill>
                  <a:srgbClr val="000000"/>
                </a:solidFill>
                <a:latin typeface="inter-regular"/>
              </a:rPr>
              <a:t> 0;  </a:t>
            </a:r>
          </a:p>
          <a:p>
            <a:pPr algn="just">
              <a:buFont typeface="+mj-lt"/>
              <a:buAutoNum type="arabicPeriod"/>
            </a:pPr>
            <a:r>
              <a:rPr lang="en-IN" sz="1400" dirty="0">
                <a:solidFill>
                  <a:srgbClr val="000000"/>
                </a:solidFill>
                <a:latin typeface="inter-regular"/>
              </a:rPr>
              <a:t>}  </a:t>
            </a:r>
          </a:p>
          <a:p>
            <a:pPr marL="0" indent="0" algn="just">
              <a:buNone/>
            </a:pPr>
            <a:r>
              <a:rPr lang="en-US" b="0" i="0" dirty="0">
                <a:solidFill>
                  <a:srgbClr val="000000"/>
                </a:solidFill>
                <a:effectLst/>
                <a:latin typeface="inter-regular"/>
              </a:rPr>
              <a:t>In the above code, we are trying to print the sum of 10 digits, but we got the wrong output as we put the semicolon (;) after the for loop, so the inner statements of the for loop will not execute. This produces the wrong output.</a:t>
            </a:r>
            <a:endParaRPr lang="en-IN" b="0" i="0" dirty="0">
              <a:solidFill>
                <a:srgbClr val="000000"/>
              </a:solidFill>
              <a:effectLst/>
              <a:latin typeface="inter-regular"/>
            </a:endParaRPr>
          </a:p>
          <a:p>
            <a:pPr algn="just">
              <a:buFont typeface="+mj-lt"/>
              <a:buAutoNum type="arabicPeriod"/>
            </a:pPr>
            <a:endParaRPr lang="en-IN" b="0" i="0" dirty="0">
              <a:solidFill>
                <a:srgbClr val="000000"/>
              </a:solidFill>
              <a:effectLst/>
              <a:latin typeface="inter-regular"/>
            </a:endParaRPr>
          </a:p>
          <a:p>
            <a:endParaRPr lang="en-IN" dirty="0"/>
          </a:p>
        </p:txBody>
      </p:sp>
      <p:pic>
        <p:nvPicPr>
          <p:cNvPr id="6" name="Picture 5">
            <a:extLst>
              <a:ext uri="{FF2B5EF4-FFF2-40B4-BE49-F238E27FC236}">
                <a16:creationId xmlns:a16="http://schemas.microsoft.com/office/drawing/2014/main" id="{19D56E9C-A545-4703-893C-200CC261E35C}"/>
              </a:ext>
            </a:extLst>
          </p:cNvPr>
          <p:cNvPicPr>
            <a:picLocks noChangeAspect="1"/>
          </p:cNvPicPr>
          <p:nvPr/>
        </p:nvPicPr>
        <p:blipFill>
          <a:blip r:embed="rId2"/>
          <a:stretch>
            <a:fillRect/>
          </a:stretch>
        </p:blipFill>
        <p:spPr>
          <a:xfrm>
            <a:off x="6888089" y="3645024"/>
            <a:ext cx="2805633" cy="1504950"/>
          </a:xfrm>
          <a:prstGeom prst="rect">
            <a:avLst/>
          </a:prstGeom>
        </p:spPr>
      </p:pic>
    </p:spTree>
    <p:extLst>
      <p:ext uri="{BB962C8B-B14F-4D97-AF65-F5344CB8AC3E}">
        <p14:creationId xmlns:p14="http://schemas.microsoft.com/office/powerpoint/2010/main" val="36518705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B9D32-EDD2-4D6A-B8B3-30E8A9511DFF}"/>
              </a:ext>
            </a:extLst>
          </p:cNvPr>
          <p:cNvSpPr>
            <a:spLocks noGrp="1"/>
          </p:cNvSpPr>
          <p:nvPr>
            <p:ph type="title"/>
          </p:nvPr>
        </p:nvSpPr>
        <p:spPr/>
        <p:txBody>
          <a:bodyPr/>
          <a:lstStyle/>
          <a:p>
            <a:r>
              <a:rPr lang="en-US" dirty="0"/>
              <a:t>IDE</a:t>
            </a:r>
            <a:endParaRPr lang="en-IN" dirty="0"/>
          </a:p>
        </p:txBody>
      </p:sp>
      <p:sp>
        <p:nvSpPr>
          <p:cNvPr id="3" name="Content Placeholder 2">
            <a:extLst>
              <a:ext uri="{FF2B5EF4-FFF2-40B4-BE49-F238E27FC236}">
                <a16:creationId xmlns:a16="http://schemas.microsoft.com/office/drawing/2014/main" id="{C40AB171-D8C0-46C6-9C00-E5A784A5BF50}"/>
              </a:ext>
            </a:extLst>
          </p:cNvPr>
          <p:cNvSpPr>
            <a:spLocks noGrp="1"/>
          </p:cNvSpPr>
          <p:nvPr>
            <p:ph idx="1"/>
          </p:nvPr>
        </p:nvSpPr>
        <p:spPr>
          <a:xfrm>
            <a:off x="3466416" y="1340768"/>
            <a:ext cx="6591985" cy="4570454"/>
          </a:xfrm>
        </p:spPr>
        <p:txBody>
          <a:bodyPr>
            <a:normAutofit/>
          </a:bodyPr>
          <a:lstStyle/>
          <a:p>
            <a:r>
              <a:rPr lang="en-US" dirty="0">
                <a:solidFill>
                  <a:srgbClr val="555555"/>
                </a:solidFill>
                <a:latin typeface="Barlow" panose="020B0604020202020204" pitchFamily="2" charset="0"/>
              </a:rPr>
              <a:t>An </a:t>
            </a:r>
            <a:r>
              <a:rPr lang="en-US" b="0" i="0" dirty="0">
                <a:solidFill>
                  <a:srgbClr val="555555"/>
                </a:solidFill>
                <a:effectLst/>
                <a:latin typeface="Barlow" panose="020B0604020202020204" pitchFamily="2" charset="0"/>
              </a:rPr>
              <a:t>IDE or integrated development environment is a software application that combines, in one place, all the tools needed for a software development Project.</a:t>
            </a:r>
          </a:p>
          <a:p>
            <a:r>
              <a:rPr lang="en-US" b="0" i="0" dirty="0">
                <a:solidFill>
                  <a:srgbClr val="555555"/>
                </a:solidFill>
                <a:effectLst/>
                <a:latin typeface="Barlow" panose="00000500000000000000" pitchFamily="2" charset="0"/>
              </a:rPr>
              <a:t>An IDE or integrated development environment is an application or software which programmers use for programming.</a:t>
            </a:r>
          </a:p>
          <a:p>
            <a:pPr algn="l" fontAlgn="base"/>
            <a:r>
              <a:rPr lang="en-US" b="0" i="0" dirty="0">
                <a:solidFill>
                  <a:srgbClr val="0A0A23"/>
                </a:solidFill>
                <a:effectLst/>
                <a:latin typeface="Lato" panose="020F0502020204030203" pitchFamily="34" charset="0"/>
              </a:rPr>
              <a:t>an IDE is a handy piece of software that acts as a text editor, debugger, and compiler all in one. IDEs are designed to make coding easier for developers.</a:t>
            </a:r>
          </a:p>
          <a:p>
            <a:pPr algn="l" fontAlgn="base"/>
            <a:r>
              <a:rPr lang="en-US" b="0" i="0" dirty="0">
                <a:solidFill>
                  <a:srgbClr val="0A0A23"/>
                </a:solidFill>
                <a:effectLst/>
                <a:latin typeface="Lato" panose="020F0502020204030203" pitchFamily="34" charset="0"/>
              </a:rPr>
              <a:t>So basically, an IDE is an application that facilitates application development, and gives you a central interface featuring all the tools that</a:t>
            </a:r>
            <a:r>
              <a:rPr lang="en-IN" b="0" i="0" dirty="0">
                <a:solidFill>
                  <a:srgbClr val="242626"/>
                </a:solidFill>
                <a:effectLst/>
                <a:latin typeface="Fira Sans" panose="020B0604020202020204" pitchFamily="34" charset="0"/>
              </a:rPr>
              <a:t> developer needs.</a:t>
            </a:r>
            <a:endParaRPr lang="en-IN" dirty="0"/>
          </a:p>
        </p:txBody>
      </p:sp>
    </p:spTree>
    <p:extLst>
      <p:ext uri="{BB962C8B-B14F-4D97-AF65-F5344CB8AC3E}">
        <p14:creationId xmlns:p14="http://schemas.microsoft.com/office/powerpoint/2010/main" val="13317926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0AAEA-513C-41AE-8402-AC8C79585150}"/>
              </a:ext>
            </a:extLst>
          </p:cNvPr>
          <p:cNvSpPr>
            <a:spLocks noGrp="1"/>
          </p:cNvSpPr>
          <p:nvPr>
            <p:ph type="title"/>
          </p:nvPr>
        </p:nvSpPr>
        <p:spPr>
          <a:xfrm>
            <a:off x="3469202" y="624110"/>
            <a:ext cx="6589199" cy="428626"/>
          </a:xfrm>
        </p:spPr>
        <p:txBody>
          <a:bodyPr>
            <a:normAutofit fontScale="90000"/>
          </a:bodyPr>
          <a:lstStyle/>
          <a:p>
            <a:r>
              <a:rPr lang="en-US" dirty="0"/>
              <a:t>IDE</a:t>
            </a:r>
            <a:endParaRPr lang="en-IN" dirty="0"/>
          </a:p>
        </p:txBody>
      </p:sp>
      <p:sp>
        <p:nvSpPr>
          <p:cNvPr id="3" name="Content Placeholder 2">
            <a:extLst>
              <a:ext uri="{FF2B5EF4-FFF2-40B4-BE49-F238E27FC236}">
                <a16:creationId xmlns:a16="http://schemas.microsoft.com/office/drawing/2014/main" id="{FBEF75CB-C5DB-4FC3-94B3-D9741E2935D1}"/>
              </a:ext>
            </a:extLst>
          </p:cNvPr>
          <p:cNvSpPr>
            <a:spLocks noGrp="1"/>
          </p:cNvSpPr>
          <p:nvPr>
            <p:ph idx="1"/>
          </p:nvPr>
        </p:nvSpPr>
        <p:spPr>
          <a:xfrm>
            <a:off x="3466416" y="1628800"/>
            <a:ext cx="6591985" cy="4282422"/>
          </a:xfrm>
        </p:spPr>
        <p:txBody>
          <a:bodyPr>
            <a:normAutofit/>
          </a:bodyPr>
          <a:lstStyle/>
          <a:p>
            <a:pPr algn="l">
              <a:buFont typeface="Arial" panose="020B0604020202020204" pitchFamily="34" charset="0"/>
              <a:buChar char="•"/>
            </a:pPr>
            <a:r>
              <a:rPr lang="en-US" b="0" i="0" dirty="0">
                <a:solidFill>
                  <a:srgbClr val="242626"/>
                </a:solidFill>
                <a:effectLst/>
                <a:latin typeface="Fira Sans" panose="020B0503050000020004" pitchFamily="34" charset="0"/>
              </a:rPr>
              <a:t>IDE is that they offer a central interface with all the tools a developer needs, including:</a:t>
            </a:r>
            <a:endParaRPr lang="en-US" b="1" i="0" dirty="0">
              <a:solidFill>
                <a:srgbClr val="242626"/>
              </a:solidFill>
              <a:effectLst/>
              <a:latin typeface="Fira Sans" panose="020B0503050000020004" pitchFamily="34" charset="0"/>
            </a:endParaRPr>
          </a:p>
          <a:p>
            <a:pPr algn="l">
              <a:buFont typeface="Arial" panose="020B0604020202020204" pitchFamily="34" charset="0"/>
              <a:buChar char="•"/>
            </a:pPr>
            <a:r>
              <a:rPr lang="en-US" b="1" i="0" dirty="0">
                <a:solidFill>
                  <a:srgbClr val="242626"/>
                </a:solidFill>
                <a:effectLst/>
                <a:latin typeface="Fira Sans" panose="020B0503050000020004" pitchFamily="34" charset="0"/>
              </a:rPr>
              <a:t>Code editor:</a:t>
            </a:r>
            <a:r>
              <a:rPr lang="en-US" b="0" i="0" dirty="0">
                <a:solidFill>
                  <a:srgbClr val="242626"/>
                </a:solidFill>
                <a:effectLst/>
                <a:latin typeface="Fira Sans" panose="020B0503050000020004" pitchFamily="34" charset="0"/>
              </a:rPr>
              <a:t> Designed for writing and editing source code, these editors are distinguished from text editors because work to either simplify or enhance the process of writing and editing of code for developers</a:t>
            </a:r>
          </a:p>
          <a:p>
            <a:pPr algn="l">
              <a:buFont typeface="Arial" panose="020B0604020202020204" pitchFamily="34" charset="0"/>
              <a:buChar char="•"/>
            </a:pPr>
            <a:r>
              <a:rPr lang="en-US" b="1" i="0" dirty="0">
                <a:solidFill>
                  <a:srgbClr val="242626"/>
                </a:solidFill>
                <a:effectLst/>
                <a:latin typeface="Fira Sans" panose="020B0503050000020004" pitchFamily="34" charset="0"/>
              </a:rPr>
              <a:t>Compiler:</a:t>
            </a:r>
            <a:r>
              <a:rPr lang="en-US" b="0" i="0" dirty="0">
                <a:solidFill>
                  <a:srgbClr val="242626"/>
                </a:solidFill>
                <a:effectLst/>
                <a:latin typeface="Fira Sans" panose="020B0503050000020004" pitchFamily="34" charset="0"/>
              </a:rPr>
              <a:t> Compilers transform source code that is written in a human readable/writable language in a form that computers can execute.</a:t>
            </a:r>
          </a:p>
          <a:p>
            <a:pPr algn="l">
              <a:buFont typeface="Arial" panose="020B0604020202020204" pitchFamily="34" charset="0"/>
              <a:buChar char="•"/>
            </a:pPr>
            <a:r>
              <a:rPr lang="en-US" b="1" i="0" dirty="0">
                <a:solidFill>
                  <a:srgbClr val="242626"/>
                </a:solidFill>
                <a:effectLst/>
                <a:latin typeface="Fira Sans" panose="020B0503050000020004" pitchFamily="34" charset="0"/>
              </a:rPr>
              <a:t>Debugger:</a:t>
            </a:r>
            <a:r>
              <a:rPr lang="en-US" b="0" i="0" dirty="0">
                <a:solidFill>
                  <a:srgbClr val="242626"/>
                </a:solidFill>
                <a:effectLst/>
                <a:latin typeface="Fira Sans" panose="020B0503050000020004" pitchFamily="34" charset="0"/>
              </a:rPr>
              <a:t> Debuggers are used during testing and can help developers debug their application programs.</a:t>
            </a:r>
          </a:p>
          <a:p>
            <a:pPr algn="l">
              <a:buFont typeface="Arial" panose="020B0604020202020204" pitchFamily="34" charset="0"/>
              <a:buChar char="•"/>
            </a:pPr>
            <a:r>
              <a:rPr lang="en-US" b="1" i="0" dirty="0">
                <a:solidFill>
                  <a:srgbClr val="242626"/>
                </a:solidFill>
                <a:effectLst/>
                <a:latin typeface="Fira Sans" panose="020B0503050000020004" pitchFamily="34" charset="0"/>
              </a:rPr>
              <a:t>Build automation tools: </a:t>
            </a:r>
            <a:r>
              <a:rPr lang="en-US" b="0" i="0" dirty="0">
                <a:solidFill>
                  <a:srgbClr val="242626"/>
                </a:solidFill>
                <a:effectLst/>
                <a:latin typeface="Fira Sans" panose="020B0503050000020004" pitchFamily="34" charset="0"/>
              </a:rPr>
              <a:t>These can help automate developer tasks that are more common to save time.</a:t>
            </a:r>
          </a:p>
          <a:p>
            <a:endParaRPr lang="en-IN" dirty="0"/>
          </a:p>
        </p:txBody>
      </p:sp>
    </p:spTree>
    <p:extLst>
      <p:ext uri="{BB962C8B-B14F-4D97-AF65-F5344CB8AC3E}">
        <p14:creationId xmlns:p14="http://schemas.microsoft.com/office/powerpoint/2010/main" val="3442439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AADD6-0D49-465A-8D4C-43CD015E822D}"/>
              </a:ext>
            </a:extLst>
          </p:cNvPr>
          <p:cNvSpPr>
            <a:spLocks noGrp="1"/>
          </p:cNvSpPr>
          <p:nvPr>
            <p:ph type="title"/>
          </p:nvPr>
        </p:nvSpPr>
        <p:spPr>
          <a:xfrm>
            <a:off x="3359696" y="624110"/>
            <a:ext cx="6698705" cy="1280890"/>
          </a:xfrm>
        </p:spPr>
        <p:txBody>
          <a:bodyPr>
            <a:normAutofit fontScale="90000"/>
          </a:bodyPr>
          <a:lstStyle/>
          <a:p>
            <a:r>
              <a:rPr lang="en-IN" sz="2200" b="1" dirty="0">
                <a:solidFill>
                  <a:srgbClr val="242626"/>
                </a:solidFill>
                <a:latin typeface="Fira Sans" panose="020B0503050000020004" pitchFamily="34" charset="0"/>
              </a:rPr>
              <a:t>Multi-Language IDE</a:t>
            </a:r>
            <a:br>
              <a:rPr lang="en-IN" sz="2200" b="1" dirty="0">
                <a:solidFill>
                  <a:srgbClr val="242626"/>
                </a:solidFill>
                <a:latin typeface="Fira Sans" panose="020B0503050000020004" pitchFamily="34" charset="0"/>
              </a:rPr>
            </a:br>
            <a:r>
              <a:rPr lang="en-IN" sz="2200" dirty="0">
                <a:solidFill>
                  <a:srgbClr val="242626"/>
                </a:solidFill>
                <a:latin typeface="Fira Sans" panose="020B0503050000020004" pitchFamily="34" charset="0"/>
              </a:rPr>
              <a:t>The multi-language IDEs – like Eclipse, </a:t>
            </a:r>
            <a:r>
              <a:rPr lang="en-IN" sz="2200" dirty="0" err="1">
                <a:solidFill>
                  <a:srgbClr val="242626"/>
                </a:solidFill>
                <a:latin typeface="Fira Sans" panose="020B0503050000020004" pitchFamily="34" charset="0"/>
              </a:rPr>
              <a:t>Aptana</a:t>
            </a:r>
            <a:r>
              <a:rPr lang="en-IN" sz="2200" dirty="0">
                <a:solidFill>
                  <a:srgbClr val="242626"/>
                </a:solidFill>
                <a:latin typeface="Fira Sans" panose="020B0503050000020004" pitchFamily="34" charset="0"/>
              </a:rPr>
              <a:t>, Komodo, NetBeans, and </a:t>
            </a:r>
            <a:r>
              <a:rPr lang="en-IN" sz="2200" dirty="0" err="1">
                <a:solidFill>
                  <a:srgbClr val="242626"/>
                </a:solidFill>
                <a:latin typeface="Fira Sans" panose="020B0503050000020004" pitchFamily="34" charset="0"/>
              </a:rPr>
              <a:t>Geany</a:t>
            </a:r>
            <a:r>
              <a:rPr lang="en-IN" sz="2200" dirty="0">
                <a:solidFill>
                  <a:srgbClr val="242626"/>
                </a:solidFill>
                <a:latin typeface="Fira Sans" panose="020B0503050000020004" pitchFamily="34" charset="0"/>
              </a:rPr>
              <a:t> – support multiple programming language</a:t>
            </a:r>
            <a:br>
              <a:rPr lang="en-IN" b="0" i="0" dirty="0">
                <a:solidFill>
                  <a:srgbClr val="242626"/>
                </a:solidFill>
                <a:effectLst/>
                <a:latin typeface="Fira Sans" panose="020B0503050000020004" pitchFamily="34" charset="0"/>
              </a:rPr>
            </a:br>
            <a:endParaRPr lang="en-IN" dirty="0"/>
          </a:p>
        </p:txBody>
      </p:sp>
      <p:sp>
        <p:nvSpPr>
          <p:cNvPr id="3" name="Content Placeholder 2">
            <a:extLst>
              <a:ext uri="{FF2B5EF4-FFF2-40B4-BE49-F238E27FC236}">
                <a16:creationId xmlns:a16="http://schemas.microsoft.com/office/drawing/2014/main" id="{9BF72F3B-5C72-4F87-9FDC-6AC77BF60D49}"/>
              </a:ext>
            </a:extLst>
          </p:cNvPr>
          <p:cNvSpPr>
            <a:spLocks noGrp="1"/>
          </p:cNvSpPr>
          <p:nvPr>
            <p:ph idx="1"/>
          </p:nvPr>
        </p:nvSpPr>
        <p:spPr>
          <a:xfrm>
            <a:off x="2999657" y="2133600"/>
            <a:ext cx="7058744" cy="3777622"/>
          </a:xfrm>
        </p:spPr>
        <p:txBody>
          <a:bodyPr>
            <a:normAutofit fontScale="85000" lnSpcReduction="10000"/>
          </a:bodyPr>
          <a:lstStyle/>
          <a:p>
            <a:pPr algn="l">
              <a:buFont typeface="Arial" panose="020B0604020202020204" pitchFamily="34" charset="0"/>
              <a:buChar char="•"/>
            </a:pPr>
            <a:r>
              <a:rPr lang="en-US" b="1" i="0" dirty="0">
                <a:solidFill>
                  <a:srgbClr val="242626"/>
                </a:solidFill>
                <a:effectLst/>
                <a:latin typeface="Fira Sans" panose="020B0503050000020004" pitchFamily="34" charset="0"/>
              </a:rPr>
              <a:t>Eclipse: </a:t>
            </a:r>
            <a:r>
              <a:rPr lang="en-US" b="0" i="0" dirty="0">
                <a:solidFill>
                  <a:srgbClr val="242626"/>
                </a:solidFill>
                <a:effectLst/>
                <a:latin typeface="Fira Sans" panose="020B0503050000020004" pitchFamily="34" charset="0"/>
              </a:rPr>
              <a:t>Supports C, C++, Perl, Python, Ruby, PHP, Java and others. It is a free and open source editor for many development frameworks. Although it began as a Java development environment, it has expanded through plugins. This IDE is managed and directed by the Eclipse.org Consortium.</a:t>
            </a:r>
          </a:p>
          <a:p>
            <a:pPr algn="l">
              <a:buFont typeface="Arial" panose="020B0604020202020204" pitchFamily="34" charset="0"/>
              <a:buChar char="•"/>
            </a:pPr>
            <a:r>
              <a:rPr lang="en-US" b="1" i="0" dirty="0">
                <a:solidFill>
                  <a:srgbClr val="242626"/>
                </a:solidFill>
                <a:effectLst/>
                <a:latin typeface="Fira Sans" panose="020B0503050000020004" pitchFamily="34" charset="0"/>
              </a:rPr>
              <a:t>NetBeans:</a:t>
            </a:r>
            <a:r>
              <a:rPr lang="en-US" b="0" i="0" dirty="0">
                <a:solidFill>
                  <a:srgbClr val="242626"/>
                </a:solidFill>
                <a:effectLst/>
                <a:latin typeface="Fira Sans" panose="020B0503050000020004" pitchFamily="34" charset="0"/>
              </a:rPr>
              <a:t> Supports Java, PHP, JavaScript, C, C++, Python, Ruby, and more. It is also free and open source. Modules provide all functions of the IDE. Developers can add support for other programming languages by installing additional modules.</a:t>
            </a:r>
          </a:p>
          <a:p>
            <a:pPr algn="l">
              <a:buFont typeface="Arial" panose="020B0604020202020204" pitchFamily="34" charset="0"/>
              <a:buChar char="•"/>
            </a:pPr>
            <a:r>
              <a:rPr lang="en-US" b="1" i="0" dirty="0">
                <a:solidFill>
                  <a:srgbClr val="242626"/>
                </a:solidFill>
                <a:effectLst/>
                <a:latin typeface="Fira Sans" panose="020B0503050000020004" pitchFamily="34" charset="0"/>
              </a:rPr>
              <a:t>Komodo IDE:</a:t>
            </a:r>
            <a:r>
              <a:rPr lang="en-US" b="0" i="0" dirty="0">
                <a:solidFill>
                  <a:srgbClr val="242626"/>
                </a:solidFill>
                <a:effectLst/>
                <a:latin typeface="Fira Sans" panose="020B0503050000020004" pitchFamily="34" charset="0"/>
              </a:rPr>
              <a:t> Supports Perl, PHP, Python, </a:t>
            </a:r>
            <a:r>
              <a:rPr lang="en-US" b="0" i="0" dirty="0" err="1">
                <a:solidFill>
                  <a:srgbClr val="242626"/>
                </a:solidFill>
                <a:effectLst/>
                <a:latin typeface="Fira Sans" panose="020B0503050000020004" pitchFamily="34" charset="0"/>
              </a:rPr>
              <a:t>Tcl</a:t>
            </a:r>
            <a:r>
              <a:rPr lang="en-US" b="0" i="0" dirty="0">
                <a:solidFill>
                  <a:srgbClr val="242626"/>
                </a:solidFill>
                <a:effectLst/>
                <a:latin typeface="Fira Sans" panose="020B0503050000020004" pitchFamily="34" charset="0"/>
              </a:rPr>
              <a:t>, JavaScript, Ruby, and more. This is an enterprise-level tool with a higher price point.</a:t>
            </a:r>
          </a:p>
          <a:p>
            <a:pPr algn="l">
              <a:buFont typeface="Arial" panose="020B0604020202020204" pitchFamily="34" charset="0"/>
              <a:buChar char="•"/>
            </a:pPr>
            <a:r>
              <a:rPr lang="en-US" b="1" i="0" dirty="0" err="1">
                <a:solidFill>
                  <a:srgbClr val="242626"/>
                </a:solidFill>
                <a:effectLst/>
                <a:latin typeface="Fira Sans" panose="020B0503050000020004" pitchFamily="34" charset="0"/>
              </a:rPr>
              <a:t>Aptana</a:t>
            </a:r>
            <a:r>
              <a:rPr lang="en-US" b="1" i="0" dirty="0">
                <a:solidFill>
                  <a:srgbClr val="242626"/>
                </a:solidFill>
                <a:effectLst/>
                <a:latin typeface="Fira Sans" panose="020B0503050000020004" pitchFamily="34" charset="0"/>
              </a:rPr>
              <a:t>:</a:t>
            </a:r>
            <a:r>
              <a:rPr lang="en-US" b="0" i="0" dirty="0">
                <a:solidFill>
                  <a:srgbClr val="242626"/>
                </a:solidFill>
                <a:effectLst/>
                <a:latin typeface="Fira Sans" panose="020B0503050000020004" pitchFamily="34" charset="0"/>
              </a:rPr>
              <a:t> Supports HTML, JavaScript, CSS, AJAX and others through plugins. It is a popular choice for programmers who do web app development.</a:t>
            </a:r>
          </a:p>
          <a:p>
            <a:pPr algn="l">
              <a:buFont typeface="Arial" panose="020B0604020202020204" pitchFamily="34" charset="0"/>
              <a:buChar char="•"/>
            </a:pPr>
            <a:r>
              <a:rPr lang="en-US" b="1" i="0" dirty="0" err="1">
                <a:solidFill>
                  <a:srgbClr val="242626"/>
                </a:solidFill>
                <a:effectLst/>
                <a:latin typeface="Fira Sans" panose="020B0503050000020004" pitchFamily="34" charset="0"/>
              </a:rPr>
              <a:t>Geany</a:t>
            </a:r>
            <a:r>
              <a:rPr lang="en-US" b="1" i="0" dirty="0">
                <a:solidFill>
                  <a:srgbClr val="242626"/>
                </a:solidFill>
                <a:effectLst/>
                <a:latin typeface="Fira Sans" panose="020B0503050000020004" pitchFamily="34" charset="0"/>
              </a:rPr>
              <a:t>:</a:t>
            </a:r>
            <a:r>
              <a:rPr lang="en-US" b="0" i="0" dirty="0">
                <a:solidFill>
                  <a:srgbClr val="242626"/>
                </a:solidFill>
                <a:effectLst/>
                <a:latin typeface="Fira Sans" panose="020B0503050000020004" pitchFamily="34" charset="0"/>
              </a:rPr>
              <a:t> Supports C, PHP, Java, HTML, Perl, Python, Pascal and many more. </a:t>
            </a:r>
          </a:p>
          <a:p>
            <a:endParaRPr lang="en-IN" dirty="0"/>
          </a:p>
        </p:txBody>
      </p:sp>
    </p:spTree>
    <p:extLst>
      <p:ext uri="{BB962C8B-B14F-4D97-AF65-F5344CB8AC3E}">
        <p14:creationId xmlns:p14="http://schemas.microsoft.com/office/powerpoint/2010/main" val="11329839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87F25-2888-46A5-A45B-2136429494AB}"/>
              </a:ext>
            </a:extLst>
          </p:cNvPr>
          <p:cNvSpPr>
            <a:spLocks noGrp="1"/>
          </p:cNvSpPr>
          <p:nvPr>
            <p:ph type="title"/>
          </p:nvPr>
        </p:nvSpPr>
        <p:spPr/>
        <p:txBody>
          <a:bodyPr/>
          <a:lstStyle/>
          <a:p>
            <a:r>
              <a:rPr lang="en-US" dirty="0"/>
              <a:t>IDE</a:t>
            </a:r>
            <a:endParaRPr lang="en-IN" dirty="0"/>
          </a:p>
        </p:txBody>
      </p:sp>
      <p:sp>
        <p:nvSpPr>
          <p:cNvPr id="3" name="Content Placeholder 2">
            <a:extLst>
              <a:ext uri="{FF2B5EF4-FFF2-40B4-BE49-F238E27FC236}">
                <a16:creationId xmlns:a16="http://schemas.microsoft.com/office/drawing/2014/main" id="{BBB60D8E-1571-4757-9138-3694C2EB4BB2}"/>
              </a:ext>
            </a:extLst>
          </p:cNvPr>
          <p:cNvSpPr>
            <a:spLocks noGrp="1"/>
          </p:cNvSpPr>
          <p:nvPr>
            <p:ph idx="1"/>
          </p:nvPr>
        </p:nvSpPr>
        <p:spPr>
          <a:xfrm>
            <a:off x="3466416" y="1124744"/>
            <a:ext cx="6591985" cy="4786478"/>
          </a:xfrm>
        </p:spPr>
        <p:txBody>
          <a:bodyPr>
            <a:normAutofit/>
          </a:bodyPr>
          <a:lstStyle/>
          <a:p>
            <a:pPr algn="l" fontAlgn="base"/>
            <a:r>
              <a:rPr lang="en-US" b="1" i="0" dirty="0">
                <a:effectLst/>
                <a:latin typeface="-apple-system"/>
              </a:rPr>
              <a:t>Features of Multi-lang IDEs</a:t>
            </a:r>
          </a:p>
          <a:p>
            <a:pPr algn="l" fontAlgn="base"/>
            <a:r>
              <a:rPr lang="en-US" b="0" i="0" dirty="0">
                <a:solidFill>
                  <a:srgbClr val="0A0A23"/>
                </a:solidFill>
                <a:effectLst/>
                <a:latin typeface="Lato" panose="020F0502020204030203" pitchFamily="34" charset="0"/>
              </a:rPr>
              <a:t>Most multi-language IDEs have certain features in common that prove very useful when you're coding.</a:t>
            </a:r>
          </a:p>
          <a:p>
            <a:pPr algn="l" fontAlgn="base">
              <a:buFont typeface="Arial" panose="020B0604020202020204" pitchFamily="34" charset="0"/>
              <a:buChar char="•"/>
            </a:pPr>
            <a:r>
              <a:rPr lang="en-US" b="0" i="0" dirty="0" err="1">
                <a:solidFill>
                  <a:srgbClr val="0A0A23"/>
                </a:solidFill>
                <a:effectLst/>
                <a:latin typeface="inherit"/>
              </a:rPr>
              <a:t>Intellisence</a:t>
            </a:r>
            <a:r>
              <a:rPr lang="en-US" b="0" i="0" dirty="0">
                <a:solidFill>
                  <a:srgbClr val="0A0A23"/>
                </a:solidFill>
                <a:effectLst/>
                <a:latin typeface="inherit"/>
              </a:rPr>
              <a:t> – IDEs with this feature can provide code completion, quick info, and member lists on a project.</a:t>
            </a:r>
          </a:p>
          <a:p>
            <a:pPr algn="l" fontAlgn="base">
              <a:buFont typeface="Arial" panose="020B0604020202020204" pitchFamily="34" charset="0"/>
              <a:buChar char="•"/>
            </a:pPr>
            <a:r>
              <a:rPr lang="en-US" b="0" i="0" dirty="0">
                <a:solidFill>
                  <a:srgbClr val="0A0A23"/>
                </a:solidFill>
                <a:effectLst/>
                <a:latin typeface="inherit"/>
              </a:rPr>
              <a:t>Smart code editing – your IDE can indent code lines, match words and brackets, and also highlight keywords.</a:t>
            </a:r>
          </a:p>
          <a:p>
            <a:pPr algn="l" fontAlgn="base">
              <a:buFont typeface="Arial" panose="020B0604020202020204" pitchFamily="34" charset="0"/>
              <a:buChar char="•"/>
            </a:pPr>
            <a:r>
              <a:rPr lang="en-US" b="0" i="0" dirty="0">
                <a:solidFill>
                  <a:srgbClr val="0A0A23"/>
                </a:solidFill>
                <a:effectLst/>
                <a:latin typeface="inherit"/>
              </a:rPr>
              <a:t>Debugger – most IDEs provide powerful debugging features and along with a graphical debugger and breakpoints.</a:t>
            </a:r>
          </a:p>
          <a:p>
            <a:pPr algn="l" fontAlgn="base">
              <a:buFont typeface="Arial" panose="020B0604020202020204" pitchFamily="34" charset="0"/>
              <a:buChar char="•"/>
            </a:pPr>
            <a:r>
              <a:rPr lang="en-US" b="0" i="0" dirty="0">
                <a:solidFill>
                  <a:srgbClr val="0A0A23"/>
                </a:solidFill>
                <a:effectLst/>
                <a:latin typeface="inherit"/>
              </a:rPr>
              <a:t>Extension/plugin manager – you can add new extensions/plugins to extend your IDE's functionality.</a:t>
            </a:r>
          </a:p>
          <a:p>
            <a:pPr algn="l" fontAlgn="base">
              <a:buFont typeface="Arial" panose="020B0604020202020204" pitchFamily="34" charset="0"/>
              <a:buChar char="•"/>
            </a:pPr>
            <a:r>
              <a:rPr lang="en-US" b="0" i="0" dirty="0">
                <a:solidFill>
                  <a:srgbClr val="0A0A23"/>
                </a:solidFill>
                <a:effectLst/>
                <a:latin typeface="inherit"/>
              </a:rPr>
              <a:t>Version Control – IDEs offer support for various version control systems like Git, Subversion, Mercurial, CVS and so on.</a:t>
            </a:r>
          </a:p>
          <a:p>
            <a:endParaRPr lang="en-IN" dirty="0"/>
          </a:p>
        </p:txBody>
      </p:sp>
    </p:spTree>
    <p:extLst>
      <p:ext uri="{BB962C8B-B14F-4D97-AF65-F5344CB8AC3E}">
        <p14:creationId xmlns:p14="http://schemas.microsoft.com/office/powerpoint/2010/main" val="40752766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1F90-5B8C-4136-B54A-9C5ABDBE5426}"/>
              </a:ext>
            </a:extLst>
          </p:cNvPr>
          <p:cNvSpPr>
            <a:spLocks noGrp="1"/>
          </p:cNvSpPr>
          <p:nvPr>
            <p:ph type="title"/>
          </p:nvPr>
        </p:nvSpPr>
        <p:spPr>
          <a:xfrm>
            <a:off x="3469202" y="624110"/>
            <a:ext cx="6589199" cy="788666"/>
          </a:xfrm>
        </p:spPr>
        <p:txBody>
          <a:bodyPr/>
          <a:lstStyle/>
          <a:p>
            <a:endParaRPr lang="en-IN" dirty="0"/>
          </a:p>
        </p:txBody>
      </p:sp>
      <p:pic>
        <p:nvPicPr>
          <p:cNvPr id="4" name="Content Placeholder 3">
            <a:extLst>
              <a:ext uri="{FF2B5EF4-FFF2-40B4-BE49-F238E27FC236}">
                <a16:creationId xmlns:a16="http://schemas.microsoft.com/office/drawing/2014/main" id="{E1F13A08-7416-4EFC-8A63-F2A633DA2F25}"/>
              </a:ext>
            </a:extLst>
          </p:cNvPr>
          <p:cNvPicPr>
            <a:picLocks noGrp="1" noChangeAspect="1"/>
          </p:cNvPicPr>
          <p:nvPr>
            <p:ph idx="1"/>
          </p:nvPr>
        </p:nvPicPr>
        <p:blipFill>
          <a:blip r:embed="rId2"/>
          <a:stretch>
            <a:fillRect/>
          </a:stretch>
        </p:blipFill>
        <p:spPr>
          <a:xfrm>
            <a:off x="4439817" y="2060848"/>
            <a:ext cx="4942209" cy="3778250"/>
          </a:xfrm>
          <a:prstGeom prst="rect">
            <a:avLst/>
          </a:prstGeom>
        </p:spPr>
      </p:pic>
    </p:spTree>
    <p:extLst>
      <p:ext uri="{BB962C8B-B14F-4D97-AF65-F5344CB8AC3E}">
        <p14:creationId xmlns:p14="http://schemas.microsoft.com/office/powerpoint/2010/main" val="765365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 OF UNIT 1</a:t>
            </a:r>
            <a:endParaRPr lang="en-IN" dirty="0"/>
          </a:p>
        </p:txBody>
      </p:sp>
      <p:sp>
        <p:nvSpPr>
          <p:cNvPr id="3" name="Text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81397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5641</Words>
  <Application>Microsoft Office PowerPoint</Application>
  <PresentationFormat>Widescreen</PresentationFormat>
  <Paragraphs>470</Paragraphs>
  <Slides>84</Slides>
  <Notes>2</Notes>
  <HiddenSlides>0</HiddenSlides>
  <MMClips>0</MMClips>
  <ScaleCrop>false</ScaleCrop>
  <HeadingPairs>
    <vt:vector size="6" baseType="variant">
      <vt:variant>
        <vt:lpstr>Fonts Used</vt:lpstr>
      </vt:variant>
      <vt:variant>
        <vt:i4>19</vt:i4>
      </vt:variant>
      <vt:variant>
        <vt:lpstr>Theme</vt:lpstr>
      </vt:variant>
      <vt:variant>
        <vt:i4>2</vt:i4>
      </vt:variant>
      <vt:variant>
        <vt:lpstr>Slide Titles</vt:lpstr>
      </vt:variant>
      <vt:variant>
        <vt:i4>84</vt:i4>
      </vt:variant>
    </vt:vector>
  </HeadingPairs>
  <TitlesOfParts>
    <vt:vector size="105" baseType="lpstr">
      <vt:lpstr>-apple-system</vt:lpstr>
      <vt:lpstr>Arial</vt:lpstr>
      <vt:lpstr>Barlow</vt:lpstr>
      <vt:lpstr>Calibri</vt:lpstr>
      <vt:lpstr>Calibri Light</vt:lpstr>
      <vt:lpstr>Century Gothic</vt:lpstr>
      <vt:lpstr>erdana</vt:lpstr>
      <vt:lpstr>Fira Sans</vt:lpstr>
      <vt:lpstr>inherit</vt:lpstr>
      <vt:lpstr>inter-bold</vt:lpstr>
      <vt:lpstr>inter-regular</vt:lpstr>
      <vt:lpstr>Lato</vt:lpstr>
      <vt:lpstr>Nunito Sans</vt:lpstr>
      <vt:lpstr>Times New Roman</vt:lpstr>
      <vt:lpstr>Trebuchet MS</vt:lpstr>
      <vt:lpstr>urw-din</vt:lpstr>
      <vt:lpstr>Verdana</vt:lpstr>
      <vt:lpstr>Wingdings</vt:lpstr>
      <vt:lpstr>Wingdings 3</vt:lpstr>
      <vt:lpstr>Office Theme</vt:lpstr>
      <vt:lpstr>Wisp</vt:lpstr>
      <vt:lpstr>PowerPoint Presentation</vt:lpstr>
      <vt:lpstr>C Programming Language</vt:lpstr>
      <vt:lpstr>UNIT 1</vt:lpstr>
      <vt:lpstr>PowerPoint Presentation</vt:lpstr>
      <vt:lpstr>Why we need a Programming language</vt:lpstr>
      <vt:lpstr>Computer Programs</vt:lpstr>
      <vt:lpstr>Computer System </vt:lpstr>
      <vt:lpstr>Computer Block Diagram</vt:lpstr>
      <vt:lpstr>Introduction  to Computer</vt:lpstr>
      <vt:lpstr>Programming Languages </vt:lpstr>
      <vt:lpstr>PowerPoint Presentation</vt:lpstr>
      <vt:lpstr>What is Program?</vt:lpstr>
      <vt:lpstr>History of c language</vt:lpstr>
      <vt:lpstr>History of c programming</vt:lpstr>
      <vt:lpstr>Features of C Language </vt:lpstr>
      <vt:lpstr>System vs Application Software </vt:lpstr>
      <vt:lpstr>Computer Programming Language</vt:lpstr>
      <vt:lpstr>High Level Language(HLL)</vt:lpstr>
      <vt:lpstr>High Level Language(HLL)</vt:lpstr>
      <vt:lpstr>Advantage of High Level Language </vt:lpstr>
      <vt:lpstr> Disadvantages of High Level Language</vt:lpstr>
      <vt:lpstr>Medium language / Assembly language </vt:lpstr>
      <vt:lpstr>Assembly language </vt:lpstr>
      <vt:lpstr>Advantages of Assembly Language </vt:lpstr>
      <vt:lpstr>Disadvantages of Assembly Language </vt:lpstr>
      <vt:lpstr>Machine Language/Low level Language</vt:lpstr>
      <vt:lpstr>Advantage of Machine Language </vt:lpstr>
      <vt:lpstr>Disadvantage of Machine Language </vt:lpstr>
      <vt:lpstr>Continue </vt:lpstr>
      <vt:lpstr>Algorithm</vt:lpstr>
      <vt:lpstr>Algorithm  for writing a gmail to xyz person</vt:lpstr>
      <vt:lpstr>Algorithm for writing Gmail</vt:lpstr>
      <vt:lpstr>Algorithm for mail in Gmail</vt:lpstr>
      <vt:lpstr>The following is an algorithm for making a cup of tea.</vt:lpstr>
      <vt:lpstr>Write a  C program for doing addition of  two no</vt:lpstr>
      <vt:lpstr>           To Add 2 no</vt:lpstr>
      <vt:lpstr>Characteristics of an Algorithm </vt:lpstr>
      <vt:lpstr>Characteristics of an Algorithm</vt:lpstr>
      <vt:lpstr>Advantages of Algorithms: </vt:lpstr>
      <vt:lpstr>Disadvantages of Algorithms: </vt:lpstr>
      <vt:lpstr>              Flowchart </vt:lpstr>
      <vt:lpstr>Standard Symbol</vt:lpstr>
      <vt:lpstr>PowerPoint Presentation</vt:lpstr>
      <vt:lpstr>Basic Symbol</vt:lpstr>
      <vt:lpstr>PowerPoint Presentation</vt:lpstr>
      <vt:lpstr>Guidelines for Preparing Flowchart </vt:lpstr>
      <vt:lpstr>Algorithm for  Addition of  2 no’s</vt:lpstr>
      <vt:lpstr>Flowchart for Addition of  2 no’s</vt:lpstr>
      <vt:lpstr>Area of circle</vt:lpstr>
      <vt:lpstr>Flowchart for CIRCLE</vt:lpstr>
      <vt:lpstr>Algorithm &amp; flowchart that will read the two sides of a rectangle and calculate its area.</vt:lpstr>
      <vt:lpstr>Flowchart for Rectangle</vt:lpstr>
      <vt:lpstr>         Advantages of Flowchart</vt:lpstr>
      <vt:lpstr>Disadvantages of Flowchart </vt:lpstr>
      <vt:lpstr>Coding (Programming) </vt:lpstr>
      <vt:lpstr>Editing the program</vt:lpstr>
      <vt:lpstr>           Editing </vt:lpstr>
      <vt:lpstr>Types of Editors </vt:lpstr>
      <vt:lpstr>Compilation and Execution Process</vt:lpstr>
      <vt:lpstr>Compilation and Execution Process  </vt:lpstr>
      <vt:lpstr>Compilation and Execution Process</vt:lpstr>
      <vt:lpstr>Compilation Process  The compilation process can be divided into four steps, i.e., Pre-processing, Compiling, Assembling, and Linking.  </vt:lpstr>
      <vt:lpstr>Compilation Process</vt:lpstr>
      <vt:lpstr>Compilation Process</vt:lpstr>
      <vt:lpstr>Compilation Process</vt:lpstr>
      <vt:lpstr>Testing </vt:lpstr>
      <vt:lpstr>Debugging </vt:lpstr>
      <vt:lpstr>Debugging vs Testing </vt:lpstr>
      <vt:lpstr>Error Checking in c</vt:lpstr>
      <vt:lpstr>Compile-time errors </vt:lpstr>
      <vt:lpstr>Compile-time errors</vt:lpstr>
      <vt:lpstr>Syntax errors example </vt:lpstr>
      <vt:lpstr>PowerPoint Presentation</vt:lpstr>
      <vt:lpstr>Runtime errors </vt:lpstr>
      <vt:lpstr>Runtime errors</vt:lpstr>
      <vt:lpstr>PowerPoint Presentation</vt:lpstr>
      <vt:lpstr>Runtime errors</vt:lpstr>
      <vt:lpstr>Runtime errors</vt:lpstr>
      <vt:lpstr>IDE</vt:lpstr>
      <vt:lpstr>IDE</vt:lpstr>
      <vt:lpstr>Multi-Language IDE The multi-language IDEs – like Eclipse, Aptana, Komodo, NetBeans, and Geany – support multiple programming language </vt:lpstr>
      <vt:lpstr>IDE</vt:lpstr>
      <vt:lpstr>PowerPoint Presentation</vt:lpstr>
      <vt:lpstr>END OF UNIT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priyanka.sonwane2021@outlook.com</dc:creator>
  <cp:lastModifiedBy>aniket.firke@outlook.com</cp:lastModifiedBy>
  <cp:revision>2</cp:revision>
  <dcterms:created xsi:type="dcterms:W3CDTF">2022-01-10T05:33:38Z</dcterms:created>
  <dcterms:modified xsi:type="dcterms:W3CDTF">2022-01-17T12:22:53Z</dcterms:modified>
</cp:coreProperties>
</file>