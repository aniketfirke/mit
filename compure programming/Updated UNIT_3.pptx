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310" r:id="rId7"/>
    <p:sldId id="261" r:id="rId8"/>
    <p:sldId id="277" r:id="rId9"/>
    <p:sldId id="279" r:id="rId10"/>
    <p:sldId id="280" r:id="rId11"/>
    <p:sldId id="272" r:id="rId12"/>
    <p:sldId id="273" r:id="rId13"/>
    <p:sldId id="271" r:id="rId14"/>
    <p:sldId id="262" r:id="rId15"/>
    <p:sldId id="313" r:id="rId16"/>
    <p:sldId id="312" r:id="rId17"/>
    <p:sldId id="484" r:id="rId18"/>
    <p:sldId id="296" r:id="rId19"/>
    <p:sldId id="274" r:id="rId20"/>
    <p:sldId id="275" r:id="rId21"/>
    <p:sldId id="276" r:id="rId22"/>
    <p:sldId id="289" r:id="rId23"/>
    <p:sldId id="326" r:id="rId24"/>
    <p:sldId id="265" r:id="rId25"/>
    <p:sldId id="266" r:id="rId26"/>
    <p:sldId id="284" r:id="rId27"/>
    <p:sldId id="295" r:id="rId28"/>
    <p:sldId id="285" r:id="rId29"/>
    <p:sldId id="287" r:id="rId30"/>
    <p:sldId id="288" r:id="rId31"/>
    <p:sldId id="283" r:id="rId32"/>
    <p:sldId id="294" r:id="rId33"/>
    <p:sldId id="292" r:id="rId34"/>
    <p:sldId id="293" r:id="rId35"/>
    <p:sldId id="291" r:id="rId36"/>
    <p:sldId id="327" r:id="rId37"/>
    <p:sldId id="290" r:id="rId38"/>
    <p:sldId id="442" r:id="rId39"/>
    <p:sldId id="443" r:id="rId40"/>
    <p:sldId id="444" r:id="rId41"/>
    <p:sldId id="345" r:id="rId42"/>
    <p:sldId id="347" r:id="rId43"/>
    <p:sldId id="349" r:id="rId44"/>
    <p:sldId id="348" r:id="rId45"/>
    <p:sldId id="346" r:id="rId46"/>
    <p:sldId id="267" r:id="rId47"/>
    <p:sldId id="269" r:id="rId48"/>
    <p:sldId id="270" r:id="rId49"/>
    <p:sldId id="298" r:id="rId50"/>
    <p:sldId id="268" r:id="rId51"/>
    <p:sldId id="297" r:id="rId52"/>
    <p:sldId id="299" r:id="rId53"/>
    <p:sldId id="300" r:id="rId54"/>
    <p:sldId id="301" r:id="rId55"/>
    <p:sldId id="303" r:id="rId56"/>
    <p:sldId id="304" r:id="rId57"/>
    <p:sldId id="315" r:id="rId58"/>
    <p:sldId id="316" r:id="rId59"/>
    <p:sldId id="317" r:id="rId60"/>
    <p:sldId id="318" r:id="rId61"/>
    <p:sldId id="306" r:id="rId62"/>
    <p:sldId id="307" r:id="rId63"/>
    <p:sldId id="308" r:id="rId64"/>
    <p:sldId id="309" r:id="rId65"/>
    <p:sldId id="351" r:id="rId66"/>
    <p:sldId id="352" r:id="rId67"/>
    <p:sldId id="357" r:id="rId68"/>
    <p:sldId id="311" r:id="rId69"/>
    <p:sldId id="319" r:id="rId70"/>
    <p:sldId id="320" r:id="rId71"/>
    <p:sldId id="322" r:id="rId72"/>
    <p:sldId id="356" r:id="rId73"/>
    <p:sldId id="353" r:id="rId74"/>
    <p:sldId id="358" r:id="rId75"/>
    <p:sldId id="359" r:id="rId76"/>
    <p:sldId id="361" r:id="rId77"/>
    <p:sldId id="324" r:id="rId78"/>
    <p:sldId id="360" r:id="rId79"/>
    <p:sldId id="325" r:id="rId80"/>
    <p:sldId id="354" r:id="rId81"/>
    <p:sldId id="355" r:id="rId82"/>
    <p:sldId id="362" r:id="rId83"/>
    <p:sldId id="363" r:id="rId84"/>
    <p:sldId id="364" r:id="rId85"/>
    <p:sldId id="366" r:id="rId86"/>
    <p:sldId id="371" r:id="rId87"/>
    <p:sldId id="365" r:id="rId88"/>
    <p:sldId id="367" r:id="rId89"/>
    <p:sldId id="369" r:id="rId90"/>
    <p:sldId id="368" r:id="rId91"/>
    <p:sldId id="370" r:id="rId92"/>
    <p:sldId id="375" r:id="rId93"/>
    <p:sldId id="372" r:id="rId94"/>
    <p:sldId id="373" r:id="rId95"/>
    <p:sldId id="376" r:id="rId96"/>
    <p:sldId id="377" r:id="rId97"/>
    <p:sldId id="378" r:id="rId98"/>
    <p:sldId id="379" r:id="rId99"/>
    <p:sldId id="384" r:id="rId100"/>
    <p:sldId id="380" r:id="rId101"/>
    <p:sldId id="381" r:id="rId102"/>
    <p:sldId id="382" r:id="rId103"/>
    <p:sldId id="383" r:id="rId104"/>
    <p:sldId id="385" r:id="rId105"/>
    <p:sldId id="386" r:id="rId106"/>
    <p:sldId id="397" r:id="rId107"/>
    <p:sldId id="388" r:id="rId108"/>
    <p:sldId id="389" r:id="rId109"/>
    <p:sldId id="390" r:id="rId110"/>
    <p:sldId id="391" r:id="rId111"/>
    <p:sldId id="392" r:id="rId112"/>
    <p:sldId id="393" r:id="rId113"/>
    <p:sldId id="405" r:id="rId114"/>
    <p:sldId id="445" r:id="rId115"/>
    <p:sldId id="398" r:id="rId116"/>
    <p:sldId id="399" r:id="rId117"/>
    <p:sldId id="400" r:id="rId118"/>
    <p:sldId id="401" r:id="rId119"/>
    <p:sldId id="402" r:id="rId120"/>
    <p:sldId id="403" r:id="rId121"/>
    <p:sldId id="404" r:id="rId122"/>
    <p:sldId id="395" r:id="rId123"/>
    <p:sldId id="394" r:id="rId124"/>
    <p:sldId id="446" r:id="rId125"/>
    <p:sldId id="410" r:id="rId126"/>
    <p:sldId id="407" r:id="rId127"/>
    <p:sldId id="411" r:id="rId128"/>
    <p:sldId id="396" r:id="rId129"/>
    <p:sldId id="408" r:id="rId130"/>
    <p:sldId id="409" r:id="rId131"/>
    <p:sldId id="422" r:id="rId132"/>
    <p:sldId id="453" r:id="rId133"/>
    <p:sldId id="412" r:id="rId134"/>
    <p:sldId id="428" r:id="rId135"/>
    <p:sldId id="455" r:id="rId136"/>
    <p:sldId id="414" r:id="rId137"/>
    <p:sldId id="415" r:id="rId138"/>
    <p:sldId id="424" r:id="rId139"/>
    <p:sldId id="420" r:id="rId140"/>
    <p:sldId id="425" r:id="rId141"/>
    <p:sldId id="416" r:id="rId142"/>
    <p:sldId id="417" r:id="rId143"/>
    <p:sldId id="426" r:id="rId144"/>
    <p:sldId id="421" r:id="rId145"/>
    <p:sldId id="427" r:id="rId146"/>
    <p:sldId id="454" r:id="rId147"/>
    <p:sldId id="419" r:id="rId148"/>
    <p:sldId id="418" r:id="rId149"/>
    <p:sldId id="430" r:id="rId150"/>
    <p:sldId id="431" r:id="rId151"/>
    <p:sldId id="432" r:id="rId152"/>
    <p:sldId id="343" r:id="rId153"/>
    <p:sldId id="433" r:id="rId154"/>
    <p:sldId id="434" r:id="rId155"/>
    <p:sldId id="435" r:id="rId156"/>
    <p:sldId id="344" r:id="rId157"/>
    <p:sldId id="436" r:id="rId158"/>
    <p:sldId id="447" r:id="rId159"/>
    <p:sldId id="458" r:id="rId160"/>
    <p:sldId id="459" r:id="rId161"/>
    <p:sldId id="460" r:id="rId162"/>
    <p:sldId id="461" r:id="rId163"/>
    <p:sldId id="462" r:id="rId164"/>
    <p:sldId id="463" r:id="rId165"/>
    <p:sldId id="474" r:id="rId166"/>
    <p:sldId id="481" r:id="rId167"/>
    <p:sldId id="482" r:id="rId168"/>
    <p:sldId id="483" r:id="rId169"/>
    <p:sldId id="464" r:id="rId170"/>
    <p:sldId id="466" r:id="rId171"/>
    <p:sldId id="465" r:id="rId172"/>
    <p:sldId id="475" r:id="rId173"/>
    <p:sldId id="471" r:id="rId174"/>
    <p:sldId id="451" r:id="rId175"/>
    <p:sldId id="472" r:id="rId176"/>
    <p:sldId id="477" r:id="rId177"/>
    <p:sldId id="478" r:id="rId178"/>
    <p:sldId id="479" r:id="rId179"/>
    <p:sldId id="480" r:id="rId180"/>
    <p:sldId id="330" r:id="rId1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B329"/>
    <a:srgbClr val="0D0759"/>
    <a:srgbClr val="4457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presProps" Target="pres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297ED12C-5F40-424B-8381-11EF674D2367}"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ED12C-5F40-424B-8381-11EF674D2367}"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297ED12C-5F40-424B-8381-11EF674D2367}" type="slidenum">
              <a:rPr lang="en-IN" smtClean="0"/>
              <a:pPr/>
              <a:t>‹#›</a:t>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232EAC-4BFC-45D3-BAC8-1BDD67AA2BC4}" type="datetimeFigureOut">
              <a:rPr lang="en-IN" smtClean="0"/>
              <a:pPr/>
              <a:t>03-02-2022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ED12C-5F40-424B-8381-11EF674D2367}"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E232EAC-4BFC-45D3-BAC8-1BDD67AA2BC4}" type="datetimeFigureOut">
              <a:rPr lang="en-IN" smtClean="0"/>
              <a:pPr/>
              <a:t>03-02-2022</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97ED12C-5F40-424B-8381-11EF674D2367}" type="slidenum">
              <a:rPr lang="en-IN" smtClean="0"/>
              <a:pPr/>
              <a:t>‹#›</a:t>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file:///\\Relationalo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codeforwin.org/2015/05/c-program-to-check-whether-number-is-divisible-by-5-and-11.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codeforwin.org/2015/05/c-program-to-check-alphabet.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codeforwin.org/2015/05/c-program-to-check-negative-positive-zero.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javatpoint.com/c-programming-language-tutorial"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www.javatpoint.com/do-while-loop-in-c"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 3:</a:t>
            </a:r>
            <a:br>
              <a:rPr lang="en-US" dirty="0"/>
            </a:br>
            <a:r>
              <a:rPr lang="en-US" dirty="0"/>
              <a:t>Control Flow</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66933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648072"/>
          </a:xfrm>
        </p:spPr>
        <p:txBody>
          <a:bodyPr>
            <a:normAutofit fontScale="90000"/>
          </a:bodyPr>
          <a:lstStyle/>
          <a:p>
            <a:r>
              <a:rPr lang="en-US" dirty="0"/>
              <a:t>IF-</a:t>
            </a:r>
            <a:r>
              <a:rPr lang="en-US" dirty="0" err="1"/>
              <a:t>ElSE</a:t>
            </a:r>
            <a:endParaRPr lang="en-IN" dirty="0"/>
          </a:p>
        </p:txBody>
      </p:sp>
      <p:sp>
        <p:nvSpPr>
          <p:cNvPr id="3" name="Content Placeholder 2"/>
          <p:cNvSpPr>
            <a:spLocks noGrp="1"/>
          </p:cNvSpPr>
          <p:nvPr>
            <p:ph idx="1"/>
          </p:nvPr>
        </p:nvSpPr>
        <p:spPr>
          <a:xfrm>
            <a:off x="457200" y="692696"/>
            <a:ext cx="8229600" cy="5631904"/>
          </a:xfrm>
        </p:spPr>
        <p:txBody>
          <a:bodyPr>
            <a:normAutofit fontScale="92500" lnSpcReduction="20000"/>
          </a:bodyPr>
          <a:lstStyle/>
          <a:p>
            <a:r>
              <a:rPr lang="en-IN" b="1" dirty="0"/>
              <a:t>What is Decision Making Statement?</a:t>
            </a:r>
          </a:p>
          <a:p>
            <a:r>
              <a:rPr lang="en-IN" dirty="0"/>
              <a:t>In the C programming language, the program execution flow is line by line from top to bottom. </a:t>
            </a:r>
          </a:p>
          <a:p>
            <a:r>
              <a:rPr lang="en-IN" dirty="0"/>
              <a:t>That means the c program is executed line by line from the main method. </a:t>
            </a:r>
          </a:p>
          <a:p>
            <a:r>
              <a:rPr lang="en-IN" dirty="0"/>
              <a:t> But this type of execution flow may not be suitable for all the program solutions. Sometimes, we make some decisions or we may skip the execution of one or more lines of code. </a:t>
            </a:r>
          </a:p>
          <a:p>
            <a:r>
              <a:rPr lang="en-IN" dirty="0"/>
              <a:t>Consider a situation, where we write a program to check whether a student has passed or failed in a particular subject. </a:t>
            </a:r>
          </a:p>
          <a:p>
            <a:r>
              <a:rPr lang="en-IN" dirty="0"/>
              <a:t>Here, we need to check whether the marks are greater than the pass marks or not. If marks are greater, then we decide that the student has passed otherwise failed. </a:t>
            </a:r>
          </a:p>
          <a:p>
            <a:r>
              <a:rPr lang="en-IN" dirty="0"/>
              <a:t>To solve such kind of problems in c we use the statements called decision making statements.</a:t>
            </a:r>
          </a:p>
        </p:txBody>
      </p:sp>
    </p:spTree>
    <p:extLst>
      <p:ext uri="{BB962C8B-B14F-4D97-AF65-F5344CB8AC3E}">
        <p14:creationId xmlns:p14="http://schemas.microsoft.com/office/powerpoint/2010/main" val="372104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92088"/>
          </a:xfrm>
        </p:spPr>
        <p:txBody>
          <a:bodyPr>
            <a:normAutofit fontScale="90000"/>
          </a:bodyPr>
          <a:lstStyle/>
          <a:p>
            <a:r>
              <a:rPr lang="en-US" dirty="0"/>
              <a:t>Continue</a:t>
            </a:r>
            <a:endParaRPr lang="en-IN" dirty="0"/>
          </a:p>
        </p:txBody>
      </p:sp>
      <p:sp>
        <p:nvSpPr>
          <p:cNvPr id="3" name="Content Placeholder 2"/>
          <p:cNvSpPr>
            <a:spLocks noGrp="1"/>
          </p:cNvSpPr>
          <p:nvPr>
            <p:ph idx="1"/>
          </p:nvPr>
        </p:nvSpPr>
        <p:spPr>
          <a:xfrm>
            <a:off x="457200" y="1484784"/>
            <a:ext cx="8229600" cy="4839816"/>
          </a:xfrm>
        </p:spPr>
        <p:txBody>
          <a:bodyPr/>
          <a:lstStyle/>
          <a:p>
            <a:r>
              <a:rPr lang="en-IN" b="1" dirty="0"/>
              <a:t>Decision-making statements are the statements that are used to verify a given condition and decide whether a block of statements gets executed or not based on the condition result.</a:t>
            </a:r>
          </a:p>
          <a:p>
            <a:endParaRPr lang="en-US" b="1" dirty="0"/>
          </a:p>
          <a:p>
            <a:r>
              <a:rPr lang="en-IN" dirty="0"/>
              <a:t>In the c programming language, there are two decision-making statements they are as follows.</a:t>
            </a:r>
          </a:p>
          <a:p>
            <a:r>
              <a:rPr lang="en-IN" b="1" dirty="0"/>
              <a:t>if statement</a:t>
            </a:r>
          </a:p>
          <a:p>
            <a:r>
              <a:rPr lang="en-IN" b="1" dirty="0"/>
              <a:t>switch statement</a:t>
            </a:r>
          </a:p>
          <a:p>
            <a:endParaRPr lang="en-IN" b="1" dirty="0"/>
          </a:p>
        </p:txBody>
      </p:sp>
    </p:spTree>
    <p:extLst>
      <p:ext uri="{BB962C8B-B14F-4D97-AF65-F5344CB8AC3E}">
        <p14:creationId xmlns:p14="http://schemas.microsoft.com/office/powerpoint/2010/main" val="202879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008112"/>
          </a:xfrm>
        </p:spPr>
        <p:txBody>
          <a:bodyPr>
            <a:normAutofit fontScale="90000"/>
          </a:bodyPr>
          <a:lstStyle/>
          <a:p>
            <a:r>
              <a:rPr lang="en-IN" b="1" dirty="0"/>
              <a:t>if statement in c</a:t>
            </a:r>
            <a:br>
              <a:rPr lang="en-IN" b="1" dirty="0"/>
            </a:br>
            <a:endParaRPr lang="en-IN" dirty="0"/>
          </a:p>
        </p:txBody>
      </p:sp>
      <p:sp>
        <p:nvSpPr>
          <p:cNvPr id="3" name="Content Placeholder 2"/>
          <p:cNvSpPr>
            <a:spLocks noGrp="1"/>
          </p:cNvSpPr>
          <p:nvPr>
            <p:ph idx="1"/>
          </p:nvPr>
        </p:nvSpPr>
        <p:spPr>
          <a:xfrm>
            <a:off x="457200" y="620688"/>
            <a:ext cx="8229600" cy="5703912"/>
          </a:xfrm>
        </p:spPr>
        <p:txBody>
          <a:bodyPr>
            <a:normAutofit/>
          </a:bodyPr>
          <a:lstStyle/>
          <a:p>
            <a:r>
              <a:rPr lang="en-IN" b="1" dirty="0"/>
              <a:t>if statement in c</a:t>
            </a:r>
          </a:p>
          <a:p>
            <a:r>
              <a:rPr lang="en-IN" dirty="0"/>
              <a:t>In c, if statement is used to make decisions based on a condition.</a:t>
            </a:r>
          </a:p>
          <a:p>
            <a:r>
              <a:rPr lang="en-IN" dirty="0"/>
              <a:t> The if statement verifies the given condition and decides whether a block of statements are executed or not based on the condition result. </a:t>
            </a:r>
          </a:p>
          <a:p>
            <a:r>
              <a:rPr lang="en-IN" dirty="0"/>
              <a:t>In c, if statement is classified into four types as follows...</a:t>
            </a:r>
          </a:p>
          <a:p>
            <a:r>
              <a:rPr lang="en-IN" b="1" dirty="0"/>
              <a:t>Simple if statement</a:t>
            </a:r>
          </a:p>
          <a:p>
            <a:r>
              <a:rPr lang="en-IN" b="1" dirty="0"/>
              <a:t>if-else statement</a:t>
            </a:r>
          </a:p>
          <a:p>
            <a:r>
              <a:rPr lang="en-IN" b="1" dirty="0"/>
              <a:t>Nested if statement</a:t>
            </a:r>
          </a:p>
          <a:p>
            <a:r>
              <a:rPr lang="en-IN" b="1" dirty="0"/>
              <a:t>if-else-if statement (if-else ladder)</a:t>
            </a:r>
          </a:p>
          <a:p>
            <a:endParaRPr lang="en-IN" b="1" dirty="0"/>
          </a:p>
          <a:p>
            <a:endParaRPr lang="en-IN" b="1" dirty="0"/>
          </a:p>
          <a:p>
            <a:endParaRPr lang="en-IN" dirty="0"/>
          </a:p>
        </p:txBody>
      </p:sp>
    </p:spTree>
    <p:extLst>
      <p:ext uri="{BB962C8B-B14F-4D97-AF65-F5344CB8AC3E}">
        <p14:creationId xmlns:p14="http://schemas.microsoft.com/office/powerpoint/2010/main" val="3090179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864096"/>
          </a:xfrm>
        </p:spPr>
        <p:txBody>
          <a:bodyPr>
            <a:normAutofit fontScale="90000"/>
          </a:bodyPr>
          <a:lstStyle/>
          <a:p>
            <a:r>
              <a:rPr lang="en-IN" b="1" dirty="0"/>
              <a:t>Simple if statement</a:t>
            </a:r>
            <a:br>
              <a:rPr lang="en-IN" b="1" dirty="0"/>
            </a:br>
            <a:endParaRPr lang="en-IN" dirty="0"/>
          </a:p>
        </p:txBody>
      </p:sp>
      <p:sp>
        <p:nvSpPr>
          <p:cNvPr id="3" name="Content Placeholder 2"/>
          <p:cNvSpPr>
            <a:spLocks noGrp="1"/>
          </p:cNvSpPr>
          <p:nvPr>
            <p:ph idx="1"/>
          </p:nvPr>
        </p:nvSpPr>
        <p:spPr>
          <a:xfrm>
            <a:off x="457200" y="836712"/>
            <a:ext cx="8229600" cy="5487888"/>
          </a:xfrm>
        </p:spPr>
        <p:txBody>
          <a:bodyPr/>
          <a:lstStyle/>
          <a:p>
            <a:r>
              <a:rPr lang="en-IN" dirty="0"/>
              <a:t>Simple if statement is used to verify the given condition and executes the block of statements based on the condition result. </a:t>
            </a:r>
          </a:p>
          <a:p>
            <a:r>
              <a:rPr lang="en-IN" dirty="0"/>
              <a:t>The simple if statement evaluates specified condition. If it is TRUE, it executes the next statement or block of statements. </a:t>
            </a:r>
          </a:p>
          <a:p>
            <a:r>
              <a:rPr lang="en-IN" dirty="0"/>
              <a:t>If the condition is FALSE, it skips the execution of the next statement or block of statements. </a:t>
            </a:r>
          </a:p>
          <a:p>
            <a:r>
              <a:rPr lang="en-IN" dirty="0"/>
              <a:t>The general syntax and execution flow of the simple if statement is as follows.</a:t>
            </a:r>
          </a:p>
          <a:p>
            <a:endParaRPr lang="en-IN" dirty="0"/>
          </a:p>
        </p:txBody>
      </p:sp>
    </p:spTree>
    <p:extLst>
      <p:ext uri="{BB962C8B-B14F-4D97-AF65-F5344CB8AC3E}">
        <p14:creationId xmlns:p14="http://schemas.microsoft.com/office/powerpoint/2010/main" val="186349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if (condition)        </a:t>
            </a:r>
            <a:r>
              <a:rPr lang="en-IN" dirty="0">
                <a:solidFill>
                  <a:srgbClr val="FF0000"/>
                </a:solidFill>
                <a:hlinkClick r:id="rId2" action="ppaction://hlinkfile"/>
              </a:rPr>
              <a:t>Relational  or</a:t>
            </a:r>
            <a:r>
              <a:rPr lang="en-IN" dirty="0">
                <a:solidFill>
                  <a:srgbClr val="FF0000"/>
                </a:solidFill>
              </a:rPr>
              <a:t> logical operator  </a:t>
            </a:r>
          </a:p>
          <a:p>
            <a:r>
              <a:rPr lang="en-IN" dirty="0"/>
              <a:t>{ </a:t>
            </a:r>
          </a:p>
          <a:p>
            <a:r>
              <a:rPr lang="en-IN" dirty="0"/>
              <a:t>    Statements; </a:t>
            </a:r>
          </a:p>
          <a:p>
            <a:r>
              <a:rPr lang="en-IN" dirty="0"/>
              <a:t>   Statements; </a:t>
            </a:r>
          </a:p>
          <a:p>
            <a:endParaRPr lang="en-IN" dirty="0"/>
          </a:p>
          <a:p>
            <a:pPr marL="0" indent="0">
              <a:buNone/>
            </a:pPr>
            <a:r>
              <a:rPr lang="en-IN" dirty="0"/>
              <a:t>   }</a:t>
            </a:r>
          </a:p>
          <a:p>
            <a:pPr marL="0" indent="0">
              <a:buNone/>
            </a:pPr>
            <a:endParaRPr lang="en-IN" dirty="0"/>
          </a:p>
          <a:p>
            <a:pPr marL="0" indent="0">
              <a:buNone/>
            </a:pPr>
            <a:r>
              <a:rPr lang="en-IN" dirty="0"/>
              <a:t>Description:</a:t>
            </a:r>
          </a:p>
          <a:p>
            <a:r>
              <a:rPr lang="en-IN" dirty="0"/>
              <a:t>In these type of statements, if condition is true, then respective block of code is executed.</a:t>
            </a:r>
          </a:p>
        </p:txBody>
      </p:sp>
      <p:cxnSp>
        <p:nvCxnSpPr>
          <p:cNvPr id="6" name="Straight Arrow Connector 5"/>
          <p:cNvCxnSpPr/>
          <p:nvPr/>
        </p:nvCxnSpPr>
        <p:spPr>
          <a:xfrm flipV="1">
            <a:off x="2771800" y="2204864"/>
            <a:ext cx="597042"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5547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57200" y="2310368"/>
            <a:ext cx="8229600" cy="3639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555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000" b="1" dirty="0"/>
              <a:t>Write a program to input user age and check if he is eligible to vote in India or not. A person in India is eligible to vote if he is 18+</a:t>
            </a:r>
            <a:br>
              <a:rPr lang="en-IN" sz="2000" dirty="0"/>
            </a:br>
            <a:endParaRPr lang="en-IN" sz="2000" dirty="0"/>
          </a:p>
        </p:txBody>
      </p:sp>
      <p:sp>
        <p:nvSpPr>
          <p:cNvPr id="3" name="Content Placeholder 2"/>
          <p:cNvSpPr>
            <a:spLocks noGrp="1"/>
          </p:cNvSpPr>
          <p:nvPr>
            <p:ph idx="1"/>
          </p:nvPr>
        </p:nvSpPr>
        <p:spPr>
          <a:xfrm>
            <a:off x="457200" y="1628800"/>
            <a:ext cx="8229600" cy="4695800"/>
          </a:xfrm>
        </p:spPr>
        <p:txBody>
          <a:bodyPr/>
          <a:lstStyle/>
          <a:p>
            <a:r>
              <a:rPr lang="en-US" dirty="0" err="1"/>
              <a:t>Algo</a:t>
            </a:r>
            <a:endParaRPr lang="en-US" dirty="0"/>
          </a:p>
          <a:p>
            <a:r>
              <a:rPr lang="en-IN" dirty="0"/>
              <a:t>Step 1: Start. </a:t>
            </a:r>
          </a:p>
          <a:p>
            <a:r>
              <a:rPr lang="en-IN" dirty="0"/>
              <a:t>Step 2: Read age  from the user. </a:t>
            </a:r>
          </a:p>
          <a:p>
            <a:r>
              <a:rPr lang="en-IN" dirty="0"/>
              <a:t>Step 3: If age  is greater than 18 then go to step 4 </a:t>
            </a:r>
          </a:p>
          <a:p>
            <a:r>
              <a:rPr lang="en-IN" dirty="0"/>
              <a:t>Step 4: Print a he is eligible for vote</a:t>
            </a:r>
          </a:p>
          <a:p>
            <a:r>
              <a:rPr lang="en-IN" dirty="0"/>
              <a:t>Step 5: Stop</a:t>
            </a:r>
          </a:p>
          <a:p>
            <a:endParaRPr lang="en-IN" dirty="0"/>
          </a:p>
        </p:txBody>
      </p:sp>
    </p:spTree>
    <p:extLst>
      <p:ext uri="{BB962C8B-B14F-4D97-AF65-F5344CB8AC3E}">
        <p14:creationId xmlns:p14="http://schemas.microsoft.com/office/powerpoint/2010/main" val="283065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432048"/>
          </a:xfrm>
        </p:spPr>
        <p:txBody>
          <a:bodyPr>
            <a:normAutofit fontScale="90000"/>
          </a:bodyPr>
          <a:lstStyle/>
          <a:p>
            <a:endParaRPr lang="en-IN" dirty="0"/>
          </a:p>
        </p:txBody>
      </p:sp>
      <p:sp>
        <p:nvSpPr>
          <p:cNvPr id="3" name="Content Placeholder 2"/>
          <p:cNvSpPr>
            <a:spLocks noGrp="1"/>
          </p:cNvSpPr>
          <p:nvPr>
            <p:ph idx="1"/>
          </p:nvPr>
        </p:nvSpPr>
        <p:spPr>
          <a:xfrm>
            <a:off x="457200" y="908720"/>
            <a:ext cx="8229600" cy="5760640"/>
          </a:xfrm>
        </p:spPr>
        <p:txBody>
          <a:bodyPr/>
          <a:lstStyle/>
          <a:p>
            <a:endParaRPr lang="en-US" dirty="0"/>
          </a:p>
          <a:p>
            <a:endParaRPr lang="en-US" dirty="0"/>
          </a:p>
          <a:p>
            <a:endParaRPr lang="en-US" dirty="0"/>
          </a:p>
          <a:p>
            <a:endParaRPr lang="en-US" dirty="0"/>
          </a:p>
          <a:p>
            <a:endParaRPr lang="en-US" dirty="0"/>
          </a:p>
          <a:p>
            <a:r>
              <a:rPr lang="en-US" dirty="0"/>
              <a:t>                                                       False</a:t>
            </a:r>
          </a:p>
          <a:p>
            <a:endParaRPr lang="en-US" dirty="0"/>
          </a:p>
          <a:p>
            <a:r>
              <a:rPr lang="en-US" dirty="0"/>
              <a:t>                                               True</a:t>
            </a:r>
            <a:endParaRPr lang="en-IN" dirty="0"/>
          </a:p>
        </p:txBody>
      </p:sp>
      <p:sp>
        <p:nvSpPr>
          <p:cNvPr id="4" name="Flowchart: Alternate Process 3"/>
          <p:cNvSpPr/>
          <p:nvPr/>
        </p:nvSpPr>
        <p:spPr>
          <a:xfrm>
            <a:off x="3563888" y="1268760"/>
            <a:ext cx="1656184" cy="432048"/>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Start</a:t>
            </a:r>
            <a:endParaRPr lang="en-IN" dirty="0">
              <a:solidFill>
                <a:prstClr val="black"/>
              </a:solidFill>
            </a:endParaRPr>
          </a:p>
        </p:txBody>
      </p:sp>
      <p:sp>
        <p:nvSpPr>
          <p:cNvPr id="5" name="Parallelogram 4"/>
          <p:cNvSpPr/>
          <p:nvPr/>
        </p:nvSpPr>
        <p:spPr>
          <a:xfrm>
            <a:off x="3719112" y="2132856"/>
            <a:ext cx="1345735" cy="648072"/>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Read age</a:t>
            </a:r>
            <a:endParaRPr lang="en-IN" dirty="0">
              <a:solidFill>
                <a:prstClr val="black"/>
              </a:solidFill>
            </a:endParaRPr>
          </a:p>
        </p:txBody>
      </p:sp>
      <p:sp>
        <p:nvSpPr>
          <p:cNvPr id="7" name="Diamond 6"/>
          <p:cNvSpPr/>
          <p:nvPr/>
        </p:nvSpPr>
        <p:spPr>
          <a:xfrm>
            <a:off x="3628924" y="3140968"/>
            <a:ext cx="1584176" cy="136815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If age&gt;=18</a:t>
            </a:r>
            <a:endParaRPr lang="en-IN" dirty="0">
              <a:solidFill>
                <a:prstClr val="black"/>
              </a:solidFill>
            </a:endParaRPr>
          </a:p>
        </p:txBody>
      </p:sp>
      <p:sp>
        <p:nvSpPr>
          <p:cNvPr id="8" name="Parallelogram 7"/>
          <p:cNvSpPr/>
          <p:nvPr/>
        </p:nvSpPr>
        <p:spPr>
          <a:xfrm>
            <a:off x="3719112" y="4870114"/>
            <a:ext cx="1781842" cy="863142"/>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Display eligible for vote</a:t>
            </a:r>
            <a:endParaRPr lang="en-IN" dirty="0">
              <a:solidFill>
                <a:prstClr val="black"/>
              </a:solidFill>
            </a:endParaRPr>
          </a:p>
        </p:txBody>
      </p:sp>
      <p:sp>
        <p:nvSpPr>
          <p:cNvPr id="9" name="Rounded Rectangle 8"/>
          <p:cNvSpPr/>
          <p:nvPr/>
        </p:nvSpPr>
        <p:spPr>
          <a:xfrm>
            <a:off x="3628746" y="6251198"/>
            <a:ext cx="1872208" cy="4320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prstClr val="black"/>
                </a:solidFill>
              </a:rPr>
              <a:t>Stop</a:t>
            </a:r>
            <a:endParaRPr lang="en-IN" dirty="0">
              <a:solidFill>
                <a:prstClr val="black"/>
              </a:solidFill>
            </a:endParaRPr>
          </a:p>
        </p:txBody>
      </p:sp>
      <p:cxnSp>
        <p:nvCxnSpPr>
          <p:cNvPr id="13" name="Straight Arrow Connector 12"/>
          <p:cNvCxnSpPr>
            <a:endCxn id="5" idx="0"/>
          </p:cNvCxnSpPr>
          <p:nvPr/>
        </p:nvCxnSpPr>
        <p:spPr>
          <a:xfrm>
            <a:off x="4391979" y="1700808"/>
            <a:ext cx="1"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7" idx="0"/>
          </p:cNvCxnSpPr>
          <p:nvPr/>
        </p:nvCxnSpPr>
        <p:spPr>
          <a:xfrm>
            <a:off x="4391979" y="2780928"/>
            <a:ext cx="29033"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2"/>
          </p:cNvCxnSpPr>
          <p:nvPr/>
        </p:nvCxnSpPr>
        <p:spPr>
          <a:xfrm>
            <a:off x="4421012" y="4509120"/>
            <a:ext cx="28459" cy="3606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220072" y="3825044"/>
            <a:ext cx="1872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092102" y="3825044"/>
            <a:ext cx="178" cy="2650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9" idx="3"/>
          </p:cNvCxnSpPr>
          <p:nvPr/>
        </p:nvCxnSpPr>
        <p:spPr>
          <a:xfrm flipH="1">
            <a:off x="5500954" y="6467222"/>
            <a:ext cx="159114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426483" y="5589240"/>
            <a:ext cx="0" cy="658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93351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fontScale="90000"/>
          </a:bodyPr>
          <a:lstStyle/>
          <a:p>
            <a:r>
              <a:rPr lang="en-US" dirty="0"/>
              <a:t>Program</a:t>
            </a:r>
            <a:endParaRPr lang="en-IN" dirty="0"/>
          </a:p>
        </p:txBody>
      </p:sp>
      <p:sp>
        <p:nvSpPr>
          <p:cNvPr id="3" name="Content Placeholder 2"/>
          <p:cNvSpPr>
            <a:spLocks noGrp="1"/>
          </p:cNvSpPr>
          <p:nvPr>
            <p:ph idx="1"/>
          </p:nvPr>
        </p:nvSpPr>
        <p:spPr>
          <a:xfrm>
            <a:off x="457200" y="980728"/>
            <a:ext cx="8229600" cy="5760640"/>
          </a:xfrm>
        </p:spPr>
        <p:txBody>
          <a:bodyPr>
            <a:normAutofit fontScale="92500" lnSpcReduction="10000"/>
          </a:bodyPr>
          <a:lstStyle/>
          <a:p>
            <a:r>
              <a:rPr lang="en-IN" dirty="0"/>
              <a:t>#include &lt;</a:t>
            </a:r>
            <a:r>
              <a:rPr lang="en-IN" dirty="0" err="1"/>
              <a:t>stdio.h</a:t>
            </a:r>
            <a:r>
              <a:rPr lang="en-IN" dirty="0"/>
              <a:t>&gt;</a:t>
            </a:r>
          </a:p>
          <a:p>
            <a:r>
              <a:rPr lang="en-IN" dirty="0"/>
              <a:t>#include&lt;</a:t>
            </a:r>
            <a:r>
              <a:rPr lang="en-IN" dirty="0" err="1"/>
              <a:t>conio.h</a:t>
            </a:r>
            <a:r>
              <a:rPr lang="en-IN" dirty="0"/>
              <a:t>&gt;</a:t>
            </a:r>
          </a:p>
          <a:p>
            <a:r>
              <a:rPr lang="en-IN" dirty="0"/>
              <a:t> </a:t>
            </a:r>
          </a:p>
          <a:p>
            <a:r>
              <a:rPr lang="en-IN" dirty="0"/>
              <a:t> main()</a:t>
            </a:r>
          </a:p>
          <a:p>
            <a:r>
              <a:rPr lang="en-IN" dirty="0"/>
              <a:t>{</a:t>
            </a:r>
          </a:p>
          <a:p>
            <a:r>
              <a:rPr lang="en-IN" dirty="0"/>
              <a:t> </a:t>
            </a:r>
            <a:r>
              <a:rPr lang="en-IN" dirty="0" err="1"/>
              <a:t>int</a:t>
            </a:r>
            <a:r>
              <a:rPr lang="en-IN" dirty="0"/>
              <a:t> age;</a:t>
            </a:r>
          </a:p>
          <a:p>
            <a:r>
              <a:rPr lang="en-IN" dirty="0"/>
              <a:t> </a:t>
            </a:r>
            <a:r>
              <a:rPr lang="en-IN" dirty="0" err="1"/>
              <a:t>printf</a:t>
            </a:r>
            <a:r>
              <a:rPr lang="en-IN" dirty="0"/>
              <a:t>("Enter your age: ");</a:t>
            </a:r>
          </a:p>
          <a:p>
            <a:r>
              <a:rPr lang="en-IN" dirty="0"/>
              <a:t> </a:t>
            </a:r>
            <a:r>
              <a:rPr lang="en-IN" dirty="0" err="1"/>
              <a:t>scanf</a:t>
            </a:r>
            <a:r>
              <a:rPr lang="en-IN" dirty="0"/>
              <a:t>("%d", &amp;age);</a:t>
            </a:r>
          </a:p>
          <a:p>
            <a:r>
              <a:rPr lang="en-IN" dirty="0"/>
              <a:t>  if(age &gt;= 18)</a:t>
            </a:r>
          </a:p>
          <a:p>
            <a:r>
              <a:rPr lang="en-IN" dirty="0"/>
              <a:t>   {</a:t>
            </a:r>
          </a:p>
          <a:p>
            <a:r>
              <a:rPr lang="en-IN" dirty="0"/>
              <a:t>     </a:t>
            </a:r>
            <a:r>
              <a:rPr lang="en-IN" dirty="0" err="1"/>
              <a:t>printf</a:t>
            </a:r>
            <a:r>
              <a:rPr lang="en-IN" dirty="0"/>
              <a:t>("You are eligible to vote in India.");</a:t>
            </a:r>
          </a:p>
          <a:p>
            <a:r>
              <a:rPr lang="en-IN" dirty="0"/>
              <a:t> }</a:t>
            </a:r>
          </a:p>
          <a:p>
            <a:r>
              <a:rPr lang="en-IN" dirty="0" err="1"/>
              <a:t>getch</a:t>
            </a:r>
            <a:r>
              <a:rPr lang="en-IN" dirty="0"/>
              <a:t>();</a:t>
            </a:r>
          </a:p>
          <a:p>
            <a:r>
              <a:rPr lang="en-IN" dirty="0"/>
              <a:t>}</a:t>
            </a:r>
          </a:p>
          <a:p>
            <a:endParaRPr lang="en-IN" dirty="0"/>
          </a:p>
        </p:txBody>
      </p:sp>
    </p:spTree>
    <p:extLst>
      <p:ext uri="{BB962C8B-B14F-4D97-AF65-F5344CB8AC3E}">
        <p14:creationId xmlns:p14="http://schemas.microsoft.com/office/powerpoint/2010/main" val="1750109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fontScale="90000"/>
          </a:bodyPr>
          <a:lstStyle/>
          <a:p>
            <a:r>
              <a:rPr lang="en-US" dirty="0"/>
              <a:t>ALGO</a:t>
            </a:r>
            <a:endParaRPr lang="en-IN" dirty="0"/>
          </a:p>
        </p:txBody>
      </p:sp>
      <p:sp>
        <p:nvSpPr>
          <p:cNvPr id="3" name="Content Placeholder 2"/>
          <p:cNvSpPr>
            <a:spLocks noGrp="1"/>
          </p:cNvSpPr>
          <p:nvPr>
            <p:ph idx="1"/>
          </p:nvPr>
        </p:nvSpPr>
        <p:spPr>
          <a:xfrm>
            <a:off x="457200" y="1484784"/>
            <a:ext cx="8229600" cy="4839816"/>
          </a:xfrm>
        </p:spPr>
        <p:txBody>
          <a:bodyPr/>
          <a:lstStyle/>
          <a:p>
            <a:r>
              <a:rPr lang="en-IN" sz="2800" b="1" dirty="0"/>
              <a:t>Program for evaluating the whether given no is greater than 0</a:t>
            </a:r>
            <a:br>
              <a:rPr lang="en-IN" sz="2800" dirty="0"/>
            </a:br>
            <a:endParaRPr lang="en-IN" dirty="0"/>
          </a:p>
          <a:p>
            <a:r>
              <a:rPr lang="en-IN" dirty="0"/>
              <a:t>Step 1: Start. </a:t>
            </a:r>
          </a:p>
          <a:p>
            <a:r>
              <a:rPr lang="en-IN" dirty="0"/>
              <a:t>Step 2: Take one inputs (a ) from the user. </a:t>
            </a:r>
          </a:p>
          <a:p>
            <a:r>
              <a:rPr lang="en-IN" dirty="0"/>
              <a:t>Step 3: If a is greater than 0 then go to step 4 </a:t>
            </a:r>
          </a:p>
          <a:p>
            <a:r>
              <a:rPr lang="en-IN" dirty="0"/>
              <a:t>Step 4: Print a greater than 0 </a:t>
            </a:r>
          </a:p>
          <a:p>
            <a:r>
              <a:rPr lang="en-IN" dirty="0"/>
              <a:t>Step 5: Stop</a:t>
            </a:r>
          </a:p>
        </p:txBody>
      </p:sp>
    </p:spTree>
    <p:extLst>
      <p:ext uri="{BB962C8B-B14F-4D97-AF65-F5344CB8AC3E}">
        <p14:creationId xmlns:p14="http://schemas.microsoft.com/office/powerpoint/2010/main" val="43417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432048"/>
          </a:xfrm>
        </p:spPr>
        <p:txBody>
          <a:bodyPr>
            <a:normAutofit fontScale="90000"/>
          </a:bodyPr>
          <a:lstStyle/>
          <a:p>
            <a:endParaRPr lang="en-IN" dirty="0"/>
          </a:p>
        </p:txBody>
      </p:sp>
      <p:sp>
        <p:nvSpPr>
          <p:cNvPr id="3" name="Content Placeholder 2"/>
          <p:cNvSpPr>
            <a:spLocks noGrp="1"/>
          </p:cNvSpPr>
          <p:nvPr>
            <p:ph idx="1"/>
          </p:nvPr>
        </p:nvSpPr>
        <p:spPr>
          <a:xfrm>
            <a:off x="457200" y="908720"/>
            <a:ext cx="8229600" cy="5760640"/>
          </a:xfrm>
        </p:spPr>
        <p:txBody>
          <a:bodyPr/>
          <a:lstStyle/>
          <a:p>
            <a:endParaRPr lang="en-US" dirty="0"/>
          </a:p>
          <a:p>
            <a:endParaRPr lang="en-US" dirty="0"/>
          </a:p>
          <a:p>
            <a:endParaRPr lang="en-US" dirty="0"/>
          </a:p>
          <a:p>
            <a:endParaRPr lang="en-US" dirty="0"/>
          </a:p>
          <a:p>
            <a:endParaRPr lang="en-US" dirty="0"/>
          </a:p>
          <a:p>
            <a:endParaRPr lang="en-US" dirty="0"/>
          </a:p>
          <a:p>
            <a:r>
              <a:rPr lang="en-US" dirty="0"/>
              <a:t>                                                           False</a:t>
            </a:r>
          </a:p>
          <a:p>
            <a:r>
              <a:rPr lang="en-US" dirty="0"/>
              <a:t>                                               True</a:t>
            </a:r>
            <a:endParaRPr lang="en-IN" dirty="0"/>
          </a:p>
        </p:txBody>
      </p:sp>
      <p:sp>
        <p:nvSpPr>
          <p:cNvPr id="4" name="Flowchart: Alternate Process 3"/>
          <p:cNvSpPr/>
          <p:nvPr/>
        </p:nvSpPr>
        <p:spPr>
          <a:xfrm>
            <a:off x="3563888" y="1268760"/>
            <a:ext cx="1656184" cy="432048"/>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Start</a:t>
            </a:r>
            <a:endParaRPr lang="en-IN" dirty="0"/>
          </a:p>
        </p:txBody>
      </p:sp>
      <p:sp>
        <p:nvSpPr>
          <p:cNvPr id="5" name="Parallelogram 4"/>
          <p:cNvSpPr/>
          <p:nvPr/>
        </p:nvSpPr>
        <p:spPr>
          <a:xfrm>
            <a:off x="3719112" y="2132856"/>
            <a:ext cx="1345735" cy="648072"/>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a</a:t>
            </a:r>
            <a:endParaRPr lang="en-IN" dirty="0"/>
          </a:p>
        </p:txBody>
      </p:sp>
      <p:sp>
        <p:nvSpPr>
          <p:cNvPr id="7" name="Diamond 6"/>
          <p:cNvSpPr/>
          <p:nvPr/>
        </p:nvSpPr>
        <p:spPr>
          <a:xfrm>
            <a:off x="3628924" y="3140968"/>
            <a:ext cx="1584176" cy="136815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If a&gt;=0</a:t>
            </a:r>
            <a:endParaRPr lang="en-IN" dirty="0"/>
          </a:p>
        </p:txBody>
      </p:sp>
      <p:sp>
        <p:nvSpPr>
          <p:cNvPr id="8" name="Parallelogram 7"/>
          <p:cNvSpPr/>
          <p:nvPr/>
        </p:nvSpPr>
        <p:spPr>
          <a:xfrm>
            <a:off x="3719112" y="4870114"/>
            <a:ext cx="1548172" cy="719126"/>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 is greater</a:t>
            </a:r>
            <a:endParaRPr lang="en-IN" dirty="0"/>
          </a:p>
        </p:txBody>
      </p:sp>
      <p:sp>
        <p:nvSpPr>
          <p:cNvPr id="9" name="Rounded Rectangle 8"/>
          <p:cNvSpPr/>
          <p:nvPr/>
        </p:nvSpPr>
        <p:spPr>
          <a:xfrm>
            <a:off x="3628746" y="6251198"/>
            <a:ext cx="1872208" cy="4320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Stop</a:t>
            </a:r>
            <a:endParaRPr lang="en-IN" dirty="0"/>
          </a:p>
        </p:txBody>
      </p:sp>
      <p:cxnSp>
        <p:nvCxnSpPr>
          <p:cNvPr id="13" name="Straight Arrow Connector 12"/>
          <p:cNvCxnSpPr>
            <a:endCxn id="5" idx="0"/>
          </p:cNvCxnSpPr>
          <p:nvPr/>
        </p:nvCxnSpPr>
        <p:spPr>
          <a:xfrm>
            <a:off x="4391979" y="1700808"/>
            <a:ext cx="1"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7" idx="0"/>
          </p:cNvCxnSpPr>
          <p:nvPr/>
        </p:nvCxnSpPr>
        <p:spPr>
          <a:xfrm>
            <a:off x="4391979" y="2780928"/>
            <a:ext cx="29033"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421012" y="4509120"/>
            <a:ext cx="0"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220072" y="3825044"/>
            <a:ext cx="1872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092102" y="3825044"/>
            <a:ext cx="178" cy="2650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9" idx="3"/>
          </p:cNvCxnSpPr>
          <p:nvPr/>
        </p:nvCxnSpPr>
        <p:spPr>
          <a:xfrm flipH="1">
            <a:off x="5500954" y="6467222"/>
            <a:ext cx="159114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426483" y="5589240"/>
            <a:ext cx="0" cy="658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7915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Autofit/>
          </a:bodyPr>
          <a:lstStyle/>
          <a:p>
            <a:r>
              <a:rPr lang="en-IN" sz="2400" b="1" dirty="0"/>
              <a:t>Program for evaluating the whether given no is greater than 0</a:t>
            </a:r>
            <a:br>
              <a:rPr lang="en-IN" sz="2400" dirty="0"/>
            </a:br>
            <a:endParaRPr lang="en-IN" sz="2400" dirty="0"/>
          </a:p>
        </p:txBody>
      </p:sp>
      <p:sp>
        <p:nvSpPr>
          <p:cNvPr id="3" name="Content Placeholder 2"/>
          <p:cNvSpPr>
            <a:spLocks noGrp="1"/>
          </p:cNvSpPr>
          <p:nvPr>
            <p:ph idx="1"/>
          </p:nvPr>
        </p:nvSpPr>
        <p:spPr/>
        <p:txBody>
          <a:bodyPr>
            <a:normAutofit fontScale="85000" lnSpcReduction="20000"/>
          </a:bodyPr>
          <a:lstStyle/>
          <a:p>
            <a:r>
              <a:rPr lang="en-IN" dirty="0"/>
              <a:t>#include&lt;</a:t>
            </a:r>
            <a:r>
              <a:rPr lang="en-IN" dirty="0" err="1"/>
              <a:t>stdio.h</a:t>
            </a:r>
            <a:r>
              <a:rPr lang="en-IN" dirty="0"/>
              <a:t>&gt;</a:t>
            </a:r>
          </a:p>
          <a:p>
            <a:r>
              <a:rPr lang="en-IN" dirty="0"/>
              <a:t>#include&lt;</a:t>
            </a:r>
            <a:r>
              <a:rPr lang="en-IN" dirty="0" err="1"/>
              <a:t>conio.h</a:t>
            </a:r>
            <a:r>
              <a:rPr lang="en-IN" dirty="0"/>
              <a:t>&gt;</a:t>
            </a:r>
          </a:p>
          <a:p>
            <a:r>
              <a:rPr lang="en-IN" dirty="0"/>
              <a:t>void  main()</a:t>
            </a:r>
          </a:p>
          <a:p>
            <a:r>
              <a:rPr lang="en-IN" dirty="0"/>
              <a:t>{</a:t>
            </a:r>
          </a:p>
          <a:p>
            <a:r>
              <a:rPr lang="en-IN" dirty="0"/>
              <a:t>  </a:t>
            </a:r>
            <a:r>
              <a:rPr lang="en-IN" dirty="0" err="1"/>
              <a:t>int</a:t>
            </a:r>
            <a:r>
              <a:rPr lang="en-IN" dirty="0"/>
              <a:t> i=20;</a:t>
            </a:r>
          </a:p>
          <a:p>
            <a:r>
              <a:rPr lang="en-IN" dirty="0"/>
              <a:t>  </a:t>
            </a:r>
          </a:p>
          <a:p>
            <a:r>
              <a:rPr lang="en-IN" dirty="0"/>
              <a:t>  //</a:t>
            </a:r>
            <a:r>
              <a:rPr lang="en-IN" dirty="0" err="1"/>
              <a:t>clrscr</a:t>
            </a:r>
            <a:r>
              <a:rPr lang="en-IN" dirty="0"/>
              <a:t>();</a:t>
            </a:r>
          </a:p>
          <a:p>
            <a:r>
              <a:rPr lang="en-IN" dirty="0"/>
              <a:t>  if(i&gt;=0)</a:t>
            </a:r>
          </a:p>
          <a:p>
            <a:r>
              <a:rPr lang="en-IN" dirty="0"/>
              <a:t>  </a:t>
            </a:r>
            <a:r>
              <a:rPr lang="en-IN" dirty="0" err="1"/>
              <a:t>printf</a:t>
            </a:r>
            <a:r>
              <a:rPr lang="en-IN" dirty="0"/>
              <a:t>("Yes the given no is greater then 0");</a:t>
            </a:r>
          </a:p>
          <a:p>
            <a:r>
              <a:rPr lang="en-IN" dirty="0"/>
              <a:t>  </a:t>
            </a:r>
            <a:r>
              <a:rPr lang="en-IN" dirty="0" err="1"/>
              <a:t>getch</a:t>
            </a:r>
            <a:r>
              <a:rPr lang="en-IN" dirty="0"/>
              <a:t>();</a:t>
            </a:r>
          </a:p>
          <a:p>
            <a:r>
              <a:rPr lang="en-IN" dirty="0"/>
              <a:t> </a:t>
            </a:r>
          </a:p>
          <a:p>
            <a:r>
              <a:rPr lang="en-IN" dirty="0"/>
              <a:t>}</a:t>
            </a:r>
          </a:p>
          <a:p>
            <a:r>
              <a:rPr lang="en-IN" dirty="0"/>
              <a:t> </a:t>
            </a:r>
          </a:p>
          <a:p>
            <a:endParaRPr lang="en-IN" dirty="0"/>
          </a:p>
        </p:txBody>
      </p:sp>
    </p:spTree>
    <p:extLst>
      <p:ext uri="{BB962C8B-B14F-4D97-AF65-F5344CB8AC3E}">
        <p14:creationId xmlns:p14="http://schemas.microsoft.com/office/powerpoint/2010/main" val="2979642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648072"/>
          </a:xfrm>
        </p:spPr>
        <p:txBody>
          <a:bodyPr>
            <a:normAutofit fontScale="90000"/>
          </a:bodyPr>
          <a:lstStyle/>
          <a:p>
            <a:r>
              <a:rPr lang="en-IN" b="1" dirty="0"/>
              <a:t>if-else statement</a:t>
            </a:r>
          </a:p>
        </p:txBody>
      </p:sp>
      <p:sp>
        <p:nvSpPr>
          <p:cNvPr id="3" name="Content Placeholder 2"/>
          <p:cNvSpPr>
            <a:spLocks noGrp="1"/>
          </p:cNvSpPr>
          <p:nvPr>
            <p:ph idx="1"/>
          </p:nvPr>
        </p:nvSpPr>
        <p:spPr>
          <a:xfrm>
            <a:off x="457200" y="1052736"/>
            <a:ext cx="8229600" cy="5271864"/>
          </a:xfrm>
        </p:spPr>
        <p:txBody>
          <a:bodyPr/>
          <a:lstStyle/>
          <a:p>
            <a:r>
              <a:rPr lang="en-IN" dirty="0"/>
              <a:t>The if-else statement is used to verify the given condition and executes only one out of the two blocks of statements based on the condition result. </a:t>
            </a:r>
          </a:p>
          <a:p>
            <a:r>
              <a:rPr lang="en-IN" dirty="0"/>
              <a:t>The if-else statement evaluates the specified condition. </a:t>
            </a:r>
          </a:p>
          <a:p>
            <a:r>
              <a:rPr lang="en-IN" dirty="0"/>
              <a:t>If it is TRUE, it executes a block of statements (True block). </a:t>
            </a:r>
          </a:p>
          <a:p>
            <a:r>
              <a:rPr lang="en-IN" dirty="0"/>
              <a:t>If the condition is FALSE, it executes another block of statements (False block). The general syntax and execution flow of the if-else statement is as follows.</a:t>
            </a:r>
          </a:p>
        </p:txBody>
      </p:sp>
    </p:spTree>
    <p:extLst>
      <p:ext uri="{BB962C8B-B14F-4D97-AF65-F5344CB8AC3E}">
        <p14:creationId xmlns:p14="http://schemas.microsoft.com/office/powerpoint/2010/main" val="135786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 of If-else</a:t>
            </a:r>
            <a:endParaRPr lang="en-IN" dirty="0"/>
          </a:p>
        </p:txBody>
      </p:sp>
      <p:sp>
        <p:nvSpPr>
          <p:cNvPr id="3" name="Content Placeholder 2"/>
          <p:cNvSpPr>
            <a:spLocks noGrp="1"/>
          </p:cNvSpPr>
          <p:nvPr>
            <p:ph idx="1"/>
          </p:nvPr>
        </p:nvSpPr>
        <p:spPr/>
        <p:txBody>
          <a:bodyPr/>
          <a:lstStyle/>
          <a:p>
            <a:r>
              <a:rPr lang="en-IN" dirty="0"/>
              <a:t>if(condition)</a:t>
            </a:r>
          </a:p>
          <a:p>
            <a:r>
              <a:rPr lang="en-IN" dirty="0"/>
              <a:t>{</a:t>
            </a:r>
          </a:p>
          <a:p>
            <a:r>
              <a:rPr lang="en-IN" dirty="0"/>
              <a:t>    //Statement block</a:t>
            </a:r>
          </a:p>
          <a:p>
            <a:r>
              <a:rPr lang="en-IN" dirty="0"/>
              <a:t>}</a:t>
            </a:r>
          </a:p>
          <a:p>
            <a:r>
              <a:rPr lang="en-IN" dirty="0"/>
              <a:t>else</a:t>
            </a:r>
          </a:p>
          <a:p>
            <a:r>
              <a:rPr lang="en-IN" dirty="0"/>
              <a:t>{</a:t>
            </a:r>
          </a:p>
          <a:p>
            <a:r>
              <a:rPr lang="en-IN" dirty="0"/>
              <a:t>    //Statement block</a:t>
            </a:r>
          </a:p>
          <a:p>
            <a:r>
              <a:rPr lang="en-IN" dirty="0"/>
              <a:t>}</a:t>
            </a:r>
          </a:p>
        </p:txBody>
      </p:sp>
    </p:spTree>
    <p:extLst>
      <p:ext uri="{BB962C8B-B14F-4D97-AF65-F5344CB8AC3E}">
        <p14:creationId xmlns:p14="http://schemas.microsoft.com/office/powerpoint/2010/main" val="2606997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483768" y="1916832"/>
            <a:ext cx="4837707"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3315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6E4EA-024A-4901-B3DC-E8A20F62038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DC74353-1BB7-419A-B185-4144D4CB3BA8}"/>
              </a:ext>
            </a:extLst>
          </p:cNvPr>
          <p:cNvSpPr>
            <a:spLocks noGrp="1"/>
          </p:cNvSpPr>
          <p:nvPr>
            <p:ph idx="1"/>
          </p:nvPr>
        </p:nvSpPr>
        <p:spPr/>
        <p:txBody>
          <a:bodyPr/>
          <a:lstStyle/>
          <a:p>
            <a:r>
              <a:rPr lang="en-IN" dirty="0"/>
              <a:t>If  ( a%2==0 )</a:t>
            </a:r>
          </a:p>
          <a:p>
            <a:r>
              <a:rPr lang="en-IN" dirty="0"/>
              <a:t>4/2=2</a:t>
            </a:r>
          </a:p>
          <a:p>
            <a:r>
              <a:rPr lang="en-IN" dirty="0"/>
              <a:t>4%2=0</a:t>
            </a:r>
          </a:p>
        </p:txBody>
      </p:sp>
    </p:spTree>
    <p:extLst>
      <p:ext uri="{BB962C8B-B14F-4D97-AF65-F5344CB8AC3E}">
        <p14:creationId xmlns:p14="http://schemas.microsoft.com/office/powerpoint/2010/main" val="328172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even or odd</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IN" b="1" dirty="0"/>
              <a:t>Logic to check even or odd</a:t>
            </a:r>
          </a:p>
          <a:p>
            <a:r>
              <a:rPr lang="en-IN" dirty="0"/>
              <a:t>A number </a:t>
            </a:r>
            <a:r>
              <a:rPr lang="en-IN" dirty="0">
                <a:hlinkClick r:id="rId2"/>
              </a:rPr>
              <a:t>exactly divisible</a:t>
            </a:r>
            <a:r>
              <a:rPr lang="en-IN" dirty="0"/>
              <a:t> by 2 leaving no remainder, is known as even number. Programmatically, if any number modulo divided by 2 equals to 0 then, the number is even otherwise odd.</a:t>
            </a:r>
          </a:p>
          <a:p>
            <a:r>
              <a:rPr lang="en-IN" dirty="0"/>
              <a:t>Step by step descriptive logic to check whether a number is even or odd.</a:t>
            </a:r>
          </a:p>
          <a:p>
            <a:r>
              <a:rPr lang="en-IN" dirty="0"/>
              <a:t>Input a number from user. Store it in some variable say </a:t>
            </a:r>
            <a:r>
              <a:rPr lang="en-IN" i="1" dirty="0"/>
              <a:t>num</a:t>
            </a:r>
            <a:r>
              <a:rPr lang="en-IN" dirty="0"/>
              <a:t>.</a:t>
            </a:r>
          </a:p>
          <a:p>
            <a:r>
              <a:rPr lang="en-IN" dirty="0"/>
              <a:t>Check if number modulo division equal to 0 or not i.e. if(</a:t>
            </a:r>
            <a:r>
              <a:rPr lang="en-IN" dirty="0" err="1"/>
              <a:t>num</a:t>
            </a:r>
            <a:r>
              <a:rPr lang="en-IN" dirty="0"/>
              <a:t> % 2 == 0) then the number is even otherwise odd.</a:t>
            </a:r>
          </a:p>
          <a:p>
            <a:endParaRPr lang="en-IN" dirty="0"/>
          </a:p>
        </p:txBody>
      </p:sp>
    </p:spTree>
    <p:extLst>
      <p:ext uri="{BB962C8B-B14F-4D97-AF65-F5344CB8AC3E}">
        <p14:creationId xmlns:p14="http://schemas.microsoft.com/office/powerpoint/2010/main" val="3099085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for Odd n even</a:t>
            </a:r>
            <a:endParaRPr lang="en-IN" dirty="0"/>
          </a:p>
        </p:txBody>
      </p:sp>
      <p:sp>
        <p:nvSpPr>
          <p:cNvPr id="3" name="Content Placeholder 2"/>
          <p:cNvSpPr>
            <a:spLocks noGrp="1"/>
          </p:cNvSpPr>
          <p:nvPr>
            <p:ph idx="1"/>
          </p:nvPr>
        </p:nvSpPr>
        <p:spPr/>
        <p:txBody>
          <a:bodyPr>
            <a:normAutofit fontScale="77500" lnSpcReduction="20000"/>
          </a:bodyPr>
          <a:lstStyle/>
          <a:p>
            <a:r>
              <a:rPr lang="en-IN" dirty="0"/>
              <a:t>   </a:t>
            </a:r>
            <a:r>
              <a:rPr lang="en-US" dirty="0"/>
              <a:t>Algorithm for odd n even no </a:t>
            </a:r>
            <a:endParaRPr lang="en-IN" dirty="0"/>
          </a:p>
          <a:p>
            <a:r>
              <a:rPr lang="en-IN" dirty="0"/>
              <a:t> Step 1: Start.</a:t>
            </a:r>
          </a:p>
          <a:p>
            <a:endParaRPr lang="en-IN" dirty="0"/>
          </a:p>
          <a:p>
            <a:r>
              <a:rPr lang="en-IN" dirty="0"/>
              <a:t>Step 2: Take input from the user.</a:t>
            </a:r>
          </a:p>
          <a:p>
            <a:endParaRPr lang="en-IN" dirty="0"/>
          </a:p>
          <a:p>
            <a:r>
              <a:rPr lang="en-IN" dirty="0"/>
              <a:t>Step 3: Check condition. If remainder is zero go to step 4 else go to step 5</a:t>
            </a:r>
          </a:p>
          <a:p>
            <a:endParaRPr lang="en-IN" dirty="0"/>
          </a:p>
          <a:p>
            <a:r>
              <a:rPr lang="en-IN" dirty="0"/>
              <a:t>Step 4: Print a is even and go to step 6</a:t>
            </a:r>
          </a:p>
          <a:p>
            <a:endParaRPr lang="en-IN" dirty="0"/>
          </a:p>
          <a:p>
            <a:r>
              <a:rPr lang="en-IN" dirty="0"/>
              <a:t>Step 5: Print a is </a:t>
            </a:r>
            <a:r>
              <a:rPr lang="en-IN" dirty="0" err="1"/>
              <a:t>oddand</a:t>
            </a:r>
            <a:r>
              <a:rPr lang="en-IN" dirty="0"/>
              <a:t> go to step 6</a:t>
            </a:r>
          </a:p>
          <a:p>
            <a:endParaRPr lang="en-IN" dirty="0"/>
          </a:p>
          <a:p>
            <a:endParaRPr lang="en-IN" dirty="0"/>
          </a:p>
          <a:p>
            <a:r>
              <a:rPr lang="en-IN" dirty="0"/>
              <a:t>Step 6: Stop</a:t>
            </a:r>
          </a:p>
        </p:txBody>
      </p:sp>
    </p:spTree>
    <p:extLst>
      <p:ext uri="{BB962C8B-B14F-4D97-AF65-F5344CB8AC3E}">
        <p14:creationId xmlns:p14="http://schemas.microsoft.com/office/powerpoint/2010/main" val="267138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1000"/>
                                        <p:tgtEl>
                                          <p:spTgt spid="3">
                                            <p:txEl>
                                              <p:pRg st="9" end="9"/>
                                            </p:txEl>
                                          </p:spTgt>
                                        </p:tgtEl>
                                      </p:cBhvr>
                                    </p:animEffect>
                                    <p:anim calcmode="lin" valueType="num">
                                      <p:cBhvr>
                                        <p:cTn id="3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1000"/>
                                        <p:tgtEl>
                                          <p:spTgt spid="3">
                                            <p:txEl>
                                              <p:pRg st="12" end="12"/>
                                            </p:txEl>
                                          </p:spTgt>
                                        </p:tgtEl>
                                      </p:cBhvr>
                                    </p:animEffect>
                                    <p:anim calcmode="lin" valueType="num">
                                      <p:cBhvr>
                                        <p:cTn id="4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504056"/>
          </a:xfrm>
        </p:spPr>
        <p:txBody>
          <a:bodyPr>
            <a:normAutofit fontScale="90000"/>
          </a:bodyPr>
          <a:lstStyle/>
          <a:p>
            <a:endParaRPr lang="en-IN" dirty="0"/>
          </a:p>
        </p:txBody>
      </p:sp>
      <p:sp>
        <p:nvSpPr>
          <p:cNvPr id="3" name="Content Placeholder 2"/>
          <p:cNvSpPr>
            <a:spLocks noGrp="1"/>
          </p:cNvSpPr>
          <p:nvPr>
            <p:ph idx="1"/>
          </p:nvPr>
        </p:nvSpPr>
        <p:spPr>
          <a:xfrm>
            <a:off x="457200" y="908720"/>
            <a:ext cx="8229600" cy="5760640"/>
          </a:xfrm>
        </p:spPr>
        <p:txBody>
          <a:bodyPr/>
          <a:lstStyle/>
          <a:p>
            <a:endParaRPr lang="en-IN"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1340768"/>
            <a:ext cx="3914775"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47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080120"/>
          </a:xfrm>
        </p:spPr>
        <p:txBody>
          <a:bodyPr>
            <a:normAutofit/>
          </a:bodyPr>
          <a:lstStyle/>
          <a:p>
            <a:r>
              <a:rPr lang="en-IN" sz="2800" dirty="0"/>
              <a:t>Write a program to input two numbers from user. Print maximum between both the given numbers.</a:t>
            </a:r>
          </a:p>
        </p:txBody>
      </p:sp>
      <p:sp>
        <p:nvSpPr>
          <p:cNvPr id="3" name="Content Placeholder 2"/>
          <p:cNvSpPr>
            <a:spLocks noGrp="1"/>
          </p:cNvSpPr>
          <p:nvPr>
            <p:ph idx="1"/>
          </p:nvPr>
        </p:nvSpPr>
        <p:spPr>
          <a:xfrm>
            <a:off x="457200" y="1556792"/>
            <a:ext cx="8229600" cy="4767808"/>
          </a:xfrm>
        </p:spPr>
        <p:txBody>
          <a:bodyPr/>
          <a:lstStyle/>
          <a:p>
            <a:r>
              <a:rPr lang="en-IN" dirty="0"/>
              <a:t>   Step 1 → START</a:t>
            </a:r>
          </a:p>
          <a:p>
            <a:r>
              <a:rPr lang="en-IN" dirty="0"/>
              <a:t>   Step 2 → Read two integer variable num1 &amp; num2</a:t>
            </a:r>
          </a:p>
          <a:p>
            <a:r>
              <a:rPr lang="en-IN" dirty="0"/>
              <a:t>   Step 3 → check num1&gt;num2 then go to step 4</a:t>
            </a:r>
          </a:p>
          <a:p>
            <a:r>
              <a:rPr lang="en-IN" dirty="0"/>
              <a:t>   Step 4 → print </a:t>
            </a:r>
            <a:r>
              <a:rPr lang="en-IN" dirty="0" err="1"/>
              <a:t>num</a:t>
            </a:r>
            <a:r>
              <a:rPr lang="en-IN" dirty="0"/>
              <a:t> 1 is maximum</a:t>
            </a:r>
          </a:p>
          <a:p>
            <a:r>
              <a:rPr lang="en-IN" dirty="0"/>
              <a:t>   Step 5 → else num2 is maximum </a:t>
            </a:r>
          </a:p>
          <a:p>
            <a:r>
              <a:rPr lang="en-IN" dirty="0"/>
              <a:t>   Step 6 → STOP</a:t>
            </a:r>
          </a:p>
          <a:p>
            <a:endParaRPr lang="en-IN" dirty="0"/>
          </a:p>
        </p:txBody>
      </p:sp>
    </p:spTree>
    <p:extLst>
      <p:ext uri="{BB962C8B-B14F-4D97-AF65-F5344CB8AC3E}">
        <p14:creationId xmlns:p14="http://schemas.microsoft.com/office/powerpoint/2010/main" val="36081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475656" y="1700809"/>
            <a:ext cx="6696744"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44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207852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936104"/>
          </a:xfrm>
        </p:spPr>
        <p:txBody>
          <a:bodyPr>
            <a:normAutofit/>
          </a:bodyPr>
          <a:lstStyle/>
          <a:p>
            <a:r>
              <a:rPr lang="en-IN" dirty="0"/>
              <a:t>if-else-if ladder</a:t>
            </a:r>
          </a:p>
        </p:txBody>
      </p:sp>
      <p:sp>
        <p:nvSpPr>
          <p:cNvPr id="3" name="Content Placeholder 2"/>
          <p:cNvSpPr>
            <a:spLocks noGrp="1"/>
          </p:cNvSpPr>
          <p:nvPr>
            <p:ph idx="1"/>
          </p:nvPr>
        </p:nvSpPr>
        <p:spPr>
          <a:xfrm>
            <a:off x="457200" y="1700808"/>
            <a:ext cx="8229600" cy="5040560"/>
          </a:xfrm>
        </p:spPr>
        <p:txBody>
          <a:bodyPr>
            <a:normAutofit fontScale="92500" lnSpcReduction="10000"/>
          </a:bodyPr>
          <a:lstStyle/>
          <a:p>
            <a:r>
              <a:rPr lang="en-IN" dirty="0"/>
              <a:t>The if-else-if ladder statement is an extension to the if-else statement.</a:t>
            </a:r>
          </a:p>
          <a:p>
            <a:r>
              <a:rPr lang="en-IN" dirty="0"/>
              <a:t> It is used in the scenario where there are multiple cases to be performed for different conditions. </a:t>
            </a:r>
          </a:p>
          <a:p>
            <a:r>
              <a:rPr lang="en-IN" dirty="0"/>
              <a:t>In if-else-if ladder statement, if a condition is true then the statements defined in the if block will be executed, otherwise if some other condition is true then the statements defined in the else-if block will be executed, at the last if none of the condition is true then the statements defined in the else block will be executed. </a:t>
            </a:r>
          </a:p>
          <a:p>
            <a:r>
              <a:rPr lang="en-IN" dirty="0"/>
              <a:t>There are multiple else-if blocks possible. </a:t>
            </a:r>
          </a:p>
          <a:p>
            <a:r>
              <a:rPr lang="en-IN" dirty="0"/>
              <a:t>It is similar to the switch case statement where the default is executed instead of else block if none of the cases is matched.</a:t>
            </a:r>
          </a:p>
        </p:txBody>
      </p:sp>
    </p:spTree>
    <p:extLst>
      <p:ext uri="{BB962C8B-B14F-4D97-AF65-F5344CB8AC3E}">
        <p14:creationId xmlns:p14="http://schemas.microsoft.com/office/powerpoint/2010/main" val="2593571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720080"/>
          </a:xfrm>
        </p:spPr>
        <p:txBody>
          <a:bodyPr>
            <a:normAutofit fontScale="90000"/>
          </a:bodyPr>
          <a:lstStyle/>
          <a:p>
            <a:r>
              <a:rPr lang="en-US" dirty="0"/>
              <a:t>Syntax</a:t>
            </a:r>
            <a:endParaRPr lang="en-IN" dirty="0"/>
          </a:p>
        </p:txBody>
      </p:sp>
      <p:sp>
        <p:nvSpPr>
          <p:cNvPr id="3" name="Content Placeholder 2"/>
          <p:cNvSpPr>
            <a:spLocks noGrp="1"/>
          </p:cNvSpPr>
          <p:nvPr>
            <p:ph idx="1"/>
          </p:nvPr>
        </p:nvSpPr>
        <p:spPr>
          <a:xfrm>
            <a:off x="457200" y="1196752"/>
            <a:ext cx="8229600" cy="5400600"/>
          </a:xfrm>
        </p:spPr>
        <p:txBody>
          <a:bodyPr>
            <a:normAutofit fontScale="77500" lnSpcReduction="20000"/>
          </a:bodyPr>
          <a:lstStyle/>
          <a:p>
            <a:r>
              <a:rPr lang="en-IN" dirty="0"/>
              <a:t> if(condition1)</a:t>
            </a:r>
          </a:p>
          <a:p>
            <a:r>
              <a:rPr lang="en-IN" dirty="0"/>
              <a:t>{  </a:t>
            </a:r>
          </a:p>
          <a:p>
            <a:r>
              <a:rPr lang="en-IN" dirty="0"/>
              <a:t>    //code to be executed if condition1 is true  </a:t>
            </a:r>
          </a:p>
          <a:p>
            <a:r>
              <a:rPr lang="en-IN" dirty="0"/>
              <a:t>    }</a:t>
            </a:r>
          </a:p>
          <a:p>
            <a:r>
              <a:rPr lang="en-IN" dirty="0"/>
              <a:t>else if(condition2)</a:t>
            </a:r>
          </a:p>
          <a:p>
            <a:r>
              <a:rPr lang="en-IN" dirty="0"/>
              <a:t>{  </a:t>
            </a:r>
          </a:p>
          <a:p>
            <a:r>
              <a:rPr lang="en-IN" dirty="0"/>
              <a:t>    //code to be executed if condition2 is true  </a:t>
            </a:r>
          </a:p>
          <a:p>
            <a:r>
              <a:rPr lang="en-IN" dirty="0"/>
              <a:t> }  </a:t>
            </a:r>
          </a:p>
          <a:p>
            <a:r>
              <a:rPr lang="en-IN" dirty="0"/>
              <a:t> else if(condition3)</a:t>
            </a:r>
          </a:p>
          <a:p>
            <a:r>
              <a:rPr lang="en-IN" dirty="0"/>
              <a:t>{  </a:t>
            </a:r>
          </a:p>
          <a:p>
            <a:r>
              <a:rPr lang="en-IN" dirty="0"/>
              <a:t>    //code to be executed if condition3 is true  </a:t>
            </a:r>
          </a:p>
          <a:p>
            <a:pPr marL="0" indent="0">
              <a:buNone/>
            </a:pPr>
            <a:r>
              <a:rPr lang="en-IN" dirty="0"/>
              <a:t>      }  </a:t>
            </a:r>
          </a:p>
          <a:p>
            <a:r>
              <a:rPr lang="en-IN" dirty="0"/>
              <a:t>    ...  </a:t>
            </a:r>
          </a:p>
          <a:p>
            <a:r>
              <a:rPr lang="en-IN" dirty="0"/>
              <a:t> else</a:t>
            </a:r>
          </a:p>
          <a:p>
            <a:r>
              <a:rPr lang="en-IN" dirty="0"/>
              <a:t>{  </a:t>
            </a:r>
          </a:p>
          <a:p>
            <a:r>
              <a:rPr lang="en-IN" dirty="0"/>
              <a:t>    //code to be executed if all the conditions are false  </a:t>
            </a:r>
          </a:p>
          <a:p>
            <a:r>
              <a:rPr lang="en-IN" dirty="0"/>
              <a:t>  } </a:t>
            </a:r>
          </a:p>
        </p:txBody>
      </p:sp>
    </p:spTree>
    <p:extLst>
      <p:ext uri="{BB962C8B-B14F-4D97-AF65-F5344CB8AC3E}">
        <p14:creationId xmlns:p14="http://schemas.microsoft.com/office/powerpoint/2010/main" val="3609550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rmAutofit fontScale="90000"/>
          </a:bodyPr>
          <a:lstStyle/>
          <a:p>
            <a:endParaRPr lang="en-IN"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628801"/>
            <a:ext cx="6912768" cy="46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190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76672"/>
            <a:ext cx="8640960" cy="864096"/>
          </a:xfrm>
        </p:spPr>
        <p:txBody>
          <a:bodyPr>
            <a:normAutofit fontScale="90000"/>
          </a:bodyPr>
          <a:lstStyle/>
          <a:p>
            <a:r>
              <a:rPr lang="en-IN" sz="5400" b="1" dirty="0"/>
              <a:t>Program to check alphabet, digit or special character</a:t>
            </a:r>
            <a:endParaRPr lang="en-IN" dirty="0"/>
          </a:p>
        </p:txBody>
      </p:sp>
      <p:sp>
        <p:nvSpPr>
          <p:cNvPr id="3" name="Content Placeholder 2"/>
          <p:cNvSpPr>
            <a:spLocks noGrp="1"/>
          </p:cNvSpPr>
          <p:nvPr>
            <p:ph idx="1"/>
          </p:nvPr>
        </p:nvSpPr>
        <p:spPr>
          <a:xfrm>
            <a:off x="457200" y="1484784"/>
            <a:ext cx="8229600" cy="4839816"/>
          </a:xfrm>
        </p:spPr>
        <p:txBody>
          <a:bodyPr>
            <a:normAutofit fontScale="85000" lnSpcReduction="20000"/>
          </a:bodyPr>
          <a:lstStyle/>
          <a:p>
            <a:r>
              <a:rPr lang="en-IN" b="1" dirty="0"/>
              <a:t>Logic to check alphabet, digit or special character</a:t>
            </a:r>
          </a:p>
          <a:p>
            <a:r>
              <a:rPr lang="en-IN" dirty="0"/>
              <a:t>A character is alphabet if it in between a-z or A-Z.</a:t>
            </a:r>
          </a:p>
          <a:p>
            <a:r>
              <a:rPr lang="en-IN" dirty="0"/>
              <a:t>A character is digit if it is in between 0-9.</a:t>
            </a:r>
          </a:p>
          <a:p>
            <a:r>
              <a:rPr lang="en-IN" dirty="0"/>
              <a:t>A character is special symbol character if it neither alphabet nor digit.</a:t>
            </a:r>
          </a:p>
          <a:p>
            <a:r>
              <a:rPr lang="en-IN" dirty="0"/>
              <a:t>Step by step descriptive logic to check alphabet, digit or special character.</a:t>
            </a:r>
          </a:p>
          <a:p>
            <a:r>
              <a:rPr lang="en-IN" dirty="0"/>
              <a:t>Input a character from user. Store it in some variable say </a:t>
            </a:r>
            <a:r>
              <a:rPr lang="en-IN" i="1" dirty="0" err="1"/>
              <a:t>ch</a:t>
            </a:r>
            <a:r>
              <a:rPr lang="en-IN" dirty="0" err="1"/>
              <a:t>.</a:t>
            </a:r>
            <a:endParaRPr lang="en-IN" dirty="0"/>
          </a:p>
          <a:p>
            <a:r>
              <a:rPr lang="en-IN" dirty="0"/>
              <a:t>First </a:t>
            </a:r>
            <a:r>
              <a:rPr lang="en-IN" dirty="0">
                <a:hlinkClick r:id="rId2"/>
              </a:rPr>
              <a:t>check if character is alphabet or not</a:t>
            </a:r>
            <a:r>
              <a:rPr lang="en-IN" dirty="0"/>
              <a:t>. A character is alphabet if((</a:t>
            </a:r>
            <a:r>
              <a:rPr lang="en-IN" dirty="0" err="1"/>
              <a:t>ch</a:t>
            </a:r>
            <a:r>
              <a:rPr lang="en-IN" dirty="0"/>
              <a:t> &gt;= 'a' &amp;&amp; </a:t>
            </a:r>
            <a:r>
              <a:rPr lang="en-IN" dirty="0" err="1"/>
              <a:t>ch</a:t>
            </a:r>
            <a:r>
              <a:rPr lang="en-IN" dirty="0"/>
              <a:t> &lt;= 'z') || (</a:t>
            </a:r>
            <a:r>
              <a:rPr lang="en-IN" dirty="0" err="1"/>
              <a:t>ch</a:t>
            </a:r>
            <a:r>
              <a:rPr lang="en-IN" dirty="0"/>
              <a:t> &gt;= 'A' &amp;&amp; </a:t>
            </a:r>
            <a:r>
              <a:rPr lang="en-IN" dirty="0" err="1"/>
              <a:t>ch</a:t>
            </a:r>
            <a:r>
              <a:rPr lang="en-IN" dirty="0"/>
              <a:t> &lt;= 'Z')).</a:t>
            </a:r>
          </a:p>
          <a:p>
            <a:r>
              <a:rPr lang="en-IN" dirty="0"/>
              <a:t>Next, check condition for digits. A character is digit if(</a:t>
            </a:r>
            <a:r>
              <a:rPr lang="en-IN" dirty="0" err="1"/>
              <a:t>ch</a:t>
            </a:r>
            <a:r>
              <a:rPr lang="en-IN" dirty="0"/>
              <a:t> &gt;= '0' &amp;&amp; </a:t>
            </a:r>
            <a:r>
              <a:rPr lang="en-IN" dirty="0" err="1"/>
              <a:t>ch</a:t>
            </a:r>
            <a:r>
              <a:rPr lang="en-IN" dirty="0"/>
              <a:t> &lt;= '9').</a:t>
            </a:r>
          </a:p>
          <a:p>
            <a:r>
              <a:rPr lang="en-IN" dirty="0"/>
              <a:t>Finally, if a character is neither alphabet nor digit, then character is a special character.</a:t>
            </a:r>
          </a:p>
          <a:p>
            <a:r>
              <a:rPr lang="en-IN" dirty="0"/>
              <a:t>Let us implement the above logic in a C program.</a:t>
            </a:r>
          </a:p>
          <a:p>
            <a:endParaRPr lang="en-IN" dirty="0"/>
          </a:p>
        </p:txBody>
      </p:sp>
    </p:spTree>
    <p:extLst>
      <p:ext uri="{BB962C8B-B14F-4D97-AF65-F5344CB8AC3E}">
        <p14:creationId xmlns:p14="http://schemas.microsoft.com/office/powerpoint/2010/main" val="2770389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8507288" cy="720080"/>
          </a:xfrm>
        </p:spPr>
        <p:txBody>
          <a:bodyPr>
            <a:noAutofit/>
          </a:bodyPr>
          <a:lstStyle/>
          <a:p>
            <a:r>
              <a:rPr lang="en-IN" sz="2800" b="1" dirty="0"/>
              <a:t>Program to check alphabet, digit or special character</a:t>
            </a:r>
            <a:br>
              <a:rPr lang="en-IN" sz="2800" b="1" dirty="0"/>
            </a:br>
            <a:endParaRPr lang="en-IN" sz="2800" dirty="0"/>
          </a:p>
        </p:txBody>
      </p:sp>
      <p:sp>
        <p:nvSpPr>
          <p:cNvPr id="3" name="Content Placeholder 2"/>
          <p:cNvSpPr>
            <a:spLocks noGrp="1"/>
          </p:cNvSpPr>
          <p:nvPr>
            <p:ph idx="1"/>
          </p:nvPr>
        </p:nvSpPr>
        <p:spPr>
          <a:xfrm>
            <a:off x="457200" y="692696"/>
            <a:ext cx="8229600" cy="5976664"/>
          </a:xfrm>
        </p:spPr>
        <p:txBody>
          <a:bodyPr>
            <a:normAutofit/>
          </a:bodyPr>
          <a:lstStyle/>
          <a:p>
            <a:r>
              <a:rPr lang="en-IN" dirty="0"/>
              <a:t>Step 1  →  START</a:t>
            </a:r>
          </a:p>
          <a:p>
            <a:r>
              <a:rPr lang="en-IN" dirty="0"/>
              <a:t>   Step 2 → Take character  variable </a:t>
            </a:r>
            <a:r>
              <a:rPr lang="en-IN" dirty="0" err="1"/>
              <a:t>ch</a:t>
            </a:r>
            <a:endParaRPr lang="en-IN" dirty="0"/>
          </a:p>
          <a:p>
            <a:r>
              <a:rPr lang="en-IN" dirty="0"/>
              <a:t>   Step 3 → If a enter character  </a:t>
            </a:r>
            <a:r>
              <a:rPr lang="en-IN" dirty="0" err="1"/>
              <a:t>ch</a:t>
            </a:r>
            <a:r>
              <a:rPr lang="en-IN" dirty="0"/>
              <a:t>  is in between an alphabet a-z or A-Z then go to step 4</a:t>
            </a:r>
          </a:p>
          <a:p>
            <a:r>
              <a:rPr lang="en-IN" dirty="0"/>
              <a:t>   Step 4  → Print it is alphabet</a:t>
            </a:r>
          </a:p>
          <a:p>
            <a:r>
              <a:rPr lang="en-IN" dirty="0"/>
              <a:t>   Step 5  → If a enter character  </a:t>
            </a:r>
            <a:r>
              <a:rPr lang="en-IN" dirty="0" err="1"/>
              <a:t>ch</a:t>
            </a:r>
            <a:r>
              <a:rPr lang="en-IN" dirty="0"/>
              <a:t>  is in between digit 0-9 then go to step 6</a:t>
            </a:r>
          </a:p>
          <a:p>
            <a:r>
              <a:rPr lang="en-IN" dirty="0"/>
              <a:t>Step 6  → Print it is an digit.</a:t>
            </a:r>
          </a:p>
          <a:p>
            <a:r>
              <a:rPr lang="en-IN" dirty="0"/>
              <a:t>  Step 7  → If a enter character  </a:t>
            </a:r>
            <a:r>
              <a:rPr lang="en-IN" dirty="0" err="1"/>
              <a:t>ch</a:t>
            </a:r>
            <a:r>
              <a:rPr lang="en-IN" dirty="0"/>
              <a:t>  is neither a alphabet nor digit so it is a special symbol then go to step 8</a:t>
            </a:r>
          </a:p>
          <a:p>
            <a:r>
              <a:rPr lang="en-IN" dirty="0"/>
              <a:t>Step 8  → Print it is special  character.</a:t>
            </a:r>
          </a:p>
          <a:p>
            <a:r>
              <a:rPr lang="en-IN" dirty="0"/>
              <a:t> Step 9  → STOP</a:t>
            </a:r>
          </a:p>
          <a:p>
            <a:endParaRPr lang="en-IN" dirty="0"/>
          </a:p>
        </p:txBody>
      </p:sp>
    </p:spTree>
    <p:extLst>
      <p:ext uri="{BB962C8B-B14F-4D97-AF65-F5344CB8AC3E}">
        <p14:creationId xmlns:p14="http://schemas.microsoft.com/office/powerpoint/2010/main" val="12182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endParaRPr lang="en-IN"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908721"/>
            <a:ext cx="6768752" cy="5415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34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20656"/>
          </a:xfrm>
        </p:spPr>
        <p:txBody>
          <a:bodyPr>
            <a:normAutofit fontScale="90000"/>
          </a:bodyPr>
          <a:lstStyle/>
          <a:p>
            <a:endParaRPr lang="en-IN"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052737"/>
            <a:ext cx="6462148" cy="5271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998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44016"/>
          </a:xfrm>
        </p:spPr>
        <p:txBody>
          <a:bodyPr>
            <a:normAutofit fontScale="90000"/>
          </a:bodyPr>
          <a:lstStyle/>
          <a:p>
            <a:endParaRPr lang="en-IN" dirty="0"/>
          </a:p>
        </p:txBody>
      </p:sp>
      <p:sp>
        <p:nvSpPr>
          <p:cNvPr id="3" name="Content Placeholder 2"/>
          <p:cNvSpPr>
            <a:spLocks noGrp="1"/>
          </p:cNvSpPr>
          <p:nvPr>
            <p:ph idx="1"/>
          </p:nvPr>
        </p:nvSpPr>
        <p:spPr>
          <a:xfrm>
            <a:off x="457200" y="404664"/>
            <a:ext cx="8229600" cy="6453336"/>
          </a:xfrm>
        </p:spPr>
        <p:txBody>
          <a:bodyPr>
            <a:noAutofit/>
          </a:bodyPr>
          <a:lstStyle/>
          <a:p>
            <a:r>
              <a:rPr lang="en-IN" sz="1600" dirty="0">
                <a:latin typeface="Times New Roman" pitchFamily="18" charset="0"/>
                <a:cs typeface="Times New Roman" pitchFamily="18" charset="0"/>
              </a:rPr>
              <a:t>#include &lt;</a:t>
            </a:r>
            <a:r>
              <a:rPr lang="en-IN" sz="1600" dirty="0" err="1">
                <a:latin typeface="Times New Roman" pitchFamily="18" charset="0"/>
                <a:cs typeface="Times New Roman" pitchFamily="18" charset="0"/>
              </a:rPr>
              <a:t>stdio.h</a:t>
            </a:r>
            <a:r>
              <a:rPr lang="en-IN" sz="1600" dirty="0">
                <a:latin typeface="Times New Roman" pitchFamily="18" charset="0"/>
                <a:cs typeface="Times New Roman" pitchFamily="18" charset="0"/>
              </a:rPr>
              <a:t>&gt;</a:t>
            </a:r>
          </a:p>
          <a:p>
            <a:r>
              <a:rPr lang="en-IN" sz="1600" dirty="0">
                <a:latin typeface="Times New Roman" pitchFamily="18" charset="0"/>
                <a:cs typeface="Times New Roman" pitchFamily="18" charset="0"/>
              </a:rPr>
              <a:t>#include &lt;</a:t>
            </a:r>
            <a:r>
              <a:rPr lang="en-IN" sz="1600" dirty="0" err="1">
                <a:latin typeface="Times New Roman" pitchFamily="18" charset="0"/>
                <a:cs typeface="Times New Roman" pitchFamily="18" charset="0"/>
              </a:rPr>
              <a:t>conio.h</a:t>
            </a:r>
            <a:r>
              <a:rPr lang="en-IN" sz="1600" dirty="0">
                <a:latin typeface="Times New Roman" pitchFamily="18" charset="0"/>
                <a:cs typeface="Times New Roman" pitchFamily="18" charset="0"/>
              </a:rPr>
              <a:t>&gt;</a:t>
            </a:r>
          </a:p>
          <a:p>
            <a:r>
              <a:rPr lang="en-IN" sz="1600" dirty="0">
                <a:latin typeface="Times New Roman" pitchFamily="18" charset="0"/>
                <a:cs typeface="Times New Roman" pitchFamily="18" charset="0"/>
              </a:rPr>
              <a:t>{</a:t>
            </a:r>
          </a:p>
          <a:p>
            <a:r>
              <a:rPr lang="en-IN" sz="1600" dirty="0">
                <a:latin typeface="Times New Roman" pitchFamily="18" charset="0"/>
                <a:cs typeface="Times New Roman" pitchFamily="18" charset="0"/>
              </a:rPr>
              <a:t>    char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a:t>
            </a:r>
          </a:p>
          <a:p>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printf</a:t>
            </a:r>
            <a:r>
              <a:rPr lang="en-IN" sz="1600" dirty="0">
                <a:latin typeface="Times New Roman" pitchFamily="18" charset="0"/>
                <a:cs typeface="Times New Roman" pitchFamily="18" charset="0"/>
              </a:rPr>
              <a:t>("Enter any character: ");</a:t>
            </a:r>
          </a:p>
          <a:p>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scanf</a:t>
            </a:r>
            <a:r>
              <a:rPr lang="en-IN" sz="1600" dirty="0">
                <a:latin typeface="Times New Roman" pitchFamily="18" charset="0"/>
                <a:cs typeface="Times New Roman" pitchFamily="18" charset="0"/>
              </a:rPr>
              <a:t>("%c", &amp;</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a:t>
            </a:r>
          </a:p>
          <a:p>
            <a:endParaRPr lang="en-IN"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if((</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 &gt;= 'a' &amp;&amp;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 &lt;= 'z') ||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 &gt;= 'A' &amp;&amp;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 &lt;= 'Z'))</a:t>
            </a:r>
          </a:p>
          <a:p>
            <a:r>
              <a:rPr lang="en-IN" sz="1600" dirty="0">
                <a:latin typeface="Times New Roman" pitchFamily="18" charset="0"/>
                <a:cs typeface="Times New Roman" pitchFamily="18" charset="0"/>
              </a:rPr>
              <a:t>    {</a:t>
            </a:r>
          </a:p>
          <a:p>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printf</a:t>
            </a:r>
            <a:r>
              <a:rPr lang="en-IN" sz="1600" dirty="0">
                <a:latin typeface="Times New Roman" pitchFamily="18" charset="0"/>
                <a:cs typeface="Times New Roman" pitchFamily="18" charset="0"/>
              </a:rPr>
              <a:t>("'%c' is alphabet.",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a:t>
            </a:r>
          </a:p>
          <a:p>
            <a:r>
              <a:rPr lang="en-IN" sz="1600" dirty="0">
                <a:latin typeface="Times New Roman" pitchFamily="18" charset="0"/>
                <a:cs typeface="Times New Roman" pitchFamily="18" charset="0"/>
              </a:rPr>
              <a:t>    }</a:t>
            </a:r>
          </a:p>
          <a:p>
            <a:r>
              <a:rPr lang="en-IN" sz="1600" dirty="0">
                <a:latin typeface="Times New Roman" pitchFamily="18" charset="0"/>
                <a:cs typeface="Times New Roman" pitchFamily="18" charset="0"/>
              </a:rPr>
              <a:t>    else if(</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 &gt;= '0' &amp;&amp;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 &lt;= '9')</a:t>
            </a:r>
          </a:p>
          <a:p>
            <a:r>
              <a:rPr lang="en-IN" sz="1600" dirty="0">
                <a:latin typeface="Times New Roman" pitchFamily="18" charset="0"/>
                <a:cs typeface="Times New Roman" pitchFamily="18" charset="0"/>
              </a:rPr>
              <a:t>    {</a:t>
            </a:r>
          </a:p>
          <a:p>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printf</a:t>
            </a:r>
            <a:r>
              <a:rPr lang="en-IN" sz="1600" dirty="0">
                <a:latin typeface="Times New Roman" pitchFamily="18" charset="0"/>
                <a:cs typeface="Times New Roman" pitchFamily="18" charset="0"/>
              </a:rPr>
              <a:t>("'%c' is digit.",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a:t>
            </a:r>
          </a:p>
          <a:p>
            <a:r>
              <a:rPr lang="en-IN" sz="1600" dirty="0">
                <a:latin typeface="Times New Roman" pitchFamily="18" charset="0"/>
                <a:cs typeface="Times New Roman" pitchFamily="18" charset="0"/>
              </a:rPr>
              <a:t>    }</a:t>
            </a:r>
          </a:p>
          <a:p>
            <a:r>
              <a:rPr lang="en-IN" sz="1600" dirty="0">
                <a:latin typeface="Times New Roman" pitchFamily="18" charset="0"/>
                <a:cs typeface="Times New Roman" pitchFamily="18" charset="0"/>
              </a:rPr>
              <a:t>    else </a:t>
            </a:r>
          </a:p>
          <a:p>
            <a:r>
              <a:rPr lang="en-IN" sz="1600" dirty="0">
                <a:latin typeface="Times New Roman" pitchFamily="18" charset="0"/>
                <a:cs typeface="Times New Roman" pitchFamily="18" charset="0"/>
              </a:rPr>
              <a:t>    {</a:t>
            </a:r>
          </a:p>
          <a:p>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printf</a:t>
            </a:r>
            <a:r>
              <a:rPr lang="en-IN" sz="1600" dirty="0">
                <a:latin typeface="Times New Roman" pitchFamily="18" charset="0"/>
                <a:cs typeface="Times New Roman" pitchFamily="18" charset="0"/>
              </a:rPr>
              <a:t>("'%c' is special character.", </a:t>
            </a:r>
            <a:r>
              <a:rPr lang="en-IN" sz="1600" dirty="0" err="1">
                <a:latin typeface="Times New Roman" pitchFamily="18" charset="0"/>
                <a:cs typeface="Times New Roman" pitchFamily="18" charset="0"/>
              </a:rPr>
              <a:t>ch</a:t>
            </a:r>
            <a:r>
              <a:rPr lang="en-IN" sz="1600" dirty="0">
                <a:latin typeface="Times New Roman" pitchFamily="18" charset="0"/>
                <a:cs typeface="Times New Roman" pitchFamily="18" charset="0"/>
              </a:rPr>
              <a:t>);</a:t>
            </a:r>
          </a:p>
          <a:p>
            <a:r>
              <a:rPr lang="en-IN" sz="1600" dirty="0">
                <a:latin typeface="Times New Roman" pitchFamily="18" charset="0"/>
                <a:cs typeface="Times New Roman" pitchFamily="18" charset="0"/>
              </a:rPr>
              <a:t>    }</a:t>
            </a:r>
          </a:p>
          <a:p>
            <a:r>
              <a:rPr lang="en-US" sz="1600" dirty="0" err="1">
                <a:latin typeface="Times New Roman" pitchFamily="18" charset="0"/>
                <a:cs typeface="Times New Roman" pitchFamily="18" charset="0"/>
              </a:rPr>
              <a:t>getch</a:t>
            </a:r>
            <a:r>
              <a:rPr lang="en-US" sz="1600" dirty="0">
                <a:latin typeface="Times New Roman" pitchFamily="18" charset="0"/>
                <a:cs typeface="Times New Roman" pitchFamily="18" charset="0"/>
              </a:rPr>
              <a:t>();</a:t>
            </a:r>
            <a:endParaRPr lang="en-IN" sz="1600" dirty="0">
              <a:latin typeface="Times New Roman" pitchFamily="18" charset="0"/>
              <a:cs typeface="Times New Roman" pitchFamily="18" charset="0"/>
            </a:endParaRPr>
          </a:p>
          <a:p>
            <a:pPr marL="0" indent="0">
              <a:buNone/>
            </a:pPr>
            <a:r>
              <a:rPr lang="en-IN" sz="1600" dirty="0">
                <a:latin typeface="Times New Roman" pitchFamily="18" charset="0"/>
                <a:cs typeface="Times New Roman" pitchFamily="18" charset="0"/>
              </a:rPr>
              <a:t>}</a:t>
            </a:r>
          </a:p>
        </p:txBody>
      </p:sp>
    </p:spTree>
    <p:extLst>
      <p:ext uri="{BB962C8B-B14F-4D97-AF65-F5344CB8AC3E}">
        <p14:creationId xmlns:p14="http://schemas.microsoft.com/office/powerpoint/2010/main" val="2773213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C program to enter student marks and find percentage and grade</a:t>
            </a:r>
          </a:p>
          <a:p>
            <a:r>
              <a:rPr lang="en-IN" dirty="0"/>
              <a:t>If  mark&gt;= 80% : Grade A</a:t>
            </a:r>
            <a:br>
              <a:rPr lang="en-IN" dirty="0"/>
            </a:br>
            <a:r>
              <a:rPr lang="en-IN" dirty="0"/>
              <a:t>If mark &gt;= 60% : Grade B</a:t>
            </a:r>
            <a:br>
              <a:rPr lang="en-IN" dirty="0"/>
            </a:br>
            <a:r>
              <a:rPr lang="en-IN" dirty="0"/>
              <a:t>If mark &gt;= 40% : Grade C</a:t>
            </a:r>
            <a:br>
              <a:rPr lang="en-IN" dirty="0"/>
            </a:br>
            <a:endParaRPr lang="en-IN" dirty="0"/>
          </a:p>
        </p:txBody>
      </p:sp>
    </p:spTree>
    <p:extLst>
      <p:ext uri="{BB962C8B-B14F-4D97-AF65-F5344CB8AC3E}">
        <p14:creationId xmlns:p14="http://schemas.microsoft.com/office/powerpoint/2010/main" val="17131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60648"/>
            <a:ext cx="8712968" cy="576064"/>
          </a:xfrm>
        </p:spPr>
        <p:txBody>
          <a:bodyPr>
            <a:normAutofit fontScale="90000"/>
          </a:bodyPr>
          <a:lstStyle/>
          <a:p>
            <a:br>
              <a:rPr lang="en-IN" sz="2000" b="1" dirty="0"/>
            </a:br>
            <a:r>
              <a:rPr lang="en-IN" sz="2700" b="1" dirty="0"/>
              <a:t>Program to find out grade according to marks given of students. </a:t>
            </a:r>
            <a:br>
              <a:rPr lang="en-IN" sz="1200" b="1" dirty="0"/>
            </a:br>
            <a:br>
              <a:rPr lang="en-IN" sz="1200" b="1" dirty="0"/>
            </a:br>
            <a:endParaRPr lang="en-IN" sz="1200" dirty="0"/>
          </a:p>
        </p:txBody>
      </p:sp>
      <p:sp>
        <p:nvSpPr>
          <p:cNvPr id="3" name="Content Placeholder 2"/>
          <p:cNvSpPr>
            <a:spLocks noGrp="1"/>
          </p:cNvSpPr>
          <p:nvPr>
            <p:ph idx="1"/>
          </p:nvPr>
        </p:nvSpPr>
        <p:spPr>
          <a:xfrm>
            <a:off x="457200" y="620688"/>
            <a:ext cx="8229600" cy="6120680"/>
          </a:xfrm>
        </p:spPr>
        <p:txBody>
          <a:bodyPr>
            <a:normAutofit lnSpcReduction="10000"/>
          </a:bodyPr>
          <a:lstStyle/>
          <a:p>
            <a:r>
              <a:rPr lang="en-IN" dirty="0"/>
              <a:t>Step 1  →  START</a:t>
            </a:r>
          </a:p>
          <a:p>
            <a:r>
              <a:rPr lang="en-IN" dirty="0"/>
              <a:t>Step 2 →Enter students name</a:t>
            </a:r>
          </a:p>
          <a:p>
            <a:r>
              <a:rPr lang="en-IN" dirty="0"/>
              <a:t>Step 3 →Enter students marks</a:t>
            </a:r>
          </a:p>
          <a:p>
            <a:r>
              <a:rPr lang="en-IN" dirty="0"/>
              <a:t>Step 4 → If a enter  marks is greater than or equal to 80 then </a:t>
            </a:r>
            <a:r>
              <a:rPr lang="en-IN" dirty="0" err="1"/>
              <a:t>goto</a:t>
            </a:r>
            <a:r>
              <a:rPr lang="en-IN" dirty="0"/>
              <a:t> step 5</a:t>
            </a:r>
          </a:p>
          <a:p>
            <a:r>
              <a:rPr lang="en-IN" dirty="0"/>
              <a:t>   Step 5  → Display grade A</a:t>
            </a:r>
          </a:p>
          <a:p>
            <a:r>
              <a:rPr lang="en-IN" dirty="0"/>
              <a:t>   Step 6  → If a enter  marks is greater than or equal to 60 then  </a:t>
            </a:r>
            <a:r>
              <a:rPr lang="en-IN" dirty="0" err="1"/>
              <a:t>goto</a:t>
            </a:r>
            <a:r>
              <a:rPr lang="en-IN" dirty="0"/>
              <a:t> step 7</a:t>
            </a:r>
          </a:p>
          <a:p>
            <a:r>
              <a:rPr lang="en-IN" dirty="0"/>
              <a:t>Step 7 → Display grade B</a:t>
            </a:r>
          </a:p>
          <a:p>
            <a:r>
              <a:rPr lang="en-IN" dirty="0"/>
              <a:t>  Step 8  →   If a enter  marks is greater than or equal to 40 then  </a:t>
            </a:r>
            <a:r>
              <a:rPr lang="en-IN" dirty="0" err="1"/>
              <a:t>goto</a:t>
            </a:r>
            <a:r>
              <a:rPr lang="en-IN" dirty="0"/>
              <a:t> step 9</a:t>
            </a:r>
          </a:p>
          <a:p>
            <a:r>
              <a:rPr lang="en-IN" dirty="0"/>
              <a:t>Step 9  → Display grade C</a:t>
            </a:r>
          </a:p>
          <a:p>
            <a:r>
              <a:rPr lang="en-IN" dirty="0"/>
              <a:t>Step 10 → Else students is Fail.</a:t>
            </a:r>
          </a:p>
          <a:p>
            <a:r>
              <a:rPr lang="en-IN" dirty="0"/>
              <a:t>    Step 11 → STOP</a:t>
            </a:r>
          </a:p>
          <a:p>
            <a:endParaRPr lang="en-IN" dirty="0"/>
          </a:p>
        </p:txBody>
      </p:sp>
    </p:spTree>
    <p:extLst>
      <p:ext uri="{BB962C8B-B14F-4D97-AF65-F5344CB8AC3E}">
        <p14:creationId xmlns:p14="http://schemas.microsoft.com/office/powerpoint/2010/main" val="40173121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332656"/>
            <a:ext cx="8229600" cy="216024"/>
          </a:xfrm>
        </p:spPr>
        <p:txBody>
          <a:bodyPr>
            <a:normAutofit fontScale="90000"/>
          </a:bodyPr>
          <a:lstStyle/>
          <a:p>
            <a:endParaRPr lang="en-IN" dirty="0"/>
          </a:p>
        </p:txBody>
      </p:sp>
      <p:pic>
        <p:nvPicPr>
          <p:cNvPr id="614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620688"/>
            <a:ext cx="4752528" cy="5958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488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1000"/>
                                        <p:tgtEl>
                                          <p:spTgt spid="6146"/>
                                        </p:tgtEl>
                                      </p:cBhvr>
                                    </p:animEffect>
                                    <p:anim calcmode="lin" valueType="num">
                                      <p:cBhvr>
                                        <p:cTn id="8" dur="1000" fill="hold"/>
                                        <p:tgtEl>
                                          <p:spTgt spid="6146"/>
                                        </p:tgtEl>
                                        <p:attrNameLst>
                                          <p:attrName>ppt_x</p:attrName>
                                        </p:attrNameLst>
                                      </p:cBhvr>
                                      <p:tavLst>
                                        <p:tav tm="0">
                                          <p:val>
                                            <p:strVal val="#ppt_x"/>
                                          </p:val>
                                        </p:tav>
                                        <p:tav tm="100000">
                                          <p:val>
                                            <p:strVal val="#ppt_x"/>
                                          </p:val>
                                        </p:tav>
                                      </p:tavLst>
                                    </p:anim>
                                    <p:anim calcmode="lin" valueType="num">
                                      <p:cBhvr>
                                        <p:cTn id="9"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288032"/>
          </a:xfrm>
        </p:spPr>
        <p:txBody>
          <a:bodyPr>
            <a:normAutofit fontScale="90000"/>
          </a:bodyPr>
          <a:lstStyle/>
          <a:p>
            <a:endParaRPr lang="en-IN" dirty="0"/>
          </a:p>
        </p:txBody>
      </p:sp>
      <p:sp>
        <p:nvSpPr>
          <p:cNvPr id="3" name="Content Placeholder 2"/>
          <p:cNvSpPr>
            <a:spLocks noGrp="1"/>
          </p:cNvSpPr>
          <p:nvPr>
            <p:ph idx="1"/>
          </p:nvPr>
        </p:nvSpPr>
        <p:spPr>
          <a:xfrm>
            <a:off x="457200" y="980728"/>
            <a:ext cx="7931224" cy="5616624"/>
          </a:xfrm>
        </p:spPr>
        <p:txBody>
          <a:bodyPr>
            <a:normAutofit fontScale="47500" lnSpcReduction="20000"/>
          </a:bodyPr>
          <a:lstStyle/>
          <a:p>
            <a:r>
              <a:rPr lang="en-IN" dirty="0"/>
              <a:t>#include &lt;</a:t>
            </a:r>
            <a:r>
              <a:rPr lang="en-IN" dirty="0" err="1"/>
              <a:t>stdio.h</a:t>
            </a:r>
            <a:r>
              <a:rPr lang="en-IN" dirty="0"/>
              <a:t>&gt;</a:t>
            </a:r>
          </a:p>
          <a:p>
            <a:endParaRPr lang="en-IN" dirty="0"/>
          </a:p>
          <a:p>
            <a:r>
              <a:rPr lang="en-IN" dirty="0" err="1"/>
              <a:t>int</a:t>
            </a:r>
            <a:r>
              <a:rPr lang="en-IN" dirty="0"/>
              <a:t> main()</a:t>
            </a:r>
          </a:p>
          <a:p>
            <a:r>
              <a:rPr lang="en-IN" dirty="0"/>
              <a:t>{</a:t>
            </a:r>
          </a:p>
          <a:p>
            <a:r>
              <a:rPr lang="en-IN" dirty="0"/>
              <a:t>    </a:t>
            </a:r>
            <a:r>
              <a:rPr lang="en-IN" dirty="0" err="1"/>
              <a:t>int</a:t>
            </a:r>
            <a:r>
              <a:rPr lang="en-IN" dirty="0"/>
              <a:t> </a:t>
            </a:r>
            <a:r>
              <a:rPr lang="en-IN" dirty="0" err="1"/>
              <a:t>phy</a:t>
            </a:r>
            <a:r>
              <a:rPr lang="en-IN" dirty="0"/>
              <a:t>, </a:t>
            </a:r>
            <a:r>
              <a:rPr lang="en-IN" dirty="0" err="1"/>
              <a:t>chem</a:t>
            </a:r>
            <a:r>
              <a:rPr lang="en-IN" dirty="0"/>
              <a:t>, bio, math, comp; </a:t>
            </a:r>
          </a:p>
          <a:p>
            <a:r>
              <a:rPr lang="en-IN" dirty="0"/>
              <a:t>    float per; </a:t>
            </a:r>
          </a:p>
          <a:p>
            <a:endParaRPr lang="en-IN" dirty="0"/>
          </a:p>
          <a:p>
            <a:r>
              <a:rPr lang="en-IN" dirty="0"/>
              <a:t>    /* Input marks of five subjects from user */</a:t>
            </a:r>
          </a:p>
          <a:p>
            <a:r>
              <a:rPr lang="en-IN" dirty="0"/>
              <a:t>    </a:t>
            </a:r>
            <a:r>
              <a:rPr lang="en-IN" dirty="0" err="1"/>
              <a:t>printf</a:t>
            </a:r>
            <a:r>
              <a:rPr lang="en-IN" dirty="0"/>
              <a:t>("Enter five subjects marks: ");</a:t>
            </a:r>
          </a:p>
          <a:p>
            <a:r>
              <a:rPr lang="en-IN" dirty="0"/>
              <a:t>    </a:t>
            </a:r>
            <a:r>
              <a:rPr lang="en-IN" dirty="0" err="1"/>
              <a:t>scanf</a:t>
            </a:r>
            <a:r>
              <a:rPr lang="en-IN" dirty="0"/>
              <a:t>("%</a:t>
            </a:r>
            <a:r>
              <a:rPr lang="en-IN" dirty="0" err="1"/>
              <a:t>d%d%d%d%d</a:t>
            </a:r>
            <a:r>
              <a:rPr lang="en-IN" dirty="0"/>
              <a:t>", &amp;</a:t>
            </a:r>
            <a:r>
              <a:rPr lang="en-IN" dirty="0" err="1"/>
              <a:t>phy</a:t>
            </a:r>
            <a:r>
              <a:rPr lang="en-IN" dirty="0"/>
              <a:t>, &amp;</a:t>
            </a:r>
            <a:r>
              <a:rPr lang="en-IN" dirty="0" err="1"/>
              <a:t>chem</a:t>
            </a:r>
            <a:r>
              <a:rPr lang="en-IN" dirty="0"/>
              <a:t>, &amp;bio, &amp;math, &amp;comp);</a:t>
            </a:r>
          </a:p>
          <a:p>
            <a:endParaRPr lang="en-IN" dirty="0"/>
          </a:p>
          <a:p>
            <a:endParaRPr lang="en-IN" dirty="0"/>
          </a:p>
          <a:p>
            <a:r>
              <a:rPr lang="en-IN" dirty="0"/>
              <a:t>    /* Calculate percentage */</a:t>
            </a:r>
          </a:p>
          <a:p>
            <a:r>
              <a:rPr lang="en-IN" dirty="0"/>
              <a:t>    per = (</a:t>
            </a:r>
            <a:r>
              <a:rPr lang="en-IN" dirty="0" err="1"/>
              <a:t>phy</a:t>
            </a:r>
            <a:r>
              <a:rPr lang="en-IN" dirty="0"/>
              <a:t> + </a:t>
            </a:r>
            <a:r>
              <a:rPr lang="en-IN" dirty="0" err="1"/>
              <a:t>chem</a:t>
            </a:r>
            <a:r>
              <a:rPr lang="en-IN" dirty="0"/>
              <a:t> + bio + math + comp) / 5.0;</a:t>
            </a:r>
          </a:p>
          <a:p>
            <a:endParaRPr lang="en-IN" dirty="0"/>
          </a:p>
          <a:p>
            <a:r>
              <a:rPr lang="en-IN" dirty="0"/>
              <a:t>    </a:t>
            </a:r>
            <a:r>
              <a:rPr lang="en-IN" dirty="0" err="1"/>
              <a:t>printf</a:t>
            </a:r>
            <a:r>
              <a:rPr lang="en-IN" dirty="0"/>
              <a:t>("Percentage = %.2f\n", per);</a:t>
            </a:r>
          </a:p>
          <a:p>
            <a:endParaRPr lang="en-IN" dirty="0"/>
          </a:p>
          <a:p>
            <a:endParaRPr lang="en-IN" dirty="0"/>
          </a:p>
          <a:p>
            <a:r>
              <a:rPr lang="en-IN" dirty="0"/>
              <a:t>    /* Find grade according to the percentage */</a:t>
            </a:r>
          </a:p>
          <a:p>
            <a:r>
              <a:rPr lang="en-IN" dirty="0"/>
              <a:t>    if(per &gt;= 80)</a:t>
            </a:r>
          </a:p>
          <a:p>
            <a:r>
              <a:rPr lang="en-IN" dirty="0"/>
              <a:t>    {</a:t>
            </a:r>
          </a:p>
          <a:p>
            <a:r>
              <a:rPr lang="en-IN" dirty="0"/>
              <a:t>        </a:t>
            </a:r>
            <a:r>
              <a:rPr lang="en-IN" dirty="0" err="1"/>
              <a:t>printf</a:t>
            </a:r>
            <a:r>
              <a:rPr lang="en-IN" dirty="0"/>
              <a:t>("Grade A");</a:t>
            </a:r>
          </a:p>
          <a:p>
            <a:r>
              <a:rPr lang="en-IN" dirty="0"/>
              <a:t>    }</a:t>
            </a:r>
          </a:p>
          <a:p>
            <a:r>
              <a:rPr lang="en-IN" dirty="0"/>
              <a:t>    else if(per &gt;= 60)</a:t>
            </a:r>
          </a:p>
          <a:p>
            <a:r>
              <a:rPr lang="en-IN" dirty="0"/>
              <a:t>    {</a:t>
            </a:r>
          </a:p>
          <a:p>
            <a:r>
              <a:rPr lang="en-IN" dirty="0"/>
              <a:t>        </a:t>
            </a:r>
            <a:r>
              <a:rPr lang="en-IN" dirty="0" err="1"/>
              <a:t>printf</a:t>
            </a:r>
            <a:r>
              <a:rPr lang="en-IN" dirty="0"/>
              <a:t>("Grade B");</a:t>
            </a:r>
          </a:p>
          <a:p>
            <a:r>
              <a:rPr lang="en-IN" dirty="0"/>
              <a:t>    }</a:t>
            </a:r>
          </a:p>
          <a:p>
            <a:r>
              <a:rPr lang="en-IN" dirty="0"/>
              <a:t>    </a:t>
            </a:r>
          </a:p>
        </p:txBody>
      </p:sp>
    </p:spTree>
    <p:extLst>
      <p:ext uri="{BB962C8B-B14F-4D97-AF65-F5344CB8AC3E}">
        <p14:creationId xmlns:p14="http://schemas.microsoft.com/office/powerpoint/2010/main" val="1298048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3648" y="2204864"/>
            <a:ext cx="6768752" cy="3139321"/>
          </a:xfrm>
          <a:prstGeom prst="rect">
            <a:avLst/>
          </a:prstGeom>
        </p:spPr>
        <p:txBody>
          <a:bodyPr wrap="square">
            <a:spAutoFit/>
          </a:bodyPr>
          <a:lstStyle/>
          <a:p>
            <a:r>
              <a:rPr lang="en-IN" dirty="0"/>
              <a:t>else if(per &gt;= 40)</a:t>
            </a:r>
          </a:p>
          <a:p>
            <a:r>
              <a:rPr lang="en-IN" dirty="0"/>
              <a:t>    {</a:t>
            </a:r>
          </a:p>
          <a:p>
            <a:r>
              <a:rPr lang="en-IN" dirty="0"/>
              <a:t>        </a:t>
            </a:r>
            <a:r>
              <a:rPr lang="en-IN" dirty="0" err="1"/>
              <a:t>printf</a:t>
            </a:r>
            <a:r>
              <a:rPr lang="en-IN" dirty="0"/>
              <a:t>("Grade C");</a:t>
            </a:r>
          </a:p>
          <a:p>
            <a:r>
              <a:rPr lang="en-IN" dirty="0"/>
              <a:t>    }</a:t>
            </a:r>
          </a:p>
          <a:p>
            <a:r>
              <a:rPr lang="en-IN" dirty="0"/>
              <a:t>else</a:t>
            </a:r>
          </a:p>
          <a:p>
            <a:r>
              <a:rPr lang="en-IN" dirty="0"/>
              <a:t>    {</a:t>
            </a:r>
          </a:p>
          <a:p>
            <a:r>
              <a:rPr lang="en-IN" dirty="0"/>
              <a:t>        </a:t>
            </a:r>
            <a:r>
              <a:rPr lang="en-IN" dirty="0" err="1"/>
              <a:t>printf</a:t>
            </a:r>
            <a:r>
              <a:rPr lang="en-IN" dirty="0"/>
              <a:t>("FAIL");</a:t>
            </a:r>
          </a:p>
          <a:p>
            <a:r>
              <a:rPr lang="en-IN" dirty="0"/>
              <a:t>    }</a:t>
            </a:r>
          </a:p>
          <a:p>
            <a:endParaRPr lang="en-IN" dirty="0"/>
          </a:p>
          <a:p>
            <a:r>
              <a:rPr lang="en-IN" dirty="0"/>
              <a:t>    return 0;</a:t>
            </a:r>
          </a:p>
          <a:p>
            <a:r>
              <a:rPr lang="en-IN" dirty="0"/>
              <a:t>}</a:t>
            </a:r>
          </a:p>
        </p:txBody>
      </p:sp>
    </p:spTree>
    <p:extLst>
      <p:ext uri="{BB962C8B-B14F-4D97-AF65-F5344CB8AC3E}">
        <p14:creationId xmlns:p14="http://schemas.microsoft.com/office/powerpoint/2010/main" val="32718158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8496944" cy="836712"/>
          </a:xfrm>
        </p:spPr>
        <p:txBody>
          <a:bodyPr>
            <a:normAutofit fontScale="90000"/>
          </a:bodyPr>
          <a:lstStyle/>
          <a:p>
            <a:r>
              <a:rPr lang="en-US" sz="2800" dirty="0"/>
              <a:t>Write  a c program to print grade of  a students according to their marks</a:t>
            </a:r>
            <a:endParaRPr lang="en-IN" sz="2800" dirty="0"/>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692696"/>
            <a:ext cx="5472608" cy="6165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2947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Check if the given </a:t>
            </a:r>
            <a:r>
              <a:rPr lang="en-IN" dirty="0">
                <a:hlinkClick r:id="rId2"/>
              </a:rPr>
              <a:t>integer is negative, zero or positive</a:t>
            </a:r>
            <a:r>
              <a:rPr lang="en-IN" dirty="0"/>
              <a:t>?</a:t>
            </a:r>
          </a:p>
        </p:txBody>
      </p:sp>
    </p:spTree>
    <p:extLst>
      <p:ext uri="{BB962C8B-B14F-4D97-AF65-F5344CB8AC3E}">
        <p14:creationId xmlns:p14="http://schemas.microsoft.com/office/powerpoint/2010/main" val="2189799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935480"/>
            <a:ext cx="8229600" cy="4805888"/>
          </a:xfrm>
        </p:spPr>
        <p:txBody>
          <a:bodyPr>
            <a:normAutofit fontScale="40000" lnSpcReduction="20000"/>
          </a:bodyPr>
          <a:lstStyle/>
          <a:p>
            <a:r>
              <a:rPr lang="en-IN" dirty="0"/>
              <a:t>#include &lt;</a:t>
            </a:r>
            <a:r>
              <a:rPr lang="en-IN" dirty="0" err="1"/>
              <a:t>stdio.h</a:t>
            </a:r>
            <a:r>
              <a:rPr lang="en-IN" dirty="0"/>
              <a:t>&gt;</a:t>
            </a:r>
          </a:p>
          <a:p>
            <a:endParaRPr lang="en-IN" dirty="0"/>
          </a:p>
          <a:p>
            <a:r>
              <a:rPr lang="en-IN" dirty="0" err="1"/>
              <a:t>int</a:t>
            </a:r>
            <a:r>
              <a:rPr lang="en-IN" dirty="0"/>
              <a:t> main()</a:t>
            </a:r>
          </a:p>
          <a:p>
            <a:r>
              <a:rPr lang="en-IN" dirty="0"/>
              <a:t>{</a:t>
            </a:r>
          </a:p>
          <a:p>
            <a:r>
              <a:rPr lang="en-IN" dirty="0"/>
              <a:t>    /* Declare integer variable */</a:t>
            </a:r>
          </a:p>
          <a:p>
            <a:r>
              <a:rPr lang="en-IN" dirty="0"/>
              <a:t>    </a:t>
            </a:r>
            <a:r>
              <a:rPr lang="en-IN" dirty="0" err="1"/>
              <a:t>int</a:t>
            </a:r>
            <a:r>
              <a:rPr lang="en-IN" dirty="0"/>
              <a:t> </a:t>
            </a:r>
            <a:r>
              <a:rPr lang="en-IN" dirty="0" err="1"/>
              <a:t>num</a:t>
            </a:r>
            <a:r>
              <a:rPr lang="en-IN" dirty="0"/>
              <a:t>;</a:t>
            </a:r>
          </a:p>
          <a:p>
            <a:endParaRPr lang="en-IN" dirty="0"/>
          </a:p>
          <a:p>
            <a:r>
              <a:rPr lang="en-IN" dirty="0"/>
              <a:t>    /* Input an integer from user */</a:t>
            </a:r>
          </a:p>
          <a:p>
            <a:r>
              <a:rPr lang="en-IN" dirty="0"/>
              <a:t>    </a:t>
            </a:r>
            <a:r>
              <a:rPr lang="en-IN" dirty="0" err="1"/>
              <a:t>printf</a:t>
            </a:r>
            <a:r>
              <a:rPr lang="en-IN" dirty="0"/>
              <a:t>("Enter any number: ");</a:t>
            </a:r>
          </a:p>
          <a:p>
            <a:r>
              <a:rPr lang="en-IN" dirty="0"/>
              <a:t>    </a:t>
            </a:r>
            <a:r>
              <a:rPr lang="en-IN" dirty="0" err="1"/>
              <a:t>scanf</a:t>
            </a:r>
            <a:r>
              <a:rPr lang="en-IN" dirty="0"/>
              <a:t>("%d", &amp;</a:t>
            </a:r>
            <a:r>
              <a:rPr lang="en-IN" dirty="0" err="1"/>
              <a:t>num</a:t>
            </a:r>
            <a:r>
              <a:rPr lang="en-IN" dirty="0"/>
              <a:t>);</a:t>
            </a:r>
          </a:p>
          <a:p>
            <a:endParaRPr lang="en-IN" dirty="0"/>
          </a:p>
          <a:p>
            <a:r>
              <a:rPr lang="en-IN" dirty="0"/>
              <a:t>    if(</a:t>
            </a:r>
            <a:r>
              <a:rPr lang="en-IN" dirty="0" err="1"/>
              <a:t>num</a:t>
            </a:r>
            <a:r>
              <a:rPr lang="en-IN" dirty="0"/>
              <a:t> &lt; 0)</a:t>
            </a:r>
          </a:p>
          <a:p>
            <a:r>
              <a:rPr lang="en-IN" dirty="0"/>
              <a:t>    {</a:t>
            </a:r>
          </a:p>
          <a:p>
            <a:r>
              <a:rPr lang="en-IN" dirty="0"/>
              <a:t>        /* If number is less than zero, then it is negative */</a:t>
            </a:r>
          </a:p>
          <a:p>
            <a:r>
              <a:rPr lang="en-IN" dirty="0"/>
              <a:t>        </a:t>
            </a:r>
            <a:r>
              <a:rPr lang="en-IN" dirty="0" err="1"/>
              <a:t>printf</a:t>
            </a:r>
            <a:r>
              <a:rPr lang="en-IN" dirty="0"/>
              <a:t>("NUMBER IS NEGATIVE.");</a:t>
            </a:r>
          </a:p>
          <a:p>
            <a:r>
              <a:rPr lang="en-IN" dirty="0"/>
              <a:t>    }</a:t>
            </a:r>
          </a:p>
          <a:p>
            <a:r>
              <a:rPr lang="en-IN" dirty="0"/>
              <a:t>    else if(</a:t>
            </a:r>
            <a:r>
              <a:rPr lang="en-IN" dirty="0" err="1"/>
              <a:t>num</a:t>
            </a:r>
            <a:r>
              <a:rPr lang="en-IN" dirty="0"/>
              <a:t> == 0)</a:t>
            </a:r>
          </a:p>
          <a:p>
            <a:r>
              <a:rPr lang="en-IN" dirty="0"/>
              <a:t>    {</a:t>
            </a:r>
          </a:p>
          <a:p>
            <a:r>
              <a:rPr lang="en-IN" dirty="0"/>
              <a:t>        /* If number equal to 0, then it is zero */</a:t>
            </a:r>
          </a:p>
          <a:p>
            <a:r>
              <a:rPr lang="en-IN" dirty="0"/>
              <a:t>        </a:t>
            </a:r>
            <a:r>
              <a:rPr lang="en-IN" dirty="0" err="1"/>
              <a:t>printf</a:t>
            </a:r>
            <a:r>
              <a:rPr lang="en-IN" dirty="0"/>
              <a:t>("NUMBER IS ZERO.");</a:t>
            </a:r>
          </a:p>
          <a:p>
            <a:r>
              <a:rPr lang="en-IN" dirty="0"/>
              <a:t>    }</a:t>
            </a:r>
          </a:p>
          <a:p>
            <a:r>
              <a:rPr lang="en-IN" dirty="0"/>
              <a:t>    else</a:t>
            </a:r>
          </a:p>
          <a:p>
            <a:r>
              <a:rPr lang="en-IN" dirty="0"/>
              <a:t>    {</a:t>
            </a:r>
          </a:p>
          <a:p>
            <a:r>
              <a:rPr lang="en-IN" dirty="0"/>
              <a:t>        /* If number is greater then zero, then it is positive */</a:t>
            </a:r>
          </a:p>
          <a:p>
            <a:r>
              <a:rPr lang="en-IN" dirty="0"/>
              <a:t>        </a:t>
            </a:r>
            <a:r>
              <a:rPr lang="en-IN" dirty="0" err="1"/>
              <a:t>printf</a:t>
            </a:r>
            <a:r>
              <a:rPr lang="en-IN" dirty="0"/>
              <a:t>("NUMBER IS POSITIVE.");</a:t>
            </a:r>
          </a:p>
          <a:p>
            <a:r>
              <a:rPr lang="en-IN" dirty="0"/>
              <a:t>    }</a:t>
            </a:r>
          </a:p>
          <a:p>
            <a:r>
              <a:rPr lang="en-IN" dirty="0"/>
              <a:t>    return 0;</a:t>
            </a:r>
          </a:p>
          <a:p>
            <a:r>
              <a:rPr lang="en-IN" dirty="0"/>
              <a:t>}</a:t>
            </a:r>
          </a:p>
        </p:txBody>
      </p:sp>
    </p:spTree>
    <p:extLst>
      <p:ext uri="{BB962C8B-B14F-4D97-AF65-F5344CB8AC3E}">
        <p14:creationId xmlns:p14="http://schemas.microsoft.com/office/powerpoint/2010/main" val="3995623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endParaRPr lang="en-IN" dirty="0"/>
          </a:p>
        </p:txBody>
      </p:sp>
      <p:sp>
        <p:nvSpPr>
          <p:cNvPr id="3" name="Content Placeholder 2"/>
          <p:cNvSpPr>
            <a:spLocks noGrp="1"/>
          </p:cNvSpPr>
          <p:nvPr>
            <p:ph idx="1"/>
          </p:nvPr>
        </p:nvSpPr>
        <p:spPr/>
        <p:txBody>
          <a:bodyPr>
            <a:normAutofit fontScale="55000" lnSpcReduction="20000"/>
          </a:bodyPr>
          <a:lstStyle/>
          <a:p>
            <a:r>
              <a:rPr lang="en-IN" dirty="0"/>
              <a:t> #include&lt;</a:t>
            </a:r>
            <a:r>
              <a:rPr lang="en-IN" dirty="0" err="1"/>
              <a:t>stdio.h</a:t>
            </a:r>
            <a:r>
              <a:rPr lang="en-IN" dirty="0"/>
              <a:t>&gt;    </a:t>
            </a:r>
          </a:p>
          <a:p>
            <a:r>
              <a:rPr lang="en-IN" dirty="0"/>
              <a:t>    </a:t>
            </a:r>
            <a:r>
              <a:rPr lang="en-IN" dirty="0" err="1"/>
              <a:t>int</a:t>
            </a:r>
            <a:r>
              <a:rPr lang="en-IN" dirty="0"/>
              <a:t> main(){    </a:t>
            </a:r>
          </a:p>
          <a:p>
            <a:r>
              <a:rPr lang="en-IN" dirty="0"/>
              <a:t>    </a:t>
            </a:r>
            <a:r>
              <a:rPr lang="en-IN" dirty="0" err="1"/>
              <a:t>int</a:t>
            </a:r>
            <a:r>
              <a:rPr lang="en-IN" dirty="0"/>
              <a:t> number=0;    </a:t>
            </a:r>
          </a:p>
          <a:p>
            <a:r>
              <a:rPr lang="en-IN" dirty="0"/>
              <a:t>    </a:t>
            </a:r>
            <a:r>
              <a:rPr lang="en-IN" dirty="0" err="1"/>
              <a:t>printf</a:t>
            </a:r>
            <a:r>
              <a:rPr lang="en-IN" dirty="0"/>
              <a:t>("enter a number:");    </a:t>
            </a:r>
          </a:p>
          <a:p>
            <a:r>
              <a:rPr lang="en-IN" dirty="0"/>
              <a:t>    </a:t>
            </a:r>
            <a:r>
              <a:rPr lang="en-IN" dirty="0" err="1"/>
              <a:t>scanf</a:t>
            </a:r>
            <a:r>
              <a:rPr lang="en-IN" dirty="0"/>
              <a:t>("%</a:t>
            </a:r>
            <a:r>
              <a:rPr lang="en-IN" dirty="0" err="1"/>
              <a:t>d",&amp;number</a:t>
            </a:r>
            <a:r>
              <a:rPr lang="en-IN" dirty="0"/>
              <a:t>);     </a:t>
            </a:r>
          </a:p>
          <a:p>
            <a:r>
              <a:rPr lang="en-IN" dirty="0"/>
              <a:t>    if(number==10)</a:t>
            </a:r>
          </a:p>
          <a:p>
            <a:r>
              <a:rPr lang="en-IN" dirty="0"/>
              <a:t>{    </a:t>
            </a:r>
          </a:p>
          <a:p>
            <a:r>
              <a:rPr lang="en-IN" dirty="0"/>
              <a:t>    </a:t>
            </a:r>
            <a:r>
              <a:rPr lang="en-IN" dirty="0" err="1"/>
              <a:t>printf</a:t>
            </a:r>
            <a:r>
              <a:rPr lang="en-IN" dirty="0"/>
              <a:t>("number is equals to 10");    </a:t>
            </a:r>
          </a:p>
          <a:p>
            <a:r>
              <a:rPr lang="en-IN" dirty="0"/>
              <a:t>    }    </a:t>
            </a:r>
          </a:p>
          <a:p>
            <a:r>
              <a:rPr lang="en-IN" dirty="0"/>
              <a:t>    else if(number==50){    </a:t>
            </a:r>
          </a:p>
          <a:p>
            <a:r>
              <a:rPr lang="en-IN" dirty="0"/>
              <a:t>    </a:t>
            </a:r>
            <a:r>
              <a:rPr lang="en-IN" dirty="0" err="1"/>
              <a:t>printf</a:t>
            </a:r>
            <a:r>
              <a:rPr lang="en-IN" dirty="0"/>
              <a:t>("number is equal to 50");    </a:t>
            </a:r>
          </a:p>
          <a:p>
            <a:r>
              <a:rPr lang="en-IN" dirty="0"/>
              <a:t>    }    </a:t>
            </a:r>
          </a:p>
          <a:p>
            <a:r>
              <a:rPr lang="en-IN" dirty="0"/>
              <a:t>    else if(number==100){    </a:t>
            </a:r>
          </a:p>
          <a:p>
            <a:r>
              <a:rPr lang="en-IN" dirty="0"/>
              <a:t>    </a:t>
            </a:r>
            <a:r>
              <a:rPr lang="en-IN" dirty="0" err="1"/>
              <a:t>printf</a:t>
            </a:r>
            <a:r>
              <a:rPr lang="en-IN" dirty="0"/>
              <a:t>("number is equal to 100");    </a:t>
            </a:r>
          </a:p>
          <a:p>
            <a:r>
              <a:rPr lang="en-IN" dirty="0"/>
              <a:t>    }    </a:t>
            </a:r>
          </a:p>
          <a:p>
            <a:r>
              <a:rPr lang="en-IN" dirty="0"/>
              <a:t>    else{    </a:t>
            </a:r>
          </a:p>
          <a:p>
            <a:r>
              <a:rPr lang="en-IN" dirty="0"/>
              <a:t>    </a:t>
            </a:r>
            <a:r>
              <a:rPr lang="en-IN" dirty="0" err="1"/>
              <a:t>printf</a:t>
            </a:r>
            <a:r>
              <a:rPr lang="en-IN" dirty="0"/>
              <a:t>("number is not equal to 10, 50 or 100");    </a:t>
            </a:r>
          </a:p>
          <a:p>
            <a:r>
              <a:rPr lang="en-IN" dirty="0"/>
              <a:t>    }    </a:t>
            </a:r>
          </a:p>
          <a:p>
            <a:r>
              <a:rPr lang="en-IN" dirty="0"/>
              <a:t>    return 0;  </a:t>
            </a:r>
          </a:p>
          <a:p>
            <a:r>
              <a:rPr lang="en-IN" dirty="0"/>
              <a:t>    } </a:t>
            </a:r>
          </a:p>
        </p:txBody>
      </p:sp>
    </p:spTree>
    <p:extLst>
      <p:ext uri="{BB962C8B-B14F-4D97-AF65-F5344CB8AC3E}">
        <p14:creationId xmlns:p14="http://schemas.microsoft.com/office/powerpoint/2010/main" val="18204238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IF</a:t>
            </a:r>
            <a:endParaRPr lang="en-IN" dirty="0"/>
          </a:p>
        </p:txBody>
      </p:sp>
      <p:sp>
        <p:nvSpPr>
          <p:cNvPr id="3" name="Content Placeholder 2"/>
          <p:cNvSpPr>
            <a:spLocks noGrp="1"/>
          </p:cNvSpPr>
          <p:nvPr>
            <p:ph idx="1"/>
          </p:nvPr>
        </p:nvSpPr>
        <p:spPr/>
        <p:txBody>
          <a:bodyPr/>
          <a:lstStyle/>
          <a:p>
            <a:r>
              <a:rPr lang="en-IN" dirty="0"/>
              <a:t>When an if else statement is present inside the body of another “if” or “else” then this is called nested if else. </a:t>
            </a:r>
          </a:p>
          <a:p>
            <a:r>
              <a:rPr lang="en-IN" dirty="0"/>
              <a:t>A nested if in C is an if statement that is the target of another if statement. </a:t>
            </a:r>
          </a:p>
          <a:p>
            <a:r>
              <a:rPr lang="en-IN" dirty="0"/>
              <a:t>Nested if statements means an if statement inside another if statement. </a:t>
            </a:r>
          </a:p>
          <a:p>
            <a:r>
              <a:rPr lang="en-IN" dirty="0"/>
              <a:t>C allows us to nested if statements within if statements, </a:t>
            </a:r>
            <a:r>
              <a:rPr lang="en-IN" dirty="0" err="1"/>
              <a:t>i.e</a:t>
            </a:r>
            <a:r>
              <a:rPr lang="en-IN" dirty="0"/>
              <a:t>, we can place an if statement inside another if statement.</a:t>
            </a:r>
          </a:p>
        </p:txBody>
      </p:sp>
    </p:spTree>
    <p:extLst>
      <p:ext uri="{BB962C8B-B14F-4D97-AF65-F5344CB8AC3E}">
        <p14:creationId xmlns:p14="http://schemas.microsoft.com/office/powerpoint/2010/main" val="1228552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Syntax:</a:t>
            </a:r>
            <a:br>
              <a:rPr lang="en-IN" dirty="0"/>
            </a:br>
            <a:endParaRPr lang="en-IN" dirty="0"/>
          </a:p>
        </p:txBody>
      </p:sp>
      <p:sp>
        <p:nvSpPr>
          <p:cNvPr id="3" name="Content Placeholder 2"/>
          <p:cNvSpPr>
            <a:spLocks noGrp="1"/>
          </p:cNvSpPr>
          <p:nvPr>
            <p:ph idx="1"/>
          </p:nvPr>
        </p:nvSpPr>
        <p:spPr>
          <a:xfrm>
            <a:off x="457200" y="1340768"/>
            <a:ext cx="8229600" cy="4983832"/>
          </a:xfrm>
        </p:spPr>
        <p:txBody>
          <a:bodyPr>
            <a:normAutofit fontScale="70000" lnSpcReduction="20000"/>
          </a:bodyPr>
          <a:lstStyle/>
          <a:p>
            <a:endParaRPr lang="en-IN" dirty="0"/>
          </a:p>
          <a:p>
            <a:r>
              <a:rPr lang="en-IN" dirty="0"/>
              <a:t>if (condition1) </a:t>
            </a:r>
          </a:p>
          <a:p>
            <a:r>
              <a:rPr lang="en-IN" dirty="0"/>
              <a:t>{</a:t>
            </a:r>
          </a:p>
          <a:p>
            <a:r>
              <a:rPr lang="en-IN" dirty="0"/>
              <a:t>      // Executes when condition1 is true</a:t>
            </a:r>
          </a:p>
          <a:p>
            <a:r>
              <a:rPr lang="en-IN" dirty="0"/>
              <a:t>      if (condition2) </a:t>
            </a:r>
          </a:p>
          <a:p>
            <a:r>
              <a:rPr lang="en-IN" dirty="0"/>
              <a:t>           {</a:t>
            </a:r>
          </a:p>
          <a:p>
            <a:r>
              <a:rPr lang="en-IN" dirty="0"/>
              <a:t>                // Executes when condition2 is true</a:t>
            </a:r>
          </a:p>
          <a:p>
            <a:r>
              <a:rPr lang="en-IN" dirty="0"/>
              <a:t>             }</a:t>
            </a:r>
          </a:p>
          <a:p>
            <a:r>
              <a:rPr lang="en-IN" dirty="0"/>
              <a:t>       else (condition2) </a:t>
            </a:r>
          </a:p>
          <a:p>
            <a:r>
              <a:rPr lang="en-IN" dirty="0"/>
              <a:t>         {</a:t>
            </a:r>
          </a:p>
          <a:p>
            <a:r>
              <a:rPr lang="en-IN" dirty="0"/>
              <a:t>           // Executes when condition2 is true</a:t>
            </a:r>
          </a:p>
          <a:p>
            <a:r>
              <a:rPr lang="en-IN" dirty="0"/>
              <a:t>          }</a:t>
            </a:r>
          </a:p>
          <a:p>
            <a:endParaRPr lang="en-IN" dirty="0"/>
          </a:p>
          <a:p>
            <a:r>
              <a:rPr lang="en-IN" dirty="0"/>
              <a:t>}</a:t>
            </a:r>
          </a:p>
          <a:p>
            <a:pPr marL="0" indent="0">
              <a:buNone/>
            </a:pPr>
            <a:r>
              <a:rPr lang="en-IN" dirty="0"/>
              <a:t>else </a:t>
            </a:r>
          </a:p>
          <a:p>
            <a:pPr marL="0" indent="0">
              <a:buNone/>
            </a:pPr>
            <a:r>
              <a:rPr lang="en-IN" dirty="0"/>
              <a:t>   {</a:t>
            </a:r>
          </a:p>
          <a:p>
            <a:r>
              <a:rPr lang="en-IN" dirty="0"/>
              <a:t>      // Executes when condition2 is true</a:t>
            </a:r>
          </a:p>
          <a:p>
            <a:pPr marL="0" indent="0">
              <a:buNone/>
            </a:pPr>
            <a:r>
              <a:rPr lang="en-IN" dirty="0"/>
              <a:t> }</a:t>
            </a:r>
          </a:p>
          <a:p>
            <a:endParaRPr lang="en-IN" dirty="0"/>
          </a:p>
        </p:txBody>
      </p:sp>
    </p:spTree>
    <p:extLst>
      <p:ext uri="{BB962C8B-B14F-4D97-AF65-F5344CB8AC3E}">
        <p14:creationId xmlns:p14="http://schemas.microsoft.com/office/powerpoint/2010/main" val="33071799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fontScale="90000"/>
          </a:bodyPr>
          <a:lstStyle/>
          <a:p>
            <a:endParaRPr lang="en-IN" dirty="0"/>
          </a:p>
        </p:txBody>
      </p:sp>
      <p:pic>
        <p:nvPicPr>
          <p:cNvPr id="2051"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1988840"/>
            <a:ext cx="6336704"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1230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92088"/>
          </a:xfrm>
        </p:spPr>
        <p:txBody>
          <a:bodyPr>
            <a:normAutofit fontScale="90000"/>
          </a:bodyPr>
          <a:lstStyle/>
          <a:p>
            <a:endParaRPr lang="en-IN" dirty="0"/>
          </a:p>
        </p:txBody>
      </p:sp>
      <p:pic>
        <p:nvPicPr>
          <p:cNvPr id="1027"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628800"/>
            <a:ext cx="5793432"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3475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92664"/>
          </a:xfrm>
        </p:spPr>
        <p:txBody>
          <a:bodyPr>
            <a:normAutofit fontScale="90000"/>
          </a:bodyPr>
          <a:lstStyle/>
          <a:p>
            <a:endParaRPr lang="en-IN" dirty="0"/>
          </a:p>
        </p:txBody>
      </p:sp>
      <p:sp>
        <p:nvSpPr>
          <p:cNvPr id="3" name="Content Placeholder 2"/>
          <p:cNvSpPr>
            <a:spLocks noGrp="1"/>
          </p:cNvSpPr>
          <p:nvPr>
            <p:ph idx="1"/>
          </p:nvPr>
        </p:nvSpPr>
        <p:spPr>
          <a:xfrm>
            <a:off x="457200" y="1196752"/>
            <a:ext cx="8229600" cy="5127848"/>
          </a:xfrm>
        </p:spPr>
        <p:txBody>
          <a:bodyPr>
            <a:normAutofit fontScale="55000" lnSpcReduction="20000"/>
          </a:bodyPr>
          <a:lstStyle/>
          <a:p>
            <a:r>
              <a:rPr lang="en-IN" dirty="0"/>
              <a:t>Find largest among 3 variables using nested if */</a:t>
            </a:r>
            <a:br>
              <a:rPr lang="en-IN" dirty="0"/>
            </a:br>
            <a:br>
              <a:rPr lang="en-IN" dirty="0"/>
            </a:br>
            <a:r>
              <a:rPr lang="en-IN" dirty="0"/>
              <a:t>#include &lt;</a:t>
            </a:r>
            <a:r>
              <a:rPr lang="en-IN" dirty="0" err="1"/>
              <a:t>stdio.h</a:t>
            </a:r>
            <a:r>
              <a:rPr lang="en-IN" dirty="0"/>
              <a:t>&gt;</a:t>
            </a:r>
            <a:br>
              <a:rPr lang="en-IN" dirty="0"/>
            </a:br>
            <a:r>
              <a:rPr lang="en-IN" dirty="0" err="1"/>
              <a:t>int</a:t>
            </a:r>
            <a:r>
              <a:rPr lang="en-IN" dirty="0"/>
              <a:t> main()</a:t>
            </a:r>
            <a:br>
              <a:rPr lang="en-IN" dirty="0"/>
            </a:br>
            <a:r>
              <a:rPr lang="en-IN" dirty="0"/>
              <a:t>{</a:t>
            </a:r>
            <a:br>
              <a:rPr lang="en-IN" dirty="0"/>
            </a:br>
            <a:r>
              <a:rPr lang="en-IN" dirty="0"/>
              <a:t>    </a:t>
            </a:r>
            <a:r>
              <a:rPr lang="en-IN" dirty="0" err="1"/>
              <a:t>int</a:t>
            </a:r>
            <a:r>
              <a:rPr lang="en-IN" dirty="0"/>
              <a:t> </a:t>
            </a:r>
            <a:r>
              <a:rPr lang="en-IN" dirty="0" err="1"/>
              <a:t>a,b,c</a:t>
            </a:r>
            <a:r>
              <a:rPr lang="en-IN" dirty="0"/>
              <a:t>;</a:t>
            </a:r>
            <a:br>
              <a:rPr lang="en-IN" dirty="0"/>
            </a:br>
            <a:r>
              <a:rPr lang="en-IN" dirty="0"/>
              <a:t>    </a:t>
            </a:r>
            <a:r>
              <a:rPr lang="en-IN" dirty="0" err="1"/>
              <a:t>printf</a:t>
            </a:r>
            <a:r>
              <a:rPr lang="en-IN" dirty="0"/>
              <a:t>("Enter 3 numbers: \n");</a:t>
            </a:r>
            <a:br>
              <a:rPr lang="en-IN" dirty="0"/>
            </a:br>
            <a:r>
              <a:rPr lang="en-IN" dirty="0"/>
              <a:t>    </a:t>
            </a:r>
            <a:r>
              <a:rPr lang="en-IN" dirty="0" err="1"/>
              <a:t>scanf</a:t>
            </a:r>
            <a:r>
              <a:rPr lang="en-IN" dirty="0"/>
              <a:t>("%d %d %</a:t>
            </a:r>
            <a:r>
              <a:rPr lang="en-IN" dirty="0" err="1"/>
              <a:t>d",&amp;a,&amp;b,&amp;c</a:t>
            </a:r>
            <a:r>
              <a:rPr lang="en-IN" dirty="0"/>
              <a:t>);</a:t>
            </a:r>
            <a:br>
              <a:rPr lang="en-IN" dirty="0"/>
            </a:br>
            <a:r>
              <a:rPr lang="en-IN" dirty="0"/>
              <a:t>    if(a&gt;=b)</a:t>
            </a:r>
            <a:br>
              <a:rPr lang="en-IN" dirty="0"/>
            </a:br>
            <a:r>
              <a:rPr lang="en-IN" dirty="0"/>
              <a:t>    {</a:t>
            </a:r>
            <a:br>
              <a:rPr lang="en-IN" dirty="0"/>
            </a:br>
            <a:r>
              <a:rPr lang="en-IN" dirty="0"/>
              <a:t>        if(a&gt;=c)</a:t>
            </a:r>
            <a:br>
              <a:rPr lang="en-IN" dirty="0"/>
            </a:br>
            <a:r>
              <a:rPr lang="en-IN" dirty="0"/>
              <a:t>            </a:t>
            </a:r>
            <a:r>
              <a:rPr lang="en-IN" dirty="0" err="1"/>
              <a:t>printf</a:t>
            </a:r>
            <a:r>
              <a:rPr lang="en-IN" dirty="0"/>
              <a:t>("%d is </a:t>
            </a:r>
            <a:r>
              <a:rPr lang="en-IN" dirty="0" err="1"/>
              <a:t>largest",a</a:t>
            </a:r>
            <a:r>
              <a:rPr lang="en-IN" dirty="0"/>
              <a:t>);</a:t>
            </a:r>
            <a:br>
              <a:rPr lang="en-IN" dirty="0"/>
            </a:br>
            <a:r>
              <a:rPr lang="en-IN" dirty="0"/>
              <a:t>        else</a:t>
            </a:r>
            <a:br>
              <a:rPr lang="en-IN" dirty="0"/>
            </a:br>
            <a:r>
              <a:rPr lang="en-IN" dirty="0"/>
              <a:t>            </a:t>
            </a:r>
            <a:r>
              <a:rPr lang="en-IN" dirty="0" err="1"/>
              <a:t>printf</a:t>
            </a:r>
            <a:r>
              <a:rPr lang="en-IN" dirty="0"/>
              <a:t>("%d is </a:t>
            </a:r>
            <a:r>
              <a:rPr lang="en-IN" dirty="0" err="1"/>
              <a:t>largest",c</a:t>
            </a:r>
            <a:r>
              <a:rPr lang="en-IN" dirty="0"/>
              <a:t>);</a:t>
            </a:r>
            <a:br>
              <a:rPr lang="en-IN" dirty="0"/>
            </a:br>
            <a:r>
              <a:rPr lang="en-IN" dirty="0"/>
              <a:t>    }</a:t>
            </a:r>
          </a:p>
          <a:p>
            <a:br>
              <a:rPr lang="en-IN" dirty="0"/>
            </a:br>
            <a:r>
              <a:rPr lang="en-IN" dirty="0"/>
              <a:t>    else </a:t>
            </a:r>
          </a:p>
          <a:p>
            <a:r>
              <a:rPr lang="en-US" dirty="0"/>
              <a:t>    {</a:t>
            </a:r>
            <a:endParaRPr lang="en-IN" dirty="0"/>
          </a:p>
          <a:p>
            <a:r>
              <a:rPr lang="en-IN" dirty="0"/>
              <a:t>     if(b&gt;=c)</a:t>
            </a:r>
            <a:br>
              <a:rPr lang="en-IN" dirty="0"/>
            </a:br>
            <a:r>
              <a:rPr lang="en-IN" dirty="0"/>
              <a:t>        </a:t>
            </a:r>
            <a:r>
              <a:rPr lang="en-IN" dirty="0" err="1"/>
              <a:t>printf</a:t>
            </a:r>
            <a:r>
              <a:rPr lang="en-IN" dirty="0"/>
              <a:t>("%d is </a:t>
            </a:r>
            <a:r>
              <a:rPr lang="en-IN" dirty="0" err="1"/>
              <a:t>largest",b</a:t>
            </a:r>
            <a:r>
              <a:rPr lang="en-IN" dirty="0"/>
              <a:t>);</a:t>
            </a:r>
            <a:br>
              <a:rPr lang="en-IN" dirty="0"/>
            </a:br>
            <a:r>
              <a:rPr lang="en-IN" dirty="0"/>
              <a:t>    else</a:t>
            </a:r>
            <a:br>
              <a:rPr lang="en-IN" dirty="0"/>
            </a:br>
            <a:r>
              <a:rPr lang="en-IN" dirty="0"/>
              <a:t>        </a:t>
            </a:r>
            <a:r>
              <a:rPr lang="en-IN" dirty="0" err="1"/>
              <a:t>printf</a:t>
            </a:r>
            <a:r>
              <a:rPr lang="en-IN" dirty="0"/>
              <a:t>("%d is </a:t>
            </a:r>
            <a:r>
              <a:rPr lang="en-IN" dirty="0" err="1"/>
              <a:t>largest",c</a:t>
            </a:r>
            <a:r>
              <a:rPr lang="en-IN" dirty="0"/>
              <a:t>);</a:t>
            </a:r>
            <a:br>
              <a:rPr lang="en-IN" dirty="0"/>
            </a:br>
            <a:r>
              <a:rPr lang="en-IN" dirty="0"/>
              <a:t>    }</a:t>
            </a:r>
            <a:br>
              <a:rPr lang="en-IN" dirty="0"/>
            </a:br>
            <a:r>
              <a:rPr lang="en-IN" dirty="0"/>
              <a:t>}</a:t>
            </a:r>
            <a:br>
              <a:rPr lang="en-IN" dirty="0"/>
            </a:br>
            <a:br>
              <a:rPr lang="en-IN" dirty="0"/>
            </a:br>
            <a:endParaRPr lang="en-IN" dirty="0"/>
          </a:p>
        </p:txBody>
      </p:sp>
    </p:spTree>
    <p:extLst>
      <p:ext uri="{BB962C8B-B14F-4D97-AF65-F5344CB8AC3E}">
        <p14:creationId xmlns:p14="http://schemas.microsoft.com/office/powerpoint/2010/main" val="1488684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rmAutofit fontScale="90000"/>
          </a:bodyPr>
          <a:lstStyle/>
          <a:p>
            <a:r>
              <a:rPr lang="en-IN" b="1" dirty="0"/>
              <a:t>Switch</a:t>
            </a:r>
            <a:r>
              <a:rPr lang="en-IN" dirty="0"/>
              <a:t> statement</a:t>
            </a:r>
          </a:p>
        </p:txBody>
      </p:sp>
      <p:sp>
        <p:nvSpPr>
          <p:cNvPr id="3" name="Content Placeholder 2"/>
          <p:cNvSpPr>
            <a:spLocks noGrp="1"/>
          </p:cNvSpPr>
          <p:nvPr>
            <p:ph idx="1"/>
          </p:nvPr>
        </p:nvSpPr>
        <p:spPr>
          <a:xfrm>
            <a:off x="457200" y="764704"/>
            <a:ext cx="8229600" cy="5559896"/>
          </a:xfrm>
        </p:spPr>
        <p:txBody>
          <a:bodyPr>
            <a:normAutofit fontScale="92500" lnSpcReduction="20000"/>
          </a:bodyPr>
          <a:lstStyle/>
          <a:p>
            <a:r>
              <a:rPr lang="en-IN" dirty="0"/>
              <a:t>Consider a situation in which we have many options out of which we need to select only one option that is to be executed. </a:t>
            </a:r>
          </a:p>
          <a:p>
            <a:r>
              <a:rPr lang="en-IN" dirty="0"/>
              <a:t>Such kind of problems can be solved using </a:t>
            </a:r>
            <a:r>
              <a:rPr lang="en-IN" b="1" dirty="0"/>
              <a:t>nested if</a:t>
            </a:r>
            <a:r>
              <a:rPr lang="en-IN" dirty="0"/>
              <a:t> statement. </a:t>
            </a:r>
          </a:p>
          <a:p>
            <a:r>
              <a:rPr lang="en-IN" dirty="0"/>
              <a:t>But as the number of options increases, the complexity of the program also gets increased. </a:t>
            </a:r>
          </a:p>
          <a:p>
            <a:r>
              <a:rPr lang="en-IN" dirty="0"/>
              <a:t>This type of problem can be solved very easily using a </a:t>
            </a:r>
            <a:r>
              <a:rPr lang="en-IN" b="1" dirty="0"/>
              <a:t>switch</a:t>
            </a:r>
            <a:r>
              <a:rPr lang="en-IN" dirty="0"/>
              <a:t> statement. </a:t>
            </a:r>
          </a:p>
          <a:p>
            <a:r>
              <a:rPr lang="en-IN" dirty="0"/>
              <a:t>Using the switch statement, one can select only one option from more number of options very easily. </a:t>
            </a:r>
          </a:p>
          <a:p>
            <a:r>
              <a:rPr lang="en-IN" dirty="0"/>
              <a:t>In the switch statement, we provide a value that is to be compared with a value associated with each option. </a:t>
            </a:r>
          </a:p>
          <a:p>
            <a:r>
              <a:rPr lang="en-IN" dirty="0"/>
              <a:t>Whenever the given value matches the value associated with an option, the execution starts from that option. In the switch statement, every option is defined as a </a:t>
            </a:r>
            <a:r>
              <a:rPr lang="en-IN" b="1" dirty="0"/>
              <a:t>case</a:t>
            </a:r>
            <a:r>
              <a:rPr lang="en-IN" dirty="0"/>
              <a:t>.</a:t>
            </a:r>
          </a:p>
        </p:txBody>
      </p:sp>
    </p:spTree>
    <p:extLst>
      <p:ext uri="{BB962C8B-B14F-4D97-AF65-F5344CB8AC3E}">
        <p14:creationId xmlns:p14="http://schemas.microsoft.com/office/powerpoint/2010/main" val="335006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648072"/>
          </a:xfrm>
        </p:spPr>
        <p:txBody>
          <a:bodyPr>
            <a:normAutofit fontScale="90000"/>
          </a:bodyPr>
          <a:lstStyle/>
          <a:p>
            <a:r>
              <a:rPr lang="en-US" dirty="0"/>
              <a:t>Continue</a:t>
            </a:r>
            <a:endParaRPr lang="en-IN" dirty="0"/>
          </a:p>
        </p:txBody>
      </p:sp>
      <p:sp>
        <p:nvSpPr>
          <p:cNvPr id="3" name="Content Placeholder 2"/>
          <p:cNvSpPr>
            <a:spLocks noGrp="1"/>
          </p:cNvSpPr>
          <p:nvPr>
            <p:ph idx="1"/>
          </p:nvPr>
        </p:nvSpPr>
        <p:spPr>
          <a:xfrm>
            <a:off x="457200" y="1052736"/>
            <a:ext cx="8229600" cy="5271864"/>
          </a:xfrm>
        </p:spPr>
        <p:txBody>
          <a:bodyPr>
            <a:normAutofit/>
          </a:bodyPr>
          <a:lstStyle/>
          <a:p>
            <a:r>
              <a:rPr lang="en-IN" dirty="0"/>
              <a:t>The switch statement contains one or more cases and each case has a </a:t>
            </a:r>
            <a:r>
              <a:rPr lang="en-IN" b="1" dirty="0"/>
              <a:t>value </a:t>
            </a:r>
            <a:r>
              <a:rPr lang="en-IN" dirty="0"/>
              <a:t>associated with it. </a:t>
            </a:r>
          </a:p>
          <a:p>
            <a:r>
              <a:rPr lang="en-IN" dirty="0"/>
              <a:t>At first switch statement compares the first case value with the </a:t>
            </a:r>
            <a:r>
              <a:rPr lang="en-IN" dirty="0" err="1"/>
              <a:t>switchValue</a:t>
            </a:r>
            <a:r>
              <a:rPr lang="en-IN" dirty="0"/>
              <a:t>, if it gets matched the execution starts from the first case. </a:t>
            </a:r>
          </a:p>
          <a:p>
            <a:r>
              <a:rPr lang="en-IN" dirty="0"/>
              <a:t>If it doesn't match the switch statement compares the second case value with the switch Value and if it is matched the execution starts from the second case. </a:t>
            </a:r>
          </a:p>
          <a:p>
            <a:r>
              <a:rPr lang="en-IN" dirty="0"/>
              <a:t>This process continues until it finds a match. </a:t>
            </a:r>
          </a:p>
          <a:p>
            <a:r>
              <a:rPr lang="en-IN" dirty="0"/>
              <a:t>If no case value matches with the </a:t>
            </a:r>
            <a:r>
              <a:rPr lang="en-IN" dirty="0" err="1"/>
              <a:t>switchValue</a:t>
            </a:r>
            <a:r>
              <a:rPr lang="en-IN" dirty="0"/>
              <a:t> specified in the switch statement, then a special case called </a:t>
            </a:r>
            <a:r>
              <a:rPr lang="en-IN" b="1" dirty="0"/>
              <a:t>default</a:t>
            </a:r>
            <a:r>
              <a:rPr lang="en-IN" dirty="0"/>
              <a:t> is executed</a:t>
            </a:r>
          </a:p>
        </p:txBody>
      </p:sp>
    </p:spTree>
    <p:extLst>
      <p:ext uri="{BB962C8B-B14F-4D97-AF65-F5344CB8AC3E}">
        <p14:creationId xmlns:p14="http://schemas.microsoft.com/office/powerpoint/2010/main" val="254909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8229600" cy="720080"/>
          </a:xfrm>
        </p:spPr>
        <p:txBody>
          <a:bodyPr>
            <a:normAutofit fontScale="90000"/>
          </a:bodyPr>
          <a:lstStyle/>
          <a:p>
            <a:r>
              <a:rPr lang="en-US" dirty="0"/>
              <a:t>Continue</a:t>
            </a:r>
            <a:endParaRPr lang="en-IN" dirty="0"/>
          </a:p>
        </p:txBody>
      </p:sp>
      <p:sp>
        <p:nvSpPr>
          <p:cNvPr id="3" name="Content Placeholder 2"/>
          <p:cNvSpPr>
            <a:spLocks noGrp="1"/>
          </p:cNvSpPr>
          <p:nvPr>
            <p:ph idx="1"/>
          </p:nvPr>
        </p:nvSpPr>
        <p:spPr>
          <a:xfrm>
            <a:off x="457200" y="1196752"/>
            <a:ext cx="8229600" cy="5127848"/>
          </a:xfrm>
        </p:spPr>
        <p:txBody>
          <a:bodyPr/>
          <a:lstStyle/>
          <a:p>
            <a:r>
              <a:rPr lang="en-IN" dirty="0"/>
              <a:t>When a case value matches with the switch Value, the execution starts from that particular case. </a:t>
            </a:r>
          </a:p>
          <a:p>
            <a:r>
              <a:rPr lang="en-IN" dirty="0"/>
              <a:t>This execution flow continues with the next case statements also. </a:t>
            </a:r>
          </a:p>
          <a:p>
            <a:r>
              <a:rPr lang="en-IN" dirty="0"/>
              <a:t>To avoid this, we use the "</a:t>
            </a:r>
            <a:r>
              <a:rPr lang="en-IN" b="1" dirty="0"/>
              <a:t>break</a:t>
            </a:r>
            <a:r>
              <a:rPr lang="en-IN" dirty="0"/>
              <a:t>" statement at the end of each case. </a:t>
            </a:r>
          </a:p>
          <a:p>
            <a:r>
              <a:rPr lang="en-IN" dirty="0"/>
              <a:t>That means the </a:t>
            </a:r>
            <a:r>
              <a:rPr lang="en-IN" b="1" dirty="0"/>
              <a:t>break</a:t>
            </a:r>
            <a:r>
              <a:rPr lang="en-IN" dirty="0"/>
              <a:t> statement is used to terminate the switch statement. </a:t>
            </a:r>
          </a:p>
          <a:p>
            <a:r>
              <a:rPr lang="en-IN" dirty="0"/>
              <a:t>However, it is optional.</a:t>
            </a:r>
          </a:p>
        </p:txBody>
      </p:sp>
    </p:spTree>
    <p:extLst>
      <p:ext uri="{BB962C8B-B14F-4D97-AF65-F5344CB8AC3E}">
        <p14:creationId xmlns:p14="http://schemas.microsoft.com/office/powerpoint/2010/main" val="2532907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648072"/>
          </a:xfrm>
        </p:spPr>
        <p:txBody>
          <a:bodyPr>
            <a:normAutofit fontScale="90000"/>
          </a:bodyPr>
          <a:lstStyle/>
          <a:p>
            <a:r>
              <a:rPr lang="en-US" dirty="0"/>
              <a:t>Syntax</a:t>
            </a:r>
            <a:endParaRPr lang="en-IN" dirty="0"/>
          </a:p>
        </p:txBody>
      </p:sp>
      <p:sp>
        <p:nvSpPr>
          <p:cNvPr id="3" name="Content Placeholder 2"/>
          <p:cNvSpPr>
            <a:spLocks noGrp="1"/>
          </p:cNvSpPr>
          <p:nvPr>
            <p:ph idx="1"/>
          </p:nvPr>
        </p:nvSpPr>
        <p:spPr>
          <a:xfrm>
            <a:off x="457200" y="1124744"/>
            <a:ext cx="8229600" cy="5199856"/>
          </a:xfrm>
        </p:spPr>
        <p:txBody>
          <a:bodyPr>
            <a:normAutofit/>
          </a:bodyPr>
          <a:lstStyle/>
          <a:p>
            <a:r>
              <a:rPr lang="en-IN" dirty="0"/>
              <a:t>switch (expression/value/condition)</a:t>
            </a:r>
            <a:br>
              <a:rPr lang="en-IN" dirty="0"/>
            </a:br>
            <a:r>
              <a:rPr lang="en-IN" dirty="0"/>
              <a:t>{</a:t>
            </a:r>
            <a:br>
              <a:rPr lang="en-IN" dirty="0"/>
            </a:br>
            <a:r>
              <a:rPr lang="en-IN" dirty="0"/>
              <a:t>     case label1 :statements;      </a:t>
            </a:r>
            <a:r>
              <a:rPr lang="en-IN" dirty="0">
                <a:solidFill>
                  <a:srgbClr val="FF0000"/>
                </a:solidFill>
              </a:rPr>
              <a:t>label (</a:t>
            </a:r>
            <a:r>
              <a:rPr lang="en-IN" dirty="0" err="1">
                <a:solidFill>
                  <a:srgbClr val="FF0000"/>
                </a:solidFill>
              </a:rPr>
              <a:t>int</a:t>
            </a:r>
            <a:r>
              <a:rPr lang="en-IN" dirty="0">
                <a:solidFill>
                  <a:srgbClr val="FF0000"/>
                </a:solidFill>
              </a:rPr>
              <a:t> /char constant)</a:t>
            </a:r>
            <a:br>
              <a:rPr lang="en-IN" dirty="0"/>
            </a:br>
            <a:r>
              <a:rPr lang="en-IN" dirty="0"/>
              <a:t>                           break;</a:t>
            </a:r>
          </a:p>
          <a:p>
            <a:pPr marL="0" indent="0">
              <a:buNone/>
            </a:pPr>
            <a:r>
              <a:rPr lang="en-IN" dirty="0"/>
              <a:t>       case label2:   statements;</a:t>
            </a:r>
            <a:br>
              <a:rPr lang="en-IN" dirty="0"/>
            </a:br>
            <a:r>
              <a:rPr lang="en-IN" dirty="0"/>
              <a:t>                           break;</a:t>
            </a:r>
            <a:br>
              <a:rPr lang="en-IN" dirty="0"/>
            </a:br>
            <a:r>
              <a:rPr lang="en-IN" dirty="0"/>
              <a:t>     case label3:   statements;</a:t>
            </a:r>
            <a:br>
              <a:rPr lang="en-IN" dirty="0"/>
            </a:br>
            <a:r>
              <a:rPr lang="en-IN" dirty="0"/>
              <a:t>                           break;</a:t>
            </a:r>
            <a:br>
              <a:rPr lang="en-IN" dirty="0"/>
            </a:br>
            <a:r>
              <a:rPr lang="en-IN" dirty="0"/>
              <a:t>     default:      statements;</a:t>
            </a:r>
            <a:br>
              <a:rPr lang="en-IN" dirty="0"/>
            </a:br>
            <a:r>
              <a:rPr lang="en-IN" dirty="0"/>
              <a:t>                           break;</a:t>
            </a:r>
            <a:br>
              <a:rPr lang="en-IN" dirty="0"/>
            </a:br>
            <a:r>
              <a:rPr lang="en-IN" dirty="0"/>
              <a:t>}</a:t>
            </a:r>
          </a:p>
          <a:p>
            <a:endParaRPr lang="en-IN" dirty="0"/>
          </a:p>
        </p:txBody>
      </p:sp>
    </p:spTree>
    <p:extLst>
      <p:ext uri="{BB962C8B-B14F-4D97-AF65-F5344CB8AC3E}">
        <p14:creationId xmlns:p14="http://schemas.microsoft.com/office/powerpoint/2010/main" val="75260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908720"/>
            <a:ext cx="7471989" cy="5832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816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360040"/>
          </a:xfrm>
        </p:spPr>
        <p:txBody>
          <a:bodyPr>
            <a:normAutofit fontScale="90000"/>
          </a:bodyPr>
          <a:lstStyle/>
          <a:p>
            <a:r>
              <a:rPr lang="en-IN" sz="2400" b="1" dirty="0"/>
              <a:t>C program to check vowel or consonant using switch case</a:t>
            </a:r>
            <a:br>
              <a:rPr lang="en-IN" sz="2400" b="1" dirty="0"/>
            </a:br>
            <a:endParaRPr lang="en-IN" sz="2400" dirty="0"/>
          </a:p>
        </p:txBody>
      </p:sp>
      <p:sp>
        <p:nvSpPr>
          <p:cNvPr id="3" name="Content Placeholder 2"/>
          <p:cNvSpPr>
            <a:spLocks noGrp="1"/>
          </p:cNvSpPr>
          <p:nvPr>
            <p:ph idx="1"/>
          </p:nvPr>
        </p:nvSpPr>
        <p:spPr>
          <a:xfrm>
            <a:off x="457200" y="836712"/>
            <a:ext cx="8229600" cy="5487888"/>
          </a:xfrm>
        </p:spPr>
        <p:txBody>
          <a:bodyPr>
            <a:normAutofit/>
          </a:bodyPr>
          <a:lstStyle/>
          <a:p>
            <a:endParaRPr lang="en-IN" b="1" dirty="0"/>
          </a:p>
          <a:p>
            <a:r>
              <a:rPr lang="en-IN" b="1" dirty="0"/>
              <a:t>Logic to check vowel or consonant using switch...case statement</a:t>
            </a:r>
          </a:p>
          <a:p>
            <a:r>
              <a:rPr lang="en-IN" dirty="0"/>
              <a:t>English alphabets 'a', 'e', 'i', 'o', 'u' both lowercase and uppercase are known as vowels. </a:t>
            </a:r>
          </a:p>
          <a:p>
            <a:r>
              <a:rPr lang="en-IN" dirty="0"/>
              <a:t>Alphabets other than vowels are known as consonants.</a:t>
            </a:r>
          </a:p>
        </p:txBody>
      </p:sp>
    </p:spTree>
    <p:extLst>
      <p:ext uri="{BB962C8B-B14F-4D97-AF65-F5344CB8AC3E}">
        <p14:creationId xmlns:p14="http://schemas.microsoft.com/office/powerpoint/2010/main" val="287051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792088"/>
          </a:xfrm>
        </p:spPr>
        <p:txBody>
          <a:bodyPr>
            <a:normAutofit fontScale="90000"/>
          </a:bodyPr>
          <a:lstStyle/>
          <a:p>
            <a:r>
              <a:rPr lang="en-US" dirty="0"/>
              <a:t>Algorithm</a:t>
            </a:r>
            <a:endParaRPr lang="en-IN" dirty="0"/>
          </a:p>
        </p:txBody>
      </p:sp>
      <p:sp>
        <p:nvSpPr>
          <p:cNvPr id="3" name="Content Placeholder 2"/>
          <p:cNvSpPr>
            <a:spLocks noGrp="1"/>
          </p:cNvSpPr>
          <p:nvPr>
            <p:ph idx="1"/>
          </p:nvPr>
        </p:nvSpPr>
        <p:spPr>
          <a:xfrm>
            <a:off x="457200" y="1124744"/>
            <a:ext cx="8229600" cy="5199856"/>
          </a:xfrm>
        </p:spPr>
        <p:txBody>
          <a:bodyPr>
            <a:normAutofit/>
          </a:bodyPr>
          <a:lstStyle/>
          <a:p>
            <a:r>
              <a:rPr lang="en-IN" dirty="0"/>
              <a:t>Step by step descriptive logic to check vowel or consonant.</a:t>
            </a:r>
          </a:p>
          <a:p>
            <a:r>
              <a:rPr lang="en-IN" dirty="0"/>
              <a:t>Input an alphabet from user. Store it in some variable say </a:t>
            </a:r>
            <a:r>
              <a:rPr lang="en-IN" i="1" dirty="0" err="1"/>
              <a:t>ch</a:t>
            </a:r>
            <a:r>
              <a:rPr lang="en-IN" dirty="0" err="1"/>
              <a:t>.</a:t>
            </a:r>
            <a:endParaRPr lang="en-IN" dirty="0"/>
          </a:p>
          <a:p>
            <a:r>
              <a:rPr lang="en-IN" dirty="0"/>
              <a:t>Switch the value of </a:t>
            </a:r>
            <a:r>
              <a:rPr lang="en-IN" i="1" dirty="0" err="1"/>
              <a:t>ch</a:t>
            </a:r>
            <a:r>
              <a:rPr lang="en-IN" dirty="0" err="1"/>
              <a:t>.</a:t>
            </a:r>
            <a:endParaRPr lang="en-IN" dirty="0"/>
          </a:p>
          <a:p>
            <a:r>
              <a:rPr lang="en-IN" dirty="0"/>
              <a:t>For </a:t>
            </a:r>
            <a:r>
              <a:rPr lang="en-IN" i="1" dirty="0" err="1"/>
              <a:t>ch</a:t>
            </a:r>
            <a:r>
              <a:rPr lang="en-IN" dirty="0"/>
              <a:t>, there are 10 possibilities for vowel we need to check i.e. </a:t>
            </a:r>
            <a:r>
              <a:rPr lang="en-IN" i="1" dirty="0"/>
              <a:t>a</a:t>
            </a:r>
            <a:r>
              <a:rPr lang="en-IN" dirty="0"/>
              <a:t>, </a:t>
            </a:r>
            <a:r>
              <a:rPr lang="en-IN" i="1" dirty="0"/>
              <a:t>e</a:t>
            </a:r>
            <a:r>
              <a:rPr lang="en-IN" dirty="0"/>
              <a:t>, </a:t>
            </a:r>
            <a:r>
              <a:rPr lang="en-IN" i="1" dirty="0"/>
              <a:t>i</a:t>
            </a:r>
            <a:r>
              <a:rPr lang="en-IN" dirty="0"/>
              <a:t>, </a:t>
            </a:r>
            <a:r>
              <a:rPr lang="en-IN" i="1" dirty="0"/>
              <a:t>o</a:t>
            </a:r>
            <a:r>
              <a:rPr lang="en-IN" dirty="0"/>
              <a:t>, </a:t>
            </a:r>
            <a:r>
              <a:rPr lang="en-IN" i="1" dirty="0"/>
              <a:t>u</a:t>
            </a:r>
            <a:r>
              <a:rPr lang="en-IN" dirty="0"/>
              <a:t>, </a:t>
            </a:r>
            <a:r>
              <a:rPr lang="en-IN" i="1" dirty="0"/>
              <a:t>A</a:t>
            </a:r>
            <a:r>
              <a:rPr lang="en-IN" dirty="0"/>
              <a:t>, </a:t>
            </a:r>
            <a:r>
              <a:rPr lang="en-IN" i="1" dirty="0"/>
              <a:t>E</a:t>
            </a:r>
            <a:r>
              <a:rPr lang="en-IN" dirty="0"/>
              <a:t>, </a:t>
            </a:r>
            <a:r>
              <a:rPr lang="en-IN" i="1" dirty="0"/>
              <a:t>I</a:t>
            </a:r>
            <a:r>
              <a:rPr lang="en-IN" dirty="0"/>
              <a:t>, </a:t>
            </a:r>
            <a:r>
              <a:rPr lang="en-IN" i="1" dirty="0"/>
              <a:t>O</a:t>
            </a:r>
            <a:r>
              <a:rPr lang="en-IN" dirty="0"/>
              <a:t> and </a:t>
            </a:r>
            <a:r>
              <a:rPr lang="en-IN" i="1" dirty="0"/>
              <a:t>U</a:t>
            </a:r>
            <a:r>
              <a:rPr lang="en-IN" dirty="0"/>
              <a:t>.</a:t>
            </a:r>
          </a:p>
          <a:p>
            <a:r>
              <a:rPr lang="en-IN" dirty="0"/>
              <a:t>Write all 10 possible cases for vowels and print "Vowel" for each case.</a:t>
            </a:r>
          </a:p>
          <a:p>
            <a:endParaRPr lang="en-IN" dirty="0"/>
          </a:p>
        </p:txBody>
      </p:sp>
    </p:spTree>
    <p:extLst>
      <p:ext uri="{BB962C8B-B14F-4D97-AF65-F5344CB8AC3E}">
        <p14:creationId xmlns:p14="http://schemas.microsoft.com/office/powerpoint/2010/main" val="350587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8229600" cy="564672"/>
          </a:xfrm>
        </p:spPr>
        <p:txBody>
          <a:bodyPr>
            <a:noAutofit/>
          </a:bodyPr>
          <a:lstStyle/>
          <a:p>
            <a:r>
              <a:rPr lang="en-US" sz="2800" dirty="0"/>
              <a:t>Algorithm </a:t>
            </a:r>
            <a:r>
              <a:rPr lang="en-IN" sz="2800" b="1" dirty="0"/>
              <a:t>to check vowel or consonant using switch case</a:t>
            </a:r>
            <a:endParaRPr lang="en-IN" sz="2800" dirty="0"/>
          </a:p>
        </p:txBody>
      </p:sp>
      <p:sp>
        <p:nvSpPr>
          <p:cNvPr id="3" name="Content Placeholder 2"/>
          <p:cNvSpPr>
            <a:spLocks noGrp="1"/>
          </p:cNvSpPr>
          <p:nvPr>
            <p:ph idx="1"/>
          </p:nvPr>
        </p:nvSpPr>
        <p:spPr>
          <a:xfrm>
            <a:off x="457200" y="1484784"/>
            <a:ext cx="8229600" cy="5184576"/>
          </a:xfrm>
        </p:spPr>
        <p:txBody>
          <a:bodyPr>
            <a:normAutofit/>
          </a:bodyPr>
          <a:lstStyle/>
          <a:p>
            <a:r>
              <a:rPr lang="en-IN" dirty="0"/>
              <a:t>Step 1 → START</a:t>
            </a:r>
          </a:p>
          <a:p>
            <a:r>
              <a:rPr lang="en-IN" dirty="0"/>
              <a:t> Step 2 →Read  input an alphabet from user  </a:t>
            </a:r>
            <a:r>
              <a:rPr lang="en-IN" dirty="0" err="1"/>
              <a:t>ch</a:t>
            </a:r>
            <a:endParaRPr lang="en-IN" dirty="0"/>
          </a:p>
          <a:p>
            <a:r>
              <a:rPr lang="en-IN" dirty="0"/>
              <a:t> Step 3 → Switch the value of </a:t>
            </a:r>
            <a:r>
              <a:rPr lang="en-IN" i="1" dirty="0" err="1"/>
              <a:t>ch</a:t>
            </a:r>
            <a:r>
              <a:rPr lang="en-IN" dirty="0" err="1"/>
              <a:t>.</a:t>
            </a:r>
            <a:endParaRPr lang="en-IN" dirty="0"/>
          </a:p>
          <a:p>
            <a:r>
              <a:rPr lang="en-IN" dirty="0"/>
              <a:t> Step 4 → Write all 10 possible cases for vowels ,if true   then go to step 5</a:t>
            </a:r>
          </a:p>
          <a:p>
            <a:r>
              <a:rPr lang="en-IN" dirty="0"/>
              <a:t> Step 5 → Display "Vowel" for each case.</a:t>
            </a:r>
          </a:p>
          <a:p>
            <a:r>
              <a:rPr lang="en-IN" dirty="0"/>
              <a:t> Step 6 →  If alphabet is not vowel then add a default   case &amp; go to step 7 </a:t>
            </a:r>
          </a:p>
          <a:p>
            <a:r>
              <a:rPr lang="en-IN" dirty="0"/>
              <a:t>Step 7 → Display "Consonant". </a:t>
            </a:r>
          </a:p>
          <a:p>
            <a:r>
              <a:rPr lang="en-IN" dirty="0"/>
              <a:t> Step 8 → STOP</a:t>
            </a:r>
          </a:p>
        </p:txBody>
      </p:sp>
    </p:spTree>
    <p:extLst>
      <p:ext uri="{BB962C8B-B14F-4D97-AF65-F5344CB8AC3E}">
        <p14:creationId xmlns:p14="http://schemas.microsoft.com/office/powerpoint/2010/main" val="23629925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6640"/>
          </a:xfrm>
        </p:spPr>
        <p:txBody>
          <a:bodyPr>
            <a:normAutofit fontScale="90000"/>
          </a:bodyPr>
          <a:lstStyle/>
          <a:p>
            <a:endParaRPr lang="en-IN"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980728"/>
            <a:ext cx="5328592" cy="568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78753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0"/>
            <a:ext cx="6840760" cy="6463308"/>
          </a:xfrm>
          <a:prstGeom prst="rect">
            <a:avLst/>
          </a:prstGeom>
        </p:spPr>
        <p:txBody>
          <a:bodyPr wrap="square">
            <a:spAutoFit/>
          </a:bodyPr>
          <a:lstStyle/>
          <a:p>
            <a:r>
              <a:rPr lang="en-IN" dirty="0"/>
              <a:t>#include &lt;</a:t>
            </a:r>
            <a:r>
              <a:rPr lang="en-IN" dirty="0" err="1"/>
              <a:t>stdio.h</a:t>
            </a:r>
            <a:r>
              <a:rPr lang="en-IN" dirty="0"/>
              <a:t>&gt;</a:t>
            </a:r>
          </a:p>
          <a:p>
            <a:r>
              <a:rPr lang="en-IN" dirty="0"/>
              <a:t>main()</a:t>
            </a:r>
          </a:p>
          <a:p>
            <a:r>
              <a:rPr lang="en-IN" dirty="0"/>
              <a:t>{</a:t>
            </a:r>
          </a:p>
          <a:p>
            <a:r>
              <a:rPr lang="en-IN" dirty="0"/>
              <a:t>    char </a:t>
            </a:r>
            <a:r>
              <a:rPr lang="en-IN" dirty="0" err="1"/>
              <a:t>ch</a:t>
            </a:r>
            <a:r>
              <a:rPr lang="en-IN" dirty="0"/>
              <a:t>;</a:t>
            </a:r>
          </a:p>
          <a:p>
            <a:r>
              <a:rPr lang="en-IN" dirty="0" err="1"/>
              <a:t>printf</a:t>
            </a:r>
            <a:r>
              <a:rPr lang="en-IN" dirty="0"/>
              <a:t>("Enter any alphabet: ");</a:t>
            </a:r>
          </a:p>
          <a:p>
            <a:r>
              <a:rPr lang="en-IN" dirty="0"/>
              <a:t>    </a:t>
            </a:r>
            <a:r>
              <a:rPr lang="en-IN" dirty="0" err="1"/>
              <a:t>scanf</a:t>
            </a:r>
            <a:r>
              <a:rPr lang="en-IN" dirty="0"/>
              <a:t>("%c", &amp;</a:t>
            </a:r>
            <a:r>
              <a:rPr lang="en-IN" dirty="0" err="1"/>
              <a:t>ch</a:t>
            </a:r>
            <a:r>
              <a:rPr lang="en-IN" dirty="0"/>
              <a:t>);</a:t>
            </a:r>
          </a:p>
          <a:p>
            <a:r>
              <a:rPr lang="en-IN" dirty="0"/>
              <a:t>switch(</a:t>
            </a:r>
            <a:r>
              <a:rPr lang="en-IN" dirty="0" err="1"/>
              <a:t>ch</a:t>
            </a:r>
            <a:r>
              <a:rPr lang="en-IN" dirty="0"/>
              <a:t>)</a:t>
            </a:r>
          </a:p>
          <a:p>
            <a:r>
              <a:rPr lang="en-IN" dirty="0"/>
              <a:t>    {</a:t>
            </a:r>
          </a:p>
          <a:p>
            <a:r>
              <a:rPr lang="en-IN" dirty="0"/>
              <a:t>        case 'a': </a:t>
            </a:r>
          </a:p>
          <a:p>
            <a:r>
              <a:rPr lang="en-IN" dirty="0"/>
              <a:t>            </a:t>
            </a:r>
            <a:r>
              <a:rPr lang="en-IN" dirty="0" err="1"/>
              <a:t>printf</a:t>
            </a:r>
            <a:r>
              <a:rPr lang="en-IN" dirty="0"/>
              <a:t>("Vowel");</a:t>
            </a:r>
          </a:p>
          <a:p>
            <a:r>
              <a:rPr lang="en-IN" dirty="0"/>
              <a:t>            break;</a:t>
            </a:r>
          </a:p>
          <a:p>
            <a:r>
              <a:rPr lang="en-IN" dirty="0"/>
              <a:t>        case 'e': </a:t>
            </a:r>
          </a:p>
          <a:p>
            <a:r>
              <a:rPr lang="en-IN" dirty="0"/>
              <a:t>            </a:t>
            </a:r>
            <a:r>
              <a:rPr lang="en-IN" dirty="0" err="1"/>
              <a:t>printf</a:t>
            </a:r>
            <a:r>
              <a:rPr lang="en-IN" dirty="0"/>
              <a:t>("Vowel");</a:t>
            </a:r>
          </a:p>
          <a:p>
            <a:r>
              <a:rPr lang="en-IN" dirty="0"/>
              <a:t>            break;</a:t>
            </a:r>
          </a:p>
          <a:p>
            <a:r>
              <a:rPr lang="en-IN" dirty="0"/>
              <a:t>        case 'i': </a:t>
            </a:r>
          </a:p>
          <a:p>
            <a:r>
              <a:rPr lang="en-IN" dirty="0"/>
              <a:t>            </a:t>
            </a:r>
            <a:r>
              <a:rPr lang="en-IN" dirty="0" err="1"/>
              <a:t>printf</a:t>
            </a:r>
            <a:r>
              <a:rPr lang="en-IN" dirty="0"/>
              <a:t>("Vowel");</a:t>
            </a:r>
          </a:p>
          <a:p>
            <a:r>
              <a:rPr lang="en-IN" dirty="0"/>
              <a:t>            break;</a:t>
            </a:r>
          </a:p>
          <a:p>
            <a:r>
              <a:rPr lang="en-IN" dirty="0"/>
              <a:t>        case 'o': </a:t>
            </a:r>
          </a:p>
          <a:p>
            <a:r>
              <a:rPr lang="en-IN" dirty="0"/>
              <a:t>            </a:t>
            </a:r>
            <a:r>
              <a:rPr lang="en-IN" dirty="0" err="1"/>
              <a:t>printf</a:t>
            </a:r>
            <a:r>
              <a:rPr lang="en-IN" dirty="0"/>
              <a:t>("Vowel");</a:t>
            </a:r>
          </a:p>
          <a:p>
            <a:r>
              <a:rPr lang="en-IN" dirty="0"/>
              <a:t>            break;</a:t>
            </a:r>
          </a:p>
          <a:p>
            <a:r>
              <a:rPr lang="en-IN" dirty="0"/>
              <a:t>        case 'u': </a:t>
            </a:r>
          </a:p>
          <a:p>
            <a:r>
              <a:rPr lang="en-IN" dirty="0"/>
              <a:t>            </a:t>
            </a:r>
            <a:r>
              <a:rPr lang="en-IN" dirty="0" err="1"/>
              <a:t>printf</a:t>
            </a:r>
            <a:r>
              <a:rPr lang="en-IN" dirty="0"/>
              <a:t>("Vowel");</a:t>
            </a:r>
          </a:p>
          <a:p>
            <a:r>
              <a:rPr lang="en-IN" dirty="0"/>
              <a:t>            break;</a:t>
            </a:r>
          </a:p>
        </p:txBody>
      </p:sp>
    </p:spTree>
    <p:extLst>
      <p:ext uri="{BB962C8B-B14F-4D97-AF65-F5344CB8AC3E}">
        <p14:creationId xmlns:p14="http://schemas.microsoft.com/office/powerpoint/2010/main" val="42244622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751344"/>
            <a:ext cx="4572000" cy="5355312"/>
          </a:xfrm>
          <a:prstGeom prst="rect">
            <a:avLst/>
          </a:prstGeom>
        </p:spPr>
        <p:txBody>
          <a:bodyPr>
            <a:spAutoFit/>
          </a:bodyPr>
          <a:lstStyle/>
          <a:p>
            <a:r>
              <a:rPr lang="en-IN" dirty="0"/>
              <a:t> case 'A': </a:t>
            </a:r>
          </a:p>
          <a:p>
            <a:r>
              <a:rPr lang="en-IN" dirty="0"/>
              <a:t>            </a:t>
            </a:r>
            <a:r>
              <a:rPr lang="en-IN" dirty="0" err="1"/>
              <a:t>printf</a:t>
            </a:r>
            <a:r>
              <a:rPr lang="en-IN" dirty="0"/>
              <a:t>("Vowel");</a:t>
            </a:r>
          </a:p>
          <a:p>
            <a:r>
              <a:rPr lang="en-IN" dirty="0"/>
              <a:t>            break;</a:t>
            </a:r>
          </a:p>
          <a:p>
            <a:r>
              <a:rPr lang="en-IN" dirty="0"/>
              <a:t>        case 'E': </a:t>
            </a:r>
          </a:p>
          <a:p>
            <a:r>
              <a:rPr lang="en-IN" dirty="0"/>
              <a:t>            </a:t>
            </a:r>
            <a:r>
              <a:rPr lang="en-IN" dirty="0" err="1"/>
              <a:t>printf</a:t>
            </a:r>
            <a:r>
              <a:rPr lang="en-IN" dirty="0"/>
              <a:t>("Vowel");</a:t>
            </a:r>
          </a:p>
          <a:p>
            <a:r>
              <a:rPr lang="en-IN" dirty="0"/>
              <a:t>            break;</a:t>
            </a:r>
          </a:p>
          <a:p>
            <a:r>
              <a:rPr lang="en-IN" dirty="0"/>
              <a:t>        case 'I': </a:t>
            </a:r>
          </a:p>
          <a:p>
            <a:r>
              <a:rPr lang="en-IN" dirty="0"/>
              <a:t>            </a:t>
            </a:r>
            <a:r>
              <a:rPr lang="en-IN" dirty="0" err="1"/>
              <a:t>printf</a:t>
            </a:r>
            <a:r>
              <a:rPr lang="en-IN" dirty="0"/>
              <a:t>("Vowel");</a:t>
            </a:r>
          </a:p>
          <a:p>
            <a:r>
              <a:rPr lang="en-IN" dirty="0"/>
              <a:t>            break;</a:t>
            </a:r>
          </a:p>
          <a:p>
            <a:r>
              <a:rPr lang="en-IN" dirty="0"/>
              <a:t>        case 'O': </a:t>
            </a:r>
          </a:p>
          <a:p>
            <a:r>
              <a:rPr lang="en-IN" dirty="0"/>
              <a:t>            </a:t>
            </a:r>
            <a:r>
              <a:rPr lang="en-IN" dirty="0" err="1"/>
              <a:t>printf</a:t>
            </a:r>
            <a:r>
              <a:rPr lang="en-IN" dirty="0"/>
              <a:t>("Vowel");</a:t>
            </a:r>
          </a:p>
          <a:p>
            <a:r>
              <a:rPr lang="en-IN" dirty="0"/>
              <a:t>            break;</a:t>
            </a:r>
          </a:p>
          <a:p>
            <a:r>
              <a:rPr lang="en-IN" dirty="0"/>
              <a:t>        case 'U': </a:t>
            </a:r>
          </a:p>
          <a:p>
            <a:r>
              <a:rPr lang="en-IN" dirty="0"/>
              <a:t>            </a:t>
            </a:r>
            <a:r>
              <a:rPr lang="en-IN" dirty="0" err="1"/>
              <a:t>printf</a:t>
            </a:r>
            <a:r>
              <a:rPr lang="en-IN" dirty="0"/>
              <a:t>("Vowel");</a:t>
            </a:r>
          </a:p>
          <a:p>
            <a:r>
              <a:rPr lang="en-IN" dirty="0"/>
              <a:t>            break;</a:t>
            </a:r>
          </a:p>
          <a:p>
            <a:r>
              <a:rPr lang="en-IN" dirty="0"/>
              <a:t>        default: </a:t>
            </a:r>
          </a:p>
          <a:p>
            <a:r>
              <a:rPr lang="en-IN" dirty="0"/>
              <a:t>            </a:t>
            </a:r>
            <a:r>
              <a:rPr lang="en-IN" dirty="0" err="1"/>
              <a:t>printf</a:t>
            </a:r>
            <a:r>
              <a:rPr lang="en-IN" dirty="0"/>
              <a:t>("Consonant");</a:t>
            </a:r>
          </a:p>
          <a:p>
            <a:r>
              <a:rPr lang="en-IN" dirty="0"/>
              <a:t>   }</a:t>
            </a:r>
          </a:p>
          <a:p>
            <a:r>
              <a:rPr lang="en-IN" dirty="0"/>
              <a:t>}</a:t>
            </a:r>
          </a:p>
        </p:txBody>
      </p:sp>
    </p:spTree>
    <p:extLst>
      <p:ext uri="{BB962C8B-B14F-4D97-AF65-F5344CB8AC3E}">
        <p14:creationId xmlns:p14="http://schemas.microsoft.com/office/powerpoint/2010/main" val="28567953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b="1" dirty="0"/>
              <a:t>Program to calculate the area of a rectangle or circle or triangle by taking the user’s choice.</a:t>
            </a:r>
            <a:br>
              <a:rPr lang="en-IN" sz="3200" b="1" dirty="0"/>
            </a:br>
            <a:endParaRPr lang="en-IN" sz="3200" dirty="0"/>
          </a:p>
        </p:txBody>
      </p:sp>
      <p:sp>
        <p:nvSpPr>
          <p:cNvPr id="3" name="Content Placeholder 2"/>
          <p:cNvSpPr>
            <a:spLocks noGrp="1"/>
          </p:cNvSpPr>
          <p:nvPr>
            <p:ph idx="1"/>
          </p:nvPr>
        </p:nvSpPr>
        <p:spPr>
          <a:xfrm>
            <a:off x="457200" y="1484784"/>
            <a:ext cx="8229600" cy="4839816"/>
          </a:xfrm>
        </p:spPr>
        <p:txBody>
          <a:bodyPr>
            <a:normAutofit fontScale="77500" lnSpcReduction="20000"/>
          </a:bodyPr>
          <a:lstStyle/>
          <a:p>
            <a:r>
              <a:rPr lang="en-IN" dirty="0"/>
              <a:t>Step 1: Start</a:t>
            </a:r>
          </a:p>
          <a:p>
            <a:endParaRPr lang="en-IN" dirty="0"/>
          </a:p>
          <a:p>
            <a:r>
              <a:rPr lang="en-IN" dirty="0"/>
              <a:t>Step 2: Initialize variables</a:t>
            </a:r>
          </a:p>
          <a:p>
            <a:endParaRPr lang="en-IN" dirty="0"/>
          </a:p>
          <a:p>
            <a:r>
              <a:rPr lang="en-IN" dirty="0"/>
              <a:t>Step 3: Take input for choice and then for area variables from the user</a:t>
            </a:r>
          </a:p>
          <a:p>
            <a:endParaRPr lang="en-IN" dirty="0"/>
          </a:p>
          <a:p>
            <a:r>
              <a:rPr lang="en-IN" dirty="0"/>
              <a:t>Step 4: Case 1: Circle: 3.14*3.14*r</a:t>
            </a:r>
          </a:p>
          <a:p>
            <a:endParaRPr lang="en-IN" dirty="0"/>
          </a:p>
          <a:p>
            <a:r>
              <a:rPr lang="en-IN" dirty="0"/>
              <a:t>Case 2: Rectangle: </a:t>
            </a:r>
            <a:r>
              <a:rPr lang="en-IN" dirty="0" err="1"/>
              <a:t>ar</a:t>
            </a:r>
            <a:r>
              <a:rPr lang="en-IN" dirty="0"/>
              <a:t>=a*b</a:t>
            </a:r>
          </a:p>
          <a:p>
            <a:endParaRPr lang="en-IN" dirty="0"/>
          </a:p>
          <a:p>
            <a:r>
              <a:rPr lang="en-IN" dirty="0"/>
              <a:t>Case 3: Triangle: at=0.5*a*b</a:t>
            </a:r>
          </a:p>
          <a:p>
            <a:endParaRPr lang="en-IN" dirty="0"/>
          </a:p>
          <a:p>
            <a:r>
              <a:rPr lang="en-IN" dirty="0"/>
              <a:t>Step 5: Display output according to case</a:t>
            </a:r>
          </a:p>
          <a:p>
            <a:endParaRPr lang="en-IN" dirty="0"/>
          </a:p>
          <a:p>
            <a:r>
              <a:rPr lang="en-IN" dirty="0"/>
              <a:t>Step 6: Stop</a:t>
            </a:r>
          </a:p>
        </p:txBody>
      </p:sp>
    </p:spTree>
    <p:extLst>
      <p:ext uri="{BB962C8B-B14F-4D97-AF65-F5344CB8AC3E}">
        <p14:creationId xmlns:p14="http://schemas.microsoft.com/office/powerpoint/2010/main" val="32831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1000"/>
                                        <p:tgtEl>
                                          <p:spTgt spid="3">
                                            <p:txEl>
                                              <p:pRg st="12" end="12"/>
                                            </p:txEl>
                                          </p:spTgt>
                                        </p:tgtEl>
                                      </p:cBhvr>
                                    </p:animEffect>
                                    <p:anim calcmode="lin" valueType="num">
                                      <p:cBhvr>
                                        <p:cTn id="3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4" end="14"/>
                                            </p:txEl>
                                          </p:spTgt>
                                        </p:tgtEl>
                                        <p:attrNameLst>
                                          <p:attrName>style.visibility</p:attrName>
                                        </p:attrNameLst>
                                      </p:cBhvr>
                                      <p:to>
                                        <p:strVal val="visible"/>
                                      </p:to>
                                    </p:set>
                                    <p:animEffect transition="in" filter="fade">
                                      <p:cBhvr>
                                        <p:cTn id="42" dur="1000"/>
                                        <p:tgtEl>
                                          <p:spTgt spid="3">
                                            <p:txEl>
                                              <p:pRg st="14" end="14"/>
                                            </p:txEl>
                                          </p:spTgt>
                                        </p:tgtEl>
                                      </p:cBhvr>
                                    </p:animEffect>
                                    <p:anim calcmode="lin" valueType="num">
                                      <p:cBhvr>
                                        <p:cTn id="43"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360040"/>
          </a:xfrm>
        </p:spPr>
        <p:txBody>
          <a:bodyPr>
            <a:normAutofit fontScale="90000"/>
          </a:bodyPr>
          <a:lstStyle/>
          <a:p>
            <a:r>
              <a:rPr lang="en-US" dirty="0"/>
              <a:t>Flowchart</a:t>
            </a:r>
            <a:endParaRPr lang="en-IN"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908720"/>
            <a:ext cx="6984776" cy="5832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96943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Autofit/>
          </a:bodyPr>
          <a:lstStyle/>
          <a:p>
            <a:r>
              <a:rPr lang="en-IN" sz="2000" b="1" dirty="0"/>
              <a:t>Program to calculate the area of a rectangle or circle or triangle by taking the user’s choice.</a:t>
            </a:r>
            <a:br>
              <a:rPr lang="en-IN" sz="2000" b="1" dirty="0"/>
            </a:br>
            <a:endParaRPr lang="en-IN" sz="2000" dirty="0"/>
          </a:p>
        </p:txBody>
      </p:sp>
      <p:sp>
        <p:nvSpPr>
          <p:cNvPr id="3" name="Content Placeholder 2"/>
          <p:cNvSpPr>
            <a:spLocks noGrp="1"/>
          </p:cNvSpPr>
          <p:nvPr>
            <p:ph idx="1"/>
          </p:nvPr>
        </p:nvSpPr>
        <p:spPr>
          <a:xfrm>
            <a:off x="457200" y="1124744"/>
            <a:ext cx="8229600" cy="5199856"/>
          </a:xfrm>
        </p:spPr>
        <p:txBody>
          <a:bodyPr>
            <a:normAutofit fontScale="55000" lnSpcReduction="20000"/>
          </a:bodyPr>
          <a:lstStyle/>
          <a:p>
            <a:r>
              <a:rPr lang="en-IN" dirty="0"/>
              <a:t>#include&lt;</a:t>
            </a:r>
            <a:r>
              <a:rPr lang="en-IN" dirty="0" err="1"/>
              <a:t>stdio.h</a:t>
            </a:r>
            <a:r>
              <a:rPr lang="en-IN" dirty="0"/>
              <a:t>&gt;</a:t>
            </a:r>
          </a:p>
          <a:p>
            <a:r>
              <a:rPr lang="en-IN" dirty="0"/>
              <a:t>#include&lt;</a:t>
            </a:r>
            <a:r>
              <a:rPr lang="en-IN" dirty="0" err="1"/>
              <a:t>conio.h</a:t>
            </a:r>
            <a:r>
              <a:rPr lang="en-IN" dirty="0"/>
              <a:t>&gt;</a:t>
            </a:r>
          </a:p>
          <a:p>
            <a:endParaRPr lang="en-IN" dirty="0"/>
          </a:p>
          <a:p>
            <a:r>
              <a:rPr lang="en-IN" dirty="0"/>
              <a:t>void main()</a:t>
            </a:r>
          </a:p>
          <a:p>
            <a:r>
              <a:rPr lang="en-IN" dirty="0"/>
              <a:t>{</a:t>
            </a:r>
          </a:p>
          <a:p>
            <a:r>
              <a:rPr lang="en-IN" dirty="0"/>
              <a:t>    </a:t>
            </a:r>
            <a:r>
              <a:rPr lang="en-IN" dirty="0" err="1"/>
              <a:t>int</a:t>
            </a:r>
            <a:r>
              <a:rPr lang="en-IN" dirty="0"/>
              <a:t>  </a:t>
            </a:r>
            <a:r>
              <a:rPr lang="en-IN" dirty="0" err="1"/>
              <a:t>ac,ar,at,r,a,b</a:t>
            </a:r>
            <a:r>
              <a:rPr lang="en-IN" dirty="0"/>
              <a:t>;</a:t>
            </a:r>
          </a:p>
          <a:p>
            <a:r>
              <a:rPr lang="en-US" dirty="0"/>
              <a:t>char choice;</a:t>
            </a:r>
            <a:endParaRPr lang="en-IN" dirty="0"/>
          </a:p>
          <a:p>
            <a:endParaRPr lang="en-IN" dirty="0"/>
          </a:p>
          <a:p>
            <a:r>
              <a:rPr lang="en-IN" dirty="0"/>
              <a:t>    </a:t>
            </a:r>
            <a:r>
              <a:rPr lang="en-IN" dirty="0" err="1"/>
              <a:t>printf</a:t>
            </a:r>
            <a:r>
              <a:rPr lang="en-IN" dirty="0"/>
              <a:t>("Enter your choice\n”);</a:t>
            </a:r>
          </a:p>
          <a:p>
            <a:r>
              <a:rPr lang="en-IN" dirty="0"/>
              <a:t>    </a:t>
            </a:r>
            <a:r>
              <a:rPr lang="en-IN" dirty="0" err="1"/>
              <a:t>prinft</a:t>
            </a:r>
            <a:r>
              <a:rPr lang="en-IN" dirty="0"/>
              <a:t>(“A for area of circle\n”);</a:t>
            </a:r>
          </a:p>
          <a:p>
            <a:r>
              <a:rPr lang="en-IN" dirty="0"/>
              <a:t>    </a:t>
            </a:r>
            <a:r>
              <a:rPr lang="en-IN" dirty="0" err="1"/>
              <a:t>printf</a:t>
            </a:r>
            <a:r>
              <a:rPr lang="en-IN" dirty="0"/>
              <a:t>(“B for area of rectangle\n”);</a:t>
            </a:r>
          </a:p>
          <a:p>
            <a:r>
              <a:rPr lang="en-IN" dirty="0"/>
              <a:t>    </a:t>
            </a:r>
            <a:r>
              <a:rPr lang="en-IN" dirty="0" err="1"/>
              <a:t>printf</a:t>
            </a:r>
            <a:r>
              <a:rPr lang="en-IN" dirty="0"/>
              <a:t>(“C for area of triangle\n");</a:t>
            </a:r>
          </a:p>
          <a:p>
            <a:r>
              <a:rPr lang="en-IN" dirty="0"/>
              <a:t>    </a:t>
            </a:r>
            <a:r>
              <a:rPr lang="en-IN" dirty="0" err="1"/>
              <a:t>scanf</a:t>
            </a:r>
            <a:r>
              <a:rPr lang="en-IN" dirty="0"/>
              <a:t>("%</a:t>
            </a:r>
            <a:r>
              <a:rPr lang="en-IN" dirty="0" err="1"/>
              <a:t>c",&amp;choice</a:t>
            </a:r>
            <a:r>
              <a:rPr lang="en-IN" dirty="0"/>
              <a:t>);</a:t>
            </a:r>
          </a:p>
          <a:p>
            <a:endParaRPr lang="en-IN" dirty="0"/>
          </a:p>
          <a:p>
            <a:r>
              <a:rPr lang="en-IN" dirty="0"/>
              <a:t>    switch(choice)</a:t>
            </a:r>
          </a:p>
          <a:p>
            <a:r>
              <a:rPr lang="en-IN" dirty="0"/>
              <a:t>    {</a:t>
            </a:r>
          </a:p>
          <a:p>
            <a:r>
              <a:rPr lang="en-IN" dirty="0"/>
              <a:t>    case ‘A’:</a:t>
            </a:r>
          </a:p>
          <a:p>
            <a:r>
              <a:rPr lang="en-IN" dirty="0"/>
              <a:t>        </a:t>
            </a:r>
            <a:r>
              <a:rPr lang="en-IN" dirty="0" err="1"/>
              <a:t>printf</a:t>
            </a:r>
            <a:r>
              <a:rPr lang="en-IN" dirty="0"/>
              <a:t>("Enter radius: ");</a:t>
            </a:r>
          </a:p>
          <a:p>
            <a:r>
              <a:rPr lang="en-IN" dirty="0"/>
              <a:t>        </a:t>
            </a:r>
            <a:r>
              <a:rPr lang="en-IN" dirty="0" err="1"/>
              <a:t>scanf</a:t>
            </a:r>
            <a:r>
              <a:rPr lang="en-IN" dirty="0"/>
              <a:t>("%</a:t>
            </a:r>
            <a:r>
              <a:rPr lang="en-IN" dirty="0" err="1"/>
              <a:t>d",&amp;r</a:t>
            </a:r>
            <a:r>
              <a:rPr lang="en-IN" dirty="0"/>
              <a:t>);</a:t>
            </a:r>
          </a:p>
          <a:p>
            <a:r>
              <a:rPr lang="en-IN" dirty="0"/>
              <a:t>        ac=3.14*3.14*r;</a:t>
            </a:r>
          </a:p>
          <a:p>
            <a:r>
              <a:rPr lang="en-IN" dirty="0"/>
              <a:t>        </a:t>
            </a:r>
            <a:r>
              <a:rPr lang="en-IN" dirty="0" err="1"/>
              <a:t>printf</a:t>
            </a:r>
            <a:r>
              <a:rPr lang="en-IN" dirty="0"/>
              <a:t>("Area of circle is: %</a:t>
            </a:r>
            <a:r>
              <a:rPr lang="en-IN" dirty="0" err="1"/>
              <a:t>d",ac</a:t>
            </a:r>
            <a:r>
              <a:rPr lang="en-IN" dirty="0"/>
              <a:t>);</a:t>
            </a:r>
          </a:p>
          <a:p>
            <a:r>
              <a:rPr lang="en-IN" dirty="0"/>
              <a:t>        break;</a:t>
            </a:r>
          </a:p>
          <a:p>
            <a:r>
              <a:rPr lang="en-IN" dirty="0"/>
              <a:t>    9</a:t>
            </a:r>
          </a:p>
        </p:txBody>
      </p:sp>
      <p:sp>
        <p:nvSpPr>
          <p:cNvPr id="4" name="Rectangle 3"/>
          <p:cNvSpPr/>
          <p:nvPr/>
        </p:nvSpPr>
        <p:spPr>
          <a:xfrm>
            <a:off x="2286000" y="3105835"/>
            <a:ext cx="4572000" cy="369332"/>
          </a:xfrm>
          <a:prstGeom prst="rect">
            <a:avLst/>
          </a:prstGeom>
        </p:spPr>
        <p:txBody>
          <a:bodyPr>
            <a:spAutoFit/>
          </a:bodyPr>
          <a:lstStyle/>
          <a:p>
            <a:endParaRPr lang="en-IN" b="1" dirty="0"/>
          </a:p>
        </p:txBody>
      </p:sp>
    </p:spTree>
    <p:extLst>
      <p:ext uri="{BB962C8B-B14F-4D97-AF65-F5344CB8AC3E}">
        <p14:creationId xmlns:p14="http://schemas.microsoft.com/office/powerpoint/2010/main" val="39056996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IN" dirty="0"/>
              <a:t>case ‘B’:</a:t>
            </a:r>
          </a:p>
          <a:p>
            <a:r>
              <a:rPr lang="en-IN" dirty="0"/>
              <a:t>        </a:t>
            </a:r>
            <a:r>
              <a:rPr lang="en-IN" dirty="0" err="1"/>
              <a:t>printf</a:t>
            </a:r>
            <a:r>
              <a:rPr lang="en-IN" dirty="0"/>
              <a:t>("Enter length and breadth:");</a:t>
            </a:r>
          </a:p>
          <a:p>
            <a:r>
              <a:rPr lang="en-IN" dirty="0"/>
              <a:t>        </a:t>
            </a:r>
            <a:r>
              <a:rPr lang="en-IN" dirty="0" err="1"/>
              <a:t>scanf</a:t>
            </a:r>
            <a:r>
              <a:rPr lang="en-IN" dirty="0"/>
              <a:t>("%d %</a:t>
            </a:r>
            <a:r>
              <a:rPr lang="en-IN" dirty="0" err="1"/>
              <a:t>d",&amp;a,&amp;b</a:t>
            </a:r>
            <a:r>
              <a:rPr lang="en-IN" dirty="0"/>
              <a:t>);</a:t>
            </a:r>
          </a:p>
          <a:p>
            <a:r>
              <a:rPr lang="en-IN" dirty="0"/>
              <a:t>        </a:t>
            </a:r>
            <a:r>
              <a:rPr lang="en-IN" dirty="0" err="1"/>
              <a:t>ar</a:t>
            </a:r>
            <a:r>
              <a:rPr lang="en-IN" dirty="0"/>
              <a:t>=a*b;</a:t>
            </a:r>
          </a:p>
          <a:p>
            <a:r>
              <a:rPr lang="en-IN" dirty="0"/>
              <a:t>        </a:t>
            </a:r>
            <a:r>
              <a:rPr lang="en-IN" dirty="0" err="1"/>
              <a:t>printf</a:t>
            </a:r>
            <a:r>
              <a:rPr lang="en-IN" dirty="0"/>
              <a:t>("Area of rectangle is: %d",</a:t>
            </a:r>
            <a:r>
              <a:rPr lang="en-IN" dirty="0" err="1"/>
              <a:t>ar</a:t>
            </a:r>
            <a:r>
              <a:rPr lang="en-IN" dirty="0"/>
              <a:t>);</a:t>
            </a:r>
          </a:p>
          <a:p>
            <a:r>
              <a:rPr lang="en-IN" dirty="0"/>
              <a:t>        break;</a:t>
            </a:r>
          </a:p>
          <a:p>
            <a:r>
              <a:rPr lang="en-IN" dirty="0"/>
              <a:t>    case ‘C’:</a:t>
            </a:r>
          </a:p>
          <a:p>
            <a:r>
              <a:rPr lang="en-IN" dirty="0"/>
              <a:t>        </a:t>
            </a:r>
            <a:r>
              <a:rPr lang="en-IN" dirty="0" err="1"/>
              <a:t>printf</a:t>
            </a:r>
            <a:r>
              <a:rPr lang="en-IN" dirty="0"/>
              <a:t>("Enter base and height: ");</a:t>
            </a:r>
          </a:p>
          <a:p>
            <a:r>
              <a:rPr lang="en-IN" dirty="0"/>
              <a:t>        </a:t>
            </a:r>
            <a:r>
              <a:rPr lang="en-IN" dirty="0" err="1"/>
              <a:t>scanf</a:t>
            </a:r>
            <a:r>
              <a:rPr lang="en-IN" dirty="0"/>
              <a:t>("%d %</a:t>
            </a:r>
            <a:r>
              <a:rPr lang="en-IN" dirty="0" err="1"/>
              <a:t>d",&amp;a,&amp;b</a:t>
            </a:r>
            <a:r>
              <a:rPr lang="en-IN" dirty="0"/>
              <a:t>);</a:t>
            </a:r>
          </a:p>
          <a:p>
            <a:r>
              <a:rPr lang="en-IN" dirty="0"/>
              <a:t>        at=0.5*a*b;</a:t>
            </a:r>
          </a:p>
          <a:p>
            <a:r>
              <a:rPr lang="en-IN" dirty="0"/>
              <a:t>        </a:t>
            </a:r>
            <a:r>
              <a:rPr lang="en-IN" dirty="0" err="1"/>
              <a:t>printf</a:t>
            </a:r>
            <a:r>
              <a:rPr lang="en-IN" dirty="0"/>
              <a:t>("Area of triangle is: %</a:t>
            </a:r>
            <a:r>
              <a:rPr lang="en-IN" dirty="0" err="1"/>
              <a:t>d",at</a:t>
            </a:r>
            <a:r>
              <a:rPr lang="en-IN" dirty="0"/>
              <a:t>);</a:t>
            </a:r>
          </a:p>
          <a:p>
            <a:r>
              <a:rPr lang="en-IN" dirty="0"/>
              <a:t>        break;</a:t>
            </a:r>
          </a:p>
          <a:p>
            <a:r>
              <a:rPr lang="en-IN" dirty="0"/>
              <a:t>    }</a:t>
            </a:r>
          </a:p>
          <a:p>
            <a:endParaRPr lang="en-IN" dirty="0"/>
          </a:p>
          <a:p>
            <a:r>
              <a:rPr lang="en-IN" dirty="0"/>
              <a:t>    </a:t>
            </a:r>
            <a:r>
              <a:rPr lang="en-IN" dirty="0" err="1"/>
              <a:t>getch</a:t>
            </a:r>
            <a:r>
              <a:rPr lang="en-IN" dirty="0"/>
              <a:t>();</a:t>
            </a:r>
          </a:p>
          <a:p>
            <a:r>
              <a:rPr lang="en-IN" dirty="0"/>
              <a:t>}</a:t>
            </a:r>
          </a:p>
          <a:p>
            <a:endParaRPr lang="en-IN" dirty="0"/>
          </a:p>
        </p:txBody>
      </p:sp>
    </p:spTree>
    <p:extLst>
      <p:ext uri="{BB962C8B-B14F-4D97-AF65-F5344CB8AC3E}">
        <p14:creationId xmlns:p14="http://schemas.microsoft.com/office/powerpoint/2010/main" val="34791921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92088"/>
          </a:xfrm>
        </p:spPr>
        <p:txBody>
          <a:bodyPr>
            <a:normAutofit/>
          </a:bodyPr>
          <a:lstStyle/>
          <a:p>
            <a:r>
              <a:rPr lang="en-IN" sz="2000" b="1" dirty="0"/>
              <a:t>C program to design calculator with basic operations using switch</a:t>
            </a:r>
            <a:br>
              <a:rPr lang="en-IN" sz="2000" b="1" dirty="0"/>
            </a:br>
            <a:endParaRPr lang="en-IN" sz="2000" dirty="0"/>
          </a:p>
        </p:txBody>
      </p:sp>
      <p:sp>
        <p:nvSpPr>
          <p:cNvPr id="3" name="Content Placeholder 2"/>
          <p:cNvSpPr>
            <a:spLocks noGrp="1"/>
          </p:cNvSpPr>
          <p:nvPr>
            <p:ph idx="1"/>
          </p:nvPr>
        </p:nvSpPr>
        <p:spPr>
          <a:xfrm>
            <a:off x="179512" y="836712"/>
            <a:ext cx="8712968" cy="5904656"/>
          </a:xfrm>
        </p:spPr>
        <p:txBody>
          <a:bodyPr>
            <a:normAutofit fontScale="92500" lnSpcReduction="20000"/>
          </a:bodyPr>
          <a:lstStyle/>
          <a:p>
            <a:r>
              <a:rPr lang="en-IN" dirty="0"/>
              <a:t>Step 1 → START</a:t>
            </a:r>
          </a:p>
          <a:p>
            <a:r>
              <a:rPr lang="en-IN" dirty="0"/>
              <a:t>Step 2 →Read input two numbers and a character from user ,store them in some variable say </a:t>
            </a:r>
            <a:r>
              <a:rPr lang="en-IN" i="1" dirty="0"/>
              <a:t>num1</a:t>
            </a:r>
            <a:r>
              <a:rPr lang="en-IN" dirty="0"/>
              <a:t>, </a:t>
            </a:r>
            <a:r>
              <a:rPr lang="en-IN" i="1" dirty="0"/>
              <a:t>op</a:t>
            </a:r>
            <a:r>
              <a:rPr lang="en-IN" dirty="0"/>
              <a:t> and </a:t>
            </a:r>
            <a:r>
              <a:rPr lang="en-IN" i="1" dirty="0"/>
              <a:t>num2</a:t>
            </a:r>
            <a:r>
              <a:rPr lang="en-IN" dirty="0"/>
              <a:t>.</a:t>
            </a:r>
          </a:p>
          <a:p>
            <a:r>
              <a:rPr lang="en-IN" dirty="0"/>
              <a:t>Step 3 → Switch the value of </a:t>
            </a:r>
            <a:r>
              <a:rPr lang="en-IN" i="1" dirty="0"/>
              <a:t>op</a:t>
            </a:r>
            <a:r>
              <a:rPr lang="en-IN" dirty="0"/>
              <a:t> i.e. switch(op).</a:t>
            </a:r>
          </a:p>
          <a:p>
            <a:r>
              <a:rPr lang="en-IN" dirty="0"/>
              <a:t> Step 4 → Write all  four possible values of </a:t>
            </a:r>
            <a:r>
              <a:rPr lang="en-IN" i="1" dirty="0"/>
              <a:t>op</a:t>
            </a:r>
            <a:r>
              <a:rPr lang="en-IN" dirty="0"/>
              <a:t> i.e. '+', '-', '*' and '/'.</a:t>
            </a:r>
          </a:p>
          <a:p>
            <a:r>
              <a:rPr lang="en-IN" dirty="0"/>
              <a:t> Step 5 → For case '+' perform addition and store result in some variable i.e. result = num1 + num2.</a:t>
            </a:r>
          </a:p>
          <a:p>
            <a:r>
              <a:rPr lang="en-IN" dirty="0"/>
              <a:t> Step 6 →  for case '-' perform subtraction and store result in some variable i.e. result = num1 - num2.</a:t>
            </a:r>
          </a:p>
          <a:p>
            <a:r>
              <a:rPr lang="en-IN" dirty="0"/>
              <a:t>Step 7 → for case ‘*' perform subtraction and store result in some variable i.e. result = num1 *num2.</a:t>
            </a:r>
          </a:p>
          <a:p>
            <a:r>
              <a:rPr lang="en-IN" dirty="0"/>
              <a:t> Step 8 → for case ‘/' perform subtraction and store result in some variable i.e. result = num1 - num2.</a:t>
            </a:r>
          </a:p>
          <a:p>
            <a:r>
              <a:rPr lang="en-IN" dirty="0"/>
              <a:t>Step 9 →Finally print the value of </a:t>
            </a:r>
            <a:r>
              <a:rPr lang="en-IN" i="1" dirty="0"/>
              <a:t>result</a:t>
            </a:r>
            <a:r>
              <a:rPr lang="en-IN" dirty="0"/>
              <a:t>.</a:t>
            </a:r>
          </a:p>
          <a:p>
            <a:r>
              <a:rPr lang="en-IN" dirty="0"/>
              <a:t>Step 10 →STOP</a:t>
            </a:r>
          </a:p>
          <a:p>
            <a:endParaRPr lang="en-IN" dirty="0"/>
          </a:p>
          <a:p>
            <a:endParaRPr lang="en-IN" dirty="0"/>
          </a:p>
        </p:txBody>
      </p:sp>
    </p:spTree>
    <p:extLst>
      <p:ext uri="{BB962C8B-B14F-4D97-AF65-F5344CB8AC3E}">
        <p14:creationId xmlns:p14="http://schemas.microsoft.com/office/powerpoint/2010/main" val="36950781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288032"/>
          </a:xfrm>
        </p:spPr>
        <p:txBody>
          <a:bodyPr>
            <a:normAutofit fontScale="90000"/>
          </a:bodyPr>
          <a:lstStyle/>
          <a:p>
            <a:endParaRPr lang="en-IN"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1124744"/>
            <a:ext cx="7848872" cy="5616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917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576064"/>
          </a:xfrm>
        </p:spPr>
        <p:txBody>
          <a:bodyPr>
            <a:normAutofit fontScale="90000"/>
          </a:bodyPr>
          <a:lstStyle/>
          <a:p>
            <a:endParaRPr lang="en-IN" dirty="0"/>
          </a:p>
        </p:txBody>
      </p:sp>
      <p:sp>
        <p:nvSpPr>
          <p:cNvPr id="3" name="Content Placeholder 2"/>
          <p:cNvSpPr>
            <a:spLocks noGrp="1"/>
          </p:cNvSpPr>
          <p:nvPr>
            <p:ph idx="1"/>
          </p:nvPr>
        </p:nvSpPr>
        <p:spPr>
          <a:xfrm>
            <a:off x="611560" y="836712"/>
            <a:ext cx="8075240" cy="5832648"/>
          </a:xfrm>
        </p:spPr>
        <p:txBody>
          <a:bodyPr>
            <a:normAutofit fontScale="55000" lnSpcReduction="20000"/>
          </a:bodyPr>
          <a:lstStyle/>
          <a:p>
            <a:r>
              <a:rPr lang="en-IN" dirty="0"/>
              <a:t>#include &lt;</a:t>
            </a:r>
            <a:r>
              <a:rPr lang="en-IN" dirty="0" err="1"/>
              <a:t>stdio.h</a:t>
            </a:r>
            <a:r>
              <a:rPr lang="en-IN" dirty="0"/>
              <a:t>&gt;</a:t>
            </a:r>
          </a:p>
          <a:p>
            <a:r>
              <a:rPr lang="en-IN" dirty="0"/>
              <a:t> </a:t>
            </a:r>
          </a:p>
          <a:p>
            <a:r>
              <a:rPr lang="en-IN" dirty="0" err="1"/>
              <a:t>int</a:t>
            </a:r>
            <a:r>
              <a:rPr lang="en-IN" dirty="0"/>
              <a:t> main()</a:t>
            </a:r>
          </a:p>
          <a:p>
            <a:r>
              <a:rPr lang="en-IN" dirty="0"/>
              <a:t>{</a:t>
            </a:r>
          </a:p>
          <a:p>
            <a:r>
              <a:rPr lang="en-IN" dirty="0"/>
              <a:t>    </a:t>
            </a:r>
            <a:r>
              <a:rPr lang="en-IN" dirty="0" err="1"/>
              <a:t>int</a:t>
            </a:r>
            <a:r>
              <a:rPr lang="en-IN" dirty="0"/>
              <a:t> num1,num2;</a:t>
            </a:r>
          </a:p>
          <a:p>
            <a:r>
              <a:rPr lang="en-IN" dirty="0"/>
              <a:t>    float result;</a:t>
            </a:r>
          </a:p>
          <a:p>
            <a:r>
              <a:rPr lang="en-IN" dirty="0"/>
              <a:t>    char </a:t>
            </a:r>
            <a:r>
              <a:rPr lang="en-IN" dirty="0" err="1"/>
              <a:t>ch</a:t>
            </a:r>
            <a:r>
              <a:rPr lang="en-IN" dirty="0"/>
              <a:t>;    //to store operator choice</a:t>
            </a:r>
          </a:p>
          <a:p>
            <a:r>
              <a:rPr lang="en-IN" dirty="0"/>
              <a:t>     </a:t>
            </a:r>
          </a:p>
          <a:p>
            <a:r>
              <a:rPr lang="en-IN" dirty="0"/>
              <a:t>    </a:t>
            </a:r>
            <a:r>
              <a:rPr lang="en-IN" dirty="0" err="1"/>
              <a:t>printf</a:t>
            </a:r>
            <a:r>
              <a:rPr lang="en-IN" dirty="0"/>
              <a:t>("Enter first number: ");</a:t>
            </a:r>
          </a:p>
          <a:p>
            <a:r>
              <a:rPr lang="en-IN" dirty="0"/>
              <a:t>    </a:t>
            </a:r>
            <a:r>
              <a:rPr lang="en-IN" dirty="0" err="1"/>
              <a:t>scanf</a:t>
            </a:r>
            <a:r>
              <a:rPr lang="en-IN" dirty="0"/>
              <a:t>("%d",&amp;num1);</a:t>
            </a:r>
          </a:p>
          <a:p>
            <a:r>
              <a:rPr lang="en-IN" dirty="0"/>
              <a:t>    </a:t>
            </a:r>
            <a:r>
              <a:rPr lang="en-IN" dirty="0" err="1"/>
              <a:t>printf</a:t>
            </a:r>
            <a:r>
              <a:rPr lang="en-IN" dirty="0"/>
              <a:t>("Enter second number: ");</a:t>
            </a:r>
          </a:p>
          <a:p>
            <a:r>
              <a:rPr lang="en-IN" dirty="0"/>
              <a:t>    </a:t>
            </a:r>
            <a:r>
              <a:rPr lang="en-IN" dirty="0" err="1"/>
              <a:t>scanf</a:t>
            </a:r>
            <a:r>
              <a:rPr lang="en-IN" dirty="0"/>
              <a:t>("%d",&amp;num2);</a:t>
            </a:r>
          </a:p>
          <a:p>
            <a:r>
              <a:rPr lang="en-IN" dirty="0"/>
              <a:t>     </a:t>
            </a:r>
          </a:p>
          <a:p>
            <a:r>
              <a:rPr lang="en-IN" dirty="0"/>
              <a:t>    </a:t>
            </a:r>
            <a:r>
              <a:rPr lang="en-IN" dirty="0" err="1"/>
              <a:t>printf</a:t>
            </a:r>
            <a:r>
              <a:rPr lang="en-IN" dirty="0"/>
              <a:t>("Choose operation to perform (+,-,*,/,%): ");</a:t>
            </a:r>
          </a:p>
          <a:p>
            <a:r>
              <a:rPr lang="en-IN" dirty="0"/>
              <a:t>    </a:t>
            </a:r>
            <a:r>
              <a:rPr lang="en-IN" dirty="0" err="1"/>
              <a:t>scanf</a:t>
            </a:r>
            <a:r>
              <a:rPr lang="en-IN" dirty="0"/>
              <a:t>(" %c",&amp;</a:t>
            </a:r>
            <a:r>
              <a:rPr lang="en-IN" dirty="0" err="1"/>
              <a:t>ch</a:t>
            </a:r>
            <a:r>
              <a:rPr lang="en-IN" dirty="0"/>
              <a:t>);</a:t>
            </a:r>
          </a:p>
          <a:p>
            <a:r>
              <a:rPr lang="en-IN" dirty="0"/>
              <a:t>     </a:t>
            </a:r>
          </a:p>
          <a:p>
            <a:r>
              <a:rPr lang="en-IN" dirty="0"/>
              <a:t>    result=0;</a:t>
            </a:r>
          </a:p>
          <a:p>
            <a:r>
              <a:rPr lang="en-IN" dirty="0"/>
              <a:t>    switch(</a:t>
            </a:r>
            <a:r>
              <a:rPr lang="en-IN" dirty="0" err="1"/>
              <a:t>ch</a:t>
            </a:r>
            <a:r>
              <a:rPr lang="en-IN" dirty="0"/>
              <a:t>)    </a:t>
            </a:r>
          </a:p>
          <a:p>
            <a:r>
              <a:rPr lang="en-IN" dirty="0"/>
              <a:t>    {</a:t>
            </a:r>
          </a:p>
          <a:p>
            <a:r>
              <a:rPr lang="en-IN" dirty="0"/>
              <a:t>        case '+':</a:t>
            </a:r>
          </a:p>
          <a:p>
            <a:r>
              <a:rPr lang="en-IN" dirty="0"/>
              <a:t>            result=num1+num2;</a:t>
            </a:r>
          </a:p>
          <a:p>
            <a:r>
              <a:rPr lang="en-IN" dirty="0"/>
              <a:t>            break;</a:t>
            </a:r>
          </a:p>
          <a:p>
            <a:r>
              <a:rPr lang="en-IN" dirty="0"/>
              <a:t>             </a:t>
            </a:r>
          </a:p>
          <a:p>
            <a:r>
              <a:rPr lang="en-IN" dirty="0"/>
              <a:t>        case '-':</a:t>
            </a:r>
          </a:p>
          <a:p>
            <a:r>
              <a:rPr lang="en-IN" dirty="0"/>
              <a:t>            result=num1-num2;</a:t>
            </a:r>
          </a:p>
          <a:p>
            <a:r>
              <a:rPr lang="en-IN" dirty="0"/>
              <a:t>            break;</a:t>
            </a:r>
          </a:p>
          <a:p>
            <a:r>
              <a:rPr lang="en-IN" dirty="0"/>
              <a:t>         </a:t>
            </a:r>
          </a:p>
        </p:txBody>
      </p:sp>
    </p:spTree>
    <p:extLst>
      <p:ext uri="{BB962C8B-B14F-4D97-AF65-F5344CB8AC3E}">
        <p14:creationId xmlns:p14="http://schemas.microsoft.com/office/powerpoint/2010/main" val="30137189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6640"/>
          </a:xfrm>
        </p:spPr>
        <p:txBody>
          <a:bodyPr>
            <a:normAutofit fontScale="90000"/>
          </a:bodyPr>
          <a:lstStyle/>
          <a:p>
            <a:endParaRPr lang="en-IN" dirty="0"/>
          </a:p>
        </p:txBody>
      </p:sp>
      <p:sp>
        <p:nvSpPr>
          <p:cNvPr id="3" name="Content Placeholder 2"/>
          <p:cNvSpPr>
            <a:spLocks noGrp="1"/>
          </p:cNvSpPr>
          <p:nvPr>
            <p:ph idx="1"/>
          </p:nvPr>
        </p:nvSpPr>
        <p:spPr>
          <a:xfrm>
            <a:off x="457200" y="1268760"/>
            <a:ext cx="8229600" cy="5055840"/>
          </a:xfrm>
        </p:spPr>
        <p:txBody>
          <a:bodyPr>
            <a:normAutofit fontScale="92500" lnSpcReduction="20000"/>
          </a:bodyPr>
          <a:lstStyle/>
          <a:p>
            <a:r>
              <a:rPr lang="en-IN" dirty="0"/>
              <a:t> case '*':</a:t>
            </a:r>
          </a:p>
          <a:p>
            <a:r>
              <a:rPr lang="en-IN" dirty="0"/>
              <a:t>            result=num1*num2;</a:t>
            </a:r>
          </a:p>
          <a:p>
            <a:r>
              <a:rPr lang="en-IN" dirty="0"/>
              <a:t>            break;</a:t>
            </a:r>
          </a:p>
          <a:p>
            <a:r>
              <a:rPr lang="en-IN" dirty="0"/>
              <a:t> case '/':</a:t>
            </a:r>
          </a:p>
          <a:p>
            <a:r>
              <a:rPr lang="en-IN" dirty="0"/>
              <a:t>            result=num1/num2;</a:t>
            </a:r>
          </a:p>
          <a:p>
            <a:r>
              <a:rPr lang="en-IN" dirty="0"/>
              <a:t>            break;</a:t>
            </a:r>
          </a:p>
          <a:p>
            <a:r>
              <a:rPr lang="en-IN" dirty="0"/>
              <a:t>             </a:t>
            </a:r>
          </a:p>
          <a:p>
            <a:r>
              <a:rPr lang="en-IN" dirty="0"/>
              <a:t>default:</a:t>
            </a:r>
          </a:p>
          <a:p>
            <a:r>
              <a:rPr lang="en-IN" dirty="0"/>
              <a:t>            </a:t>
            </a:r>
            <a:r>
              <a:rPr lang="en-IN" dirty="0" err="1"/>
              <a:t>printf</a:t>
            </a:r>
            <a:r>
              <a:rPr lang="en-IN" dirty="0"/>
              <a:t>("Invalid operation.\n");</a:t>
            </a:r>
          </a:p>
          <a:p>
            <a:r>
              <a:rPr lang="en-IN" dirty="0"/>
              <a:t>    }</a:t>
            </a:r>
          </a:p>
          <a:p>
            <a:r>
              <a:rPr lang="en-IN" dirty="0"/>
              <a:t> </a:t>
            </a:r>
          </a:p>
          <a:p>
            <a:r>
              <a:rPr lang="en-IN" dirty="0"/>
              <a:t>    </a:t>
            </a:r>
            <a:r>
              <a:rPr lang="en-IN" dirty="0" err="1"/>
              <a:t>printf</a:t>
            </a:r>
            <a:r>
              <a:rPr lang="en-IN" dirty="0"/>
              <a:t>("Result: %d %c %d = %f\n",num1,ch,num2,result);</a:t>
            </a:r>
          </a:p>
          <a:p>
            <a:r>
              <a:rPr lang="en-IN" dirty="0"/>
              <a:t>}</a:t>
            </a:r>
          </a:p>
        </p:txBody>
      </p:sp>
    </p:spTree>
    <p:extLst>
      <p:ext uri="{BB962C8B-B14F-4D97-AF65-F5344CB8AC3E}">
        <p14:creationId xmlns:p14="http://schemas.microsoft.com/office/powerpoint/2010/main" val="37759018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Autofit/>
          </a:bodyPr>
          <a:lstStyle/>
          <a:p>
            <a:r>
              <a:rPr lang="en-IN" sz="2400" b="1" dirty="0"/>
              <a:t>C program to create calculator using switch case and functions</a:t>
            </a:r>
            <a:br>
              <a:rPr lang="en-IN" sz="2400" b="1" dirty="0"/>
            </a:br>
            <a:endParaRPr lang="en-IN" sz="2400" dirty="0"/>
          </a:p>
        </p:txBody>
      </p:sp>
      <p:sp>
        <p:nvSpPr>
          <p:cNvPr id="3" name="Content Placeholder 2"/>
          <p:cNvSpPr>
            <a:spLocks noGrp="1"/>
          </p:cNvSpPr>
          <p:nvPr>
            <p:ph idx="1"/>
          </p:nvPr>
        </p:nvSpPr>
        <p:spPr>
          <a:xfrm>
            <a:off x="457200" y="1772816"/>
            <a:ext cx="8229600" cy="4551784"/>
          </a:xfrm>
        </p:spPr>
        <p:txBody>
          <a:bodyPr>
            <a:normAutofit fontScale="70000" lnSpcReduction="20000"/>
          </a:bodyPr>
          <a:lstStyle/>
          <a:p>
            <a:r>
              <a:rPr lang="en-IN" dirty="0"/>
              <a:t>#include &lt;</a:t>
            </a:r>
            <a:r>
              <a:rPr lang="en-IN" dirty="0" err="1"/>
              <a:t>stdio.h</a:t>
            </a:r>
            <a:r>
              <a:rPr lang="en-IN" dirty="0"/>
              <a:t>&gt;</a:t>
            </a:r>
          </a:p>
          <a:p>
            <a:r>
              <a:rPr lang="en-IN" dirty="0"/>
              <a:t> </a:t>
            </a:r>
          </a:p>
          <a:p>
            <a:r>
              <a:rPr lang="en-IN" dirty="0"/>
              <a:t> main()</a:t>
            </a:r>
          </a:p>
          <a:p>
            <a:r>
              <a:rPr lang="en-IN" dirty="0"/>
              <a:t>{</a:t>
            </a:r>
          </a:p>
          <a:p>
            <a:r>
              <a:rPr lang="en-IN" dirty="0"/>
              <a:t>     </a:t>
            </a:r>
            <a:r>
              <a:rPr lang="en-IN" dirty="0" err="1"/>
              <a:t>int</a:t>
            </a:r>
            <a:r>
              <a:rPr lang="en-IN" dirty="0"/>
              <a:t> </a:t>
            </a:r>
            <a:r>
              <a:rPr lang="en-IN" dirty="0" err="1"/>
              <a:t>op,a,b,add,sub,divi,mul</a:t>
            </a:r>
            <a:r>
              <a:rPr lang="en-IN" dirty="0"/>
              <a:t>;</a:t>
            </a:r>
          </a:p>
          <a:p>
            <a:r>
              <a:rPr lang="en-IN" dirty="0"/>
              <a:t>     </a:t>
            </a:r>
            <a:r>
              <a:rPr lang="en-IN" dirty="0" err="1"/>
              <a:t>printf</a:t>
            </a:r>
            <a:r>
              <a:rPr lang="en-IN" dirty="0"/>
              <a:t>("Enter the two no");</a:t>
            </a:r>
          </a:p>
          <a:p>
            <a:r>
              <a:rPr lang="en-IN" dirty="0"/>
              <a:t>     </a:t>
            </a:r>
            <a:r>
              <a:rPr lang="en-IN" dirty="0" err="1"/>
              <a:t>scanf</a:t>
            </a:r>
            <a:r>
              <a:rPr lang="en-IN" dirty="0"/>
              <a:t>("%</a:t>
            </a:r>
            <a:r>
              <a:rPr lang="en-IN" dirty="0" err="1"/>
              <a:t>d%d</a:t>
            </a:r>
            <a:r>
              <a:rPr lang="en-IN" dirty="0"/>
              <a:t>",&amp;</a:t>
            </a:r>
            <a:r>
              <a:rPr lang="en-IN" dirty="0" err="1"/>
              <a:t>a,&amp;b</a:t>
            </a:r>
            <a:r>
              <a:rPr lang="en-IN" dirty="0"/>
              <a:t>);</a:t>
            </a:r>
          </a:p>
          <a:p>
            <a:r>
              <a:rPr lang="en-IN" dirty="0"/>
              <a:t>     </a:t>
            </a:r>
          </a:p>
          <a:p>
            <a:r>
              <a:rPr lang="en-IN" dirty="0"/>
              <a:t>     </a:t>
            </a:r>
            <a:r>
              <a:rPr lang="en-IN" dirty="0" err="1"/>
              <a:t>printf</a:t>
            </a:r>
            <a:r>
              <a:rPr lang="en-IN" dirty="0"/>
              <a:t>("\n Simple Calculator");</a:t>
            </a:r>
          </a:p>
          <a:p>
            <a:r>
              <a:rPr lang="en-IN" dirty="0"/>
              <a:t>     </a:t>
            </a:r>
            <a:r>
              <a:rPr lang="en-IN" dirty="0" err="1"/>
              <a:t>printf</a:t>
            </a:r>
            <a:r>
              <a:rPr lang="en-IN" dirty="0"/>
              <a:t>("\n 1.ADDITION");</a:t>
            </a:r>
          </a:p>
          <a:p>
            <a:r>
              <a:rPr lang="en-IN" dirty="0"/>
              <a:t>     </a:t>
            </a:r>
            <a:r>
              <a:rPr lang="en-IN" dirty="0" err="1"/>
              <a:t>printf</a:t>
            </a:r>
            <a:r>
              <a:rPr lang="en-IN" dirty="0"/>
              <a:t>("\n 2.SUBTRACTION");</a:t>
            </a:r>
          </a:p>
          <a:p>
            <a:r>
              <a:rPr lang="en-IN" dirty="0"/>
              <a:t>     </a:t>
            </a:r>
            <a:r>
              <a:rPr lang="en-IN" dirty="0" err="1"/>
              <a:t>printf</a:t>
            </a:r>
            <a:r>
              <a:rPr lang="en-IN" dirty="0"/>
              <a:t>("\n 3.MULTIPLICATION");</a:t>
            </a:r>
          </a:p>
          <a:p>
            <a:r>
              <a:rPr lang="en-IN" dirty="0"/>
              <a:t>     </a:t>
            </a:r>
            <a:r>
              <a:rPr lang="en-IN" dirty="0" err="1"/>
              <a:t>printf</a:t>
            </a:r>
            <a:r>
              <a:rPr lang="en-IN" dirty="0"/>
              <a:t>("\n 4.DIVISION");</a:t>
            </a:r>
          </a:p>
          <a:p>
            <a:r>
              <a:rPr lang="en-IN" dirty="0"/>
              <a:t>     </a:t>
            </a:r>
            <a:r>
              <a:rPr lang="en-IN" dirty="0" err="1"/>
              <a:t>printf</a:t>
            </a:r>
            <a:r>
              <a:rPr lang="en-IN" dirty="0"/>
              <a:t>("\n\</a:t>
            </a:r>
            <a:r>
              <a:rPr lang="en-IN" dirty="0" err="1"/>
              <a:t>nEnter</a:t>
            </a:r>
            <a:r>
              <a:rPr lang="en-IN" dirty="0"/>
              <a:t> your OPTION");</a:t>
            </a:r>
          </a:p>
          <a:p>
            <a:r>
              <a:rPr lang="en-IN" dirty="0"/>
              <a:t>     </a:t>
            </a:r>
            <a:r>
              <a:rPr lang="en-IN" dirty="0" err="1"/>
              <a:t>scanf</a:t>
            </a:r>
            <a:r>
              <a:rPr lang="en-IN" dirty="0"/>
              <a:t>("%</a:t>
            </a:r>
            <a:r>
              <a:rPr lang="en-IN" dirty="0" err="1"/>
              <a:t>d",&amp;op</a:t>
            </a:r>
            <a:r>
              <a:rPr lang="en-IN" dirty="0"/>
              <a:t>);</a:t>
            </a:r>
          </a:p>
          <a:p>
            <a:endParaRPr lang="en-IN" dirty="0"/>
          </a:p>
        </p:txBody>
      </p:sp>
    </p:spTree>
    <p:extLst>
      <p:ext uri="{BB962C8B-B14F-4D97-AF65-F5344CB8AC3E}">
        <p14:creationId xmlns:p14="http://schemas.microsoft.com/office/powerpoint/2010/main" val="19108234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IN" dirty="0"/>
              <a:t> switch(op)</a:t>
            </a:r>
          </a:p>
          <a:p>
            <a:r>
              <a:rPr lang="en-IN" dirty="0"/>
              <a:t>     {</a:t>
            </a:r>
          </a:p>
          <a:p>
            <a:r>
              <a:rPr lang="en-IN" dirty="0"/>
              <a:t>         case 1:</a:t>
            </a:r>
          </a:p>
          <a:p>
            <a:r>
              <a:rPr lang="en-IN" dirty="0"/>
              <a:t>         add=</a:t>
            </a:r>
            <a:r>
              <a:rPr lang="en-IN" dirty="0" err="1"/>
              <a:t>a+b</a:t>
            </a:r>
            <a:r>
              <a:rPr lang="en-IN" dirty="0"/>
              <a:t>;</a:t>
            </a:r>
          </a:p>
          <a:p>
            <a:r>
              <a:rPr lang="en-IN" dirty="0"/>
              <a:t>         </a:t>
            </a:r>
            <a:r>
              <a:rPr lang="en-IN" dirty="0" err="1"/>
              <a:t>printf</a:t>
            </a:r>
            <a:r>
              <a:rPr lang="en-IN" dirty="0"/>
              <a:t>("\</a:t>
            </a:r>
            <a:r>
              <a:rPr lang="en-IN" dirty="0" err="1"/>
              <a:t>nThe</a:t>
            </a:r>
            <a:r>
              <a:rPr lang="en-IN" dirty="0"/>
              <a:t> Addition of two no is=%</a:t>
            </a:r>
            <a:r>
              <a:rPr lang="en-IN" dirty="0" err="1"/>
              <a:t>d",add</a:t>
            </a:r>
            <a:r>
              <a:rPr lang="en-IN" dirty="0"/>
              <a:t>);</a:t>
            </a:r>
          </a:p>
          <a:p>
            <a:r>
              <a:rPr lang="en-IN" dirty="0"/>
              <a:t>         break;</a:t>
            </a:r>
          </a:p>
          <a:p>
            <a:r>
              <a:rPr lang="en-IN" dirty="0"/>
              <a:t>         case 2:</a:t>
            </a:r>
          </a:p>
          <a:p>
            <a:r>
              <a:rPr lang="en-IN" dirty="0"/>
              <a:t>         sub=a-b;</a:t>
            </a:r>
          </a:p>
          <a:p>
            <a:r>
              <a:rPr lang="en-IN" dirty="0"/>
              <a:t>         </a:t>
            </a:r>
            <a:r>
              <a:rPr lang="en-IN" dirty="0" err="1"/>
              <a:t>printf</a:t>
            </a:r>
            <a:r>
              <a:rPr lang="en-IN" dirty="0"/>
              <a:t>("\</a:t>
            </a:r>
            <a:r>
              <a:rPr lang="en-IN" dirty="0" err="1"/>
              <a:t>nThe</a:t>
            </a:r>
            <a:r>
              <a:rPr lang="en-IN" dirty="0"/>
              <a:t> Subtraction of two no is=%</a:t>
            </a:r>
            <a:r>
              <a:rPr lang="en-IN" dirty="0" err="1"/>
              <a:t>d",sub</a:t>
            </a:r>
            <a:r>
              <a:rPr lang="en-IN" dirty="0"/>
              <a:t>);</a:t>
            </a:r>
          </a:p>
          <a:p>
            <a:r>
              <a:rPr lang="en-IN" dirty="0"/>
              <a:t>         break;</a:t>
            </a:r>
          </a:p>
          <a:p>
            <a:r>
              <a:rPr lang="en-IN" dirty="0"/>
              <a:t>         case 3:</a:t>
            </a:r>
          </a:p>
          <a:p>
            <a:r>
              <a:rPr lang="en-IN" dirty="0"/>
              <a:t>         </a:t>
            </a:r>
            <a:r>
              <a:rPr lang="en-IN" dirty="0" err="1"/>
              <a:t>mul</a:t>
            </a:r>
            <a:r>
              <a:rPr lang="en-IN" dirty="0"/>
              <a:t>=a*b;</a:t>
            </a:r>
          </a:p>
          <a:p>
            <a:r>
              <a:rPr lang="en-IN" dirty="0"/>
              <a:t>         </a:t>
            </a:r>
            <a:r>
              <a:rPr lang="en-IN" dirty="0" err="1"/>
              <a:t>printf</a:t>
            </a:r>
            <a:r>
              <a:rPr lang="en-IN" dirty="0"/>
              <a:t>("\</a:t>
            </a:r>
            <a:r>
              <a:rPr lang="en-IN" dirty="0" err="1"/>
              <a:t>nThe</a:t>
            </a:r>
            <a:r>
              <a:rPr lang="en-IN" dirty="0"/>
              <a:t> Multiplication of two no is=%d",</a:t>
            </a:r>
            <a:r>
              <a:rPr lang="en-IN" dirty="0" err="1"/>
              <a:t>mul</a:t>
            </a:r>
            <a:r>
              <a:rPr lang="en-IN" dirty="0"/>
              <a:t>);</a:t>
            </a:r>
          </a:p>
          <a:p>
            <a:r>
              <a:rPr lang="en-IN" dirty="0"/>
              <a:t>         break;</a:t>
            </a:r>
          </a:p>
          <a:p>
            <a:r>
              <a:rPr lang="en-IN" dirty="0"/>
              <a:t>         case 4:</a:t>
            </a:r>
          </a:p>
          <a:p>
            <a:r>
              <a:rPr lang="en-IN" dirty="0"/>
              <a:t>         </a:t>
            </a:r>
            <a:r>
              <a:rPr lang="en-IN" dirty="0" err="1"/>
              <a:t>divi</a:t>
            </a:r>
            <a:r>
              <a:rPr lang="en-IN" dirty="0"/>
              <a:t>=a/b;</a:t>
            </a:r>
          </a:p>
          <a:p>
            <a:r>
              <a:rPr lang="en-IN" dirty="0"/>
              <a:t>         </a:t>
            </a:r>
            <a:r>
              <a:rPr lang="en-IN" dirty="0" err="1"/>
              <a:t>printf</a:t>
            </a:r>
            <a:r>
              <a:rPr lang="en-IN" dirty="0"/>
              <a:t>("\</a:t>
            </a:r>
            <a:r>
              <a:rPr lang="en-IN" dirty="0" err="1"/>
              <a:t>nThe</a:t>
            </a:r>
            <a:r>
              <a:rPr lang="en-IN" dirty="0"/>
              <a:t> </a:t>
            </a:r>
            <a:r>
              <a:rPr lang="en-IN" dirty="0" err="1"/>
              <a:t>Divisiontion</a:t>
            </a:r>
            <a:r>
              <a:rPr lang="en-IN" dirty="0"/>
              <a:t> of two no is=%d",</a:t>
            </a:r>
            <a:r>
              <a:rPr lang="en-IN" dirty="0" err="1"/>
              <a:t>divi</a:t>
            </a:r>
            <a:r>
              <a:rPr lang="en-IN" dirty="0"/>
              <a:t>);</a:t>
            </a:r>
          </a:p>
          <a:p>
            <a:r>
              <a:rPr lang="en-IN" dirty="0"/>
              <a:t>         break;</a:t>
            </a:r>
          </a:p>
          <a:p>
            <a:r>
              <a:rPr lang="en-IN" dirty="0"/>
              <a:t>     }</a:t>
            </a:r>
          </a:p>
          <a:p>
            <a:r>
              <a:rPr lang="en-IN" dirty="0"/>
              <a:t>   }</a:t>
            </a:r>
          </a:p>
        </p:txBody>
      </p:sp>
    </p:spTree>
    <p:extLst>
      <p:ext uri="{BB962C8B-B14F-4D97-AF65-F5344CB8AC3E}">
        <p14:creationId xmlns:p14="http://schemas.microsoft.com/office/powerpoint/2010/main" val="41005642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 Loops</a:t>
            </a:r>
            <a:endParaRPr lang="en-IN" dirty="0"/>
          </a:p>
        </p:txBody>
      </p:sp>
      <p:sp>
        <p:nvSpPr>
          <p:cNvPr id="3" name="Content Placeholder 2"/>
          <p:cNvSpPr>
            <a:spLocks noGrp="1"/>
          </p:cNvSpPr>
          <p:nvPr>
            <p:ph idx="1"/>
          </p:nvPr>
        </p:nvSpPr>
        <p:spPr/>
        <p:txBody>
          <a:bodyPr/>
          <a:lstStyle/>
          <a:p>
            <a:pPr marL="0" indent="0">
              <a:buNone/>
            </a:pPr>
            <a:r>
              <a:rPr lang="en-IN" b="1" dirty="0"/>
              <a:t>What are Loops In C Programming?</a:t>
            </a:r>
          </a:p>
          <a:p>
            <a:r>
              <a:rPr lang="en-IN" dirty="0"/>
              <a:t>To perform a particular task or to run a specific block of code several times, the concept of LOOP comes in picture.</a:t>
            </a:r>
          </a:p>
          <a:p>
            <a:r>
              <a:rPr lang="en-IN" dirty="0"/>
              <a:t>A loop is an instruction given to the computer that it has to run a specific part of the code for a given number of times.</a:t>
            </a:r>
          </a:p>
          <a:p>
            <a:endParaRPr lang="en-IN" dirty="0"/>
          </a:p>
        </p:txBody>
      </p:sp>
    </p:spTree>
    <p:extLst>
      <p:ext uri="{BB962C8B-B14F-4D97-AF65-F5344CB8AC3E}">
        <p14:creationId xmlns:p14="http://schemas.microsoft.com/office/powerpoint/2010/main" val="11511557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936104"/>
          </a:xfrm>
        </p:spPr>
        <p:txBody>
          <a:bodyPr>
            <a:normAutofit fontScale="90000"/>
          </a:bodyPr>
          <a:lstStyle/>
          <a:p>
            <a:r>
              <a:rPr lang="en-IN" b="1" dirty="0"/>
              <a:t>C Loops</a:t>
            </a:r>
            <a:br>
              <a:rPr lang="en-IN" b="1" dirty="0"/>
            </a:br>
            <a:endParaRPr lang="en-IN" dirty="0"/>
          </a:p>
        </p:txBody>
      </p:sp>
      <p:sp>
        <p:nvSpPr>
          <p:cNvPr id="3" name="Content Placeholder 2"/>
          <p:cNvSpPr>
            <a:spLocks noGrp="1"/>
          </p:cNvSpPr>
          <p:nvPr>
            <p:ph idx="1"/>
          </p:nvPr>
        </p:nvSpPr>
        <p:spPr>
          <a:xfrm>
            <a:off x="457200" y="548680"/>
            <a:ext cx="8229600" cy="5775920"/>
          </a:xfrm>
        </p:spPr>
        <p:txBody>
          <a:bodyPr>
            <a:normAutofit fontScale="92500" lnSpcReduction="20000"/>
          </a:bodyPr>
          <a:lstStyle/>
          <a:p>
            <a:r>
              <a:rPr lang="en-IN" dirty="0"/>
              <a:t>The looping can be defined as repeating the same process multiple times until a specific condition satisfies. </a:t>
            </a:r>
          </a:p>
          <a:p>
            <a:r>
              <a:rPr lang="en-IN" b="1" dirty="0"/>
              <a:t>Why use loops in C language?</a:t>
            </a:r>
          </a:p>
          <a:p>
            <a:r>
              <a:rPr lang="en-IN" dirty="0"/>
              <a:t>Consider a situation in which we execute a single statement or block of statements repeatedly for the required number of times. </a:t>
            </a:r>
          </a:p>
          <a:p>
            <a:r>
              <a:rPr lang="en-IN" dirty="0"/>
              <a:t>Such kind of problems can be solved using </a:t>
            </a:r>
            <a:r>
              <a:rPr lang="en-IN" b="1" dirty="0"/>
              <a:t>looping</a:t>
            </a:r>
            <a:r>
              <a:rPr lang="en-IN" dirty="0"/>
              <a:t> statements in C. </a:t>
            </a:r>
          </a:p>
          <a:p>
            <a:r>
              <a:rPr lang="en-IN" dirty="0"/>
              <a:t>For example, assume a situation where we print a message 100 times. </a:t>
            </a:r>
          </a:p>
          <a:p>
            <a:r>
              <a:rPr lang="en-IN" dirty="0"/>
              <a:t>If we want to perform that task without using looping statements, we have to either write 100 </a:t>
            </a:r>
            <a:r>
              <a:rPr lang="en-IN" dirty="0" err="1"/>
              <a:t>printf</a:t>
            </a:r>
            <a:r>
              <a:rPr lang="en-IN" dirty="0"/>
              <a:t> statements or we have to write the same message 100 times in a single </a:t>
            </a:r>
            <a:r>
              <a:rPr lang="en-IN" dirty="0" err="1"/>
              <a:t>printf</a:t>
            </a:r>
            <a:r>
              <a:rPr lang="en-IN" dirty="0"/>
              <a:t> statement. </a:t>
            </a:r>
          </a:p>
          <a:p>
            <a:r>
              <a:rPr lang="en-IN" dirty="0"/>
              <a:t>Both are complex methods. </a:t>
            </a:r>
          </a:p>
          <a:p>
            <a:r>
              <a:rPr lang="en-IN" dirty="0"/>
              <a:t>The same task can be performed very easily using looping statements.</a:t>
            </a:r>
          </a:p>
        </p:txBody>
      </p:sp>
    </p:spTree>
    <p:extLst>
      <p:ext uri="{BB962C8B-B14F-4D97-AF65-F5344CB8AC3E}">
        <p14:creationId xmlns:p14="http://schemas.microsoft.com/office/powerpoint/2010/main" val="368411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720080"/>
          </a:xfrm>
        </p:spPr>
        <p:txBody>
          <a:bodyPr>
            <a:normAutofit fontScale="90000"/>
          </a:bodyPr>
          <a:lstStyle/>
          <a:p>
            <a:r>
              <a:rPr lang="en-IN" b="1" dirty="0"/>
              <a:t>Advantage of loops in C</a:t>
            </a:r>
            <a:br>
              <a:rPr lang="en-IN" b="1" dirty="0"/>
            </a:br>
            <a:endParaRPr lang="en-IN" dirty="0"/>
          </a:p>
        </p:txBody>
      </p:sp>
      <p:sp>
        <p:nvSpPr>
          <p:cNvPr id="3" name="Content Placeholder 2"/>
          <p:cNvSpPr>
            <a:spLocks noGrp="1"/>
          </p:cNvSpPr>
          <p:nvPr>
            <p:ph idx="1"/>
          </p:nvPr>
        </p:nvSpPr>
        <p:spPr>
          <a:xfrm>
            <a:off x="457200" y="764704"/>
            <a:ext cx="8229600" cy="5559896"/>
          </a:xfrm>
        </p:spPr>
        <p:txBody>
          <a:bodyPr>
            <a:normAutofit/>
          </a:bodyPr>
          <a:lstStyle/>
          <a:p>
            <a:pPr marL="0" indent="0">
              <a:buNone/>
            </a:pPr>
            <a:r>
              <a:rPr lang="en-IN" b="1" dirty="0"/>
              <a:t>Advantage of loops in C</a:t>
            </a:r>
          </a:p>
          <a:p>
            <a:pPr marL="0" indent="0">
              <a:buNone/>
            </a:pPr>
            <a:r>
              <a:rPr lang="en-IN" dirty="0"/>
              <a:t>1) It provides code reusability.</a:t>
            </a:r>
          </a:p>
          <a:p>
            <a:pPr marL="0" indent="0">
              <a:buNone/>
            </a:pPr>
            <a:r>
              <a:rPr lang="en-IN" dirty="0"/>
              <a:t>2) Using loops, we do not need to write the same code again and again.</a:t>
            </a:r>
          </a:p>
          <a:p>
            <a:pPr marL="0" indent="0">
              <a:buNone/>
            </a:pPr>
            <a:r>
              <a:rPr lang="en-IN" dirty="0"/>
              <a:t>3) Using loops, we can traverse over the elements of data structures (array or linked lists).</a:t>
            </a:r>
          </a:p>
          <a:p>
            <a:pPr marL="0" indent="0">
              <a:buNone/>
            </a:pPr>
            <a:r>
              <a:rPr lang="en-IN" b="1" dirty="0"/>
              <a:t>Types of C Loops</a:t>
            </a:r>
          </a:p>
          <a:p>
            <a:pPr marL="0" indent="0">
              <a:buNone/>
            </a:pPr>
            <a:r>
              <a:rPr lang="en-IN" dirty="0"/>
              <a:t>There are three types of loops in </a:t>
            </a:r>
            <a:r>
              <a:rPr lang="en-IN" dirty="0">
                <a:hlinkClick r:id="rId2"/>
              </a:rPr>
              <a:t>C language</a:t>
            </a:r>
            <a:r>
              <a:rPr lang="en-IN" dirty="0"/>
              <a:t> that is given below:</a:t>
            </a:r>
          </a:p>
          <a:p>
            <a:r>
              <a:rPr lang="en-IN" dirty="0"/>
              <a:t>do while</a:t>
            </a:r>
          </a:p>
          <a:p>
            <a:r>
              <a:rPr lang="en-IN" dirty="0"/>
              <a:t>while</a:t>
            </a:r>
          </a:p>
          <a:p>
            <a:r>
              <a:rPr lang="en-IN" dirty="0"/>
              <a:t>for</a:t>
            </a:r>
          </a:p>
          <a:p>
            <a:endParaRPr lang="en-IN" dirty="0"/>
          </a:p>
          <a:p>
            <a:endParaRPr lang="en-IN" dirty="0"/>
          </a:p>
        </p:txBody>
      </p:sp>
    </p:spTree>
    <p:extLst>
      <p:ext uri="{BB962C8B-B14F-4D97-AF65-F5344CB8AC3E}">
        <p14:creationId xmlns:p14="http://schemas.microsoft.com/office/powerpoint/2010/main" val="310806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864096"/>
          </a:xfrm>
        </p:spPr>
        <p:txBody>
          <a:bodyPr>
            <a:normAutofit fontScale="90000"/>
          </a:bodyPr>
          <a:lstStyle/>
          <a:p>
            <a:r>
              <a:rPr lang="en-IN" b="1" dirty="0"/>
              <a:t>while loop in C</a:t>
            </a:r>
            <a:br>
              <a:rPr lang="en-IN" b="1" dirty="0"/>
            </a:br>
            <a:endParaRPr lang="en-IN" dirty="0"/>
          </a:p>
        </p:txBody>
      </p:sp>
      <p:sp>
        <p:nvSpPr>
          <p:cNvPr id="3" name="Content Placeholder 2"/>
          <p:cNvSpPr>
            <a:spLocks noGrp="1"/>
          </p:cNvSpPr>
          <p:nvPr>
            <p:ph idx="1"/>
          </p:nvPr>
        </p:nvSpPr>
        <p:spPr>
          <a:xfrm>
            <a:off x="457200" y="692696"/>
            <a:ext cx="8229600" cy="5631904"/>
          </a:xfrm>
        </p:spPr>
        <p:txBody>
          <a:bodyPr>
            <a:normAutofit fontScale="92500" lnSpcReduction="10000"/>
          </a:bodyPr>
          <a:lstStyle/>
          <a:p>
            <a:r>
              <a:rPr lang="en-IN" dirty="0"/>
              <a:t>The while loop begins by first checking the terminal condition and then decides whether to enter the loop or not.</a:t>
            </a:r>
          </a:p>
          <a:p>
            <a:endParaRPr lang="en-IN" dirty="0"/>
          </a:p>
          <a:p>
            <a:r>
              <a:rPr lang="en-IN" dirty="0"/>
              <a:t>If the underlying condition is true, then it goes ahead and executes the block of code in the loop. </a:t>
            </a:r>
          </a:p>
          <a:p>
            <a:endParaRPr lang="en-IN" dirty="0"/>
          </a:p>
          <a:p>
            <a:r>
              <a:rPr lang="en-IN" dirty="0"/>
              <a:t>After the first iteration, it again checks with the changed (increased/decreased) values of the variables (the condition operands) and decides the further course of execution.</a:t>
            </a:r>
          </a:p>
          <a:p>
            <a:endParaRPr lang="en-IN" dirty="0"/>
          </a:p>
          <a:p>
            <a:endParaRPr lang="en-IN" dirty="0"/>
          </a:p>
          <a:p>
            <a:r>
              <a:rPr lang="en-IN" dirty="0"/>
              <a:t>The while statement is also known as </a:t>
            </a:r>
            <a:r>
              <a:rPr lang="en-IN" b="1" dirty="0"/>
              <a:t>Entry control looping statement</a:t>
            </a:r>
            <a:r>
              <a:rPr lang="en-IN" dirty="0"/>
              <a:t>. </a:t>
            </a:r>
          </a:p>
          <a:p>
            <a:endParaRPr lang="en-IN" dirty="0"/>
          </a:p>
          <a:p>
            <a:endParaRPr lang="en-IN" dirty="0"/>
          </a:p>
        </p:txBody>
      </p:sp>
    </p:spTree>
    <p:extLst>
      <p:ext uri="{BB962C8B-B14F-4D97-AF65-F5344CB8AC3E}">
        <p14:creationId xmlns:p14="http://schemas.microsoft.com/office/powerpoint/2010/main" val="200804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a:t>
            </a:r>
            <a:endParaRPr lang="en-IN" dirty="0"/>
          </a:p>
        </p:txBody>
      </p:sp>
      <p:sp>
        <p:nvSpPr>
          <p:cNvPr id="3" name="Content Placeholder 2"/>
          <p:cNvSpPr>
            <a:spLocks noGrp="1"/>
          </p:cNvSpPr>
          <p:nvPr>
            <p:ph idx="1"/>
          </p:nvPr>
        </p:nvSpPr>
        <p:spPr>
          <a:xfrm>
            <a:off x="539552" y="1916832"/>
            <a:ext cx="8229600" cy="4389120"/>
          </a:xfrm>
        </p:spPr>
        <p:txBody>
          <a:bodyPr/>
          <a:lstStyle/>
          <a:p>
            <a:pPr marL="0" indent="0">
              <a:buNone/>
            </a:pPr>
            <a:r>
              <a:rPr lang="en-IN" dirty="0"/>
              <a:t>while(condition)</a:t>
            </a:r>
          </a:p>
          <a:p>
            <a:pPr marL="0" indent="0">
              <a:buNone/>
            </a:pPr>
            <a:r>
              <a:rPr lang="en-IN" dirty="0"/>
              <a:t>{</a:t>
            </a:r>
          </a:p>
          <a:p>
            <a:pPr marL="0" indent="0">
              <a:buNone/>
            </a:pPr>
            <a:r>
              <a:rPr lang="en-IN" dirty="0"/>
              <a:t>statements;</a:t>
            </a:r>
          </a:p>
          <a:p>
            <a:pPr marL="0" indent="0">
              <a:buNone/>
            </a:pPr>
            <a:r>
              <a:rPr lang="en-IN" dirty="0"/>
              <a:t>............</a:t>
            </a:r>
          </a:p>
          <a:p>
            <a:pPr marL="0" indent="0">
              <a:buNone/>
            </a:pPr>
            <a:r>
              <a:rPr lang="en-IN" dirty="0"/>
              <a:t>Increment or Decrements (++ or --);</a:t>
            </a:r>
          </a:p>
          <a:p>
            <a:pPr marL="0" indent="0">
              <a:buNone/>
            </a:pPr>
            <a:r>
              <a:rPr lang="en-IN" dirty="0"/>
              <a:t>}</a:t>
            </a:r>
          </a:p>
        </p:txBody>
      </p:sp>
    </p:spTree>
    <p:extLst>
      <p:ext uri="{BB962C8B-B14F-4D97-AF65-F5344CB8AC3E}">
        <p14:creationId xmlns:p14="http://schemas.microsoft.com/office/powerpoint/2010/main" val="267597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fontScale="90000"/>
          </a:bodyPr>
          <a:lstStyle/>
          <a:p>
            <a:r>
              <a:rPr lang="en-US" dirty="0"/>
              <a:t>Flowchart</a:t>
            </a:r>
            <a:endParaRPr lang="en-IN"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484784"/>
            <a:ext cx="4680520" cy="469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88" y="980728"/>
            <a:ext cx="352839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9661" y="1006980"/>
            <a:ext cx="352839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039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576064"/>
          </a:xfrm>
        </p:spPr>
        <p:txBody>
          <a:bodyPr>
            <a:normAutofit/>
          </a:bodyPr>
          <a:lstStyle/>
          <a:p>
            <a:r>
              <a:rPr lang="en-IN" sz="2800" b="1" dirty="0"/>
              <a:t>Program to print natural numbers from 1 to 10</a:t>
            </a:r>
            <a:endParaRPr lang="en-IN" sz="2800" dirty="0"/>
          </a:p>
        </p:txBody>
      </p:sp>
      <p:sp>
        <p:nvSpPr>
          <p:cNvPr id="3" name="Content Placeholder 2"/>
          <p:cNvSpPr>
            <a:spLocks noGrp="1"/>
          </p:cNvSpPr>
          <p:nvPr>
            <p:ph idx="1"/>
          </p:nvPr>
        </p:nvSpPr>
        <p:spPr>
          <a:xfrm>
            <a:off x="457200" y="1268760"/>
            <a:ext cx="8229600" cy="5184576"/>
          </a:xfrm>
        </p:spPr>
        <p:txBody>
          <a:bodyPr>
            <a:normAutofit fontScale="77500" lnSpcReduction="20000"/>
          </a:bodyPr>
          <a:lstStyle/>
          <a:p>
            <a:r>
              <a:rPr lang="en-US" dirty="0">
                <a:solidFill>
                  <a:srgbClr val="FF0000"/>
                </a:solidFill>
              </a:rPr>
              <a:t>LOGIC</a:t>
            </a:r>
          </a:p>
          <a:p>
            <a:endParaRPr lang="en-IN" dirty="0"/>
          </a:p>
          <a:p>
            <a:r>
              <a:rPr lang="en-IN" dirty="0"/>
              <a:t>Input upper limit to print natural number from user. Store it in some variable say </a:t>
            </a:r>
            <a:r>
              <a:rPr lang="en-IN" i="1" dirty="0"/>
              <a:t>N</a:t>
            </a:r>
            <a:r>
              <a:rPr lang="en-IN" dirty="0"/>
              <a:t>.</a:t>
            </a:r>
          </a:p>
          <a:p>
            <a:r>
              <a:rPr lang="en-IN" dirty="0"/>
              <a:t>Run a  while  loop from 1 to </a:t>
            </a:r>
            <a:r>
              <a:rPr lang="en-IN" i="1" dirty="0"/>
              <a:t>N</a:t>
            </a:r>
            <a:r>
              <a:rPr lang="en-IN" dirty="0"/>
              <a:t> with 1 increment. </a:t>
            </a:r>
          </a:p>
          <a:p>
            <a:endParaRPr lang="en-IN" dirty="0"/>
          </a:p>
          <a:p>
            <a:r>
              <a:rPr lang="en-IN" dirty="0"/>
              <a:t>Why starting from 1? Because we need to print natural numbers from 1.</a:t>
            </a:r>
          </a:p>
          <a:p>
            <a:r>
              <a:rPr lang="en-IN" dirty="0"/>
              <a:t>Why going till </a:t>
            </a:r>
            <a:r>
              <a:rPr lang="en-IN" i="1" dirty="0"/>
              <a:t>n</a:t>
            </a:r>
            <a:r>
              <a:rPr lang="en-IN" dirty="0"/>
              <a:t>? Because we need to print natural numbers up to </a:t>
            </a:r>
            <a:r>
              <a:rPr lang="en-IN" i="1" dirty="0"/>
              <a:t>n</a:t>
            </a:r>
            <a:r>
              <a:rPr lang="en-IN" dirty="0"/>
              <a:t>.</a:t>
            </a:r>
          </a:p>
          <a:p>
            <a:r>
              <a:rPr lang="en-IN" dirty="0"/>
              <a:t>Why increment loop counter by 1? Because difference between two natural numbers is 1. </a:t>
            </a:r>
          </a:p>
          <a:p>
            <a:r>
              <a:rPr lang="en-IN" dirty="0"/>
              <a:t>Therefore if </a:t>
            </a:r>
            <a:r>
              <a:rPr lang="en-IN" i="1" dirty="0"/>
              <a:t>n</a:t>
            </a:r>
            <a:r>
              <a:rPr lang="en-IN" dirty="0"/>
              <a:t> is one natural number then next natural number is given by </a:t>
            </a:r>
            <a:r>
              <a:rPr lang="en-IN" i="1" dirty="0"/>
              <a:t>n+1</a:t>
            </a:r>
            <a:r>
              <a:rPr lang="en-IN" dirty="0"/>
              <a:t>.</a:t>
            </a:r>
          </a:p>
          <a:p>
            <a:r>
              <a:rPr lang="en-IN" dirty="0"/>
              <a:t>Inside the loop body print the value of </a:t>
            </a:r>
            <a:r>
              <a:rPr lang="en-IN" i="1" dirty="0"/>
              <a:t>i</a:t>
            </a:r>
            <a:r>
              <a:rPr lang="en-IN" dirty="0"/>
              <a:t>. You might think, why print value of </a:t>
            </a:r>
            <a:r>
              <a:rPr lang="en-IN" i="1" dirty="0"/>
              <a:t>i</a:t>
            </a:r>
            <a:r>
              <a:rPr lang="en-IN" dirty="0"/>
              <a:t> inside loop? Because we need to print natural numbers from 1 to </a:t>
            </a:r>
            <a:r>
              <a:rPr lang="en-IN" i="1" dirty="0"/>
              <a:t>N</a:t>
            </a:r>
            <a:r>
              <a:rPr lang="en-IN" dirty="0"/>
              <a:t> and from loop structure it is clear that </a:t>
            </a:r>
            <a:r>
              <a:rPr lang="en-IN" i="1" dirty="0"/>
              <a:t>i</a:t>
            </a:r>
            <a:r>
              <a:rPr lang="en-IN" dirty="0"/>
              <a:t> will iterate from 1 to </a:t>
            </a:r>
            <a:r>
              <a:rPr lang="en-IN" i="1" dirty="0"/>
              <a:t>N</a:t>
            </a:r>
            <a:r>
              <a:rPr lang="en-IN" dirty="0"/>
              <a:t>. </a:t>
            </a:r>
          </a:p>
          <a:p>
            <a:r>
              <a:rPr lang="en-IN" dirty="0"/>
              <a:t>So to print from 1 to </a:t>
            </a:r>
            <a:r>
              <a:rPr lang="en-IN" i="1" dirty="0"/>
              <a:t>N</a:t>
            </a:r>
            <a:r>
              <a:rPr lang="en-IN" dirty="0"/>
              <a:t> print the value of </a:t>
            </a:r>
            <a:r>
              <a:rPr lang="en-IN" i="1" dirty="0"/>
              <a:t>i</a:t>
            </a:r>
            <a:r>
              <a:rPr lang="en-IN" dirty="0"/>
              <a:t>.</a:t>
            </a:r>
          </a:p>
          <a:p>
            <a:endParaRPr lang="en-IN" dirty="0"/>
          </a:p>
        </p:txBody>
      </p:sp>
    </p:spTree>
    <p:extLst>
      <p:ext uri="{BB962C8B-B14F-4D97-AF65-F5344CB8AC3E}">
        <p14:creationId xmlns:p14="http://schemas.microsoft.com/office/powerpoint/2010/main" val="18912147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1442424"/>
          </a:xfrm>
        </p:spPr>
        <p:txBody>
          <a:bodyPr>
            <a:normAutofit fontScale="90000"/>
          </a:bodyPr>
          <a:lstStyle/>
          <a:p>
            <a:r>
              <a:rPr lang="en-IN" sz="5400" b="1" dirty="0"/>
              <a:t>Algorithm for program to print natural numbers from 1 to n</a:t>
            </a:r>
            <a:endParaRPr lang="en-IN" dirty="0"/>
          </a:p>
        </p:txBody>
      </p:sp>
      <p:sp>
        <p:nvSpPr>
          <p:cNvPr id="3" name="Content Placeholder 2"/>
          <p:cNvSpPr>
            <a:spLocks noGrp="1"/>
          </p:cNvSpPr>
          <p:nvPr>
            <p:ph idx="1"/>
          </p:nvPr>
        </p:nvSpPr>
        <p:spPr/>
        <p:txBody>
          <a:bodyPr>
            <a:normAutofit fontScale="70000" lnSpcReduction="20000"/>
          </a:bodyPr>
          <a:lstStyle/>
          <a:p>
            <a:r>
              <a:rPr lang="en-IN" dirty="0"/>
              <a:t>step 1: Start.</a:t>
            </a:r>
          </a:p>
          <a:p>
            <a:endParaRPr lang="en-IN" dirty="0"/>
          </a:p>
          <a:p>
            <a:r>
              <a:rPr lang="en-IN" dirty="0"/>
              <a:t>Step 2: Initialize variables.</a:t>
            </a:r>
          </a:p>
          <a:p>
            <a:endParaRPr lang="en-IN" dirty="0"/>
          </a:p>
          <a:p>
            <a:r>
              <a:rPr lang="en-IN" dirty="0"/>
              <a:t>Step 3: Check while condition.</a:t>
            </a:r>
          </a:p>
          <a:p>
            <a:endParaRPr lang="en-IN" dirty="0"/>
          </a:p>
          <a:p>
            <a:r>
              <a:rPr lang="en-IN" dirty="0"/>
              <a:t>Step 4: If the condition is true, then go to step 5 otherwise go to step 7.</a:t>
            </a:r>
          </a:p>
          <a:p>
            <a:endParaRPr lang="en-IN" dirty="0"/>
          </a:p>
          <a:p>
            <a:r>
              <a:rPr lang="en-IN" dirty="0"/>
              <a:t>Step 5: Display the Natural numbers</a:t>
            </a:r>
          </a:p>
          <a:p>
            <a:endParaRPr lang="en-IN" dirty="0"/>
          </a:p>
          <a:p>
            <a:r>
              <a:rPr lang="en-IN" dirty="0"/>
              <a:t>Step 6: Go to step 3 until the condition is fail.</a:t>
            </a:r>
          </a:p>
          <a:p>
            <a:endParaRPr lang="en-IN" dirty="0"/>
          </a:p>
          <a:p>
            <a:r>
              <a:rPr lang="en-IN" dirty="0"/>
              <a:t>Step 7: After the condition fail go to step 8..</a:t>
            </a:r>
          </a:p>
          <a:p>
            <a:endParaRPr lang="en-IN" dirty="0"/>
          </a:p>
          <a:p>
            <a:r>
              <a:rPr lang="en-IN" dirty="0"/>
              <a:t>Step 8: Stop.</a:t>
            </a:r>
          </a:p>
        </p:txBody>
      </p:sp>
    </p:spTree>
    <p:extLst>
      <p:ext uri="{BB962C8B-B14F-4D97-AF65-F5344CB8AC3E}">
        <p14:creationId xmlns:p14="http://schemas.microsoft.com/office/powerpoint/2010/main" val="30176812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432048"/>
          </a:xfrm>
        </p:spPr>
        <p:txBody>
          <a:bodyPr>
            <a:normAutofit fontScale="90000"/>
          </a:bodyPr>
          <a:lstStyle/>
          <a:p>
            <a:endParaRPr lang="en-IN" dirty="0"/>
          </a:p>
        </p:txBody>
      </p:sp>
      <p:sp>
        <p:nvSpPr>
          <p:cNvPr id="3" name="Content Placeholder 2"/>
          <p:cNvSpPr>
            <a:spLocks noGrp="1"/>
          </p:cNvSpPr>
          <p:nvPr>
            <p:ph idx="1"/>
          </p:nvPr>
        </p:nvSpPr>
        <p:spPr>
          <a:xfrm>
            <a:off x="457200" y="836712"/>
            <a:ext cx="8229600" cy="6021288"/>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sz="2000" dirty="0"/>
              <a:t>                                                                 Condition true   Condition False</a:t>
            </a:r>
            <a:endParaRPr lang="en-IN" sz="2000" dirty="0"/>
          </a:p>
        </p:txBody>
      </p:sp>
      <p:sp>
        <p:nvSpPr>
          <p:cNvPr id="4" name="Flowchart: Alternate Process 3"/>
          <p:cNvSpPr/>
          <p:nvPr/>
        </p:nvSpPr>
        <p:spPr>
          <a:xfrm>
            <a:off x="3519589" y="985633"/>
            <a:ext cx="1728192" cy="720080"/>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START</a:t>
            </a:r>
            <a:endParaRPr lang="en-IN" dirty="0"/>
          </a:p>
        </p:txBody>
      </p:sp>
      <p:sp>
        <p:nvSpPr>
          <p:cNvPr id="5" name="Flowchart: Alternate Process 4"/>
          <p:cNvSpPr/>
          <p:nvPr/>
        </p:nvSpPr>
        <p:spPr>
          <a:xfrm>
            <a:off x="3721757" y="6129300"/>
            <a:ext cx="1440160" cy="648072"/>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STOP</a:t>
            </a:r>
            <a:endParaRPr lang="en-IN" dirty="0"/>
          </a:p>
        </p:txBody>
      </p:sp>
      <p:sp>
        <p:nvSpPr>
          <p:cNvPr id="6" name="Parallelogram 5"/>
          <p:cNvSpPr/>
          <p:nvPr/>
        </p:nvSpPr>
        <p:spPr>
          <a:xfrm>
            <a:off x="3347864" y="2112431"/>
            <a:ext cx="2160239" cy="720080"/>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Accept input from the user</a:t>
            </a:r>
            <a:endParaRPr lang="en-IN" dirty="0"/>
          </a:p>
        </p:txBody>
      </p:sp>
      <p:sp>
        <p:nvSpPr>
          <p:cNvPr id="7" name="Diamond 6"/>
          <p:cNvSpPr/>
          <p:nvPr/>
        </p:nvSpPr>
        <p:spPr>
          <a:xfrm>
            <a:off x="3635896" y="3140968"/>
            <a:ext cx="1611885" cy="1152128"/>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i&lt;=n</a:t>
            </a:r>
            <a:endParaRPr lang="en-IN" dirty="0"/>
          </a:p>
        </p:txBody>
      </p:sp>
      <p:sp>
        <p:nvSpPr>
          <p:cNvPr id="8" name="Parallelogram 7"/>
          <p:cNvSpPr/>
          <p:nvPr/>
        </p:nvSpPr>
        <p:spPr>
          <a:xfrm>
            <a:off x="3372213" y="4869160"/>
            <a:ext cx="2139249" cy="680686"/>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Print the natural no</a:t>
            </a:r>
            <a:endParaRPr lang="en-IN" dirty="0"/>
          </a:p>
        </p:txBody>
      </p:sp>
      <p:cxnSp>
        <p:nvCxnSpPr>
          <p:cNvPr id="10" name="Straight Connector 9"/>
          <p:cNvCxnSpPr>
            <a:stCxn id="8" idx="5"/>
          </p:cNvCxnSpPr>
          <p:nvPr/>
        </p:nvCxnSpPr>
        <p:spPr>
          <a:xfrm flipH="1">
            <a:off x="2627784" y="5209503"/>
            <a:ext cx="8295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627784" y="3717032"/>
            <a:ext cx="0" cy="1492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7" idx="1"/>
          </p:cNvCxnSpPr>
          <p:nvPr/>
        </p:nvCxnSpPr>
        <p:spPr>
          <a:xfrm>
            <a:off x="2627784" y="3717032"/>
            <a:ext cx="10081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7" idx="3"/>
          </p:cNvCxnSpPr>
          <p:nvPr/>
        </p:nvCxnSpPr>
        <p:spPr>
          <a:xfrm>
            <a:off x="5247781" y="3717032"/>
            <a:ext cx="13404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Elbow Connector 17"/>
          <p:cNvCxnSpPr/>
          <p:nvPr/>
        </p:nvCxnSpPr>
        <p:spPr>
          <a:xfrm rot="5400000">
            <a:off x="4549850" y="4414963"/>
            <a:ext cx="2736304" cy="1340443"/>
          </a:xfrm>
          <a:prstGeom prst="bentConnector3">
            <a:avLst>
              <a:gd name="adj1" fmla="val 10367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6" idx="0"/>
          </p:cNvCxnSpPr>
          <p:nvPr/>
        </p:nvCxnSpPr>
        <p:spPr>
          <a:xfrm>
            <a:off x="4427983" y="1705713"/>
            <a:ext cx="1" cy="4067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7" idx="0"/>
          </p:cNvCxnSpPr>
          <p:nvPr/>
        </p:nvCxnSpPr>
        <p:spPr>
          <a:xfrm>
            <a:off x="4383685" y="2832511"/>
            <a:ext cx="58154" cy="3084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441839" y="4293096"/>
            <a:ext cx="0" cy="576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3"/>
          </p:cNvCxnSpPr>
          <p:nvPr/>
        </p:nvCxnSpPr>
        <p:spPr>
          <a:xfrm>
            <a:off x="4356752" y="5549846"/>
            <a:ext cx="26933" cy="5794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9716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IN" b="1" dirty="0"/>
              <a:t>Program to print natural numbers from 1 to 10</a:t>
            </a:r>
            <a:endParaRPr lang="en-IN" dirty="0"/>
          </a:p>
          <a:p>
            <a:r>
              <a:rPr lang="en-IN" b="1" dirty="0"/>
              <a:t> </a:t>
            </a:r>
            <a:endParaRPr lang="en-IN" dirty="0"/>
          </a:p>
          <a:p>
            <a:r>
              <a:rPr lang="en-IN" dirty="0"/>
              <a:t> </a:t>
            </a:r>
          </a:p>
          <a:p>
            <a:r>
              <a:rPr lang="en-IN" dirty="0"/>
              <a:t>#include &lt;</a:t>
            </a:r>
            <a:r>
              <a:rPr lang="en-IN" dirty="0" err="1"/>
              <a:t>stdio.h</a:t>
            </a:r>
            <a:r>
              <a:rPr lang="en-IN" dirty="0"/>
              <a:t>&gt;</a:t>
            </a:r>
          </a:p>
          <a:p>
            <a:r>
              <a:rPr lang="en-IN" dirty="0"/>
              <a:t> main()</a:t>
            </a:r>
          </a:p>
          <a:p>
            <a:r>
              <a:rPr lang="en-IN" dirty="0"/>
              <a:t>{</a:t>
            </a:r>
          </a:p>
          <a:p>
            <a:r>
              <a:rPr lang="en-IN" dirty="0"/>
              <a:t>    </a:t>
            </a:r>
            <a:r>
              <a:rPr lang="en-IN" dirty="0" err="1"/>
              <a:t>int</a:t>
            </a:r>
            <a:r>
              <a:rPr lang="en-IN" dirty="0"/>
              <a:t> i=1;</a:t>
            </a:r>
          </a:p>
          <a:p>
            <a:r>
              <a:rPr lang="en-IN" dirty="0"/>
              <a:t>    while(i&lt;=10)</a:t>
            </a:r>
          </a:p>
          <a:p>
            <a:r>
              <a:rPr lang="en-IN" dirty="0"/>
              <a:t>    {</a:t>
            </a:r>
          </a:p>
          <a:p>
            <a:r>
              <a:rPr lang="en-IN" dirty="0"/>
              <a:t>     </a:t>
            </a:r>
          </a:p>
          <a:p>
            <a:r>
              <a:rPr lang="en-IN" dirty="0"/>
              <a:t>     </a:t>
            </a:r>
            <a:r>
              <a:rPr lang="en-IN" dirty="0" err="1"/>
              <a:t>printf</a:t>
            </a:r>
            <a:r>
              <a:rPr lang="en-IN" dirty="0"/>
              <a:t>("\</a:t>
            </a:r>
            <a:r>
              <a:rPr lang="en-IN" dirty="0" err="1"/>
              <a:t>nThe</a:t>
            </a:r>
            <a:r>
              <a:rPr lang="en-IN" dirty="0"/>
              <a:t> Natural number are from 1 to 10 are:%</a:t>
            </a:r>
            <a:r>
              <a:rPr lang="en-IN" dirty="0" err="1"/>
              <a:t>d",i</a:t>
            </a:r>
            <a:r>
              <a:rPr lang="en-IN" dirty="0"/>
              <a:t>);</a:t>
            </a:r>
          </a:p>
          <a:p>
            <a:r>
              <a:rPr lang="en-IN" dirty="0"/>
              <a:t>      i++;</a:t>
            </a:r>
          </a:p>
          <a:p>
            <a:r>
              <a:rPr lang="en-IN" dirty="0"/>
              <a:t>    }</a:t>
            </a:r>
          </a:p>
          <a:p>
            <a:r>
              <a:rPr lang="en-IN" dirty="0"/>
              <a:t>    return 0;</a:t>
            </a:r>
          </a:p>
          <a:p>
            <a:r>
              <a:rPr lang="en-IN" dirty="0"/>
              <a:t>}</a:t>
            </a:r>
          </a:p>
          <a:p>
            <a:endParaRPr lang="en-IN" dirty="0"/>
          </a:p>
        </p:txBody>
      </p:sp>
    </p:spTree>
    <p:extLst>
      <p:ext uri="{BB962C8B-B14F-4D97-AF65-F5344CB8AC3E}">
        <p14:creationId xmlns:p14="http://schemas.microsoft.com/office/powerpoint/2010/main" val="4513333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8229600" cy="720080"/>
          </a:xfrm>
        </p:spPr>
        <p:txBody>
          <a:bodyPr>
            <a:normAutofit/>
          </a:bodyPr>
          <a:lstStyle/>
          <a:p>
            <a:r>
              <a:rPr lang="en-IN" sz="3200" b="1" dirty="0"/>
              <a:t>Program to print natural numbers from 1 to n</a:t>
            </a:r>
          </a:p>
        </p:txBody>
      </p:sp>
      <p:sp>
        <p:nvSpPr>
          <p:cNvPr id="3" name="Content Placeholder 2"/>
          <p:cNvSpPr>
            <a:spLocks noGrp="1"/>
          </p:cNvSpPr>
          <p:nvPr>
            <p:ph idx="1"/>
          </p:nvPr>
        </p:nvSpPr>
        <p:spPr>
          <a:xfrm>
            <a:off x="457200" y="1052736"/>
            <a:ext cx="8229600" cy="5271864"/>
          </a:xfrm>
        </p:spPr>
        <p:txBody>
          <a:bodyPr>
            <a:normAutofit fontScale="92500" lnSpcReduction="10000"/>
          </a:bodyPr>
          <a:lstStyle/>
          <a:p>
            <a:r>
              <a:rPr lang="en-IN" dirty="0"/>
              <a:t>#include &lt;</a:t>
            </a:r>
            <a:r>
              <a:rPr lang="en-IN" dirty="0" err="1"/>
              <a:t>stdio.h</a:t>
            </a:r>
            <a:r>
              <a:rPr lang="en-IN" dirty="0"/>
              <a:t>&gt; </a:t>
            </a:r>
          </a:p>
          <a:p>
            <a:r>
              <a:rPr lang="en-IN" dirty="0"/>
              <a:t>main()</a:t>
            </a:r>
          </a:p>
          <a:p>
            <a:r>
              <a:rPr lang="en-IN" dirty="0"/>
              <a:t>{    </a:t>
            </a:r>
            <a:r>
              <a:rPr lang="en-IN" dirty="0" err="1"/>
              <a:t>int</a:t>
            </a:r>
            <a:r>
              <a:rPr lang="en-IN" dirty="0"/>
              <a:t> i=1,n;   </a:t>
            </a:r>
          </a:p>
          <a:p>
            <a:r>
              <a:rPr lang="en-IN" dirty="0"/>
              <a:t> </a:t>
            </a:r>
            <a:r>
              <a:rPr lang="en-IN" dirty="0" err="1"/>
              <a:t>printf</a:t>
            </a:r>
            <a:r>
              <a:rPr lang="en-IN" dirty="0"/>
              <a:t>("Enter the size of an natural number n");    </a:t>
            </a:r>
            <a:r>
              <a:rPr lang="en-IN" dirty="0" err="1"/>
              <a:t>scanf</a:t>
            </a:r>
            <a:r>
              <a:rPr lang="en-IN" dirty="0"/>
              <a:t>("%</a:t>
            </a:r>
            <a:r>
              <a:rPr lang="en-IN" dirty="0" err="1"/>
              <a:t>d",&amp;n</a:t>
            </a:r>
            <a:r>
              <a:rPr lang="en-IN" dirty="0"/>
              <a:t>);    </a:t>
            </a:r>
          </a:p>
          <a:p>
            <a:endParaRPr lang="en-IN" dirty="0"/>
          </a:p>
          <a:p>
            <a:pPr marL="0" indent="0">
              <a:buNone/>
            </a:pPr>
            <a:r>
              <a:rPr lang="en-IN" dirty="0"/>
              <a:t>    while(i&lt;=n)  </a:t>
            </a:r>
          </a:p>
          <a:p>
            <a:r>
              <a:rPr lang="en-IN" dirty="0"/>
              <a:t>  {         </a:t>
            </a:r>
          </a:p>
          <a:p>
            <a:r>
              <a:rPr lang="en-IN" dirty="0"/>
              <a:t>       </a:t>
            </a:r>
            <a:r>
              <a:rPr lang="en-IN" dirty="0" err="1"/>
              <a:t>printf</a:t>
            </a:r>
            <a:r>
              <a:rPr lang="en-IN" dirty="0"/>
              <a:t>("\</a:t>
            </a:r>
            <a:r>
              <a:rPr lang="en-IN" dirty="0" err="1"/>
              <a:t>nThe</a:t>
            </a:r>
            <a:r>
              <a:rPr lang="en-IN" dirty="0"/>
              <a:t> Natural number are from 1 to 10       are:%</a:t>
            </a:r>
            <a:r>
              <a:rPr lang="en-IN" dirty="0" err="1"/>
              <a:t>d",i</a:t>
            </a:r>
            <a:r>
              <a:rPr lang="en-IN" dirty="0"/>
              <a:t>);      </a:t>
            </a:r>
          </a:p>
          <a:p>
            <a:r>
              <a:rPr lang="en-IN" dirty="0"/>
              <a:t>     i++;    </a:t>
            </a:r>
          </a:p>
          <a:p>
            <a:r>
              <a:rPr lang="en-IN" dirty="0"/>
              <a:t>  }    </a:t>
            </a:r>
          </a:p>
          <a:p>
            <a:r>
              <a:rPr lang="en-IN" dirty="0"/>
              <a:t>} </a:t>
            </a:r>
          </a:p>
        </p:txBody>
      </p:sp>
    </p:spTree>
    <p:extLst>
      <p:ext uri="{BB962C8B-B14F-4D97-AF65-F5344CB8AC3E}">
        <p14:creationId xmlns:p14="http://schemas.microsoft.com/office/powerpoint/2010/main" val="17546698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20656"/>
          </a:xfrm>
        </p:spPr>
        <p:txBody>
          <a:bodyPr>
            <a:noAutofit/>
          </a:bodyPr>
          <a:lstStyle/>
          <a:p>
            <a:r>
              <a:rPr lang="en-IN" sz="2400" dirty="0"/>
              <a:t>Program to print table for the 2  using while loop in C</a:t>
            </a:r>
            <a:br>
              <a:rPr lang="en-IN" sz="2400" dirty="0"/>
            </a:br>
            <a:endParaRPr lang="en-IN" sz="2400" dirty="0"/>
          </a:p>
        </p:txBody>
      </p:sp>
      <p:sp>
        <p:nvSpPr>
          <p:cNvPr id="3" name="Content Placeholder 2"/>
          <p:cNvSpPr>
            <a:spLocks noGrp="1"/>
          </p:cNvSpPr>
          <p:nvPr>
            <p:ph idx="1"/>
          </p:nvPr>
        </p:nvSpPr>
        <p:spPr>
          <a:xfrm>
            <a:off x="457200" y="1556792"/>
            <a:ext cx="8229600" cy="4767808"/>
          </a:xfrm>
        </p:spPr>
        <p:txBody>
          <a:bodyPr>
            <a:normAutofit fontScale="92500" lnSpcReduction="20000"/>
          </a:bodyPr>
          <a:lstStyle/>
          <a:p>
            <a:r>
              <a:rPr lang="en-IN" dirty="0"/>
              <a:t>Program to print table for the 2  using while loop in C</a:t>
            </a:r>
          </a:p>
          <a:p>
            <a:r>
              <a:rPr lang="en-IN" dirty="0"/>
              <a:t>#include &lt;</a:t>
            </a:r>
            <a:r>
              <a:rPr lang="en-IN" dirty="0" err="1"/>
              <a:t>stdio.h</a:t>
            </a:r>
            <a:r>
              <a:rPr lang="en-IN" dirty="0"/>
              <a:t>&gt;</a:t>
            </a:r>
          </a:p>
          <a:p>
            <a:r>
              <a:rPr lang="en-IN" dirty="0"/>
              <a:t>void main()</a:t>
            </a:r>
          </a:p>
          <a:p>
            <a:r>
              <a:rPr lang="en-IN" dirty="0"/>
              <a:t>{</a:t>
            </a:r>
          </a:p>
          <a:p>
            <a:r>
              <a:rPr lang="en-IN" dirty="0"/>
              <a:t>    </a:t>
            </a:r>
            <a:r>
              <a:rPr lang="en-IN" dirty="0" err="1"/>
              <a:t>int</a:t>
            </a:r>
            <a:r>
              <a:rPr lang="en-IN" dirty="0"/>
              <a:t> i=1,table;</a:t>
            </a:r>
          </a:p>
          <a:p>
            <a:r>
              <a:rPr lang="en-IN" dirty="0"/>
              <a:t>    while(i&lt;=10)</a:t>
            </a:r>
          </a:p>
          <a:p>
            <a:r>
              <a:rPr lang="en-IN" dirty="0"/>
              <a:t>    {</a:t>
            </a:r>
          </a:p>
          <a:p>
            <a:r>
              <a:rPr lang="en-IN" dirty="0"/>
              <a:t>       table=i*2;</a:t>
            </a:r>
          </a:p>
          <a:p>
            <a:r>
              <a:rPr lang="en-IN" dirty="0"/>
              <a:t>       </a:t>
            </a:r>
            <a:r>
              <a:rPr lang="en-IN" dirty="0" err="1"/>
              <a:t>printf</a:t>
            </a:r>
            <a:r>
              <a:rPr lang="en-IN" dirty="0"/>
              <a:t>("\</a:t>
            </a:r>
            <a:r>
              <a:rPr lang="en-IN" dirty="0" err="1"/>
              <a:t>nThe</a:t>
            </a:r>
            <a:r>
              <a:rPr lang="en-IN" dirty="0"/>
              <a:t> table of 2 is: %</a:t>
            </a:r>
            <a:r>
              <a:rPr lang="en-IN" dirty="0" err="1"/>
              <a:t>d",table</a:t>
            </a:r>
            <a:r>
              <a:rPr lang="en-IN" dirty="0"/>
              <a:t>);</a:t>
            </a:r>
          </a:p>
          <a:p>
            <a:r>
              <a:rPr lang="en-IN" dirty="0"/>
              <a:t>        i++;</a:t>
            </a:r>
          </a:p>
          <a:p>
            <a:r>
              <a:rPr lang="en-IN" dirty="0"/>
              <a:t>    }</a:t>
            </a:r>
          </a:p>
          <a:p>
            <a:r>
              <a:rPr lang="en-IN" dirty="0"/>
              <a:t>}</a:t>
            </a:r>
          </a:p>
          <a:p>
            <a:endParaRPr lang="en-IN" dirty="0"/>
          </a:p>
        </p:txBody>
      </p:sp>
    </p:spTree>
    <p:extLst>
      <p:ext uri="{BB962C8B-B14F-4D97-AF65-F5344CB8AC3E}">
        <p14:creationId xmlns:p14="http://schemas.microsoft.com/office/powerpoint/2010/main" val="24905938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936104"/>
          </a:xfrm>
        </p:spPr>
        <p:txBody>
          <a:bodyPr>
            <a:noAutofit/>
          </a:bodyPr>
          <a:lstStyle/>
          <a:p>
            <a:br>
              <a:rPr lang="en-IN" sz="3200" b="1" dirty="0"/>
            </a:br>
            <a:r>
              <a:rPr lang="en-IN" sz="3200" b="1" dirty="0"/>
              <a:t>Program to print table for the given number using while loop in C</a:t>
            </a:r>
            <a:br>
              <a:rPr lang="en-IN" sz="3200" b="1" dirty="0"/>
            </a:br>
            <a:endParaRPr lang="en-IN" sz="3200" dirty="0"/>
          </a:p>
        </p:txBody>
      </p:sp>
      <p:sp>
        <p:nvSpPr>
          <p:cNvPr id="3" name="Content Placeholder 2"/>
          <p:cNvSpPr>
            <a:spLocks noGrp="1"/>
          </p:cNvSpPr>
          <p:nvPr>
            <p:ph idx="1"/>
          </p:nvPr>
        </p:nvSpPr>
        <p:spPr>
          <a:xfrm>
            <a:off x="457200" y="1124744"/>
            <a:ext cx="8229600" cy="5040560"/>
          </a:xfrm>
        </p:spPr>
        <p:txBody>
          <a:bodyPr>
            <a:normAutofit fontScale="85000" lnSpcReduction="2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void main()</a:t>
            </a:r>
          </a:p>
          <a:p>
            <a:pPr marL="0" indent="0">
              <a:buNone/>
            </a:pPr>
            <a:r>
              <a:rPr lang="en-IN" dirty="0"/>
              <a:t>{    </a:t>
            </a:r>
          </a:p>
          <a:p>
            <a:pPr marL="0" indent="0">
              <a:buNone/>
            </a:pPr>
            <a:r>
              <a:rPr lang="en-IN" dirty="0" err="1"/>
              <a:t>int</a:t>
            </a:r>
            <a:r>
              <a:rPr lang="en-IN" dirty="0"/>
              <a:t> i=1,n,table;   </a:t>
            </a:r>
          </a:p>
          <a:p>
            <a:pPr marL="0" indent="0">
              <a:buNone/>
            </a:pPr>
            <a:r>
              <a:rPr lang="en-IN" dirty="0" err="1"/>
              <a:t>printf</a:t>
            </a:r>
            <a:r>
              <a:rPr lang="en-IN" dirty="0"/>
              <a:t>("Enter the number");    </a:t>
            </a:r>
          </a:p>
          <a:p>
            <a:pPr marL="0" indent="0">
              <a:buNone/>
            </a:pPr>
            <a:r>
              <a:rPr lang="en-IN" dirty="0" err="1"/>
              <a:t>scanf</a:t>
            </a:r>
            <a:r>
              <a:rPr lang="en-IN" dirty="0"/>
              <a:t>("%</a:t>
            </a:r>
            <a:r>
              <a:rPr lang="en-IN" dirty="0" err="1"/>
              <a:t>d",&amp;n</a:t>
            </a:r>
            <a:r>
              <a:rPr lang="en-IN" dirty="0"/>
              <a:t>);   </a:t>
            </a:r>
          </a:p>
          <a:p>
            <a:pPr marL="0" indent="0">
              <a:buNone/>
            </a:pPr>
            <a:r>
              <a:rPr lang="en-IN" dirty="0"/>
              <a:t>  while(i&lt;=10)  </a:t>
            </a:r>
          </a:p>
          <a:p>
            <a:pPr marL="0" indent="0">
              <a:buNone/>
            </a:pPr>
            <a:r>
              <a:rPr lang="en-IN" dirty="0"/>
              <a:t>    {       </a:t>
            </a:r>
          </a:p>
          <a:p>
            <a:pPr marL="0" indent="0">
              <a:buNone/>
            </a:pPr>
            <a:r>
              <a:rPr lang="en-IN" dirty="0"/>
              <a:t>      table=i*n;        </a:t>
            </a:r>
          </a:p>
          <a:p>
            <a:pPr marL="0" indent="0">
              <a:buNone/>
            </a:pPr>
            <a:r>
              <a:rPr lang="en-IN" dirty="0"/>
              <a:t>      </a:t>
            </a:r>
            <a:r>
              <a:rPr lang="en-IN" dirty="0" err="1"/>
              <a:t>printf</a:t>
            </a:r>
            <a:r>
              <a:rPr lang="en-IN" dirty="0"/>
              <a:t>("\</a:t>
            </a:r>
            <a:r>
              <a:rPr lang="en-IN" dirty="0" err="1"/>
              <a:t>nThe</a:t>
            </a:r>
            <a:r>
              <a:rPr lang="en-IN" dirty="0"/>
              <a:t> table %</a:t>
            </a:r>
            <a:r>
              <a:rPr lang="en-IN" dirty="0" err="1"/>
              <a:t>d",table</a:t>
            </a:r>
            <a:r>
              <a:rPr lang="en-IN" dirty="0"/>
              <a:t>);      </a:t>
            </a:r>
          </a:p>
          <a:p>
            <a:pPr marL="0" indent="0">
              <a:buNone/>
            </a:pPr>
            <a:r>
              <a:rPr lang="en-IN" dirty="0"/>
              <a:t>      i++;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2332876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504056"/>
          </a:xfrm>
        </p:spPr>
        <p:txBody>
          <a:bodyPr>
            <a:normAutofit fontScale="90000"/>
          </a:bodyPr>
          <a:lstStyle/>
          <a:p>
            <a:r>
              <a:rPr lang="en-IN" sz="3100" b="1" dirty="0"/>
              <a:t>Program to print alphabets from a-z</a:t>
            </a:r>
            <a:br>
              <a:rPr lang="en-IN" sz="1800" b="1" dirty="0"/>
            </a:br>
            <a:endParaRPr lang="en-IN" sz="1800" dirty="0"/>
          </a:p>
        </p:txBody>
      </p:sp>
      <p:sp>
        <p:nvSpPr>
          <p:cNvPr id="3" name="Content Placeholder 2"/>
          <p:cNvSpPr>
            <a:spLocks noGrp="1"/>
          </p:cNvSpPr>
          <p:nvPr>
            <p:ph idx="1"/>
          </p:nvPr>
        </p:nvSpPr>
        <p:spPr>
          <a:xfrm>
            <a:off x="457200" y="1556792"/>
            <a:ext cx="8229600" cy="4767808"/>
          </a:xfrm>
        </p:spPr>
        <p:txBody>
          <a:bodyPr>
            <a:normAutofit fontScale="92500" lnSpcReduction="10000"/>
          </a:bodyPr>
          <a:lstStyle/>
          <a:p>
            <a:r>
              <a:rPr lang="en-IN" dirty="0"/>
              <a:t>#include&lt;</a:t>
            </a:r>
            <a:r>
              <a:rPr lang="en-IN" dirty="0" err="1"/>
              <a:t>stdio.h</a:t>
            </a:r>
            <a:r>
              <a:rPr lang="en-IN" dirty="0"/>
              <a:t>&gt;   </a:t>
            </a:r>
          </a:p>
          <a:p>
            <a:r>
              <a:rPr lang="en-IN" dirty="0"/>
              <a:t>main()</a:t>
            </a:r>
          </a:p>
          <a:p>
            <a:r>
              <a:rPr lang="en-IN" dirty="0"/>
              <a:t>{      </a:t>
            </a:r>
          </a:p>
          <a:p>
            <a:r>
              <a:rPr lang="en-IN" dirty="0"/>
              <a:t>char </a:t>
            </a:r>
            <a:r>
              <a:rPr lang="en-IN" dirty="0" err="1"/>
              <a:t>ch</a:t>
            </a:r>
            <a:r>
              <a:rPr lang="en-IN" dirty="0"/>
              <a:t>='a';   </a:t>
            </a:r>
          </a:p>
          <a:p>
            <a:r>
              <a:rPr lang="en-IN" dirty="0"/>
              <a:t> while(</a:t>
            </a:r>
            <a:r>
              <a:rPr lang="en-IN" dirty="0" err="1"/>
              <a:t>ch</a:t>
            </a:r>
            <a:r>
              <a:rPr lang="en-IN" dirty="0"/>
              <a:t>&lt;='z')  </a:t>
            </a:r>
          </a:p>
          <a:p>
            <a:r>
              <a:rPr lang="en-IN" dirty="0"/>
              <a:t>{     </a:t>
            </a:r>
          </a:p>
          <a:p>
            <a:pPr marL="0" indent="0">
              <a:buNone/>
            </a:pPr>
            <a:r>
              <a:rPr lang="en-IN" dirty="0"/>
              <a:t>        </a:t>
            </a:r>
            <a:r>
              <a:rPr lang="en-IN" dirty="0" err="1"/>
              <a:t>printf</a:t>
            </a:r>
            <a:r>
              <a:rPr lang="en-IN" dirty="0"/>
              <a:t>("\</a:t>
            </a:r>
            <a:r>
              <a:rPr lang="en-IN" dirty="0" err="1"/>
              <a:t>nThe</a:t>
            </a:r>
            <a:r>
              <a:rPr lang="en-IN" dirty="0"/>
              <a:t>  </a:t>
            </a:r>
            <a:r>
              <a:rPr lang="en-IN" dirty="0" err="1"/>
              <a:t>Albhabetc</a:t>
            </a:r>
            <a:r>
              <a:rPr lang="en-IN" dirty="0"/>
              <a:t> character from a to z                     is=%c“ </a:t>
            </a:r>
            <a:r>
              <a:rPr lang="en-IN" dirty="0" err="1"/>
              <a:t>ch</a:t>
            </a:r>
            <a:r>
              <a:rPr lang="en-IN" dirty="0"/>
              <a:t>);     </a:t>
            </a:r>
          </a:p>
          <a:p>
            <a:r>
              <a:rPr lang="en-IN" dirty="0"/>
              <a:t> </a:t>
            </a:r>
            <a:r>
              <a:rPr lang="en-IN" dirty="0" err="1"/>
              <a:t>ch</a:t>
            </a:r>
            <a:r>
              <a:rPr lang="en-IN" dirty="0"/>
              <a:t>++;       </a:t>
            </a:r>
          </a:p>
          <a:p>
            <a:r>
              <a:rPr lang="en-IN" dirty="0"/>
              <a:t>} </a:t>
            </a:r>
          </a:p>
          <a:p>
            <a:r>
              <a:rPr lang="en-IN" dirty="0"/>
              <a:t> } </a:t>
            </a:r>
          </a:p>
        </p:txBody>
      </p:sp>
    </p:spTree>
    <p:extLst>
      <p:ext uri="{BB962C8B-B14F-4D97-AF65-F5344CB8AC3E}">
        <p14:creationId xmlns:p14="http://schemas.microsoft.com/office/powerpoint/2010/main" val="37914065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Do-While Loop</a:t>
            </a:r>
            <a:br>
              <a:rPr lang="en-IN" b="1" dirty="0"/>
            </a:br>
            <a:endParaRPr lang="en-IN" dirty="0"/>
          </a:p>
        </p:txBody>
      </p:sp>
      <p:sp>
        <p:nvSpPr>
          <p:cNvPr id="3" name="Content Placeholder 2"/>
          <p:cNvSpPr>
            <a:spLocks noGrp="1"/>
          </p:cNvSpPr>
          <p:nvPr>
            <p:ph idx="1"/>
          </p:nvPr>
        </p:nvSpPr>
        <p:spPr>
          <a:xfrm>
            <a:off x="457200" y="1340768"/>
            <a:ext cx="8229600" cy="4983832"/>
          </a:xfrm>
        </p:spPr>
        <p:txBody>
          <a:bodyPr/>
          <a:lstStyle/>
          <a:p>
            <a:r>
              <a:rPr lang="en-IN" dirty="0"/>
              <a:t>The do-while statement is used to execute a single statement or block of statements repeatedly as long as given the condition is TRUE. </a:t>
            </a:r>
          </a:p>
          <a:p>
            <a:r>
              <a:rPr lang="en-IN" dirty="0"/>
              <a:t>The do-while statement is also known as the </a:t>
            </a:r>
            <a:r>
              <a:rPr lang="en-IN" b="1" dirty="0"/>
              <a:t>Exit control looping statement</a:t>
            </a:r>
            <a:endParaRPr lang="en-IN" dirty="0"/>
          </a:p>
        </p:txBody>
      </p:sp>
    </p:spTree>
    <p:extLst>
      <p:ext uri="{BB962C8B-B14F-4D97-AF65-F5344CB8AC3E}">
        <p14:creationId xmlns:p14="http://schemas.microsoft.com/office/powerpoint/2010/main" val="27195023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576064"/>
          </a:xfrm>
        </p:spPr>
        <p:txBody>
          <a:bodyPr>
            <a:normAutofit fontScale="90000"/>
          </a:bodyPr>
          <a:lstStyle/>
          <a:p>
            <a:r>
              <a:rPr lang="en-IN" b="1" dirty="0"/>
              <a:t>Working of Do-While Loop</a:t>
            </a:r>
            <a:endParaRPr lang="en-IN" dirty="0"/>
          </a:p>
        </p:txBody>
      </p:sp>
      <p:sp>
        <p:nvSpPr>
          <p:cNvPr id="3" name="Content Placeholder 2"/>
          <p:cNvSpPr>
            <a:spLocks noGrp="1"/>
          </p:cNvSpPr>
          <p:nvPr>
            <p:ph idx="1"/>
          </p:nvPr>
        </p:nvSpPr>
        <p:spPr>
          <a:xfrm>
            <a:off x="323528" y="1052736"/>
            <a:ext cx="8496944" cy="5544616"/>
          </a:xfrm>
        </p:spPr>
        <p:txBody>
          <a:bodyPr>
            <a:normAutofit lnSpcReduction="10000"/>
          </a:bodyPr>
          <a:lstStyle/>
          <a:p>
            <a:r>
              <a:rPr lang="en-IN" dirty="0"/>
              <a:t>At first, the single statement or block of statements which are defined in </a:t>
            </a:r>
            <a:r>
              <a:rPr lang="en-IN" b="1" dirty="0"/>
              <a:t>do</a:t>
            </a:r>
            <a:r>
              <a:rPr lang="en-IN" dirty="0"/>
              <a:t> block are executed. </a:t>
            </a:r>
          </a:p>
          <a:p>
            <a:r>
              <a:rPr lang="en-IN" dirty="0"/>
              <a:t>After the execution of the do block, the given condition gets evaluated. </a:t>
            </a:r>
          </a:p>
          <a:p>
            <a:r>
              <a:rPr lang="en-IN" dirty="0"/>
              <a:t>If the condition is evaluated to TRUE, the single statement or block of statements of do block are executed again. </a:t>
            </a:r>
          </a:p>
          <a:p>
            <a:r>
              <a:rPr lang="en-IN" dirty="0"/>
              <a:t>Once the execution gets completed again the condition is evaluated. </a:t>
            </a:r>
          </a:p>
          <a:p>
            <a:r>
              <a:rPr lang="en-IN" dirty="0"/>
              <a:t>If it is TRUE, again the same statements are executed. The same process is repeated until the condition is evaluated to FALSE. </a:t>
            </a:r>
          </a:p>
          <a:p>
            <a:r>
              <a:rPr lang="en-IN" dirty="0"/>
              <a:t>Whenever the condition is evaluated to FALSE, the execution control moves out of the while block.</a:t>
            </a:r>
          </a:p>
        </p:txBody>
      </p:sp>
    </p:spTree>
    <p:extLst>
      <p:ext uri="{BB962C8B-B14F-4D97-AF65-F5344CB8AC3E}">
        <p14:creationId xmlns:p14="http://schemas.microsoft.com/office/powerpoint/2010/main" val="161428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19256" cy="1080120"/>
          </a:xfrm>
        </p:spPr>
        <p:txBody>
          <a:bodyPr>
            <a:normAutofit/>
          </a:bodyPr>
          <a:lstStyle/>
          <a:p>
            <a:r>
              <a:rPr lang="en-IN" dirty="0"/>
              <a:t>The syntax of do-while loop</a:t>
            </a:r>
          </a:p>
        </p:txBody>
      </p:sp>
      <p:sp>
        <p:nvSpPr>
          <p:cNvPr id="3" name="Content Placeholder 2"/>
          <p:cNvSpPr>
            <a:spLocks noGrp="1"/>
          </p:cNvSpPr>
          <p:nvPr>
            <p:ph idx="1"/>
          </p:nvPr>
        </p:nvSpPr>
        <p:spPr/>
        <p:txBody>
          <a:bodyPr>
            <a:normAutofit fontScale="62500" lnSpcReduction="20000"/>
          </a:bodyPr>
          <a:lstStyle/>
          <a:p>
            <a:r>
              <a:rPr lang="en-IN" dirty="0"/>
              <a:t>The syntax of </a:t>
            </a:r>
            <a:r>
              <a:rPr lang="en-IN" dirty="0">
                <a:hlinkClick r:id="rId2"/>
              </a:rPr>
              <a:t>do-while loop in c language</a:t>
            </a:r>
            <a:r>
              <a:rPr lang="en-IN" dirty="0"/>
              <a:t> is given below:</a:t>
            </a:r>
          </a:p>
          <a:p>
            <a:endParaRPr lang="en-IN" dirty="0"/>
          </a:p>
          <a:p>
            <a:r>
              <a:rPr lang="en-IN" dirty="0"/>
              <a:t>do</a:t>
            </a:r>
          </a:p>
          <a:p>
            <a:r>
              <a:rPr lang="en-IN" dirty="0"/>
              <a:t>{  </a:t>
            </a:r>
          </a:p>
          <a:p>
            <a:r>
              <a:rPr lang="en-IN" dirty="0"/>
              <a:t>      //code to be executed  </a:t>
            </a:r>
          </a:p>
          <a:p>
            <a:r>
              <a:rPr lang="en-IN" dirty="0"/>
              <a:t>    Increment or Decrements (++ or --);</a:t>
            </a:r>
          </a:p>
          <a:p>
            <a:endParaRPr lang="en-IN" dirty="0"/>
          </a:p>
          <a:p>
            <a:r>
              <a:rPr lang="en-IN" dirty="0"/>
              <a:t>}while(condition);  </a:t>
            </a:r>
          </a:p>
          <a:p>
            <a:endParaRPr lang="en-US" dirty="0"/>
          </a:p>
          <a:p>
            <a:endParaRPr lang="en-IN" dirty="0"/>
          </a:p>
          <a:p>
            <a:pPr marL="0" indent="0">
              <a:buNone/>
            </a:pPr>
            <a:r>
              <a:rPr lang="en-IN" dirty="0"/>
              <a:t>while(condition) </a:t>
            </a:r>
          </a:p>
          <a:p>
            <a:pPr marL="0" indent="0">
              <a:buNone/>
            </a:pPr>
            <a:r>
              <a:rPr lang="en-IN" dirty="0"/>
              <a:t>{</a:t>
            </a:r>
          </a:p>
          <a:p>
            <a:pPr marL="0" indent="0">
              <a:buNone/>
            </a:pPr>
            <a:r>
              <a:rPr lang="en-IN" dirty="0"/>
              <a:t>statements;</a:t>
            </a:r>
          </a:p>
          <a:p>
            <a:pPr marL="0" indent="0">
              <a:buNone/>
            </a:pPr>
            <a:r>
              <a:rPr lang="en-IN" dirty="0"/>
              <a:t>............</a:t>
            </a:r>
          </a:p>
          <a:p>
            <a:pPr marL="0" indent="0">
              <a:buNone/>
            </a:pPr>
            <a:r>
              <a:rPr lang="en-IN" dirty="0"/>
              <a:t>Increment or Decrements (++ or --);</a:t>
            </a:r>
          </a:p>
          <a:p>
            <a:pPr marL="0" indent="0">
              <a:buNone/>
            </a:pPr>
            <a:r>
              <a:rPr lang="en-IN" dirty="0"/>
              <a:t>}</a:t>
            </a:r>
          </a:p>
          <a:p>
            <a:endParaRPr lang="en-IN" dirty="0"/>
          </a:p>
        </p:txBody>
      </p:sp>
    </p:spTree>
    <p:extLst>
      <p:ext uri="{BB962C8B-B14F-4D97-AF65-F5344CB8AC3E}">
        <p14:creationId xmlns:p14="http://schemas.microsoft.com/office/powerpoint/2010/main" val="1074328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fade">
                                      <p:cBhvr>
                                        <p:cTn id="7" dur="1000"/>
                                        <p:tgtEl>
                                          <p:spTgt spid="3">
                                            <p:txEl>
                                              <p:pRg st="10" end="10"/>
                                            </p:txEl>
                                          </p:spTgt>
                                        </p:tgtEl>
                                      </p:cBhvr>
                                    </p:animEffect>
                                    <p:anim calcmode="lin" valueType="num">
                                      <p:cBhvr>
                                        <p:cTn id="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fade">
                                      <p:cBhvr>
                                        <p:cTn id="12" dur="1000"/>
                                        <p:tgtEl>
                                          <p:spTgt spid="3">
                                            <p:txEl>
                                              <p:pRg st="11" end="11"/>
                                            </p:txEl>
                                          </p:spTgt>
                                        </p:tgtEl>
                                      </p:cBhvr>
                                    </p:animEffect>
                                    <p:anim calcmode="lin" valueType="num">
                                      <p:cBhvr>
                                        <p:cTn id="1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animEffect transition="in" filter="fade">
                                      <p:cBhvr>
                                        <p:cTn id="17" dur="1000"/>
                                        <p:tgtEl>
                                          <p:spTgt spid="3">
                                            <p:txEl>
                                              <p:pRg st="12" end="12"/>
                                            </p:txEl>
                                          </p:spTgt>
                                        </p:tgtEl>
                                      </p:cBhvr>
                                    </p:animEffect>
                                    <p:anim calcmode="lin" valueType="num">
                                      <p:cBhvr>
                                        <p:cTn id="1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13" end="13"/>
                                            </p:txEl>
                                          </p:spTgt>
                                        </p:tgtEl>
                                        <p:attrNameLst>
                                          <p:attrName>style.visibility</p:attrName>
                                        </p:attrNameLst>
                                      </p:cBhvr>
                                      <p:to>
                                        <p:strVal val="visible"/>
                                      </p:to>
                                    </p:set>
                                    <p:animEffect transition="in" filter="fade">
                                      <p:cBhvr>
                                        <p:cTn id="22" dur="1000"/>
                                        <p:tgtEl>
                                          <p:spTgt spid="3">
                                            <p:txEl>
                                              <p:pRg st="13" end="13"/>
                                            </p:txEl>
                                          </p:spTgt>
                                        </p:tgtEl>
                                      </p:cBhvr>
                                    </p:animEffect>
                                    <p:anim calcmode="lin" valueType="num">
                                      <p:cBhvr>
                                        <p:cTn id="23"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Effect transition="in" filter="fade">
                                      <p:cBhvr>
                                        <p:cTn id="27" dur="1000"/>
                                        <p:tgtEl>
                                          <p:spTgt spid="3">
                                            <p:txEl>
                                              <p:pRg st="14" end="14"/>
                                            </p:txEl>
                                          </p:spTgt>
                                        </p:tgtEl>
                                      </p:cBhvr>
                                    </p:animEffect>
                                    <p:anim calcmode="lin" valueType="num">
                                      <p:cBhvr>
                                        <p:cTn id="2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5" end="15"/>
                                            </p:txEl>
                                          </p:spTgt>
                                        </p:tgtEl>
                                        <p:attrNameLst>
                                          <p:attrName>style.visibility</p:attrName>
                                        </p:attrNameLst>
                                      </p:cBhvr>
                                      <p:to>
                                        <p:strVal val="visible"/>
                                      </p:to>
                                    </p:set>
                                    <p:animEffect transition="in" filter="fade">
                                      <p:cBhvr>
                                        <p:cTn id="32" dur="1000"/>
                                        <p:tgtEl>
                                          <p:spTgt spid="3">
                                            <p:txEl>
                                              <p:pRg st="15" end="15"/>
                                            </p:txEl>
                                          </p:spTgt>
                                        </p:tgtEl>
                                      </p:cBhvr>
                                    </p:animEffect>
                                    <p:anim calcmode="lin" valueType="num">
                                      <p:cBhvr>
                                        <p:cTn id="33"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6712"/>
            <a:ext cx="8229600" cy="576064"/>
          </a:xfrm>
        </p:spPr>
        <p:txBody>
          <a:bodyPr>
            <a:normAutofit fontScale="90000"/>
          </a:bodyPr>
          <a:lstStyle/>
          <a:p>
            <a:r>
              <a:rPr lang="en-IN" b="1" dirty="0"/>
              <a:t>Flowchart</a:t>
            </a:r>
            <a:br>
              <a:rPr lang="en-IN" b="1" dirty="0"/>
            </a:br>
            <a:endParaRPr lang="en-IN" dirty="0"/>
          </a:p>
        </p:txBody>
      </p:sp>
      <p:sp>
        <p:nvSpPr>
          <p:cNvPr id="3" name="Content Placeholder 2"/>
          <p:cNvSpPr>
            <a:spLocks noGrp="1"/>
          </p:cNvSpPr>
          <p:nvPr>
            <p:ph idx="1"/>
          </p:nvPr>
        </p:nvSpPr>
        <p:spPr>
          <a:xfrm>
            <a:off x="457200" y="764704"/>
            <a:ext cx="8229600" cy="5559896"/>
          </a:xfrm>
        </p:spPr>
        <p:txBody>
          <a:bodyPr/>
          <a:lstStyle/>
          <a:p>
            <a:r>
              <a:rPr lang="en-IN" dirty="0"/>
              <a:t>The below flowchart will help you understand the functioning of the do-while loop.</a:t>
            </a:r>
          </a:p>
          <a:p>
            <a:endParaRPr lang="en-IN" dirty="0"/>
          </a:p>
          <a:p>
            <a:endParaRPr lang="en-IN"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1830225"/>
            <a:ext cx="4176464"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2002" y="1340768"/>
            <a:ext cx="352839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801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Autofit/>
          </a:bodyPr>
          <a:lstStyle/>
          <a:p>
            <a:r>
              <a:rPr lang="en-IN" sz="1800" b="1" dirty="0"/>
              <a:t>Program to print alphabetical character from  a-z</a:t>
            </a:r>
            <a:br>
              <a:rPr lang="en-IN" sz="1800" b="1" dirty="0"/>
            </a:br>
            <a:endParaRPr lang="en-IN" sz="1800" dirty="0"/>
          </a:p>
        </p:txBody>
      </p:sp>
      <p:sp>
        <p:nvSpPr>
          <p:cNvPr id="3" name="Content Placeholder 2"/>
          <p:cNvSpPr>
            <a:spLocks noGrp="1"/>
          </p:cNvSpPr>
          <p:nvPr>
            <p:ph idx="1"/>
          </p:nvPr>
        </p:nvSpPr>
        <p:spPr>
          <a:xfrm>
            <a:off x="457200" y="1556792"/>
            <a:ext cx="8229600" cy="4767808"/>
          </a:xfrm>
        </p:spPr>
        <p:txBody>
          <a:bodyPr>
            <a:normAutofit fontScale="92500" lnSpcReduction="20000"/>
          </a:bodyPr>
          <a:lstStyle/>
          <a:p>
            <a:r>
              <a:rPr lang="en-IN" dirty="0"/>
              <a:t>#include &lt;</a:t>
            </a:r>
            <a:r>
              <a:rPr lang="en-IN" dirty="0" err="1"/>
              <a:t>stdio.h</a:t>
            </a:r>
            <a:r>
              <a:rPr lang="en-IN" dirty="0"/>
              <a:t>&gt;</a:t>
            </a:r>
          </a:p>
          <a:p>
            <a:r>
              <a:rPr lang="en-IN" dirty="0"/>
              <a:t>void main()</a:t>
            </a:r>
          </a:p>
          <a:p>
            <a:r>
              <a:rPr lang="en-IN" dirty="0"/>
              <a:t>{      </a:t>
            </a:r>
          </a:p>
          <a:p>
            <a:r>
              <a:rPr lang="en-IN" dirty="0"/>
              <a:t>char </a:t>
            </a:r>
            <a:r>
              <a:rPr lang="en-IN" dirty="0" err="1"/>
              <a:t>ch</a:t>
            </a:r>
            <a:r>
              <a:rPr lang="en-IN" dirty="0"/>
              <a:t>='a';   </a:t>
            </a:r>
          </a:p>
          <a:p>
            <a:endParaRPr lang="en-IN" dirty="0"/>
          </a:p>
          <a:p>
            <a:r>
              <a:rPr lang="en-IN" dirty="0"/>
              <a:t> do   </a:t>
            </a:r>
          </a:p>
          <a:p>
            <a:r>
              <a:rPr lang="en-IN" dirty="0"/>
              <a:t>{       </a:t>
            </a:r>
          </a:p>
          <a:p>
            <a:r>
              <a:rPr lang="en-IN" dirty="0"/>
              <a:t>   </a:t>
            </a:r>
            <a:r>
              <a:rPr lang="en-IN" dirty="0" err="1"/>
              <a:t>printf</a:t>
            </a:r>
            <a:r>
              <a:rPr lang="en-IN" dirty="0"/>
              <a:t>("\</a:t>
            </a:r>
            <a:r>
              <a:rPr lang="en-IN" dirty="0" err="1"/>
              <a:t>nThe</a:t>
            </a:r>
            <a:r>
              <a:rPr lang="en-IN" dirty="0"/>
              <a:t> alphabetic Character %c",</a:t>
            </a:r>
            <a:r>
              <a:rPr lang="en-IN" dirty="0" err="1"/>
              <a:t>ch</a:t>
            </a:r>
            <a:r>
              <a:rPr lang="en-IN" dirty="0"/>
              <a:t>);              </a:t>
            </a:r>
          </a:p>
          <a:p>
            <a:r>
              <a:rPr lang="en-IN" dirty="0"/>
              <a:t>    </a:t>
            </a:r>
            <a:r>
              <a:rPr lang="en-IN" dirty="0" err="1"/>
              <a:t>ch</a:t>
            </a:r>
            <a:r>
              <a:rPr lang="en-IN" dirty="0"/>
              <a:t>++;          </a:t>
            </a:r>
          </a:p>
          <a:p>
            <a:r>
              <a:rPr lang="en-IN" dirty="0"/>
              <a:t>} while(</a:t>
            </a:r>
            <a:r>
              <a:rPr lang="en-IN" dirty="0" err="1"/>
              <a:t>ch</a:t>
            </a:r>
            <a:r>
              <a:rPr lang="en-IN" dirty="0"/>
              <a:t>&lt;='z');</a:t>
            </a:r>
          </a:p>
          <a:p>
            <a:r>
              <a:rPr lang="en-IN" dirty="0"/>
              <a:t>   </a:t>
            </a:r>
          </a:p>
          <a:p>
            <a:r>
              <a:rPr lang="en-IN" dirty="0"/>
              <a:t> }</a:t>
            </a:r>
          </a:p>
        </p:txBody>
      </p:sp>
    </p:spTree>
    <p:extLst>
      <p:ext uri="{BB962C8B-B14F-4D97-AF65-F5344CB8AC3E}">
        <p14:creationId xmlns:p14="http://schemas.microsoft.com/office/powerpoint/2010/main" val="34721704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program to print ASCII values of all characters</a:t>
            </a:r>
            <a:br>
              <a:rPr lang="en-IN" b="1" dirty="0"/>
            </a:br>
            <a:endParaRPr lang="en-IN" dirty="0"/>
          </a:p>
        </p:txBody>
      </p:sp>
      <p:sp>
        <p:nvSpPr>
          <p:cNvPr id="3" name="Content Placeholder 2"/>
          <p:cNvSpPr>
            <a:spLocks noGrp="1"/>
          </p:cNvSpPr>
          <p:nvPr>
            <p:ph idx="1"/>
          </p:nvPr>
        </p:nvSpPr>
        <p:spPr>
          <a:xfrm>
            <a:off x="457200" y="1268760"/>
            <a:ext cx="8229600" cy="5055840"/>
          </a:xfrm>
        </p:spPr>
        <p:txBody>
          <a:bodyPr>
            <a:normAutofit fontScale="92500" lnSpcReduction="10000"/>
          </a:bodyPr>
          <a:lstStyle/>
          <a:p>
            <a:pPr>
              <a:buNone/>
            </a:pPr>
            <a:r>
              <a:rPr lang="en-IN"/>
              <a:t>ASCII 0-255</a:t>
            </a:r>
          </a:p>
          <a:p>
            <a:pPr>
              <a:buNone/>
            </a:pPr>
            <a:r>
              <a:rPr lang="en-IN" dirty="0"/>
              <a:t>#include&lt;</a:t>
            </a:r>
            <a:r>
              <a:rPr lang="en-IN" dirty="0" err="1"/>
              <a:t>stdio.h</a:t>
            </a:r>
            <a:r>
              <a:rPr lang="en-IN" dirty="0"/>
              <a:t>&gt;   </a:t>
            </a:r>
          </a:p>
          <a:p>
            <a:pPr>
              <a:buNone/>
            </a:pPr>
            <a:r>
              <a:rPr lang="en-IN" dirty="0"/>
              <a:t>main()</a:t>
            </a:r>
          </a:p>
          <a:p>
            <a:pPr>
              <a:buNone/>
            </a:pPr>
            <a:r>
              <a:rPr lang="en-IN" dirty="0"/>
              <a:t>{      </a:t>
            </a:r>
          </a:p>
          <a:p>
            <a:pPr>
              <a:buNone/>
            </a:pPr>
            <a:r>
              <a:rPr lang="en-IN" dirty="0"/>
              <a:t>  char </a:t>
            </a:r>
            <a:r>
              <a:rPr lang="en-IN" dirty="0" err="1"/>
              <a:t>i</a:t>
            </a:r>
            <a:r>
              <a:rPr lang="en-IN" dirty="0"/>
              <a:t>=1; </a:t>
            </a:r>
          </a:p>
          <a:p>
            <a:pPr>
              <a:buNone/>
            </a:pPr>
            <a:r>
              <a:rPr lang="en-IN" dirty="0"/>
              <a:t> do </a:t>
            </a:r>
          </a:p>
          <a:p>
            <a:pPr>
              <a:buNone/>
            </a:pPr>
            <a:r>
              <a:rPr lang="en-IN" dirty="0"/>
              <a:t> {      </a:t>
            </a:r>
          </a:p>
          <a:p>
            <a:pPr>
              <a:buNone/>
            </a:pPr>
            <a:r>
              <a:rPr lang="en-IN" dirty="0" err="1"/>
              <a:t>printf</a:t>
            </a:r>
            <a:r>
              <a:rPr lang="en-IN" dirty="0"/>
              <a:t>("\</a:t>
            </a:r>
            <a:r>
              <a:rPr lang="en-IN" dirty="0" err="1"/>
              <a:t>nThe</a:t>
            </a:r>
            <a:r>
              <a:rPr lang="en-IN" dirty="0"/>
              <a:t> ASCII value %c=%</a:t>
            </a:r>
            <a:r>
              <a:rPr lang="en-IN" dirty="0" err="1"/>
              <a:t>d",i,i</a:t>
            </a:r>
            <a:r>
              <a:rPr lang="en-IN" dirty="0"/>
              <a:t>);     </a:t>
            </a:r>
          </a:p>
          <a:p>
            <a:pPr>
              <a:buNone/>
            </a:pPr>
            <a:r>
              <a:rPr lang="en-IN" dirty="0"/>
              <a:t> </a:t>
            </a:r>
            <a:r>
              <a:rPr lang="en-IN" dirty="0" err="1"/>
              <a:t>i</a:t>
            </a:r>
            <a:r>
              <a:rPr lang="en-IN" dirty="0"/>
              <a:t>++;  </a:t>
            </a:r>
          </a:p>
          <a:p>
            <a:pPr>
              <a:buNone/>
            </a:pPr>
            <a:r>
              <a:rPr lang="en-IN" dirty="0"/>
              <a:t>} </a:t>
            </a:r>
          </a:p>
          <a:p>
            <a:pPr>
              <a:buNone/>
            </a:pPr>
            <a:r>
              <a:rPr lang="en-IN" dirty="0"/>
              <a:t> while(</a:t>
            </a:r>
            <a:r>
              <a:rPr lang="en-IN" dirty="0" err="1"/>
              <a:t>i</a:t>
            </a:r>
            <a:r>
              <a:rPr lang="en-IN" dirty="0"/>
              <a:t>&lt;=100);</a:t>
            </a:r>
          </a:p>
          <a:p>
            <a:pPr>
              <a:buNone/>
            </a:pPr>
            <a:r>
              <a:rPr lang="en-IN" dirty="0"/>
              <a:t> }</a:t>
            </a:r>
          </a:p>
        </p:txBody>
      </p:sp>
    </p:spTree>
    <p:extLst>
      <p:ext uri="{BB962C8B-B14F-4D97-AF65-F5344CB8AC3E}">
        <p14:creationId xmlns:p14="http://schemas.microsoft.com/office/powerpoint/2010/main" val="12121271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576064"/>
          </a:xfrm>
        </p:spPr>
        <p:txBody>
          <a:bodyPr>
            <a:normAutofit fontScale="90000"/>
          </a:bodyPr>
          <a:lstStyle/>
          <a:p>
            <a:r>
              <a:rPr lang="en-IN" sz="3100" b="1" dirty="0"/>
              <a:t>Program to display even numbers </a:t>
            </a:r>
            <a:r>
              <a:rPr lang="en-IN" sz="3100" b="1" dirty="0" err="1"/>
              <a:t>upto</a:t>
            </a:r>
            <a:r>
              <a:rPr lang="en-IN" sz="3100" b="1" dirty="0"/>
              <a:t> 10</a:t>
            </a:r>
            <a:r>
              <a:rPr lang="en-IN" b="1" dirty="0"/>
              <a:t>.</a:t>
            </a:r>
            <a:endParaRPr lang="en-IN" dirty="0"/>
          </a:p>
        </p:txBody>
      </p:sp>
      <p:sp>
        <p:nvSpPr>
          <p:cNvPr id="3" name="Content Placeholder 2"/>
          <p:cNvSpPr>
            <a:spLocks noGrp="1"/>
          </p:cNvSpPr>
          <p:nvPr>
            <p:ph idx="1"/>
          </p:nvPr>
        </p:nvSpPr>
        <p:spPr>
          <a:xfrm>
            <a:off x="457200" y="1052736"/>
            <a:ext cx="8229600" cy="5544616"/>
          </a:xfrm>
        </p:spPr>
        <p:txBody>
          <a:bodyPr>
            <a:normAutofit fontScale="85000" lnSpcReduction="20000"/>
          </a:bodyPr>
          <a:lstStyle/>
          <a:p>
            <a:r>
              <a:rPr lang="en-IN" dirty="0"/>
              <a:t>#include &lt;</a:t>
            </a:r>
            <a:r>
              <a:rPr lang="en-IN" dirty="0" err="1"/>
              <a:t>stdio.h</a:t>
            </a:r>
            <a:r>
              <a:rPr lang="en-IN" dirty="0"/>
              <a:t>&gt;</a:t>
            </a:r>
          </a:p>
          <a:p>
            <a:endParaRPr lang="en-IN" dirty="0"/>
          </a:p>
          <a:p>
            <a:r>
              <a:rPr lang="en-IN" dirty="0"/>
              <a:t>void main()</a:t>
            </a:r>
          </a:p>
          <a:p>
            <a:r>
              <a:rPr lang="en-IN" dirty="0"/>
              <a:t>{     </a:t>
            </a:r>
          </a:p>
          <a:p>
            <a:endParaRPr lang="en-IN" dirty="0"/>
          </a:p>
          <a:p>
            <a:r>
              <a:rPr lang="en-IN" dirty="0"/>
              <a:t> </a:t>
            </a:r>
            <a:r>
              <a:rPr lang="en-IN" dirty="0" err="1"/>
              <a:t>int</a:t>
            </a:r>
            <a:r>
              <a:rPr lang="en-IN" dirty="0"/>
              <a:t> </a:t>
            </a:r>
            <a:r>
              <a:rPr lang="en-IN" dirty="0" err="1"/>
              <a:t>i</a:t>
            </a:r>
            <a:r>
              <a:rPr lang="en-IN" dirty="0"/>
              <a:t>=2;  </a:t>
            </a:r>
          </a:p>
          <a:p>
            <a:r>
              <a:rPr lang="en-IN" dirty="0"/>
              <a:t> </a:t>
            </a:r>
            <a:r>
              <a:rPr lang="en-IN" dirty="0" err="1"/>
              <a:t>printf</a:t>
            </a:r>
            <a:r>
              <a:rPr lang="en-IN" dirty="0"/>
              <a:t>("Find out even from 1-10");   </a:t>
            </a:r>
          </a:p>
          <a:p>
            <a:r>
              <a:rPr lang="en-IN" dirty="0"/>
              <a:t>do   </a:t>
            </a:r>
          </a:p>
          <a:p>
            <a:r>
              <a:rPr lang="en-IN" dirty="0"/>
              <a:t>{      </a:t>
            </a:r>
          </a:p>
          <a:p>
            <a:r>
              <a:rPr lang="en-IN" dirty="0"/>
              <a:t>  if(i%2==0)       </a:t>
            </a:r>
          </a:p>
          <a:p>
            <a:r>
              <a:rPr lang="en-IN" dirty="0"/>
              <a:t>  </a:t>
            </a:r>
            <a:r>
              <a:rPr lang="en-IN" dirty="0" err="1"/>
              <a:t>printf</a:t>
            </a:r>
            <a:r>
              <a:rPr lang="en-IN" dirty="0"/>
              <a:t>("\</a:t>
            </a:r>
            <a:r>
              <a:rPr lang="en-IN" dirty="0" err="1"/>
              <a:t>nThe</a:t>
            </a:r>
            <a:r>
              <a:rPr lang="en-IN" dirty="0"/>
              <a:t> given no is even=%</a:t>
            </a:r>
            <a:r>
              <a:rPr lang="en-IN" dirty="0" err="1"/>
              <a:t>d",i</a:t>
            </a:r>
            <a:r>
              <a:rPr lang="en-IN" dirty="0"/>
              <a:t>);      </a:t>
            </a:r>
          </a:p>
          <a:p>
            <a:r>
              <a:rPr lang="en-IN" dirty="0"/>
              <a:t>   i++;   </a:t>
            </a:r>
          </a:p>
          <a:p>
            <a:pPr>
              <a:buNone/>
            </a:pPr>
            <a:r>
              <a:rPr lang="en-IN" dirty="0"/>
              <a:t>      }while(i&lt;=10);  </a:t>
            </a:r>
          </a:p>
          <a:p>
            <a:r>
              <a:rPr lang="en-IN" dirty="0"/>
              <a:t>  </a:t>
            </a:r>
          </a:p>
          <a:p>
            <a:r>
              <a:rPr lang="en-IN" dirty="0"/>
              <a:t>}</a:t>
            </a:r>
          </a:p>
          <a:p>
            <a:endParaRPr lang="en-IN" dirty="0"/>
          </a:p>
        </p:txBody>
      </p:sp>
    </p:spTree>
    <p:extLst>
      <p:ext uri="{BB962C8B-B14F-4D97-AF65-F5344CB8AC3E}">
        <p14:creationId xmlns:p14="http://schemas.microsoft.com/office/powerpoint/2010/main" val="14353233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504056"/>
          </a:xfrm>
        </p:spPr>
        <p:txBody>
          <a:bodyPr>
            <a:normAutofit fontScale="90000"/>
          </a:bodyPr>
          <a:lstStyle/>
          <a:p>
            <a:r>
              <a:rPr lang="en-US" dirty="0"/>
              <a:t>For loop</a:t>
            </a:r>
            <a:endParaRPr lang="en-IN" dirty="0"/>
          </a:p>
        </p:txBody>
      </p:sp>
      <p:sp>
        <p:nvSpPr>
          <p:cNvPr id="3" name="Content Placeholder 2"/>
          <p:cNvSpPr>
            <a:spLocks noGrp="1"/>
          </p:cNvSpPr>
          <p:nvPr>
            <p:ph idx="1"/>
          </p:nvPr>
        </p:nvSpPr>
        <p:spPr>
          <a:xfrm>
            <a:off x="457200" y="1052736"/>
            <a:ext cx="8229600" cy="5271864"/>
          </a:xfrm>
        </p:spPr>
        <p:txBody>
          <a:bodyPr>
            <a:normAutofit/>
          </a:bodyPr>
          <a:lstStyle/>
          <a:p>
            <a:r>
              <a:rPr lang="en-IN" dirty="0"/>
              <a:t>When you need to execute a block of code several number of times then you need to use looping concept in C language. </a:t>
            </a:r>
          </a:p>
          <a:p>
            <a:r>
              <a:rPr lang="en-IN" dirty="0"/>
              <a:t>In C Programming Language </a:t>
            </a:r>
            <a:r>
              <a:rPr lang="en-IN" b="1" dirty="0"/>
              <a:t>for loop</a:t>
            </a:r>
            <a:r>
              <a:rPr lang="en-IN" dirty="0"/>
              <a:t> is a statement which allows code to be repeatedly executed. </a:t>
            </a:r>
          </a:p>
          <a:p>
            <a:r>
              <a:rPr lang="en-IN" dirty="0"/>
              <a:t>It contains 3 parts. </a:t>
            </a:r>
          </a:p>
          <a:p>
            <a:pPr marL="0" indent="0">
              <a:buNone/>
            </a:pPr>
            <a:r>
              <a:rPr lang="en-IN" dirty="0"/>
              <a:t>for loop in C language is used to iterate the statements or a part of the program several times.</a:t>
            </a:r>
          </a:p>
          <a:p>
            <a:r>
              <a:rPr lang="en-IN" dirty="0"/>
              <a:t>Initialization</a:t>
            </a:r>
          </a:p>
          <a:p>
            <a:r>
              <a:rPr lang="en-IN" dirty="0"/>
              <a:t>Condition</a:t>
            </a:r>
          </a:p>
          <a:p>
            <a:r>
              <a:rPr lang="en-IN" dirty="0"/>
              <a:t>Increment or Decrements</a:t>
            </a:r>
          </a:p>
          <a:p>
            <a:endParaRPr lang="en-IN" dirty="0"/>
          </a:p>
        </p:txBody>
      </p:sp>
    </p:spTree>
    <p:extLst>
      <p:ext uri="{BB962C8B-B14F-4D97-AF65-F5344CB8AC3E}">
        <p14:creationId xmlns:p14="http://schemas.microsoft.com/office/powerpoint/2010/main" val="7427970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360040"/>
          </a:xfrm>
        </p:spPr>
        <p:txBody>
          <a:bodyPr>
            <a:normAutofit fontScale="90000"/>
          </a:bodyPr>
          <a:lstStyle/>
          <a:p>
            <a:endParaRPr lang="en-IN" dirty="0"/>
          </a:p>
        </p:txBody>
      </p:sp>
      <p:sp>
        <p:nvSpPr>
          <p:cNvPr id="3" name="Content Placeholder 2"/>
          <p:cNvSpPr>
            <a:spLocks noGrp="1"/>
          </p:cNvSpPr>
          <p:nvPr>
            <p:ph idx="1"/>
          </p:nvPr>
        </p:nvSpPr>
        <p:spPr>
          <a:xfrm>
            <a:off x="467544" y="908720"/>
            <a:ext cx="8229600" cy="5688632"/>
          </a:xfrm>
        </p:spPr>
        <p:txBody>
          <a:bodyPr>
            <a:normAutofit fontScale="92500" lnSpcReduction="20000"/>
          </a:bodyPr>
          <a:lstStyle/>
          <a:p>
            <a:r>
              <a:rPr lang="en-IN" b="1" dirty="0"/>
              <a:t>Initialization: </a:t>
            </a:r>
          </a:p>
          <a:p>
            <a:pPr marL="0" indent="0">
              <a:buNone/>
            </a:pPr>
            <a:r>
              <a:rPr lang="en-IN" dirty="0"/>
              <a:t>This step is execute first and this is execute only once when we are entering into the loop first time. This step is allow to declare and initialize any loop control variables.</a:t>
            </a:r>
          </a:p>
          <a:p>
            <a:pPr marL="0" indent="0">
              <a:buNone/>
            </a:pPr>
            <a:endParaRPr lang="en-IN" dirty="0"/>
          </a:p>
          <a:p>
            <a:r>
              <a:rPr lang="en-IN" b="1" dirty="0"/>
              <a:t>Condition: </a:t>
            </a:r>
          </a:p>
          <a:p>
            <a:pPr marL="0" indent="0">
              <a:buNone/>
            </a:pPr>
            <a:r>
              <a:rPr lang="en-IN" dirty="0"/>
              <a:t>This is next step after initialization step, if it is true, the body of the loop is executed, if it is false then the body of the loop does not execute and flow of control goes outside of the for loop.</a:t>
            </a:r>
          </a:p>
          <a:p>
            <a:pPr marL="0" indent="0">
              <a:buNone/>
            </a:pPr>
            <a:endParaRPr lang="en-IN" dirty="0"/>
          </a:p>
          <a:p>
            <a:r>
              <a:rPr lang="en-IN" b="1" dirty="0"/>
              <a:t>Increment or Decrements: </a:t>
            </a:r>
          </a:p>
          <a:p>
            <a:pPr marL="0" indent="0">
              <a:buNone/>
            </a:pPr>
            <a:r>
              <a:rPr lang="en-IN" dirty="0"/>
              <a:t>After completion of Initialization and Condition steps loop body code is executed and then Increment or Decrements steps is execute. This statement allows to update any loop control variables.</a:t>
            </a:r>
          </a:p>
          <a:p>
            <a:endParaRPr lang="en-IN" dirty="0"/>
          </a:p>
        </p:txBody>
      </p:sp>
    </p:spTree>
    <p:extLst>
      <p:ext uri="{BB962C8B-B14F-4D97-AF65-F5344CB8AC3E}">
        <p14:creationId xmlns:p14="http://schemas.microsoft.com/office/powerpoint/2010/main" val="365156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anim calcmode="lin" valueType="num">
                                      <p:cBhvr>
                                        <p:cTn id="3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1000"/>
                                        <p:tgtEl>
                                          <p:spTgt spid="3">
                                            <p:txEl>
                                              <p:pRg st="7" end="7"/>
                                            </p:txEl>
                                          </p:spTgt>
                                        </p:tgtEl>
                                      </p:cBhvr>
                                    </p:animEffect>
                                    <p:anim calcmode="lin" valueType="num">
                                      <p:cBhvr>
                                        <p:cTn id="3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r>
              <a:rPr lang="en-IN" dirty="0"/>
              <a:t>Syntax</a:t>
            </a:r>
            <a:br>
              <a:rPr lang="en-IN" dirty="0"/>
            </a:br>
            <a:endParaRPr lang="en-IN" dirty="0"/>
          </a:p>
        </p:txBody>
      </p:sp>
      <p:sp>
        <p:nvSpPr>
          <p:cNvPr id="3" name="Content Placeholder 2"/>
          <p:cNvSpPr>
            <a:spLocks noGrp="1"/>
          </p:cNvSpPr>
          <p:nvPr>
            <p:ph idx="1"/>
          </p:nvPr>
        </p:nvSpPr>
        <p:spPr>
          <a:xfrm>
            <a:off x="457200" y="1412776"/>
            <a:ext cx="8229600" cy="4911824"/>
          </a:xfrm>
        </p:spPr>
        <p:txBody>
          <a:bodyPr/>
          <a:lstStyle/>
          <a:p>
            <a:pPr marL="0" indent="0">
              <a:buNone/>
            </a:pPr>
            <a:endParaRPr lang="en-IN" dirty="0"/>
          </a:p>
          <a:p>
            <a:endParaRPr lang="en-IN" dirty="0"/>
          </a:p>
          <a:p>
            <a:endParaRPr lang="en-IN" dirty="0"/>
          </a:p>
        </p:txBody>
      </p:sp>
      <p:pic>
        <p:nvPicPr>
          <p:cNvPr id="410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340768"/>
            <a:ext cx="7920880" cy="4862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67077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648072"/>
          </a:xfrm>
        </p:spPr>
        <p:txBody>
          <a:bodyPr>
            <a:normAutofit fontScale="90000"/>
          </a:bodyPr>
          <a:lstStyle/>
          <a:p>
            <a:r>
              <a:rPr lang="en-US" dirty="0"/>
              <a:t>Flowchart</a:t>
            </a:r>
            <a:endParaRPr lang="en-IN" dirty="0"/>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268760"/>
            <a:ext cx="5832648" cy="4983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420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1000"/>
                                        <p:tgtEl>
                                          <p:spTgt spid="5122"/>
                                        </p:tgtEl>
                                      </p:cBhvr>
                                    </p:animEffect>
                                    <p:anim calcmode="lin" valueType="num">
                                      <p:cBhvr>
                                        <p:cTn id="8" dur="1000" fill="hold"/>
                                        <p:tgtEl>
                                          <p:spTgt spid="5122"/>
                                        </p:tgtEl>
                                        <p:attrNameLst>
                                          <p:attrName>ppt_x</p:attrName>
                                        </p:attrNameLst>
                                      </p:cBhvr>
                                      <p:tavLst>
                                        <p:tav tm="0">
                                          <p:val>
                                            <p:strVal val="#ppt_x"/>
                                          </p:val>
                                        </p:tav>
                                        <p:tav tm="100000">
                                          <p:val>
                                            <p:strVal val="#ppt_x"/>
                                          </p:val>
                                        </p:tav>
                                      </p:tavLst>
                                    </p:anim>
                                    <p:anim calcmode="lin" valueType="num">
                                      <p:cBhvr>
                                        <p:cTn id="9" dur="1000" fill="hold"/>
                                        <p:tgtEl>
                                          <p:spTgt spid="5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to sum of numbers</a:t>
            </a:r>
            <a:endParaRPr lang="en-IN" dirty="0"/>
          </a:p>
        </p:txBody>
      </p:sp>
      <p:sp>
        <p:nvSpPr>
          <p:cNvPr id="3" name="Content Placeholder 2"/>
          <p:cNvSpPr>
            <a:spLocks noGrp="1"/>
          </p:cNvSpPr>
          <p:nvPr>
            <p:ph idx="1"/>
          </p:nvPr>
        </p:nvSpPr>
        <p:spPr/>
        <p:txBody>
          <a:bodyPr>
            <a:normAutofit fontScale="85000" lnSpcReduction="20000"/>
          </a:bodyPr>
          <a:lstStyle/>
          <a:p>
            <a:r>
              <a:rPr lang="en-IN" dirty="0"/>
              <a:t>#include &lt;</a:t>
            </a:r>
            <a:r>
              <a:rPr lang="en-IN" dirty="0" err="1"/>
              <a:t>stdio.h</a:t>
            </a:r>
            <a:r>
              <a:rPr lang="en-IN" dirty="0"/>
              <a:t>&gt;</a:t>
            </a:r>
          </a:p>
          <a:p>
            <a:r>
              <a:rPr lang="en-IN" dirty="0"/>
              <a:t>void main()</a:t>
            </a:r>
          </a:p>
          <a:p>
            <a:r>
              <a:rPr lang="en-IN" dirty="0"/>
              <a:t>{</a:t>
            </a:r>
          </a:p>
          <a:p>
            <a:r>
              <a:rPr lang="en-IN" dirty="0"/>
              <a:t>   </a:t>
            </a:r>
          </a:p>
          <a:p>
            <a:r>
              <a:rPr lang="en-IN" dirty="0"/>
              <a:t>   </a:t>
            </a:r>
            <a:r>
              <a:rPr lang="en-IN" dirty="0" err="1"/>
              <a:t>int</a:t>
            </a:r>
            <a:r>
              <a:rPr lang="en-IN" dirty="0"/>
              <a:t> </a:t>
            </a:r>
            <a:r>
              <a:rPr lang="en-IN" dirty="0" err="1"/>
              <a:t>i,sum</a:t>
            </a:r>
            <a:r>
              <a:rPr lang="en-IN" dirty="0"/>
              <a:t>=0,n;</a:t>
            </a:r>
          </a:p>
          <a:p>
            <a:r>
              <a:rPr lang="en-IN" dirty="0"/>
              <a:t>  </a:t>
            </a:r>
            <a:r>
              <a:rPr lang="en-IN" dirty="0" err="1"/>
              <a:t>printf</a:t>
            </a:r>
            <a:r>
              <a:rPr lang="en-IN" dirty="0"/>
              <a:t>("Enter the size of number");</a:t>
            </a:r>
          </a:p>
          <a:p>
            <a:r>
              <a:rPr lang="en-IN" dirty="0"/>
              <a:t>   </a:t>
            </a:r>
            <a:r>
              <a:rPr lang="en-IN" dirty="0" err="1"/>
              <a:t>scanf</a:t>
            </a:r>
            <a:r>
              <a:rPr lang="en-IN" dirty="0"/>
              <a:t>("%</a:t>
            </a:r>
            <a:r>
              <a:rPr lang="en-IN" dirty="0" err="1"/>
              <a:t>d",&amp;n</a:t>
            </a:r>
            <a:r>
              <a:rPr lang="en-IN" dirty="0"/>
              <a:t>);</a:t>
            </a:r>
          </a:p>
          <a:p>
            <a:r>
              <a:rPr lang="en-IN" dirty="0"/>
              <a:t>  for(i=0;i&lt;=</a:t>
            </a:r>
            <a:r>
              <a:rPr lang="en-IN" dirty="0" err="1"/>
              <a:t>n;i</a:t>
            </a:r>
            <a:r>
              <a:rPr lang="en-IN" dirty="0"/>
              <a:t>++)</a:t>
            </a:r>
          </a:p>
          <a:p>
            <a:r>
              <a:rPr lang="en-IN" dirty="0"/>
              <a:t>   {</a:t>
            </a:r>
          </a:p>
          <a:p>
            <a:r>
              <a:rPr lang="en-IN" dirty="0"/>
              <a:t>       sum=</a:t>
            </a:r>
            <a:r>
              <a:rPr lang="en-IN" dirty="0" err="1"/>
              <a:t>sum+i</a:t>
            </a:r>
            <a:r>
              <a:rPr lang="en-IN" dirty="0"/>
              <a:t>;</a:t>
            </a:r>
          </a:p>
          <a:p>
            <a:r>
              <a:rPr lang="en-IN" dirty="0"/>
              <a:t>       </a:t>
            </a:r>
            <a:r>
              <a:rPr lang="en-IN" dirty="0" err="1"/>
              <a:t>printf</a:t>
            </a:r>
            <a:r>
              <a:rPr lang="en-IN" dirty="0"/>
              <a:t>("\</a:t>
            </a:r>
            <a:r>
              <a:rPr lang="en-IN" dirty="0" err="1"/>
              <a:t>nThe</a:t>
            </a:r>
            <a:r>
              <a:rPr lang="en-IN" dirty="0"/>
              <a:t> sum of given no is=%</a:t>
            </a:r>
            <a:r>
              <a:rPr lang="en-IN" dirty="0" err="1"/>
              <a:t>d",sum</a:t>
            </a:r>
            <a:r>
              <a:rPr lang="en-IN" dirty="0"/>
              <a:t>);</a:t>
            </a:r>
          </a:p>
          <a:p>
            <a:r>
              <a:rPr lang="en-IN" dirty="0"/>
              <a:t>      }</a:t>
            </a:r>
          </a:p>
          <a:p>
            <a:r>
              <a:rPr lang="en-IN" b="1" dirty="0"/>
              <a:t> }</a:t>
            </a:r>
            <a:endParaRPr lang="en-IN" dirty="0"/>
          </a:p>
          <a:p>
            <a:endParaRPr lang="en-IN" dirty="0"/>
          </a:p>
        </p:txBody>
      </p:sp>
    </p:spTree>
    <p:extLst>
      <p:ext uri="{BB962C8B-B14F-4D97-AF65-F5344CB8AC3E}">
        <p14:creationId xmlns:p14="http://schemas.microsoft.com/office/powerpoint/2010/main" val="34662401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 program to find factorial of a number</a:t>
            </a:r>
          </a:p>
        </p:txBody>
      </p:sp>
      <p:sp>
        <p:nvSpPr>
          <p:cNvPr id="3" name="Content Placeholder 2"/>
          <p:cNvSpPr>
            <a:spLocks noGrp="1"/>
          </p:cNvSpPr>
          <p:nvPr>
            <p:ph idx="1"/>
          </p:nvPr>
        </p:nvSpPr>
        <p:spPr/>
        <p:txBody>
          <a:bodyPr/>
          <a:lstStyle/>
          <a:p>
            <a:r>
              <a:rPr lang="en-IN" i="1" dirty="0"/>
              <a:t>Factorial</a:t>
            </a:r>
            <a:r>
              <a:rPr lang="en-IN" dirty="0"/>
              <a:t> of a number ‘</a:t>
            </a:r>
            <a:r>
              <a:rPr lang="en-IN" i="1" dirty="0"/>
              <a:t>n</a:t>
            </a:r>
            <a:r>
              <a:rPr lang="en-IN" dirty="0"/>
              <a:t> ‘is </a:t>
            </a:r>
            <a:r>
              <a:rPr lang="en-IN" b="1" dirty="0"/>
              <a:t>product of all positive integers less than or equal to </a:t>
            </a:r>
            <a:r>
              <a:rPr lang="en-IN" b="1" i="1" dirty="0"/>
              <a:t>n</a:t>
            </a:r>
            <a:r>
              <a:rPr lang="en-IN" b="1" dirty="0"/>
              <a:t>. </a:t>
            </a:r>
          </a:p>
          <a:p>
            <a:r>
              <a:rPr lang="en-IN" dirty="0"/>
              <a:t>It is denoted as n!.</a:t>
            </a:r>
          </a:p>
          <a:p>
            <a:r>
              <a:rPr lang="en-IN" dirty="0"/>
              <a:t>For example </a:t>
            </a:r>
          </a:p>
          <a:p>
            <a:r>
              <a:rPr lang="en-IN" dirty="0"/>
              <a:t>factorial of 5 = 1 * 2 * 3 * 4 * 5 = 120</a:t>
            </a:r>
          </a:p>
          <a:p>
            <a:r>
              <a:rPr lang="en-US" dirty="0"/>
              <a:t>6=</a:t>
            </a:r>
            <a:r>
              <a:rPr lang="en-IN" dirty="0"/>
              <a:t> 1 * 2 * 3 * 4 * 5 *6=</a:t>
            </a:r>
          </a:p>
        </p:txBody>
      </p:sp>
    </p:spTree>
    <p:extLst>
      <p:ext uri="{BB962C8B-B14F-4D97-AF65-F5344CB8AC3E}">
        <p14:creationId xmlns:p14="http://schemas.microsoft.com/office/powerpoint/2010/main" val="88035063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 program to find factorial of a number</a:t>
            </a:r>
            <a:endParaRPr lang="en-IN" dirty="0"/>
          </a:p>
        </p:txBody>
      </p:sp>
      <p:sp>
        <p:nvSpPr>
          <p:cNvPr id="3" name="Content Placeholder 2"/>
          <p:cNvSpPr>
            <a:spLocks noGrp="1"/>
          </p:cNvSpPr>
          <p:nvPr>
            <p:ph idx="1"/>
          </p:nvPr>
        </p:nvSpPr>
        <p:spPr/>
        <p:txBody>
          <a:bodyPr>
            <a:normAutofit fontScale="77500" lnSpcReduction="20000"/>
          </a:bodyPr>
          <a:lstStyle/>
          <a:p>
            <a:r>
              <a:rPr lang="en-IN" dirty="0"/>
              <a:t>#include &lt;</a:t>
            </a:r>
            <a:r>
              <a:rPr lang="en-IN" dirty="0" err="1"/>
              <a:t>stdio.h</a:t>
            </a:r>
            <a:r>
              <a:rPr lang="en-IN" dirty="0"/>
              <a:t>&gt;</a:t>
            </a:r>
          </a:p>
          <a:p>
            <a:r>
              <a:rPr lang="en-IN" dirty="0"/>
              <a:t>void main()</a:t>
            </a:r>
          </a:p>
          <a:p>
            <a:r>
              <a:rPr lang="en-IN" dirty="0"/>
              <a:t>{ </a:t>
            </a:r>
          </a:p>
          <a:p>
            <a:r>
              <a:rPr lang="en-IN" dirty="0"/>
              <a:t> </a:t>
            </a:r>
            <a:r>
              <a:rPr lang="en-IN" dirty="0" err="1"/>
              <a:t>int</a:t>
            </a:r>
            <a:r>
              <a:rPr lang="en-IN" dirty="0"/>
              <a:t> </a:t>
            </a:r>
            <a:r>
              <a:rPr lang="en-IN" dirty="0" err="1"/>
              <a:t>i,fact</a:t>
            </a:r>
            <a:r>
              <a:rPr lang="en-IN" dirty="0"/>
              <a:t>=1,n;   </a:t>
            </a:r>
          </a:p>
          <a:p>
            <a:r>
              <a:rPr lang="en-IN" dirty="0"/>
              <a:t> </a:t>
            </a:r>
            <a:r>
              <a:rPr lang="en-IN" dirty="0" err="1"/>
              <a:t>printf</a:t>
            </a:r>
            <a:r>
              <a:rPr lang="en-IN" dirty="0"/>
              <a:t>("Enter the value of number");  </a:t>
            </a:r>
          </a:p>
          <a:p>
            <a:r>
              <a:rPr lang="en-IN" dirty="0"/>
              <a:t> </a:t>
            </a:r>
            <a:r>
              <a:rPr lang="en-IN" dirty="0" err="1"/>
              <a:t>scanf</a:t>
            </a:r>
            <a:r>
              <a:rPr lang="en-IN" dirty="0"/>
              <a:t>("%</a:t>
            </a:r>
            <a:r>
              <a:rPr lang="en-IN" dirty="0" err="1"/>
              <a:t>d",&amp;n</a:t>
            </a:r>
            <a:r>
              <a:rPr lang="en-IN" dirty="0"/>
              <a:t>);   </a:t>
            </a:r>
          </a:p>
          <a:p>
            <a:r>
              <a:rPr lang="en-IN" dirty="0"/>
              <a:t> for(i=1;i&lt;=</a:t>
            </a:r>
            <a:r>
              <a:rPr lang="en-IN" dirty="0" err="1"/>
              <a:t>n;i</a:t>
            </a:r>
            <a:r>
              <a:rPr lang="en-IN" dirty="0"/>
              <a:t>++)  </a:t>
            </a:r>
          </a:p>
          <a:p>
            <a:r>
              <a:rPr lang="en-IN" dirty="0"/>
              <a:t>   {       </a:t>
            </a:r>
          </a:p>
          <a:p>
            <a:r>
              <a:rPr lang="en-IN" dirty="0"/>
              <a:t>       fact=fact*i;              </a:t>
            </a:r>
          </a:p>
          <a:p>
            <a:r>
              <a:rPr lang="en-IN" dirty="0"/>
              <a:t>    }     </a:t>
            </a:r>
          </a:p>
          <a:p>
            <a:r>
              <a:rPr lang="en-IN" dirty="0"/>
              <a:t> </a:t>
            </a:r>
            <a:r>
              <a:rPr lang="en-IN" dirty="0" err="1"/>
              <a:t>printf</a:t>
            </a:r>
            <a:r>
              <a:rPr lang="en-IN" dirty="0"/>
              <a:t>("\</a:t>
            </a:r>
            <a:r>
              <a:rPr lang="en-IN" dirty="0" err="1"/>
              <a:t>nThe</a:t>
            </a:r>
            <a:r>
              <a:rPr lang="en-IN" dirty="0"/>
              <a:t> Factorial of </a:t>
            </a:r>
            <a:r>
              <a:rPr lang="en-IN" dirty="0" err="1"/>
              <a:t>number%d</a:t>
            </a:r>
            <a:r>
              <a:rPr lang="en-IN" dirty="0"/>
              <a:t>::%d",</a:t>
            </a:r>
            <a:r>
              <a:rPr lang="en-IN" dirty="0" err="1"/>
              <a:t>n,fact</a:t>
            </a:r>
            <a:r>
              <a:rPr lang="en-IN" dirty="0"/>
              <a:t>);       </a:t>
            </a:r>
          </a:p>
          <a:p>
            <a:r>
              <a:rPr lang="en-IN" dirty="0"/>
              <a:t> </a:t>
            </a:r>
          </a:p>
          <a:p>
            <a:r>
              <a:rPr lang="en-IN" dirty="0"/>
              <a:t> } </a:t>
            </a:r>
          </a:p>
        </p:txBody>
      </p:sp>
    </p:spTree>
    <p:extLst>
      <p:ext uri="{BB962C8B-B14F-4D97-AF65-F5344CB8AC3E}">
        <p14:creationId xmlns:p14="http://schemas.microsoft.com/office/powerpoint/2010/main" val="27828415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program to print ASCII values of all characters</a:t>
            </a:r>
            <a:br>
              <a:rPr lang="en-IN" b="1" dirty="0"/>
            </a:br>
            <a:endParaRPr lang="en-IN" dirty="0"/>
          </a:p>
        </p:txBody>
      </p:sp>
      <p:sp>
        <p:nvSpPr>
          <p:cNvPr id="3" name="Content Placeholder 2"/>
          <p:cNvSpPr>
            <a:spLocks noGrp="1"/>
          </p:cNvSpPr>
          <p:nvPr>
            <p:ph idx="1"/>
          </p:nvPr>
        </p:nvSpPr>
        <p:spPr>
          <a:xfrm>
            <a:off x="457200" y="1268760"/>
            <a:ext cx="8229600" cy="5055840"/>
          </a:xfrm>
        </p:spPr>
        <p:txBody>
          <a:bodyPr>
            <a:normAutofit lnSpcReduction="10000"/>
          </a:bodyPr>
          <a:lstStyle/>
          <a:p>
            <a:r>
              <a:rPr lang="en-IN" dirty="0"/>
              <a:t>#include &lt;</a:t>
            </a:r>
            <a:r>
              <a:rPr lang="en-IN" dirty="0" err="1"/>
              <a:t>stdio.h</a:t>
            </a:r>
            <a:r>
              <a:rPr lang="en-IN" dirty="0"/>
              <a:t>&gt;</a:t>
            </a:r>
          </a:p>
          <a:p>
            <a:r>
              <a:rPr lang="en-IN" dirty="0"/>
              <a:t>void main()</a:t>
            </a:r>
          </a:p>
          <a:p>
            <a:r>
              <a:rPr lang="en-IN" dirty="0"/>
              <a:t>{  </a:t>
            </a:r>
          </a:p>
          <a:p>
            <a:r>
              <a:rPr lang="en-IN" dirty="0" err="1"/>
              <a:t>int</a:t>
            </a:r>
            <a:r>
              <a:rPr lang="en-IN" dirty="0"/>
              <a:t> i;   </a:t>
            </a:r>
          </a:p>
          <a:p>
            <a:r>
              <a:rPr lang="en-IN" dirty="0"/>
              <a:t> </a:t>
            </a:r>
            <a:r>
              <a:rPr lang="en-IN" dirty="0" err="1"/>
              <a:t>printf</a:t>
            </a:r>
            <a:r>
              <a:rPr lang="en-IN" dirty="0"/>
              <a:t>("The ASCII Value");   </a:t>
            </a:r>
          </a:p>
          <a:p>
            <a:r>
              <a:rPr lang="en-IN" dirty="0"/>
              <a:t>for(i=0;i&lt;=255;i++)   </a:t>
            </a:r>
          </a:p>
          <a:p>
            <a:r>
              <a:rPr lang="en-IN" dirty="0"/>
              <a:t>{      </a:t>
            </a:r>
          </a:p>
          <a:p>
            <a:r>
              <a:rPr lang="en-IN" dirty="0"/>
              <a:t>   </a:t>
            </a:r>
            <a:r>
              <a:rPr lang="en-IN" dirty="0" err="1"/>
              <a:t>printf</a:t>
            </a:r>
            <a:r>
              <a:rPr lang="en-IN" dirty="0"/>
              <a:t>("\</a:t>
            </a:r>
            <a:r>
              <a:rPr lang="en-IN" dirty="0" err="1"/>
              <a:t>nThe</a:t>
            </a:r>
            <a:r>
              <a:rPr lang="en-IN" dirty="0"/>
              <a:t> </a:t>
            </a:r>
            <a:r>
              <a:rPr lang="en-IN" dirty="0" err="1"/>
              <a:t>ascii</a:t>
            </a:r>
            <a:r>
              <a:rPr lang="en-IN" dirty="0"/>
              <a:t> value of %c::%d",</a:t>
            </a:r>
            <a:r>
              <a:rPr lang="en-IN" dirty="0" err="1"/>
              <a:t>i,i</a:t>
            </a:r>
            <a:r>
              <a:rPr lang="en-IN" dirty="0"/>
              <a:t>);         </a:t>
            </a:r>
          </a:p>
          <a:p>
            <a:r>
              <a:rPr lang="en-IN" dirty="0"/>
              <a:t>}</a:t>
            </a:r>
          </a:p>
          <a:p>
            <a:endParaRPr lang="en-IN" dirty="0"/>
          </a:p>
          <a:p>
            <a:r>
              <a:rPr lang="en-IN" dirty="0"/>
              <a:t>} </a:t>
            </a:r>
          </a:p>
        </p:txBody>
      </p:sp>
    </p:spTree>
    <p:extLst>
      <p:ext uri="{BB962C8B-B14F-4D97-AF65-F5344CB8AC3E}">
        <p14:creationId xmlns:p14="http://schemas.microsoft.com/office/powerpoint/2010/main" val="7440480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fontScale="90000"/>
          </a:bodyPr>
          <a:lstStyle/>
          <a:p>
            <a:r>
              <a:rPr lang="en-IN" b="1" dirty="0"/>
              <a:t>break, continue and </a:t>
            </a:r>
            <a:r>
              <a:rPr lang="en-IN" b="1" dirty="0" err="1"/>
              <a:t>goto</a:t>
            </a:r>
            <a:r>
              <a:rPr lang="en-IN" b="1" dirty="0"/>
              <a:t> in C</a:t>
            </a:r>
            <a:br>
              <a:rPr lang="en-IN" b="1" dirty="0"/>
            </a:br>
            <a:endParaRPr lang="en-IN" dirty="0"/>
          </a:p>
        </p:txBody>
      </p:sp>
      <p:sp>
        <p:nvSpPr>
          <p:cNvPr id="3" name="Content Placeholder 2"/>
          <p:cNvSpPr>
            <a:spLocks noGrp="1"/>
          </p:cNvSpPr>
          <p:nvPr>
            <p:ph idx="1"/>
          </p:nvPr>
        </p:nvSpPr>
        <p:spPr>
          <a:xfrm>
            <a:off x="611560" y="1124744"/>
            <a:ext cx="8229600" cy="5184576"/>
          </a:xfrm>
        </p:spPr>
        <p:txBody>
          <a:bodyPr>
            <a:normAutofit/>
          </a:bodyPr>
          <a:lstStyle/>
          <a:p>
            <a:r>
              <a:rPr lang="en-IN" dirty="0"/>
              <a:t>In c, there are control statements that do not need any condition to control the program execution flow. These control statements are called as </a:t>
            </a:r>
            <a:r>
              <a:rPr lang="en-IN" b="1" dirty="0"/>
              <a:t>unconditional control statements</a:t>
            </a:r>
            <a:r>
              <a:rPr lang="en-IN" dirty="0"/>
              <a:t>. C programming language provides the following unconditional control statements...</a:t>
            </a:r>
          </a:p>
          <a:p>
            <a:r>
              <a:rPr lang="en-IN" b="1" dirty="0"/>
              <a:t>break</a:t>
            </a:r>
          </a:p>
          <a:p>
            <a:r>
              <a:rPr lang="en-IN" b="1" dirty="0"/>
              <a:t>continue</a:t>
            </a:r>
          </a:p>
          <a:p>
            <a:r>
              <a:rPr lang="en-IN" b="1" dirty="0" err="1"/>
              <a:t>goto</a:t>
            </a:r>
            <a:endParaRPr lang="en-IN" b="1" dirty="0"/>
          </a:p>
          <a:p>
            <a:r>
              <a:rPr lang="en-IN" dirty="0"/>
              <a:t>The above three statements do not need any condition to control the program execution flow.</a:t>
            </a:r>
          </a:p>
          <a:p>
            <a:endParaRPr lang="en-IN" dirty="0"/>
          </a:p>
        </p:txBody>
      </p:sp>
    </p:spTree>
    <p:extLst>
      <p:ext uri="{BB962C8B-B14F-4D97-AF65-F5344CB8AC3E}">
        <p14:creationId xmlns:p14="http://schemas.microsoft.com/office/powerpoint/2010/main" val="17300241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720080"/>
          </a:xfrm>
        </p:spPr>
        <p:txBody>
          <a:bodyPr>
            <a:normAutofit fontScale="90000"/>
          </a:bodyPr>
          <a:lstStyle/>
          <a:p>
            <a:r>
              <a:rPr lang="en-IN" b="1" dirty="0"/>
              <a:t>break</a:t>
            </a:r>
            <a:endParaRPr lang="en-IN" dirty="0"/>
          </a:p>
        </p:txBody>
      </p:sp>
      <p:sp>
        <p:nvSpPr>
          <p:cNvPr id="3" name="Content Placeholder 2"/>
          <p:cNvSpPr>
            <a:spLocks noGrp="1"/>
          </p:cNvSpPr>
          <p:nvPr>
            <p:ph idx="1"/>
          </p:nvPr>
        </p:nvSpPr>
        <p:spPr>
          <a:xfrm>
            <a:off x="457200" y="1340768"/>
            <a:ext cx="8229600" cy="5328592"/>
          </a:xfrm>
        </p:spPr>
        <p:txBody>
          <a:bodyPr>
            <a:normAutofit lnSpcReduction="10000"/>
          </a:bodyPr>
          <a:lstStyle/>
          <a:p>
            <a:r>
              <a:rPr lang="en-IN" dirty="0"/>
              <a:t>In C, the </a:t>
            </a:r>
            <a:r>
              <a:rPr lang="en-IN" b="1" dirty="0"/>
              <a:t>break statement</a:t>
            </a:r>
            <a:r>
              <a:rPr lang="en-IN" dirty="0"/>
              <a:t> is used to perform the following two things...</a:t>
            </a:r>
          </a:p>
          <a:p>
            <a:r>
              <a:rPr lang="en-IN" b="1" dirty="0"/>
              <a:t>break statement is used to terminate the switch case statement</a:t>
            </a:r>
          </a:p>
          <a:p>
            <a:r>
              <a:rPr lang="en-IN" b="1" dirty="0"/>
              <a:t>break statement is also used to terminate looping statements like while, do-while and for.</a:t>
            </a:r>
          </a:p>
          <a:p>
            <a:r>
              <a:rPr lang="en-IN" dirty="0"/>
              <a:t>When a </a:t>
            </a:r>
            <a:r>
              <a:rPr lang="en-IN" b="1" dirty="0"/>
              <a:t>break</a:t>
            </a:r>
            <a:r>
              <a:rPr lang="en-IN" dirty="0"/>
              <a:t> statement is encountered inside the switch case statement, the execution control moves out of the switch statement </a:t>
            </a:r>
          </a:p>
          <a:p>
            <a:r>
              <a:rPr lang="en-IN" dirty="0"/>
              <a:t>The break statement terminates the loop body immediately and passes control to the next statement after the loop. In case of inner loops, it terminates the control of inner loop only.</a:t>
            </a:r>
          </a:p>
          <a:p>
            <a:endParaRPr lang="en-IN" dirty="0"/>
          </a:p>
        </p:txBody>
      </p:sp>
    </p:spTree>
    <p:extLst>
      <p:ext uri="{BB962C8B-B14F-4D97-AF65-F5344CB8AC3E}">
        <p14:creationId xmlns:p14="http://schemas.microsoft.com/office/powerpoint/2010/main" val="22708584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Use break statement</a:t>
            </a:r>
          </a:p>
          <a:p>
            <a:r>
              <a:rPr lang="en-IN" dirty="0"/>
              <a:t>Break statement are mainly used with loop and switch statement. often use the break statement with the if statement.</a:t>
            </a:r>
          </a:p>
          <a:p>
            <a:r>
              <a:rPr lang="en-IN" dirty="0"/>
              <a:t>with loop statement</a:t>
            </a:r>
          </a:p>
          <a:p>
            <a:r>
              <a:rPr lang="en-IN" dirty="0"/>
              <a:t>with switch case</a:t>
            </a:r>
          </a:p>
          <a:p>
            <a:r>
              <a:rPr lang="en-IN" dirty="0"/>
              <a:t>with if statement</a:t>
            </a:r>
          </a:p>
          <a:p>
            <a:endParaRPr lang="en-IN" dirty="0"/>
          </a:p>
        </p:txBody>
      </p:sp>
    </p:spTree>
    <p:extLst>
      <p:ext uri="{BB962C8B-B14F-4D97-AF65-F5344CB8AC3E}">
        <p14:creationId xmlns:p14="http://schemas.microsoft.com/office/powerpoint/2010/main" val="28083513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2"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298013"/>
            <a:ext cx="8229600" cy="3663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074154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6640"/>
          </a:xfrm>
        </p:spPr>
        <p:txBody>
          <a:bodyPr>
            <a:normAutofit fontScale="90000"/>
          </a:bodyPr>
          <a:lstStyle/>
          <a:p>
            <a:endParaRPr lang="en-IN" dirty="0"/>
          </a:p>
        </p:txBody>
      </p:sp>
      <p:sp>
        <p:nvSpPr>
          <p:cNvPr id="3" name="Content Placeholder 2"/>
          <p:cNvSpPr>
            <a:spLocks noGrp="1"/>
          </p:cNvSpPr>
          <p:nvPr>
            <p:ph idx="1"/>
          </p:nvPr>
        </p:nvSpPr>
        <p:spPr>
          <a:xfrm>
            <a:off x="323528" y="1052736"/>
            <a:ext cx="8229600" cy="5199856"/>
          </a:xfrm>
        </p:spPr>
        <p:txBody>
          <a:bodyPr>
            <a:normAutofit fontScale="92500" lnSpcReduction="20000"/>
          </a:bodyPr>
          <a:lstStyle/>
          <a:p>
            <a:pPr marL="0" indent="0">
              <a:buNone/>
            </a:pPr>
            <a:r>
              <a:rPr lang="en-US" b="1" dirty="0"/>
              <a:t>Program to break the loop after 5</a:t>
            </a:r>
            <a:r>
              <a:rPr lang="en-US" b="1" baseline="30000" dirty="0"/>
              <a:t>th</a:t>
            </a:r>
            <a:r>
              <a:rPr lang="en-US" b="1" dirty="0"/>
              <a:t> natural number print</a:t>
            </a:r>
            <a:endParaRPr lang="en-IN" b="1" dirty="0"/>
          </a:p>
          <a:p>
            <a:r>
              <a:rPr lang="en-IN" dirty="0"/>
              <a:t>#include&lt;</a:t>
            </a:r>
            <a:r>
              <a:rPr lang="en-IN" dirty="0" err="1"/>
              <a:t>stdio.h</a:t>
            </a:r>
            <a:r>
              <a:rPr lang="en-IN" dirty="0"/>
              <a:t>&gt;</a:t>
            </a:r>
          </a:p>
          <a:p>
            <a:r>
              <a:rPr lang="en-IN" dirty="0"/>
              <a:t>#include&lt;</a:t>
            </a:r>
            <a:r>
              <a:rPr lang="en-IN" dirty="0" err="1"/>
              <a:t>conio.h</a:t>
            </a:r>
            <a:r>
              <a:rPr lang="en-IN" dirty="0"/>
              <a:t>&gt;</a:t>
            </a:r>
          </a:p>
          <a:p>
            <a:r>
              <a:rPr lang="en-IN" dirty="0"/>
              <a:t>void main()</a:t>
            </a:r>
          </a:p>
          <a:p>
            <a:r>
              <a:rPr lang="en-IN" dirty="0"/>
              <a:t>{      </a:t>
            </a:r>
          </a:p>
          <a:p>
            <a:r>
              <a:rPr lang="en-IN" dirty="0"/>
              <a:t>  </a:t>
            </a:r>
            <a:r>
              <a:rPr lang="en-IN" dirty="0" err="1"/>
              <a:t>int</a:t>
            </a:r>
            <a:r>
              <a:rPr lang="en-IN" dirty="0"/>
              <a:t> i;   </a:t>
            </a:r>
          </a:p>
          <a:p>
            <a:r>
              <a:rPr lang="en-IN" dirty="0"/>
              <a:t> for(i=0;i&lt;=10;i++)   </a:t>
            </a:r>
          </a:p>
          <a:p>
            <a:r>
              <a:rPr lang="en-IN" dirty="0"/>
              <a:t> {      </a:t>
            </a:r>
          </a:p>
          <a:p>
            <a:r>
              <a:rPr lang="en-IN" dirty="0"/>
              <a:t>  if(i==5)        </a:t>
            </a:r>
          </a:p>
          <a:p>
            <a:r>
              <a:rPr lang="en-IN" dirty="0"/>
              <a:t>break;        </a:t>
            </a:r>
          </a:p>
          <a:p>
            <a:r>
              <a:rPr lang="en-IN" dirty="0" err="1"/>
              <a:t>printf</a:t>
            </a:r>
            <a:r>
              <a:rPr lang="en-IN" dirty="0"/>
              <a:t>("\</a:t>
            </a:r>
            <a:r>
              <a:rPr lang="en-IN" dirty="0" err="1"/>
              <a:t>nThe</a:t>
            </a:r>
            <a:r>
              <a:rPr lang="en-IN" dirty="0"/>
              <a:t> natural no are=%</a:t>
            </a:r>
            <a:r>
              <a:rPr lang="en-IN" dirty="0" err="1"/>
              <a:t>d",i</a:t>
            </a:r>
            <a:r>
              <a:rPr lang="en-IN" dirty="0"/>
              <a:t>);    </a:t>
            </a:r>
          </a:p>
          <a:p>
            <a:r>
              <a:rPr lang="en-IN" dirty="0"/>
              <a:t>}</a:t>
            </a:r>
          </a:p>
          <a:p>
            <a:r>
              <a:rPr lang="en-IN" dirty="0"/>
              <a:t>}</a:t>
            </a:r>
          </a:p>
        </p:txBody>
      </p:sp>
    </p:spTree>
    <p:extLst>
      <p:ext uri="{BB962C8B-B14F-4D97-AF65-F5344CB8AC3E}">
        <p14:creationId xmlns:p14="http://schemas.microsoft.com/office/powerpoint/2010/main" val="202601945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fontScale="90000"/>
          </a:bodyPr>
          <a:lstStyle/>
          <a:p>
            <a:endParaRPr lang="en-IN" dirty="0"/>
          </a:p>
        </p:txBody>
      </p:sp>
      <p:sp>
        <p:nvSpPr>
          <p:cNvPr id="3" name="Content Placeholder 2"/>
          <p:cNvSpPr>
            <a:spLocks noGrp="1"/>
          </p:cNvSpPr>
          <p:nvPr>
            <p:ph idx="1"/>
          </p:nvPr>
        </p:nvSpPr>
        <p:spPr>
          <a:xfrm>
            <a:off x="457200" y="980728"/>
            <a:ext cx="8229600" cy="5343872"/>
          </a:xfrm>
        </p:spPr>
        <p:txBody>
          <a:bodyPr>
            <a:normAutofit fontScale="92500" lnSpcReduction="20000"/>
          </a:bodyPr>
          <a:lstStyle/>
          <a:p>
            <a:pPr marL="0" indent="0">
              <a:buNone/>
            </a:pPr>
            <a:r>
              <a:rPr lang="en-US" b="1" dirty="0"/>
              <a:t>Program to break the loop after the 6</a:t>
            </a:r>
            <a:r>
              <a:rPr lang="en-US" b="1" baseline="30000" dirty="0"/>
              <a:t>th</a:t>
            </a:r>
            <a:r>
              <a:rPr lang="en-US" b="1" dirty="0"/>
              <a:t> even no print.</a:t>
            </a:r>
            <a:endParaRPr lang="en-IN" b="1" dirty="0"/>
          </a:p>
          <a:p>
            <a:r>
              <a:rPr lang="en-IN" dirty="0"/>
              <a:t>#include&lt;</a:t>
            </a:r>
            <a:r>
              <a:rPr lang="en-IN" dirty="0" err="1"/>
              <a:t>stdio.h</a:t>
            </a:r>
            <a:r>
              <a:rPr lang="en-IN" dirty="0"/>
              <a:t>&gt;</a:t>
            </a:r>
          </a:p>
          <a:p>
            <a:r>
              <a:rPr lang="en-IN" dirty="0"/>
              <a:t>#include&lt;</a:t>
            </a:r>
            <a:r>
              <a:rPr lang="en-IN" dirty="0" err="1"/>
              <a:t>conio.h</a:t>
            </a:r>
            <a:r>
              <a:rPr lang="en-IN" dirty="0"/>
              <a:t>&gt;</a:t>
            </a:r>
          </a:p>
          <a:p>
            <a:r>
              <a:rPr lang="en-IN" dirty="0"/>
              <a:t>void main()</a:t>
            </a:r>
          </a:p>
          <a:p>
            <a:r>
              <a:rPr lang="en-IN" dirty="0"/>
              <a:t>{        </a:t>
            </a:r>
          </a:p>
          <a:p>
            <a:r>
              <a:rPr lang="en-IN" dirty="0" err="1"/>
              <a:t>int</a:t>
            </a:r>
            <a:r>
              <a:rPr lang="en-IN" dirty="0"/>
              <a:t> i;   </a:t>
            </a:r>
          </a:p>
          <a:p>
            <a:r>
              <a:rPr lang="en-IN" dirty="0"/>
              <a:t> for(i=0;i&lt;=10;i++)   </a:t>
            </a:r>
          </a:p>
          <a:p>
            <a:r>
              <a:rPr lang="en-IN" dirty="0"/>
              <a:t> {       </a:t>
            </a:r>
          </a:p>
          <a:p>
            <a:r>
              <a:rPr lang="en-IN" dirty="0"/>
              <a:t> if(i%2==0)        </a:t>
            </a:r>
          </a:p>
          <a:p>
            <a:r>
              <a:rPr lang="en-IN" dirty="0" err="1"/>
              <a:t>printf</a:t>
            </a:r>
            <a:r>
              <a:rPr lang="en-IN" dirty="0"/>
              <a:t>("\</a:t>
            </a:r>
            <a:r>
              <a:rPr lang="en-IN" dirty="0" err="1"/>
              <a:t>nThe</a:t>
            </a:r>
            <a:r>
              <a:rPr lang="en-IN" dirty="0"/>
              <a:t> EVEN no are=%</a:t>
            </a:r>
            <a:r>
              <a:rPr lang="en-IN" dirty="0" err="1"/>
              <a:t>d",i</a:t>
            </a:r>
            <a:r>
              <a:rPr lang="en-IN" dirty="0"/>
              <a:t>);       </a:t>
            </a:r>
          </a:p>
          <a:p>
            <a:r>
              <a:rPr lang="en-IN" dirty="0"/>
              <a:t> if(i==6)        </a:t>
            </a:r>
          </a:p>
          <a:p>
            <a:r>
              <a:rPr lang="en-IN" dirty="0"/>
              <a:t>break;           </a:t>
            </a:r>
          </a:p>
          <a:p>
            <a:r>
              <a:rPr lang="en-IN" dirty="0"/>
              <a:t>}</a:t>
            </a:r>
          </a:p>
          <a:p>
            <a:r>
              <a:rPr lang="en-IN" dirty="0"/>
              <a:t>}</a:t>
            </a:r>
          </a:p>
        </p:txBody>
      </p:sp>
    </p:spTree>
    <p:extLst>
      <p:ext uri="{BB962C8B-B14F-4D97-AF65-F5344CB8AC3E}">
        <p14:creationId xmlns:p14="http://schemas.microsoft.com/office/powerpoint/2010/main" val="23310776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normAutofit fontScale="90000"/>
          </a:bodyPr>
          <a:lstStyle/>
          <a:p>
            <a:endParaRPr lang="en-IN" dirty="0"/>
          </a:p>
        </p:txBody>
      </p:sp>
      <p:sp>
        <p:nvSpPr>
          <p:cNvPr id="3" name="Content Placeholder 2"/>
          <p:cNvSpPr>
            <a:spLocks noGrp="1"/>
          </p:cNvSpPr>
          <p:nvPr>
            <p:ph idx="1"/>
          </p:nvPr>
        </p:nvSpPr>
        <p:spPr>
          <a:xfrm>
            <a:off x="457200" y="1196752"/>
            <a:ext cx="8229600" cy="5127848"/>
          </a:xfrm>
        </p:spPr>
        <p:txBody>
          <a:bodyPr>
            <a:normAutofit fontScale="47500" lnSpcReduction="20000"/>
          </a:bodyPr>
          <a:lstStyle/>
          <a:p>
            <a:r>
              <a:rPr lang="en-US" sz="2900" b="1" dirty="0"/>
              <a:t>Program to print Vowel n </a:t>
            </a:r>
            <a:r>
              <a:rPr lang="en-IN" sz="2900" b="1" dirty="0"/>
              <a:t>Consonant using switch</a:t>
            </a:r>
          </a:p>
          <a:p>
            <a:endParaRPr lang="en-US" b="1" dirty="0"/>
          </a:p>
          <a:p>
            <a:endParaRPr lang="en-IN" b="1" dirty="0"/>
          </a:p>
          <a:p>
            <a:r>
              <a:rPr lang="en-IN" dirty="0"/>
              <a:t>#include &lt;</a:t>
            </a:r>
            <a:r>
              <a:rPr lang="en-IN" dirty="0" err="1"/>
              <a:t>stdio.h</a:t>
            </a:r>
            <a:r>
              <a:rPr lang="en-IN" dirty="0"/>
              <a:t>&gt;</a:t>
            </a:r>
          </a:p>
          <a:p>
            <a:r>
              <a:rPr lang="en-IN" dirty="0"/>
              <a:t>main()</a:t>
            </a:r>
          </a:p>
          <a:p>
            <a:r>
              <a:rPr lang="en-IN" dirty="0"/>
              <a:t>{</a:t>
            </a:r>
          </a:p>
          <a:p>
            <a:r>
              <a:rPr lang="en-IN" dirty="0"/>
              <a:t>    char </a:t>
            </a:r>
            <a:r>
              <a:rPr lang="en-IN" dirty="0" err="1"/>
              <a:t>ch</a:t>
            </a:r>
            <a:r>
              <a:rPr lang="en-IN" dirty="0"/>
              <a:t>;</a:t>
            </a:r>
          </a:p>
          <a:p>
            <a:r>
              <a:rPr lang="en-IN" dirty="0" err="1"/>
              <a:t>printf</a:t>
            </a:r>
            <a:r>
              <a:rPr lang="en-IN" dirty="0"/>
              <a:t>("Enter any alphabet: ");</a:t>
            </a:r>
          </a:p>
          <a:p>
            <a:r>
              <a:rPr lang="en-IN" dirty="0"/>
              <a:t>    </a:t>
            </a:r>
            <a:r>
              <a:rPr lang="en-IN" dirty="0" err="1"/>
              <a:t>scanf</a:t>
            </a:r>
            <a:r>
              <a:rPr lang="en-IN" dirty="0"/>
              <a:t>("%c", &amp;</a:t>
            </a:r>
            <a:r>
              <a:rPr lang="en-IN" dirty="0" err="1"/>
              <a:t>ch</a:t>
            </a:r>
            <a:r>
              <a:rPr lang="en-IN" dirty="0"/>
              <a:t>);</a:t>
            </a:r>
          </a:p>
          <a:p>
            <a:r>
              <a:rPr lang="en-IN" dirty="0"/>
              <a:t>switch(</a:t>
            </a:r>
            <a:r>
              <a:rPr lang="en-IN" dirty="0" err="1"/>
              <a:t>ch</a:t>
            </a:r>
            <a:r>
              <a:rPr lang="en-IN" dirty="0"/>
              <a:t>)</a:t>
            </a:r>
          </a:p>
          <a:p>
            <a:r>
              <a:rPr lang="en-IN" dirty="0"/>
              <a:t>    {</a:t>
            </a:r>
          </a:p>
          <a:p>
            <a:r>
              <a:rPr lang="en-IN" dirty="0"/>
              <a:t>        case 'a': </a:t>
            </a:r>
          </a:p>
          <a:p>
            <a:r>
              <a:rPr lang="en-IN" dirty="0"/>
              <a:t>            </a:t>
            </a:r>
            <a:r>
              <a:rPr lang="en-IN" dirty="0" err="1"/>
              <a:t>printf</a:t>
            </a:r>
            <a:r>
              <a:rPr lang="en-IN" dirty="0"/>
              <a:t>("Vowel");</a:t>
            </a:r>
          </a:p>
          <a:p>
            <a:r>
              <a:rPr lang="en-IN" dirty="0"/>
              <a:t>            break;</a:t>
            </a:r>
          </a:p>
          <a:p>
            <a:r>
              <a:rPr lang="en-IN" dirty="0"/>
              <a:t>        case 'e': </a:t>
            </a:r>
          </a:p>
          <a:p>
            <a:r>
              <a:rPr lang="en-IN" dirty="0"/>
              <a:t>            </a:t>
            </a:r>
            <a:r>
              <a:rPr lang="en-IN" dirty="0" err="1"/>
              <a:t>printf</a:t>
            </a:r>
            <a:r>
              <a:rPr lang="en-IN" dirty="0"/>
              <a:t>("Vowel");</a:t>
            </a:r>
          </a:p>
          <a:p>
            <a:r>
              <a:rPr lang="en-IN" dirty="0"/>
              <a:t>            break;</a:t>
            </a:r>
          </a:p>
          <a:p>
            <a:r>
              <a:rPr lang="en-IN" dirty="0"/>
              <a:t>        case 'i': </a:t>
            </a:r>
          </a:p>
          <a:p>
            <a:r>
              <a:rPr lang="en-IN" dirty="0"/>
              <a:t>            </a:t>
            </a:r>
            <a:r>
              <a:rPr lang="en-IN" dirty="0" err="1"/>
              <a:t>printf</a:t>
            </a:r>
            <a:r>
              <a:rPr lang="en-IN" dirty="0"/>
              <a:t>("Vowel");</a:t>
            </a:r>
          </a:p>
          <a:p>
            <a:r>
              <a:rPr lang="en-IN" dirty="0"/>
              <a:t>            break;</a:t>
            </a:r>
          </a:p>
          <a:p>
            <a:r>
              <a:rPr lang="en-IN" dirty="0"/>
              <a:t>        case 'o': </a:t>
            </a:r>
          </a:p>
          <a:p>
            <a:r>
              <a:rPr lang="en-IN" dirty="0"/>
              <a:t>            </a:t>
            </a:r>
            <a:r>
              <a:rPr lang="en-IN" dirty="0" err="1"/>
              <a:t>printf</a:t>
            </a:r>
            <a:r>
              <a:rPr lang="en-IN" dirty="0"/>
              <a:t>("Vowel");</a:t>
            </a:r>
          </a:p>
          <a:p>
            <a:r>
              <a:rPr lang="en-IN" dirty="0"/>
              <a:t>            break;</a:t>
            </a:r>
          </a:p>
          <a:p>
            <a:r>
              <a:rPr lang="en-IN" dirty="0"/>
              <a:t>        case 'u': </a:t>
            </a:r>
          </a:p>
          <a:p>
            <a:r>
              <a:rPr lang="en-IN" dirty="0"/>
              <a:t>            </a:t>
            </a:r>
            <a:r>
              <a:rPr lang="en-IN" dirty="0" err="1"/>
              <a:t>printf</a:t>
            </a:r>
            <a:r>
              <a:rPr lang="en-IN" dirty="0"/>
              <a:t>("Vowel");</a:t>
            </a:r>
          </a:p>
          <a:p>
            <a:r>
              <a:rPr lang="en-IN" dirty="0"/>
              <a:t>            break;</a:t>
            </a:r>
          </a:p>
          <a:p>
            <a:endParaRPr lang="en-IN" dirty="0"/>
          </a:p>
        </p:txBody>
      </p:sp>
    </p:spTree>
    <p:extLst>
      <p:ext uri="{BB962C8B-B14F-4D97-AF65-F5344CB8AC3E}">
        <p14:creationId xmlns:p14="http://schemas.microsoft.com/office/powerpoint/2010/main" val="4406332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IN" dirty="0"/>
              <a:t>case 'A': </a:t>
            </a:r>
          </a:p>
          <a:p>
            <a:r>
              <a:rPr lang="en-IN" dirty="0"/>
              <a:t>            </a:t>
            </a:r>
            <a:r>
              <a:rPr lang="en-IN" dirty="0" err="1"/>
              <a:t>printf</a:t>
            </a:r>
            <a:r>
              <a:rPr lang="en-IN" dirty="0"/>
              <a:t>("Vowel");</a:t>
            </a:r>
          </a:p>
          <a:p>
            <a:r>
              <a:rPr lang="en-IN" dirty="0"/>
              <a:t>            break;</a:t>
            </a:r>
          </a:p>
          <a:p>
            <a:r>
              <a:rPr lang="en-IN" dirty="0"/>
              <a:t>        case 'E': </a:t>
            </a:r>
          </a:p>
          <a:p>
            <a:r>
              <a:rPr lang="en-IN" dirty="0"/>
              <a:t>            </a:t>
            </a:r>
            <a:r>
              <a:rPr lang="en-IN" dirty="0" err="1"/>
              <a:t>printf</a:t>
            </a:r>
            <a:r>
              <a:rPr lang="en-IN" dirty="0"/>
              <a:t>("Vowel");</a:t>
            </a:r>
          </a:p>
          <a:p>
            <a:r>
              <a:rPr lang="en-IN" dirty="0"/>
              <a:t>            break;</a:t>
            </a:r>
          </a:p>
          <a:p>
            <a:r>
              <a:rPr lang="en-IN" dirty="0"/>
              <a:t>        case 'I': </a:t>
            </a:r>
          </a:p>
          <a:p>
            <a:r>
              <a:rPr lang="en-IN" dirty="0"/>
              <a:t>            </a:t>
            </a:r>
            <a:r>
              <a:rPr lang="en-IN" dirty="0" err="1"/>
              <a:t>printf</a:t>
            </a:r>
            <a:r>
              <a:rPr lang="en-IN" dirty="0"/>
              <a:t>("Vowel");</a:t>
            </a:r>
          </a:p>
          <a:p>
            <a:r>
              <a:rPr lang="en-IN" dirty="0"/>
              <a:t>            break;</a:t>
            </a:r>
          </a:p>
          <a:p>
            <a:r>
              <a:rPr lang="en-IN" dirty="0"/>
              <a:t>        case 'O': </a:t>
            </a:r>
          </a:p>
          <a:p>
            <a:r>
              <a:rPr lang="en-IN" dirty="0"/>
              <a:t>            </a:t>
            </a:r>
            <a:r>
              <a:rPr lang="en-IN" dirty="0" err="1"/>
              <a:t>printf</a:t>
            </a:r>
            <a:r>
              <a:rPr lang="en-IN" dirty="0"/>
              <a:t>("Vowel");</a:t>
            </a:r>
          </a:p>
          <a:p>
            <a:r>
              <a:rPr lang="en-IN" dirty="0"/>
              <a:t>            break;</a:t>
            </a:r>
          </a:p>
          <a:p>
            <a:r>
              <a:rPr lang="en-IN" dirty="0"/>
              <a:t>        case 'U': </a:t>
            </a:r>
          </a:p>
          <a:p>
            <a:r>
              <a:rPr lang="en-IN" dirty="0"/>
              <a:t>            </a:t>
            </a:r>
            <a:r>
              <a:rPr lang="en-IN" dirty="0" err="1"/>
              <a:t>printf</a:t>
            </a:r>
            <a:r>
              <a:rPr lang="en-IN" dirty="0"/>
              <a:t>("Vowel");</a:t>
            </a:r>
          </a:p>
          <a:p>
            <a:r>
              <a:rPr lang="en-IN" dirty="0"/>
              <a:t>            break;</a:t>
            </a:r>
          </a:p>
          <a:p>
            <a:r>
              <a:rPr lang="en-IN" dirty="0"/>
              <a:t>        default: </a:t>
            </a:r>
          </a:p>
          <a:p>
            <a:r>
              <a:rPr lang="en-IN" dirty="0"/>
              <a:t>            </a:t>
            </a:r>
            <a:r>
              <a:rPr lang="en-IN" dirty="0" err="1"/>
              <a:t>printf</a:t>
            </a:r>
            <a:r>
              <a:rPr lang="en-IN" dirty="0"/>
              <a:t>("Consonant");</a:t>
            </a:r>
          </a:p>
          <a:p>
            <a:r>
              <a:rPr lang="en-IN" dirty="0"/>
              <a:t>   }</a:t>
            </a:r>
          </a:p>
          <a:p>
            <a:r>
              <a:rPr lang="en-IN" dirty="0"/>
              <a:t>}</a:t>
            </a:r>
          </a:p>
          <a:p>
            <a:endParaRPr lang="en-IN" dirty="0"/>
          </a:p>
        </p:txBody>
      </p:sp>
    </p:spTree>
    <p:extLst>
      <p:ext uri="{BB962C8B-B14F-4D97-AF65-F5344CB8AC3E}">
        <p14:creationId xmlns:p14="http://schemas.microsoft.com/office/powerpoint/2010/main" val="13654952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92088"/>
          </a:xfrm>
        </p:spPr>
        <p:txBody>
          <a:bodyPr>
            <a:normAutofit fontScale="90000"/>
          </a:bodyPr>
          <a:lstStyle/>
          <a:p>
            <a:r>
              <a:rPr lang="en-IN" b="1" dirty="0"/>
              <a:t>continue</a:t>
            </a:r>
            <a:r>
              <a:rPr lang="en-IN" dirty="0"/>
              <a:t> statement</a:t>
            </a:r>
          </a:p>
        </p:txBody>
      </p:sp>
      <p:sp>
        <p:nvSpPr>
          <p:cNvPr id="3" name="Content Placeholder 2"/>
          <p:cNvSpPr>
            <a:spLocks noGrp="1"/>
          </p:cNvSpPr>
          <p:nvPr>
            <p:ph idx="1"/>
          </p:nvPr>
        </p:nvSpPr>
        <p:spPr>
          <a:xfrm>
            <a:off x="395536" y="1052736"/>
            <a:ext cx="8229600" cy="5616624"/>
          </a:xfrm>
        </p:spPr>
        <p:txBody>
          <a:bodyPr>
            <a:normAutofit fontScale="77500" lnSpcReduction="20000"/>
          </a:bodyPr>
          <a:lstStyle/>
          <a:p>
            <a:r>
              <a:rPr lang="en-IN" dirty="0"/>
              <a:t>The </a:t>
            </a:r>
            <a:r>
              <a:rPr lang="en-IN" b="1" dirty="0"/>
              <a:t>continue</a:t>
            </a:r>
            <a:r>
              <a:rPr lang="en-IN" dirty="0"/>
              <a:t> statement is used to move the program execution control to the beginning of the looping statement. </a:t>
            </a:r>
          </a:p>
          <a:p>
            <a:endParaRPr lang="en-IN" dirty="0"/>
          </a:p>
          <a:p>
            <a:r>
              <a:rPr lang="en-IN" dirty="0"/>
              <a:t>When the </a:t>
            </a:r>
            <a:r>
              <a:rPr lang="en-IN" b="1" dirty="0"/>
              <a:t>continue</a:t>
            </a:r>
            <a:r>
              <a:rPr lang="en-IN" dirty="0"/>
              <a:t> statement is encountered in a looping statement, the execution control skips the rest of the statements in the looping block and directly jumps to the beginning of the loop. </a:t>
            </a:r>
          </a:p>
          <a:p>
            <a:endParaRPr lang="en-IN" dirty="0"/>
          </a:p>
          <a:p>
            <a:r>
              <a:rPr lang="en-IN" dirty="0"/>
              <a:t>The </a:t>
            </a:r>
            <a:r>
              <a:rPr lang="en-IN" b="1" dirty="0"/>
              <a:t>continue</a:t>
            </a:r>
            <a:r>
              <a:rPr lang="en-IN" dirty="0"/>
              <a:t> statement can be used with looping statements like while, do-while and for.</a:t>
            </a:r>
          </a:p>
          <a:p>
            <a:endParaRPr lang="en-IN" dirty="0"/>
          </a:p>
          <a:p>
            <a:r>
              <a:rPr lang="en-IN" dirty="0"/>
              <a:t>When we use </a:t>
            </a:r>
            <a:r>
              <a:rPr lang="en-IN" b="1" dirty="0"/>
              <a:t>continue</a:t>
            </a:r>
            <a:r>
              <a:rPr lang="en-IN" dirty="0"/>
              <a:t> statement with </a:t>
            </a:r>
            <a:r>
              <a:rPr lang="en-IN" b="1" dirty="0"/>
              <a:t>while</a:t>
            </a:r>
            <a:r>
              <a:rPr lang="en-IN" dirty="0"/>
              <a:t> and </a:t>
            </a:r>
            <a:r>
              <a:rPr lang="en-IN" b="1" dirty="0"/>
              <a:t>do-while</a:t>
            </a:r>
            <a:r>
              <a:rPr lang="en-IN" dirty="0"/>
              <a:t> statements the execution </a:t>
            </a:r>
            <a:r>
              <a:rPr lang="en-IN" dirty="0">
                <a:solidFill>
                  <a:srgbClr val="FF0000"/>
                </a:solidFill>
              </a:rPr>
              <a:t>control directly jumps to the condition.</a:t>
            </a:r>
          </a:p>
          <a:p>
            <a:pPr marL="0" indent="0">
              <a:buNone/>
            </a:pPr>
            <a:r>
              <a:rPr lang="en-IN" dirty="0"/>
              <a:t> </a:t>
            </a:r>
          </a:p>
          <a:p>
            <a:r>
              <a:rPr lang="en-IN" dirty="0"/>
              <a:t>When we use </a:t>
            </a:r>
            <a:r>
              <a:rPr lang="en-IN" b="1" dirty="0"/>
              <a:t>continue</a:t>
            </a:r>
            <a:r>
              <a:rPr lang="en-IN" dirty="0"/>
              <a:t> statement with </a:t>
            </a:r>
            <a:r>
              <a:rPr lang="en-IN" b="1" dirty="0"/>
              <a:t>for</a:t>
            </a:r>
            <a:r>
              <a:rPr lang="en-IN" dirty="0"/>
              <a:t> statement the execution control directly jumps to the modification portion </a:t>
            </a:r>
            <a:r>
              <a:rPr lang="en-IN" dirty="0">
                <a:solidFill>
                  <a:srgbClr val="FF0000"/>
                </a:solidFill>
              </a:rPr>
              <a:t>(increment/decrement/any modification</a:t>
            </a:r>
            <a:r>
              <a:rPr lang="en-IN" dirty="0"/>
              <a:t>) of the for loop. </a:t>
            </a:r>
          </a:p>
          <a:p>
            <a:endParaRPr lang="en-IN" dirty="0"/>
          </a:p>
          <a:p>
            <a:r>
              <a:rPr lang="en-IN" dirty="0"/>
              <a:t>The </a:t>
            </a:r>
            <a:r>
              <a:rPr lang="en-IN" b="1" dirty="0"/>
              <a:t>continue</a:t>
            </a:r>
            <a:r>
              <a:rPr lang="en-IN" dirty="0"/>
              <a:t> statement execution is as shown in the following figure.</a:t>
            </a:r>
          </a:p>
          <a:p>
            <a:endParaRPr lang="en-IN" dirty="0"/>
          </a:p>
        </p:txBody>
      </p:sp>
    </p:spTree>
    <p:extLst>
      <p:ext uri="{BB962C8B-B14F-4D97-AF65-F5344CB8AC3E}">
        <p14:creationId xmlns:p14="http://schemas.microsoft.com/office/powerpoint/2010/main" val="26409076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5"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57212" y="2201069"/>
            <a:ext cx="8029575"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03023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#include &lt;</a:t>
            </a:r>
            <a:r>
              <a:rPr lang="en-IN" dirty="0" err="1"/>
              <a:t>stdio.h</a:t>
            </a:r>
            <a:r>
              <a:rPr lang="en-IN" dirty="0"/>
              <a:t>&gt;</a:t>
            </a:r>
          </a:p>
          <a:p>
            <a:r>
              <a:rPr lang="en-IN" dirty="0" err="1"/>
              <a:t>int</a:t>
            </a:r>
            <a:r>
              <a:rPr lang="en-IN" dirty="0"/>
              <a:t> main()</a:t>
            </a:r>
          </a:p>
          <a:p>
            <a:r>
              <a:rPr lang="en-IN" dirty="0"/>
              <a:t>{    </a:t>
            </a:r>
            <a:r>
              <a:rPr lang="en-IN" dirty="0" err="1"/>
              <a:t>int</a:t>
            </a:r>
            <a:r>
              <a:rPr lang="en-IN" dirty="0"/>
              <a:t> i;    </a:t>
            </a:r>
          </a:p>
          <a:p>
            <a:r>
              <a:rPr lang="en-IN" dirty="0"/>
              <a:t>  for(i=0;i&lt;5;i++)    </a:t>
            </a:r>
          </a:p>
          <a:p>
            <a:r>
              <a:rPr lang="en-IN" dirty="0"/>
              <a:t>   {        </a:t>
            </a:r>
          </a:p>
          <a:p>
            <a:r>
              <a:rPr lang="en-IN" dirty="0"/>
              <a:t>      </a:t>
            </a:r>
            <a:r>
              <a:rPr lang="en-IN" dirty="0" err="1"/>
              <a:t>printf</a:t>
            </a:r>
            <a:r>
              <a:rPr lang="en-IN" dirty="0"/>
              <a:t>("\</a:t>
            </a:r>
            <a:r>
              <a:rPr lang="en-IN" dirty="0" err="1"/>
              <a:t>nHello</a:t>
            </a:r>
            <a:r>
              <a:rPr lang="en-IN" dirty="0"/>
              <a:t>");         </a:t>
            </a:r>
          </a:p>
          <a:p>
            <a:r>
              <a:rPr lang="en-IN" dirty="0"/>
              <a:t>       if(i==2)        </a:t>
            </a:r>
          </a:p>
          <a:p>
            <a:r>
              <a:rPr lang="en-IN" dirty="0"/>
              <a:t>       continue;        </a:t>
            </a:r>
          </a:p>
          <a:p>
            <a:r>
              <a:rPr lang="en-IN" dirty="0"/>
              <a:t>      </a:t>
            </a:r>
            <a:r>
              <a:rPr lang="en-IN" dirty="0" err="1"/>
              <a:t>printf</a:t>
            </a:r>
            <a:r>
              <a:rPr lang="en-IN" dirty="0"/>
              <a:t>("\</a:t>
            </a:r>
            <a:r>
              <a:rPr lang="en-IN" dirty="0" err="1"/>
              <a:t>nAgain</a:t>
            </a:r>
            <a:r>
              <a:rPr lang="en-IN" dirty="0"/>
              <a:t> i am continuing");      </a:t>
            </a:r>
          </a:p>
          <a:p>
            <a:r>
              <a:rPr lang="en-IN" dirty="0"/>
              <a:t>     }      </a:t>
            </a:r>
          </a:p>
          <a:p>
            <a:r>
              <a:rPr lang="en-IN" dirty="0"/>
              <a:t>}</a:t>
            </a:r>
          </a:p>
        </p:txBody>
      </p:sp>
    </p:spTree>
    <p:extLst>
      <p:ext uri="{BB962C8B-B14F-4D97-AF65-F5344CB8AC3E}">
        <p14:creationId xmlns:p14="http://schemas.microsoft.com/office/powerpoint/2010/main" val="157132028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2700" b="1" dirty="0"/>
              <a:t>Example Program </a:t>
            </a:r>
            <a:r>
              <a:rPr lang="en-IN" sz="2700" b="1" dirty="0" err="1"/>
              <a:t>Program</a:t>
            </a:r>
            <a:r>
              <a:rPr lang="en-IN" sz="2700" b="1" dirty="0"/>
              <a:t> to illustrate continue statement.</a:t>
            </a:r>
            <a:br>
              <a:rPr lang="en-IN" b="1" dirty="0"/>
            </a:br>
            <a:endParaRPr lang="en-IN" dirty="0"/>
          </a:p>
        </p:txBody>
      </p:sp>
      <p:sp>
        <p:nvSpPr>
          <p:cNvPr id="3" name="Content Placeholder 2"/>
          <p:cNvSpPr>
            <a:spLocks noGrp="1"/>
          </p:cNvSpPr>
          <p:nvPr>
            <p:ph idx="1"/>
          </p:nvPr>
        </p:nvSpPr>
        <p:spPr>
          <a:xfrm>
            <a:off x="457200" y="1268760"/>
            <a:ext cx="8229600" cy="5055840"/>
          </a:xfrm>
        </p:spPr>
        <p:txBody>
          <a:bodyPr>
            <a:normAutofit fontScale="92500" lnSpcReduction="10000"/>
          </a:bodyPr>
          <a:lstStyle/>
          <a:p>
            <a:pPr>
              <a:buNone/>
            </a:pPr>
            <a:r>
              <a:rPr lang="en-IN" dirty="0"/>
              <a:t>#include &lt;</a:t>
            </a:r>
            <a:r>
              <a:rPr lang="en-IN" dirty="0" err="1"/>
              <a:t>stdio.h</a:t>
            </a:r>
            <a:r>
              <a:rPr lang="en-IN" dirty="0"/>
              <a:t>&gt;</a:t>
            </a:r>
          </a:p>
          <a:p>
            <a:pPr>
              <a:buNone/>
            </a:pPr>
            <a:r>
              <a:rPr lang="en-IN" dirty="0"/>
              <a:t> main()</a:t>
            </a:r>
          </a:p>
          <a:p>
            <a:pPr>
              <a:buNone/>
            </a:pPr>
            <a:r>
              <a:rPr lang="en-IN" dirty="0"/>
              <a:t>{</a:t>
            </a:r>
          </a:p>
          <a:p>
            <a:pPr>
              <a:buNone/>
            </a:pPr>
            <a:r>
              <a:rPr lang="en-IN" dirty="0" err="1"/>
              <a:t>int</a:t>
            </a:r>
            <a:r>
              <a:rPr lang="en-IN" dirty="0"/>
              <a:t> </a:t>
            </a:r>
            <a:r>
              <a:rPr lang="en-IN" dirty="0" err="1"/>
              <a:t>i</a:t>
            </a:r>
            <a:r>
              <a:rPr lang="en-IN" dirty="0"/>
              <a:t>;</a:t>
            </a:r>
          </a:p>
          <a:p>
            <a:pPr>
              <a:buNone/>
            </a:pPr>
            <a:r>
              <a:rPr lang="en-IN" dirty="0"/>
              <a:t>for(</a:t>
            </a:r>
            <a:r>
              <a:rPr lang="en-IN" dirty="0" err="1"/>
              <a:t>i</a:t>
            </a:r>
            <a:r>
              <a:rPr lang="en-IN" dirty="0"/>
              <a:t>=0;i&lt;20;i++)</a:t>
            </a:r>
          </a:p>
          <a:p>
            <a:pPr>
              <a:buNone/>
            </a:pPr>
            <a:r>
              <a:rPr lang="en-IN" dirty="0"/>
              <a:t>{</a:t>
            </a:r>
          </a:p>
          <a:p>
            <a:pPr>
              <a:buNone/>
            </a:pPr>
            <a:r>
              <a:rPr lang="en-IN" dirty="0"/>
              <a:t> if(i%2==0)</a:t>
            </a:r>
          </a:p>
          <a:p>
            <a:pPr>
              <a:buNone/>
            </a:pPr>
            <a:r>
              <a:rPr lang="en-IN" dirty="0" err="1"/>
              <a:t>printf</a:t>
            </a:r>
            <a:r>
              <a:rPr lang="en-IN" dirty="0"/>
              <a:t>("\</a:t>
            </a:r>
            <a:r>
              <a:rPr lang="en-IN" dirty="0" err="1"/>
              <a:t>nThe</a:t>
            </a:r>
            <a:r>
              <a:rPr lang="en-IN" dirty="0"/>
              <a:t> even no=%</a:t>
            </a:r>
            <a:r>
              <a:rPr lang="en-IN" dirty="0" err="1"/>
              <a:t>d",i</a:t>
            </a:r>
            <a:r>
              <a:rPr lang="en-IN" dirty="0"/>
              <a:t>);</a:t>
            </a:r>
          </a:p>
          <a:p>
            <a:pPr>
              <a:buNone/>
            </a:pPr>
            <a:r>
              <a:rPr lang="en-IN" dirty="0"/>
              <a:t>Else</a:t>
            </a:r>
          </a:p>
          <a:p>
            <a:pPr>
              <a:buNone/>
            </a:pPr>
            <a:r>
              <a:rPr lang="en-IN" dirty="0"/>
              <a:t>continue;</a:t>
            </a:r>
          </a:p>
          <a:p>
            <a:pPr>
              <a:buNone/>
            </a:pPr>
            <a:r>
              <a:rPr lang="en-IN" dirty="0"/>
              <a:t>}</a:t>
            </a:r>
          </a:p>
          <a:p>
            <a:pPr>
              <a:buNone/>
            </a:pPr>
            <a:r>
              <a:rPr lang="en-IN" dirty="0"/>
              <a:t>}</a:t>
            </a:r>
          </a:p>
        </p:txBody>
      </p:sp>
    </p:spTree>
    <p:extLst>
      <p:ext uri="{BB962C8B-B14F-4D97-AF65-F5344CB8AC3E}">
        <p14:creationId xmlns:p14="http://schemas.microsoft.com/office/powerpoint/2010/main" val="30659615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720080"/>
          </a:xfrm>
        </p:spPr>
        <p:txBody>
          <a:bodyPr>
            <a:normAutofit fontScale="90000"/>
          </a:bodyPr>
          <a:lstStyle/>
          <a:p>
            <a:r>
              <a:rPr lang="en-IN" b="1" dirty="0" err="1"/>
              <a:t>goto</a:t>
            </a:r>
            <a:r>
              <a:rPr lang="en-IN" b="1" dirty="0"/>
              <a:t> statement</a:t>
            </a:r>
            <a:br>
              <a:rPr lang="en-IN" b="1" dirty="0"/>
            </a:br>
            <a:endParaRPr lang="en-IN" dirty="0"/>
          </a:p>
        </p:txBody>
      </p:sp>
      <p:sp>
        <p:nvSpPr>
          <p:cNvPr id="3" name="Content Placeholder 2"/>
          <p:cNvSpPr>
            <a:spLocks noGrp="1"/>
          </p:cNvSpPr>
          <p:nvPr>
            <p:ph idx="1"/>
          </p:nvPr>
        </p:nvSpPr>
        <p:spPr>
          <a:xfrm>
            <a:off x="457200" y="980728"/>
            <a:ext cx="8229600" cy="5472608"/>
          </a:xfrm>
        </p:spPr>
        <p:txBody>
          <a:bodyPr/>
          <a:lstStyle/>
          <a:p>
            <a:r>
              <a:rPr lang="en-IN" dirty="0"/>
              <a:t>The </a:t>
            </a:r>
            <a:r>
              <a:rPr lang="en-IN" b="1" dirty="0" err="1"/>
              <a:t>goto</a:t>
            </a:r>
            <a:r>
              <a:rPr lang="en-IN" b="1" dirty="0"/>
              <a:t>  </a:t>
            </a:r>
            <a:r>
              <a:rPr lang="en-IN" b="1" dirty="0" err="1"/>
              <a:t>there</a:t>
            </a:r>
            <a:r>
              <a:rPr lang="en-IN" dirty="0" err="1"/>
              <a:t>statement</a:t>
            </a:r>
            <a:r>
              <a:rPr lang="en-IN" dirty="0"/>
              <a:t> is used to jump from one line to another line in the program. </a:t>
            </a:r>
          </a:p>
          <a:p>
            <a:r>
              <a:rPr lang="en-IN" dirty="0"/>
              <a:t>Using </a:t>
            </a:r>
            <a:r>
              <a:rPr lang="en-IN" b="1" dirty="0" err="1"/>
              <a:t>goto</a:t>
            </a:r>
            <a:r>
              <a:rPr lang="en-IN" dirty="0"/>
              <a:t> statement we can jump from top to bottom or bottom to top. </a:t>
            </a:r>
          </a:p>
          <a:p>
            <a:r>
              <a:rPr lang="en-IN" dirty="0"/>
              <a:t>To jump from one line to another line, the </a:t>
            </a:r>
            <a:r>
              <a:rPr lang="en-IN" dirty="0" err="1"/>
              <a:t>goto</a:t>
            </a:r>
            <a:r>
              <a:rPr lang="en-IN" dirty="0"/>
              <a:t> statement requires a </a:t>
            </a:r>
            <a:r>
              <a:rPr lang="en-IN" b="1" dirty="0"/>
              <a:t>label</a:t>
            </a:r>
            <a:r>
              <a:rPr lang="en-IN" dirty="0"/>
              <a:t>. </a:t>
            </a:r>
          </a:p>
          <a:p>
            <a:r>
              <a:rPr lang="en-IN" dirty="0"/>
              <a:t>Label is a name given to the instruction or line in the program. </a:t>
            </a:r>
          </a:p>
          <a:p>
            <a:r>
              <a:rPr lang="en-IN" dirty="0"/>
              <a:t>When we use a </a:t>
            </a:r>
            <a:r>
              <a:rPr lang="en-IN" b="1" dirty="0" err="1"/>
              <a:t>goto</a:t>
            </a:r>
            <a:r>
              <a:rPr lang="en-IN" dirty="0"/>
              <a:t> statement in the program, the execution control directly jumps to the line with the specified label.</a:t>
            </a:r>
          </a:p>
          <a:p>
            <a:endParaRPr lang="en-IN" dirty="0"/>
          </a:p>
        </p:txBody>
      </p:sp>
    </p:spTree>
    <p:extLst>
      <p:ext uri="{BB962C8B-B14F-4D97-AF65-F5344CB8AC3E}">
        <p14:creationId xmlns:p14="http://schemas.microsoft.com/office/powerpoint/2010/main" val="19941102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8229600" cy="1008112"/>
          </a:xfrm>
        </p:spPr>
        <p:txBody>
          <a:bodyPr>
            <a:normAutofit/>
          </a:bodyPr>
          <a:lstStyle/>
          <a:p>
            <a:r>
              <a:rPr lang="en-IN" sz="2400" b="1" dirty="0"/>
              <a:t>Example Program for </a:t>
            </a:r>
            <a:r>
              <a:rPr lang="en-IN" sz="2400" b="1" i="1" dirty="0" err="1"/>
              <a:t>goto</a:t>
            </a:r>
            <a:r>
              <a:rPr lang="en-IN" sz="2400" b="1" i="1" dirty="0"/>
              <a:t> statement</a:t>
            </a:r>
            <a:r>
              <a:rPr lang="en-IN" sz="2400" b="1" dirty="0"/>
              <a:t>.</a:t>
            </a:r>
            <a:br>
              <a:rPr lang="en-IN" sz="2400" b="1" dirty="0"/>
            </a:br>
            <a:endParaRPr lang="en-IN" sz="2400" dirty="0"/>
          </a:p>
        </p:txBody>
      </p:sp>
      <p:sp>
        <p:nvSpPr>
          <p:cNvPr id="3" name="Content Placeholder 2"/>
          <p:cNvSpPr>
            <a:spLocks noGrp="1"/>
          </p:cNvSpPr>
          <p:nvPr>
            <p:ph idx="1"/>
          </p:nvPr>
        </p:nvSpPr>
        <p:spPr>
          <a:xfrm>
            <a:off x="457200" y="1268760"/>
            <a:ext cx="8229600" cy="5055840"/>
          </a:xfrm>
        </p:spPr>
        <p:txBody>
          <a:bodyPr>
            <a:normAutofit fontScale="92500" lnSpcReduction="10000"/>
          </a:bodyPr>
          <a:lstStyle/>
          <a:p>
            <a:pPr marL="0" indent="0">
              <a:buNone/>
            </a:pPr>
            <a:r>
              <a:rPr lang="en-IN" dirty="0"/>
              <a:t>#include&lt;</a:t>
            </a:r>
            <a:r>
              <a:rPr lang="en-IN" dirty="0" err="1"/>
              <a:t>stdio.h</a:t>
            </a:r>
            <a:r>
              <a:rPr lang="en-IN" dirty="0"/>
              <a:t>&gt;</a:t>
            </a:r>
          </a:p>
          <a:p>
            <a:pPr marL="0" indent="0">
              <a:buNone/>
            </a:pPr>
            <a:r>
              <a:rPr lang="en-IN" dirty="0"/>
              <a:t>#include&lt;</a:t>
            </a:r>
            <a:r>
              <a:rPr lang="en-IN" dirty="0" err="1"/>
              <a:t>conio.h</a:t>
            </a:r>
            <a:r>
              <a:rPr lang="en-IN" dirty="0"/>
              <a:t>&gt;</a:t>
            </a:r>
          </a:p>
          <a:p>
            <a:pPr marL="0" indent="0">
              <a:buNone/>
            </a:pPr>
            <a:r>
              <a:rPr lang="en-IN" dirty="0"/>
              <a:t>void main()</a:t>
            </a:r>
          </a:p>
          <a:p>
            <a:pPr marL="0" indent="0">
              <a:buNone/>
            </a:pPr>
            <a:r>
              <a:rPr lang="en-IN" dirty="0"/>
              <a:t>{   </a:t>
            </a:r>
          </a:p>
          <a:p>
            <a:r>
              <a:rPr lang="en-IN" dirty="0" err="1"/>
              <a:t>printf</a:t>
            </a:r>
            <a:r>
              <a:rPr lang="en-IN" dirty="0"/>
              <a:t>("</a:t>
            </a:r>
            <a:r>
              <a:rPr lang="en-IN" dirty="0" err="1"/>
              <a:t>Hellow</a:t>
            </a:r>
            <a:r>
              <a:rPr lang="en-IN" dirty="0"/>
              <a:t> world!!!\n") ;  </a:t>
            </a:r>
          </a:p>
          <a:p>
            <a:r>
              <a:rPr lang="en-IN" dirty="0"/>
              <a:t> </a:t>
            </a:r>
            <a:r>
              <a:rPr lang="en-IN" b="1" dirty="0" err="1"/>
              <a:t>goto</a:t>
            </a:r>
            <a:r>
              <a:rPr lang="en-IN" b="1" dirty="0"/>
              <a:t> here ;   </a:t>
            </a:r>
          </a:p>
          <a:p>
            <a:r>
              <a:rPr lang="en-IN" dirty="0" err="1"/>
              <a:t>printf</a:t>
            </a:r>
            <a:r>
              <a:rPr lang="en-IN" dirty="0"/>
              <a:t>("This is C program!!!\n") ;  </a:t>
            </a:r>
          </a:p>
          <a:p>
            <a:r>
              <a:rPr lang="en-IN" dirty="0"/>
              <a:t> </a:t>
            </a:r>
            <a:r>
              <a:rPr lang="en-IN" dirty="0" err="1"/>
              <a:t>printf</a:t>
            </a:r>
            <a:r>
              <a:rPr lang="en-IN" dirty="0"/>
              <a:t>("This is </a:t>
            </a:r>
            <a:r>
              <a:rPr lang="en-IN" dirty="0" err="1"/>
              <a:t>goto</a:t>
            </a:r>
            <a:r>
              <a:rPr lang="en-IN" dirty="0"/>
              <a:t> program!!!\n") ;   </a:t>
            </a:r>
          </a:p>
          <a:p>
            <a:r>
              <a:rPr lang="en-IN" b="1" dirty="0"/>
              <a:t>here:   </a:t>
            </a:r>
          </a:p>
          <a:p>
            <a:r>
              <a:rPr lang="en-IN" dirty="0"/>
              <a:t> </a:t>
            </a:r>
            <a:r>
              <a:rPr lang="en-IN" dirty="0" err="1"/>
              <a:t>printf</a:t>
            </a:r>
            <a:r>
              <a:rPr lang="en-IN" dirty="0"/>
              <a:t>("INDIA is best country in the whole world!!!\n") ;  </a:t>
            </a:r>
          </a:p>
          <a:p>
            <a:r>
              <a:rPr lang="en-IN" dirty="0"/>
              <a:t> </a:t>
            </a:r>
            <a:r>
              <a:rPr lang="en-IN" dirty="0" err="1"/>
              <a:t>printf</a:t>
            </a:r>
            <a:r>
              <a:rPr lang="en-IN" dirty="0"/>
              <a:t>("I am proud to be Indian");</a:t>
            </a:r>
          </a:p>
          <a:p>
            <a:pPr marL="0" indent="0">
              <a:buNone/>
            </a:pPr>
            <a:r>
              <a:rPr lang="en-IN" dirty="0"/>
              <a:t>}</a:t>
            </a:r>
          </a:p>
        </p:txBody>
      </p:sp>
    </p:spTree>
    <p:extLst>
      <p:ext uri="{BB962C8B-B14F-4D97-AF65-F5344CB8AC3E}">
        <p14:creationId xmlns:p14="http://schemas.microsoft.com/office/powerpoint/2010/main" val="1281929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a:bodyPr>
          <a:lstStyle/>
          <a:p>
            <a:r>
              <a:rPr lang="en-IN" sz="2800" b="1" dirty="0"/>
              <a:t>Example Program for </a:t>
            </a:r>
            <a:r>
              <a:rPr lang="en-IN" sz="2800" b="1" i="1" dirty="0" err="1"/>
              <a:t>goto</a:t>
            </a:r>
            <a:r>
              <a:rPr lang="en-IN" sz="2800" b="1" i="1" dirty="0"/>
              <a:t> statement</a:t>
            </a:r>
            <a:r>
              <a:rPr lang="en-IN" sz="2800" b="1" dirty="0"/>
              <a:t>.</a:t>
            </a:r>
            <a:endParaRPr lang="en-IN" sz="2800" dirty="0"/>
          </a:p>
        </p:txBody>
      </p:sp>
      <p:sp>
        <p:nvSpPr>
          <p:cNvPr id="3" name="Content Placeholder 2"/>
          <p:cNvSpPr>
            <a:spLocks noGrp="1"/>
          </p:cNvSpPr>
          <p:nvPr>
            <p:ph idx="1"/>
          </p:nvPr>
        </p:nvSpPr>
        <p:spPr>
          <a:xfrm>
            <a:off x="1403648" y="1484784"/>
            <a:ext cx="5040560" cy="5040560"/>
          </a:xfrm>
        </p:spPr>
        <p:txBody>
          <a:bodyPr>
            <a:normAutofit fontScale="47500" lnSpcReduction="20000"/>
          </a:bodyPr>
          <a:lstStyle/>
          <a:p>
            <a:r>
              <a:rPr lang="en-IN" dirty="0"/>
              <a:t>#include&lt;</a:t>
            </a:r>
            <a:r>
              <a:rPr lang="en-IN" dirty="0" err="1"/>
              <a:t>stdio.h</a:t>
            </a:r>
            <a:r>
              <a:rPr lang="en-IN" dirty="0"/>
              <a:t>&gt;</a:t>
            </a:r>
          </a:p>
          <a:p>
            <a:r>
              <a:rPr lang="en-IN" dirty="0"/>
              <a:t>#include&lt;</a:t>
            </a:r>
            <a:r>
              <a:rPr lang="en-IN" dirty="0" err="1"/>
              <a:t>conio.h</a:t>
            </a:r>
            <a:r>
              <a:rPr lang="en-IN" dirty="0"/>
              <a:t>&gt;</a:t>
            </a:r>
          </a:p>
          <a:p>
            <a:r>
              <a:rPr lang="en-IN" dirty="0"/>
              <a:t>Void positive</a:t>
            </a:r>
          </a:p>
          <a:p>
            <a:r>
              <a:rPr lang="en-IN" dirty="0"/>
              <a:t>{</a:t>
            </a:r>
          </a:p>
          <a:p>
            <a:r>
              <a:rPr lang="en-IN" dirty="0"/>
              <a:t>    </a:t>
            </a:r>
          </a:p>
          <a:p>
            <a:r>
              <a:rPr lang="en-IN" dirty="0"/>
              <a:t>}</a:t>
            </a:r>
          </a:p>
          <a:p>
            <a:r>
              <a:rPr lang="en-IN" dirty="0"/>
              <a:t>Void odd()</a:t>
            </a:r>
          </a:p>
          <a:p>
            <a:r>
              <a:rPr lang="en-IN" dirty="0"/>
              <a:t>{</a:t>
            </a:r>
          </a:p>
          <a:p>
            <a:r>
              <a:rPr lang="en-IN" dirty="0"/>
              <a:t>   </a:t>
            </a:r>
          </a:p>
          <a:p>
            <a:r>
              <a:rPr lang="en-IN" dirty="0"/>
              <a:t>}</a:t>
            </a:r>
          </a:p>
          <a:p>
            <a:r>
              <a:rPr lang="en-IN" dirty="0"/>
              <a:t>void main()</a:t>
            </a:r>
          </a:p>
          <a:p>
            <a:r>
              <a:rPr lang="en-IN" dirty="0"/>
              <a:t>{</a:t>
            </a:r>
          </a:p>
          <a:p>
            <a:r>
              <a:rPr lang="en-IN" dirty="0"/>
              <a:t>   </a:t>
            </a:r>
            <a:r>
              <a:rPr lang="en-IN" dirty="0" err="1"/>
              <a:t>int</a:t>
            </a:r>
            <a:r>
              <a:rPr lang="en-IN" dirty="0"/>
              <a:t> </a:t>
            </a:r>
            <a:r>
              <a:rPr lang="en-IN" dirty="0" err="1"/>
              <a:t>table,n,i</a:t>
            </a:r>
            <a:r>
              <a:rPr lang="en-IN" dirty="0"/>
              <a:t>;   </a:t>
            </a:r>
          </a:p>
          <a:p>
            <a:r>
              <a:rPr lang="en-IN" dirty="0" err="1"/>
              <a:t>printf</a:t>
            </a:r>
            <a:r>
              <a:rPr lang="en-IN" dirty="0"/>
              <a:t>("The table of given no") ;  </a:t>
            </a:r>
          </a:p>
          <a:p>
            <a:r>
              <a:rPr lang="en-IN" dirty="0"/>
              <a:t> </a:t>
            </a:r>
            <a:r>
              <a:rPr lang="en-IN" dirty="0" err="1"/>
              <a:t>scanf</a:t>
            </a:r>
            <a:r>
              <a:rPr lang="en-IN" dirty="0"/>
              <a:t>("%</a:t>
            </a:r>
            <a:r>
              <a:rPr lang="en-IN" dirty="0" err="1"/>
              <a:t>d",&amp;n</a:t>
            </a:r>
            <a:r>
              <a:rPr lang="en-IN" dirty="0"/>
              <a:t>);   </a:t>
            </a:r>
          </a:p>
          <a:p>
            <a:r>
              <a:rPr lang="en-IN" b="1" dirty="0" err="1"/>
              <a:t>goto</a:t>
            </a:r>
            <a:r>
              <a:rPr lang="en-IN" b="1" dirty="0"/>
              <a:t> </a:t>
            </a:r>
            <a:r>
              <a:rPr lang="en-IN" b="1" dirty="0" err="1"/>
              <a:t>lebel</a:t>
            </a:r>
            <a:r>
              <a:rPr lang="en-IN" b="1" dirty="0"/>
              <a:t> ;   </a:t>
            </a:r>
          </a:p>
          <a:p>
            <a:r>
              <a:rPr lang="en-IN" dirty="0" err="1"/>
              <a:t>printf</a:t>
            </a:r>
            <a:r>
              <a:rPr lang="en-IN" dirty="0"/>
              <a:t>("This is C program!!!\n") ; </a:t>
            </a:r>
          </a:p>
          <a:p>
            <a:r>
              <a:rPr lang="en-IN" dirty="0"/>
              <a:t> </a:t>
            </a:r>
            <a:r>
              <a:rPr lang="en-IN" dirty="0" err="1"/>
              <a:t>printf</a:t>
            </a:r>
            <a:r>
              <a:rPr lang="en-IN" dirty="0"/>
              <a:t>("This is </a:t>
            </a:r>
            <a:r>
              <a:rPr lang="en-IN" dirty="0" err="1"/>
              <a:t>goto</a:t>
            </a:r>
            <a:r>
              <a:rPr lang="en-IN" dirty="0"/>
              <a:t> program!!!\n") ;   </a:t>
            </a:r>
          </a:p>
          <a:p>
            <a:r>
              <a:rPr lang="en-IN" b="1" dirty="0" err="1"/>
              <a:t>lebel</a:t>
            </a:r>
            <a:r>
              <a:rPr lang="en-IN" b="1" dirty="0"/>
              <a:t>:    </a:t>
            </a:r>
          </a:p>
          <a:p>
            <a:r>
              <a:rPr lang="en-IN" dirty="0"/>
              <a:t>for(i=0;i&lt;=10;i++)  </a:t>
            </a:r>
          </a:p>
          <a:p>
            <a:r>
              <a:rPr lang="en-IN" dirty="0"/>
              <a:t> {       table=n*i;    </a:t>
            </a:r>
          </a:p>
          <a:p>
            <a:r>
              <a:rPr lang="en-IN" dirty="0"/>
              <a:t>   </a:t>
            </a:r>
            <a:r>
              <a:rPr lang="en-IN" dirty="0" err="1"/>
              <a:t>printf</a:t>
            </a:r>
            <a:r>
              <a:rPr lang="en-IN" dirty="0"/>
              <a:t>("\</a:t>
            </a:r>
            <a:r>
              <a:rPr lang="en-IN" dirty="0" err="1"/>
              <a:t>nThe</a:t>
            </a:r>
            <a:r>
              <a:rPr lang="en-IN" dirty="0"/>
              <a:t> table of no=%</a:t>
            </a:r>
            <a:r>
              <a:rPr lang="en-IN" dirty="0" err="1"/>
              <a:t>d",table</a:t>
            </a:r>
            <a:r>
              <a:rPr lang="en-IN" dirty="0"/>
              <a:t>);   </a:t>
            </a:r>
          </a:p>
          <a:p>
            <a:r>
              <a:rPr lang="en-IN" dirty="0"/>
              <a:t>}</a:t>
            </a:r>
          </a:p>
          <a:p>
            <a:r>
              <a:rPr lang="en-IN" dirty="0"/>
              <a:t>}</a:t>
            </a:r>
          </a:p>
        </p:txBody>
      </p:sp>
    </p:spTree>
    <p:extLst>
      <p:ext uri="{BB962C8B-B14F-4D97-AF65-F5344CB8AC3E}">
        <p14:creationId xmlns:p14="http://schemas.microsoft.com/office/powerpoint/2010/main" val="14019313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360040"/>
          </a:xfrm>
        </p:spPr>
        <p:txBody>
          <a:bodyPr>
            <a:normAutofit fontScale="90000"/>
          </a:bodyPr>
          <a:lstStyle/>
          <a:p>
            <a:endParaRPr lang="en-IN" dirty="0"/>
          </a:p>
        </p:txBody>
      </p:sp>
      <p:sp>
        <p:nvSpPr>
          <p:cNvPr id="3" name="Content Placeholder 2"/>
          <p:cNvSpPr>
            <a:spLocks noGrp="1"/>
          </p:cNvSpPr>
          <p:nvPr>
            <p:ph idx="1"/>
          </p:nvPr>
        </p:nvSpPr>
        <p:spPr>
          <a:xfrm>
            <a:off x="457200" y="764704"/>
            <a:ext cx="8229600" cy="5832648"/>
          </a:xfrm>
        </p:spPr>
        <p:txBody>
          <a:bodyPr>
            <a:normAutofit fontScale="85000" lnSpcReduction="20000"/>
          </a:bodyPr>
          <a:lstStyle/>
          <a:p>
            <a:r>
              <a:rPr lang="en-IN" dirty="0"/>
              <a:t>The </a:t>
            </a:r>
            <a:r>
              <a:rPr lang="en-IN" b="1" dirty="0"/>
              <a:t>break</a:t>
            </a:r>
            <a:r>
              <a:rPr lang="en-IN" dirty="0"/>
              <a:t> is a keyword so it must be used only in lower case letters.</a:t>
            </a:r>
          </a:p>
          <a:p>
            <a:r>
              <a:rPr lang="en-IN" dirty="0"/>
              <a:t>The </a:t>
            </a:r>
            <a:r>
              <a:rPr lang="en-IN" b="1" dirty="0"/>
              <a:t>break</a:t>
            </a:r>
            <a:r>
              <a:rPr lang="en-IN" dirty="0"/>
              <a:t> statement can not be used with </a:t>
            </a:r>
            <a:r>
              <a:rPr lang="en-IN" b="1" dirty="0"/>
              <a:t>if</a:t>
            </a:r>
            <a:r>
              <a:rPr lang="en-IN" dirty="0"/>
              <a:t> statement.</a:t>
            </a:r>
          </a:p>
          <a:p>
            <a:r>
              <a:rPr lang="en-IN" dirty="0"/>
              <a:t>The </a:t>
            </a:r>
            <a:r>
              <a:rPr lang="en-IN" b="1" dirty="0"/>
              <a:t>break</a:t>
            </a:r>
            <a:r>
              <a:rPr lang="en-IN" dirty="0"/>
              <a:t> statement can be used only in switch case and looping statements.</a:t>
            </a:r>
          </a:p>
          <a:p>
            <a:r>
              <a:rPr lang="en-IN" dirty="0"/>
              <a:t>The </a:t>
            </a:r>
            <a:r>
              <a:rPr lang="en-IN" b="1" dirty="0"/>
              <a:t>break</a:t>
            </a:r>
            <a:r>
              <a:rPr lang="en-IN" dirty="0"/>
              <a:t> statement can be used with </a:t>
            </a:r>
            <a:r>
              <a:rPr lang="en-IN" b="1" dirty="0"/>
              <a:t>if</a:t>
            </a:r>
            <a:r>
              <a:rPr lang="en-IN" dirty="0"/>
              <a:t> statement, only if that </a:t>
            </a:r>
            <a:r>
              <a:rPr lang="en-IN" b="1" dirty="0"/>
              <a:t>if statement</a:t>
            </a:r>
            <a:r>
              <a:rPr lang="en-IN" dirty="0"/>
              <a:t> is written inside the switch case or looping statements.</a:t>
            </a:r>
          </a:p>
          <a:p>
            <a:r>
              <a:rPr lang="en-IN" dirty="0"/>
              <a:t>The </a:t>
            </a:r>
            <a:r>
              <a:rPr lang="en-IN" b="1" dirty="0"/>
              <a:t>continue</a:t>
            </a:r>
            <a:r>
              <a:rPr lang="en-IN" dirty="0"/>
              <a:t> is a keyword so it must be used only in lower case letters.</a:t>
            </a:r>
          </a:p>
          <a:p>
            <a:r>
              <a:rPr lang="en-IN" dirty="0"/>
              <a:t>The </a:t>
            </a:r>
            <a:r>
              <a:rPr lang="en-IN" b="1" dirty="0"/>
              <a:t>continue</a:t>
            </a:r>
            <a:r>
              <a:rPr lang="en-IN" dirty="0"/>
              <a:t> statement is used only within </a:t>
            </a:r>
            <a:r>
              <a:rPr lang="en-IN" b="1" dirty="0"/>
              <a:t>looping statements</a:t>
            </a:r>
            <a:r>
              <a:rPr lang="en-IN" dirty="0"/>
              <a:t>.</a:t>
            </a:r>
          </a:p>
          <a:p>
            <a:r>
              <a:rPr lang="en-IN" dirty="0"/>
              <a:t>The </a:t>
            </a:r>
            <a:r>
              <a:rPr lang="en-IN" b="1" dirty="0"/>
              <a:t>continue</a:t>
            </a:r>
            <a:r>
              <a:rPr lang="en-IN" dirty="0"/>
              <a:t> statement can be used with </a:t>
            </a:r>
            <a:r>
              <a:rPr lang="en-IN" b="1" dirty="0"/>
              <a:t>if</a:t>
            </a:r>
            <a:r>
              <a:rPr lang="en-IN" dirty="0"/>
              <a:t> statement, only if that </a:t>
            </a:r>
            <a:r>
              <a:rPr lang="en-IN" b="1" dirty="0"/>
              <a:t>if statement</a:t>
            </a:r>
            <a:r>
              <a:rPr lang="en-IN" dirty="0"/>
              <a:t> is written inside the looping statements.</a:t>
            </a:r>
          </a:p>
          <a:p>
            <a:r>
              <a:rPr lang="en-IN" dirty="0"/>
              <a:t>The </a:t>
            </a:r>
            <a:r>
              <a:rPr lang="en-IN" b="1" dirty="0" err="1"/>
              <a:t>goto</a:t>
            </a:r>
            <a:r>
              <a:rPr lang="en-IN" dirty="0"/>
              <a:t> is a keyword so it must be used only in lower case letters.</a:t>
            </a:r>
          </a:p>
          <a:p>
            <a:r>
              <a:rPr lang="en-IN" dirty="0"/>
              <a:t>The </a:t>
            </a:r>
            <a:r>
              <a:rPr lang="en-IN" b="1" dirty="0" err="1"/>
              <a:t>goto</a:t>
            </a:r>
            <a:r>
              <a:rPr lang="en-IN" dirty="0"/>
              <a:t> statement must require a </a:t>
            </a:r>
            <a:r>
              <a:rPr lang="en-IN" b="1" dirty="0"/>
              <a:t>label</a:t>
            </a:r>
            <a:r>
              <a:rPr lang="en-IN" dirty="0"/>
              <a:t>.</a:t>
            </a:r>
          </a:p>
          <a:p>
            <a:r>
              <a:rPr lang="en-IN" dirty="0"/>
              <a:t>The </a:t>
            </a:r>
            <a:r>
              <a:rPr lang="en-IN" b="1" dirty="0" err="1"/>
              <a:t>goto</a:t>
            </a:r>
            <a:r>
              <a:rPr lang="en-IN" dirty="0"/>
              <a:t> statement can be used with any statement like if, switch, while, do-while, and for, etc.</a:t>
            </a:r>
          </a:p>
          <a:p>
            <a:endParaRPr lang="en-IN" dirty="0"/>
          </a:p>
        </p:txBody>
      </p:sp>
    </p:spTree>
    <p:extLst>
      <p:ext uri="{BB962C8B-B14F-4D97-AF65-F5344CB8AC3E}">
        <p14:creationId xmlns:p14="http://schemas.microsoft.com/office/powerpoint/2010/main" val="53841212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92088"/>
          </a:xfrm>
        </p:spPr>
        <p:txBody>
          <a:bodyPr>
            <a:normAutofit fontScale="90000"/>
          </a:bodyPr>
          <a:lstStyle/>
          <a:p>
            <a:r>
              <a:rPr lang="en-IN" dirty="0"/>
              <a:t>Functions</a:t>
            </a:r>
          </a:p>
        </p:txBody>
      </p:sp>
      <p:sp>
        <p:nvSpPr>
          <p:cNvPr id="3" name="Content Placeholder 2"/>
          <p:cNvSpPr>
            <a:spLocks noGrp="1"/>
          </p:cNvSpPr>
          <p:nvPr>
            <p:ph idx="1"/>
          </p:nvPr>
        </p:nvSpPr>
        <p:spPr>
          <a:xfrm>
            <a:off x="251520" y="1052736"/>
            <a:ext cx="8435280" cy="5688632"/>
          </a:xfrm>
        </p:spPr>
        <p:txBody>
          <a:bodyPr>
            <a:normAutofit fontScale="85000" lnSpcReduction="20000"/>
          </a:bodyPr>
          <a:lstStyle/>
          <a:p>
            <a:r>
              <a:rPr lang="en-US" dirty="0"/>
              <a:t>Self containing block of one or more statements or sub-programs which is designed for a particular task is called as Function.</a:t>
            </a:r>
          </a:p>
          <a:p>
            <a:r>
              <a:rPr lang="en-IN" dirty="0"/>
              <a:t>Every c program has at least one function. </a:t>
            </a:r>
            <a:r>
              <a:rPr lang="en-IN" dirty="0" err="1"/>
              <a:t>i.e</a:t>
            </a:r>
            <a:r>
              <a:rPr lang="en-IN" dirty="0"/>
              <a:t> main()</a:t>
            </a:r>
          </a:p>
          <a:p>
            <a:r>
              <a:rPr lang="en-IN" dirty="0"/>
              <a:t>When we write a program to solve a larger problem, we divide that larger problem into smaller sub problems and are solved individually to make the program easier.</a:t>
            </a:r>
          </a:p>
          <a:p>
            <a:r>
              <a:rPr lang="en-IN" dirty="0"/>
              <a:t> In C, this concept is implemented using functions. Functions are used to divide a larger program into smaller subprograms such that the program becomes easy to understand and easy to implement. </a:t>
            </a:r>
          </a:p>
          <a:p>
            <a:r>
              <a:rPr lang="en-IN" dirty="0"/>
              <a:t>The function contains the set of programming statements enclosed by {}. </a:t>
            </a:r>
          </a:p>
          <a:p>
            <a:r>
              <a:rPr lang="en-IN" dirty="0"/>
              <a:t>A function can be called multiple times to provide reusability and modularity to the C program. </a:t>
            </a:r>
          </a:p>
          <a:p>
            <a:r>
              <a:rPr lang="en-IN" dirty="0"/>
              <a:t>In other words, we can say that the collection of functions creates a program. </a:t>
            </a:r>
          </a:p>
          <a:p>
            <a:r>
              <a:rPr lang="en-IN" dirty="0"/>
              <a:t>The function is also known as </a:t>
            </a:r>
            <a:r>
              <a:rPr lang="en-IN" i="1" dirty="0"/>
              <a:t>procedure </a:t>
            </a:r>
            <a:r>
              <a:rPr lang="en-IN" dirty="0"/>
              <a:t>or </a:t>
            </a:r>
            <a:r>
              <a:rPr lang="en-IN" i="1" dirty="0"/>
              <a:t>subroutine </a:t>
            </a:r>
            <a:r>
              <a:rPr lang="en-IN" dirty="0"/>
              <a:t>in other programming languages.</a:t>
            </a:r>
          </a:p>
          <a:p>
            <a:endParaRPr lang="en-IN" dirty="0"/>
          </a:p>
        </p:txBody>
      </p:sp>
    </p:spTree>
    <p:extLst>
      <p:ext uri="{BB962C8B-B14F-4D97-AF65-F5344CB8AC3E}">
        <p14:creationId xmlns:p14="http://schemas.microsoft.com/office/powerpoint/2010/main" val="172256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24712"/>
          </a:xfrm>
        </p:spPr>
        <p:txBody>
          <a:bodyPr>
            <a:normAutofit fontScale="90000"/>
          </a:bodyPr>
          <a:lstStyle/>
          <a:p>
            <a:r>
              <a:rPr lang="en-IN" b="1" dirty="0"/>
              <a:t>Why use function </a:t>
            </a:r>
            <a:r>
              <a:rPr lang="en-IN" b="1" i="1" dirty="0"/>
              <a:t>?</a:t>
            </a:r>
            <a:br>
              <a:rPr lang="en-IN" b="1" i="1" dirty="0"/>
            </a:br>
            <a:endParaRPr lang="en-IN" dirty="0"/>
          </a:p>
        </p:txBody>
      </p:sp>
      <p:sp>
        <p:nvSpPr>
          <p:cNvPr id="3" name="Content Placeholder 2"/>
          <p:cNvSpPr>
            <a:spLocks noGrp="1"/>
          </p:cNvSpPr>
          <p:nvPr>
            <p:ph idx="1"/>
          </p:nvPr>
        </p:nvSpPr>
        <p:spPr>
          <a:xfrm>
            <a:off x="457200" y="1484784"/>
            <a:ext cx="8229600" cy="4839816"/>
          </a:xfrm>
        </p:spPr>
        <p:txBody>
          <a:bodyPr/>
          <a:lstStyle/>
          <a:p>
            <a:r>
              <a:rPr lang="en-IN" i="1" dirty="0"/>
              <a:t>Function are used </a:t>
            </a:r>
            <a:r>
              <a:rPr lang="en-IN" dirty="0"/>
              <a:t>for </a:t>
            </a:r>
            <a:r>
              <a:rPr lang="en-IN" b="1" dirty="0"/>
              <a:t>divide a large code into module</a:t>
            </a:r>
            <a:r>
              <a:rPr lang="en-IN" dirty="0"/>
              <a:t>, due to this we can easily debug and maintain the code. </a:t>
            </a:r>
          </a:p>
          <a:p>
            <a:r>
              <a:rPr lang="en-IN" dirty="0"/>
              <a:t>For example if we write a calculator programs at that time we can write every logic in a separate function (For addition sum(), for subtraction sub()). Any function can be called many times.</a:t>
            </a:r>
          </a:p>
          <a:p>
            <a:endParaRPr lang="en-IN" dirty="0"/>
          </a:p>
        </p:txBody>
      </p:sp>
    </p:spTree>
    <p:extLst>
      <p:ext uri="{BB962C8B-B14F-4D97-AF65-F5344CB8AC3E}">
        <p14:creationId xmlns:p14="http://schemas.microsoft.com/office/powerpoint/2010/main" val="13168246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32624"/>
          </a:xfrm>
        </p:spPr>
        <p:txBody>
          <a:bodyPr>
            <a:normAutofit fontScale="90000"/>
          </a:bodyPr>
          <a:lstStyle/>
          <a:p>
            <a:endParaRPr lang="en-US" dirty="0"/>
          </a:p>
        </p:txBody>
      </p:sp>
      <p:sp>
        <p:nvSpPr>
          <p:cNvPr id="3" name="Content Placeholder 2"/>
          <p:cNvSpPr>
            <a:spLocks noGrp="1"/>
          </p:cNvSpPr>
          <p:nvPr>
            <p:ph idx="1"/>
          </p:nvPr>
        </p:nvSpPr>
        <p:spPr>
          <a:xfrm>
            <a:off x="457200" y="980728"/>
            <a:ext cx="8229600" cy="5544616"/>
          </a:xfrm>
        </p:spPr>
        <p:txBody>
          <a:bodyPr>
            <a:normAutofit fontScale="92500" lnSpcReduction="20000"/>
          </a:bodyPr>
          <a:lstStyle/>
          <a:p>
            <a:r>
              <a:rPr lang="en-US" dirty="0"/>
              <a:t>Function Aspects</a:t>
            </a:r>
          </a:p>
          <a:p>
            <a:r>
              <a:rPr lang="en-US" dirty="0"/>
              <a:t>There are three aspects of a C function.</a:t>
            </a:r>
          </a:p>
          <a:p>
            <a:r>
              <a:rPr lang="en-US" b="1" dirty="0"/>
              <a:t>Function declaration</a:t>
            </a:r>
            <a:r>
              <a:rPr lang="en-US" dirty="0"/>
              <a:t> A function must be declared globally in a c program to tell the compiler about the function name, function parameters, and return type.</a:t>
            </a:r>
          </a:p>
          <a:p>
            <a:br>
              <a:rPr lang="en-US" dirty="0"/>
            </a:br>
            <a:r>
              <a:rPr lang="en-US" b="1" dirty="0"/>
              <a:t>Function call</a:t>
            </a:r>
            <a:r>
              <a:rPr lang="en-US" dirty="0"/>
              <a:t> Function can be called from anywhere in the program. The parameter list must not differ in function calling and function declaration. We must pass the same number of functions as it is declared in the function declaration.</a:t>
            </a:r>
          </a:p>
          <a:p>
            <a:br>
              <a:rPr lang="en-US" dirty="0"/>
            </a:br>
            <a:r>
              <a:rPr lang="en-US" b="1" dirty="0"/>
              <a:t>Function definition</a:t>
            </a:r>
            <a:r>
              <a:rPr lang="en-US" dirty="0"/>
              <a:t> It contains the actual statements which are to be executed. It is the most important aspect to which the control comes when the function is called. Here, we must notice that only one value can be returned from the function.</a:t>
            </a:r>
          </a:p>
          <a:p>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864096"/>
          </a:xfrm>
        </p:spPr>
        <p:txBody>
          <a:bodyPr>
            <a:normAutofit fontScale="90000"/>
          </a:bodyPr>
          <a:lstStyle/>
          <a:p>
            <a:r>
              <a:rPr lang="en-IN" b="1" dirty="0"/>
              <a:t>Function Aspects</a:t>
            </a:r>
            <a:br>
              <a:rPr lang="en-IN" b="1" dirty="0"/>
            </a:br>
            <a:endParaRPr lang="en-IN" dirty="0"/>
          </a:p>
        </p:txBody>
      </p:sp>
      <p:sp>
        <p:nvSpPr>
          <p:cNvPr id="3" name="Content Placeholder 2"/>
          <p:cNvSpPr>
            <a:spLocks noGrp="1"/>
          </p:cNvSpPr>
          <p:nvPr>
            <p:ph idx="1"/>
          </p:nvPr>
        </p:nvSpPr>
        <p:spPr>
          <a:xfrm>
            <a:off x="179512" y="548680"/>
            <a:ext cx="8507288" cy="6120680"/>
          </a:xfrm>
        </p:spPr>
        <p:txBody>
          <a:bodyPr>
            <a:normAutofit fontScale="62500" lnSpcReduction="20000"/>
          </a:bodyPr>
          <a:lstStyle/>
          <a:p>
            <a:pPr marL="0" indent="0">
              <a:buNone/>
            </a:pPr>
            <a:r>
              <a:rPr lang="en-IN" dirty="0"/>
              <a:t>There are three aspects of a C function.</a:t>
            </a:r>
          </a:p>
          <a:p>
            <a:pPr marL="0" indent="0">
              <a:buNone/>
            </a:pPr>
            <a:endParaRPr lang="en-IN" dirty="0"/>
          </a:p>
          <a:p>
            <a:r>
              <a:rPr lang="en-IN" b="1" dirty="0"/>
              <a:t>Function Declaration</a:t>
            </a:r>
          </a:p>
          <a:p>
            <a:endParaRPr lang="en-IN" dirty="0"/>
          </a:p>
          <a:p>
            <a:r>
              <a:rPr lang="en-IN" b="1" dirty="0"/>
              <a:t>Function Declaration</a:t>
            </a:r>
          </a:p>
          <a:p>
            <a:r>
              <a:rPr lang="en-IN" dirty="0"/>
              <a:t>The function declaration tells the compiler about function name, the data type of the return value and parameters. </a:t>
            </a:r>
          </a:p>
          <a:p>
            <a:r>
              <a:rPr lang="en-IN" dirty="0"/>
              <a:t>The function declaration is also called a </a:t>
            </a:r>
            <a:r>
              <a:rPr lang="en-IN" b="1" dirty="0"/>
              <a:t>function prototype</a:t>
            </a:r>
            <a:r>
              <a:rPr lang="en-IN" dirty="0"/>
              <a:t>. </a:t>
            </a:r>
          </a:p>
          <a:p>
            <a:r>
              <a:rPr lang="en-IN" dirty="0"/>
              <a:t>The function declaration is performed before </a:t>
            </a:r>
            <a:r>
              <a:rPr lang="en-IN" b="1" dirty="0"/>
              <a:t>the main function </a:t>
            </a:r>
            <a:r>
              <a:rPr lang="en-IN" dirty="0"/>
              <a:t>or </a:t>
            </a:r>
            <a:r>
              <a:rPr lang="en-IN" b="1" dirty="0"/>
              <a:t>inside the main function or any other function</a:t>
            </a:r>
            <a:r>
              <a:rPr lang="en-IN" dirty="0"/>
              <a:t>.</a:t>
            </a:r>
          </a:p>
          <a:p>
            <a:r>
              <a:rPr lang="en-IN" b="1" dirty="0"/>
              <a:t>Function declaration syntax – </a:t>
            </a:r>
          </a:p>
          <a:p>
            <a:endParaRPr lang="en-IN" b="1" dirty="0"/>
          </a:p>
          <a:p>
            <a:r>
              <a:rPr lang="en-IN" b="1" dirty="0" err="1"/>
              <a:t>returnType</a:t>
            </a:r>
            <a:r>
              <a:rPr lang="en-IN" b="1" dirty="0"/>
              <a:t> </a:t>
            </a:r>
            <a:r>
              <a:rPr lang="en-IN" b="1" dirty="0" err="1"/>
              <a:t>functionName</a:t>
            </a:r>
            <a:r>
              <a:rPr lang="en-IN" b="1" dirty="0"/>
              <a:t>(</a:t>
            </a:r>
            <a:r>
              <a:rPr lang="en-IN" b="1" dirty="0" err="1"/>
              <a:t>parametersList</a:t>
            </a:r>
            <a:r>
              <a:rPr lang="en-IN" b="1" dirty="0"/>
              <a:t>/argument list);</a:t>
            </a:r>
          </a:p>
          <a:p>
            <a:endParaRPr lang="en-IN" b="1" dirty="0"/>
          </a:p>
          <a:p>
            <a:r>
              <a:rPr lang="en-US" b="1" dirty="0" err="1"/>
              <a:t>E.g</a:t>
            </a:r>
            <a:r>
              <a:rPr lang="en-US" b="1" dirty="0"/>
              <a:t>  void add(</a:t>
            </a:r>
            <a:r>
              <a:rPr lang="en-US" b="1" dirty="0" err="1"/>
              <a:t>int,int</a:t>
            </a:r>
            <a:r>
              <a:rPr lang="en-US" b="1" dirty="0"/>
              <a:t>);</a:t>
            </a:r>
            <a:endParaRPr lang="en-IN" b="1" dirty="0"/>
          </a:p>
          <a:p>
            <a:endParaRPr lang="en-IN" dirty="0"/>
          </a:p>
          <a:p>
            <a:r>
              <a:rPr lang="en-IN" dirty="0"/>
              <a:t>In the above syntax, </a:t>
            </a:r>
            <a:r>
              <a:rPr lang="en-IN" b="1" dirty="0" err="1"/>
              <a:t>returnType</a:t>
            </a:r>
            <a:r>
              <a:rPr lang="en-IN" dirty="0"/>
              <a:t> specifies the data type of the value which is sent as a return value from the function definition. </a:t>
            </a:r>
          </a:p>
          <a:p>
            <a:endParaRPr lang="en-IN" dirty="0"/>
          </a:p>
          <a:p>
            <a:r>
              <a:rPr lang="en-IN" dirty="0"/>
              <a:t>The </a:t>
            </a:r>
            <a:r>
              <a:rPr lang="en-IN" b="1" dirty="0" err="1"/>
              <a:t>functionName</a:t>
            </a:r>
            <a:r>
              <a:rPr lang="en-IN" dirty="0"/>
              <a:t> is a user-defined name used to identify the function uniquely in the program. </a:t>
            </a:r>
          </a:p>
          <a:p>
            <a:r>
              <a:rPr lang="en-IN" dirty="0"/>
              <a:t>The </a:t>
            </a:r>
            <a:r>
              <a:rPr lang="en-IN" b="1" dirty="0" err="1"/>
              <a:t>parametersList</a:t>
            </a:r>
            <a:r>
              <a:rPr lang="en-IN" dirty="0"/>
              <a:t> is the data values that are sent to the function definition.</a:t>
            </a:r>
          </a:p>
          <a:p>
            <a:br>
              <a:rPr lang="en-IN" dirty="0"/>
            </a:br>
            <a:endParaRPr lang="en-IN" dirty="0"/>
          </a:p>
        </p:txBody>
      </p:sp>
    </p:spTree>
    <p:extLst>
      <p:ext uri="{BB962C8B-B14F-4D97-AF65-F5344CB8AC3E}">
        <p14:creationId xmlns:p14="http://schemas.microsoft.com/office/powerpoint/2010/main" val="3159024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fontScale="90000"/>
          </a:bodyPr>
          <a:lstStyle/>
          <a:p>
            <a:r>
              <a:rPr lang="en-IN" b="1" dirty="0"/>
              <a:t>Function Aspects</a:t>
            </a:r>
            <a:endParaRPr lang="en-IN" dirty="0"/>
          </a:p>
        </p:txBody>
      </p:sp>
      <p:sp>
        <p:nvSpPr>
          <p:cNvPr id="3" name="Content Placeholder 2"/>
          <p:cNvSpPr>
            <a:spLocks noGrp="1"/>
          </p:cNvSpPr>
          <p:nvPr>
            <p:ph idx="1"/>
          </p:nvPr>
        </p:nvSpPr>
        <p:spPr>
          <a:xfrm>
            <a:off x="457200" y="1556792"/>
            <a:ext cx="8229600" cy="5112568"/>
          </a:xfrm>
        </p:spPr>
        <p:txBody>
          <a:bodyPr>
            <a:normAutofit fontScale="70000" lnSpcReduction="20000"/>
          </a:bodyPr>
          <a:lstStyle/>
          <a:p>
            <a:r>
              <a:rPr lang="en-IN" b="1" dirty="0"/>
              <a:t>Function Definition</a:t>
            </a:r>
          </a:p>
          <a:p>
            <a:endParaRPr lang="en-IN" b="1" dirty="0"/>
          </a:p>
          <a:p>
            <a:r>
              <a:rPr lang="en-IN" dirty="0"/>
              <a:t>The function definition provides the actual code of that function.</a:t>
            </a:r>
          </a:p>
          <a:p>
            <a:r>
              <a:rPr lang="en-IN" dirty="0"/>
              <a:t> The function definition is also known as the </a:t>
            </a:r>
            <a:r>
              <a:rPr lang="en-IN" b="1" dirty="0"/>
              <a:t>body of the function</a:t>
            </a:r>
            <a:r>
              <a:rPr lang="en-IN" dirty="0"/>
              <a:t>. The actual task of the function is implemented in the function definition. </a:t>
            </a:r>
          </a:p>
          <a:p>
            <a:r>
              <a:rPr lang="en-IN" dirty="0"/>
              <a:t>That means the actual instructions to be performed by a function are written in function definition. </a:t>
            </a:r>
          </a:p>
          <a:p>
            <a:r>
              <a:rPr lang="en-IN" dirty="0"/>
              <a:t>The actual instructions of a function are written inside the braces "{ }".</a:t>
            </a:r>
          </a:p>
          <a:p>
            <a:r>
              <a:rPr lang="en-IN" b="1" dirty="0"/>
              <a:t> The function definition is performed before the main function or after the main function</a:t>
            </a:r>
            <a:r>
              <a:rPr lang="en-IN" dirty="0"/>
              <a:t>.</a:t>
            </a:r>
          </a:p>
          <a:p>
            <a:endParaRPr lang="en-IN" dirty="0"/>
          </a:p>
          <a:p>
            <a:r>
              <a:rPr lang="en-IN" b="1" dirty="0"/>
              <a:t>Function definition syntax – </a:t>
            </a:r>
          </a:p>
          <a:p>
            <a:endParaRPr lang="en-IN" dirty="0"/>
          </a:p>
          <a:p>
            <a:r>
              <a:rPr lang="en-IN" b="1" dirty="0" err="1"/>
              <a:t>returnType</a:t>
            </a:r>
            <a:r>
              <a:rPr lang="en-IN" b="1" dirty="0"/>
              <a:t> </a:t>
            </a:r>
            <a:r>
              <a:rPr lang="en-IN" b="1" dirty="0" err="1"/>
              <a:t>functionName</a:t>
            </a:r>
            <a:r>
              <a:rPr lang="en-IN" b="1" dirty="0"/>
              <a:t>(</a:t>
            </a:r>
            <a:r>
              <a:rPr lang="en-IN" b="1" dirty="0" err="1"/>
              <a:t>parametersList</a:t>
            </a:r>
            <a:r>
              <a:rPr lang="en-IN" b="1" dirty="0"/>
              <a:t>)</a:t>
            </a:r>
            <a:br>
              <a:rPr lang="en-IN" b="1" dirty="0"/>
            </a:br>
            <a:r>
              <a:rPr lang="en-IN" b="1" dirty="0"/>
              <a:t>{</a:t>
            </a:r>
            <a:br>
              <a:rPr lang="en-IN" b="1" dirty="0"/>
            </a:br>
            <a:br>
              <a:rPr lang="en-IN" b="1" dirty="0"/>
            </a:br>
            <a:r>
              <a:rPr lang="en-IN" b="1" dirty="0"/>
              <a:t>Actual code...</a:t>
            </a:r>
            <a:br>
              <a:rPr lang="en-IN" b="1" dirty="0"/>
            </a:br>
            <a:br>
              <a:rPr lang="en-IN" b="1" dirty="0"/>
            </a:br>
            <a:r>
              <a:rPr lang="en-IN" b="1" dirty="0"/>
              <a:t>}</a:t>
            </a:r>
          </a:p>
          <a:p>
            <a:endParaRPr lang="en-IN" b="1" dirty="0"/>
          </a:p>
        </p:txBody>
      </p:sp>
    </p:spTree>
    <p:extLst>
      <p:ext uri="{BB962C8B-B14F-4D97-AF65-F5344CB8AC3E}">
        <p14:creationId xmlns:p14="http://schemas.microsoft.com/office/powerpoint/2010/main" val="10690212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Function Aspects</a:t>
            </a:r>
            <a:endParaRPr lang="en-IN" dirty="0"/>
          </a:p>
        </p:txBody>
      </p:sp>
      <p:sp>
        <p:nvSpPr>
          <p:cNvPr id="3" name="Content Placeholder 2"/>
          <p:cNvSpPr>
            <a:spLocks noGrp="1"/>
          </p:cNvSpPr>
          <p:nvPr>
            <p:ph idx="1"/>
          </p:nvPr>
        </p:nvSpPr>
        <p:spPr/>
        <p:txBody>
          <a:bodyPr>
            <a:normAutofit fontScale="85000" lnSpcReduction="10000"/>
          </a:bodyPr>
          <a:lstStyle/>
          <a:p>
            <a:r>
              <a:rPr lang="en-IN" b="1" dirty="0"/>
              <a:t>Function Call</a:t>
            </a:r>
          </a:p>
          <a:p>
            <a:r>
              <a:rPr lang="en-IN" dirty="0"/>
              <a:t>The function call tells the compiler when to execute the function definition. </a:t>
            </a:r>
          </a:p>
          <a:p>
            <a:r>
              <a:rPr lang="en-IN" dirty="0"/>
              <a:t>When a function call is executed, the execution control jumps to the function definition where the actual code gets executed and returns to the same functions call once the execution completes. </a:t>
            </a:r>
          </a:p>
          <a:p>
            <a:r>
              <a:rPr lang="en-IN" b="1" dirty="0"/>
              <a:t>The function call is performed inside the main function or any other function or inside the function itself.</a:t>
            </a:r>
          </a:p>
          <a:p>
            <a:endParaRPr lang="en-IN" dirty="0"/>
          </a:p>
          <a:p>
            <a:r>
              <a:rPr lang="en-IN" b="1" dirty="0"/>
              <a:t>Function call syntax – </a:t>
            </a:r>
          </a:p>
          <a:p>
            <a:endParaRPr lang="en-IN" b="1" dirty="0"/>
          </a:p>
          <a:p>
            <a:r>
              <a:rPr lang="en-IN" b="1" dirty="0" err="1"/>
              <a:t>functionName</a:t>
            </a:r>
            <a:r>
              <a:rPr lang="en-IN" b="1" dirty="0"/>
              <a:t>(parameters);</a:t>
            </a:r>
          </a:p>
          <a:p>
            <a:endParaRPr lang="en-IN" b="1" dirty="0"/>
          </a:p>
        </p:txBody>
      </p:sp>
    </p:spTree>
    <p:extLst>
      <p:ext uri="{BB962C8B-B14F-4D97-AF65-F5344CB8AC3E}">
        <p14:creationId xmlns:p14="http://schemas.microsoft.com/office/powerpoint/2010/main" val="363046066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Functions in C</a:t>
            </a:r>
            <a:br>
              <a:rPr lang="en-IN" b="1" dirty="0"/>
            </a:br>
            <a:endParaRPr lang="en-IN" dirty="0"/>
          </a:p>
        </p:txBody>
      </p:sp>
      <p:sp>
        <p:nvSpPr>
          <p:cNvPr id="3" name="Content Placeholder 2"/>
          <p:cNvSpPr>
            <a:spLocks noGrp="1"/>
          </p:cNvSpPr>
          <p:nvPr>
            <p:ph idx="1"/>
          </p:nvPr>
        </p:nvSpPr>
        <p:spPr/>
        <p:txBody>
          <a:bodyPr/>
          <a:lstStyle/>
          <a:p>
            <a:r>
              <a:rPr lang="en-IN" b="1" dirty="0"/>
              <a:t>Types of Functions in C</a:t>
            </a:r>
          </a:p>
          <a:p>
            <a:r>
              <a:rPr lang="en-IN" dirty="0"/>
              <a:t>In C Programming Language, based on providing the function definition, functions are divided into two types. Those are as follows...</a:t>
            </a:r>
          </a:p>
          <a:p>
            <a:r>
              <a:rPr lang="en-IN" b="1" dirty="0"/>
              <a:t>System Defined Functions</a:t>
            </a:r>
          </a:p>
          <a:p>
            <a:r>
              <a:rPr lang="en-IN" b="1" dirty="0"/>
              <a:t>User Defined Functions</a:t>
            </a:r>
          </a:p>
          <a:p>
            <a:endParaRPr lang="en-IN" dirty="0"/>
          </a:p>
        </p:txBody>
      </p:sp>
    </p:spTree>
    <p:extLst>
      <p:ext uri="{BB962C8B-B14F-4D97-AF65-F5344CB8AC3E}">
        <p14:creationId xmlns:p14="http://schemas.microsoft.com/office/powerpoint/2010/main" val="167211292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r>
              <a:rPr lang="en-IN" b="1" dirty="0"/>
              <a:t>System Defined Functions</a:t>
            </a:r>
            <a:br>
              <a:rPr lang="en-IN" b="1" dirty="0"/>
            </a:br>
            <a:endParaRPr lang="en-IN" dirty="0"/>
          </a:p>
        </p:txBody>
      </p:sp>
      <p:sp>
        <p:nvSpPr>
          <p:cNvPr id="3" name="Content Placeholder 2"/>
          <p:cNvSpPr>
            <a:spLocks noGrp="1"/>
          </p:cNvSpPr>
          <p:nvPr>
            <p:ph idx="1"/>
          </p:nvPr>
        </p:nvSpPr>
        <p:spPr>
          <a:xfrm>
            <a:off x="457200" y="764704"/>
            <a:ext cx="8229600" cy="5976664"/>
          </a:xfrm>
        </p:spPr>
        <p:txBody>
          <a:bodyPr>
            <a:normAutofit fontScale="85000" lnSpcReduction="20000"/>
          </a:bodyPr>
          <a:lstStyle/>
          <a:p>
            <a:r>
              <a:rPr lang="en-IN" b="1" dirty="0"/>
              <a:t>System Defined Functions</a:t>
            </a:r>
          </a:p>
          <a:p>
            <a:r>
              <a:rPr lang="en-IN" dirty="0"/>
              <a:t>The C Programming Language provides pre-defined functions to make programming easy. </a:t>
            </a:r>
          </a:p>
          <a:p>
            <a:endParaRPr lang="en-IN" dirty="0"/>
          </a:p>
          <a:p>
            <a:r>
              <a:rPr lang="en-IN" dirty="0"/>
              <a:t>These pre-defined functions are known as system defined functions. The system defined function is defined as follows...</a:t>
            </a:r>
          </a:p>
          <a:p>
            <a:endParaRPr lang="en-IN" dirty="0"/>
          </a:p>
          <a:p>
            <a:r>
              <a:rPr lang="en-IN" dirty="0"/>
              <a:t>The function whose definition is defined by the system is called as system defined function.</a:t>
            </a:r>
          </a:p>
          <a:p>
            <a:endParaRPr lang="en-IN" dirty="0"/>
          </a:p>
          <a:p>
            <a:r>
              <a:rPr lang="en-IN" dirty="0"/>
              <a:t>The system defined functions are also called as </a:t>
            </a:r>
            <a:r>
              <a:rPr lang="en-IN" b="1" dirty="0"/>
              <a:t>Library Functions</a:t>
            </a:r>
            <a:r>
              <a:rPr lang="en-IN" dirty="0"/>
              <a:t> or </a:t>
            </a:r>
            <a:r>
              <a:rPr lang="en-IN" b="1" dirty="0"/>
              <a:t>Standard Functions</a:t>
            </a:r>
            <a:r>
              <a:rPr lang="en-IN" dirty="0"/>
              <a:t> or </a:t>
            </a:r>
            <a:r>
              <a:rPr lang="en-IN" b="1" dirty="0"/>
              <a:t>Pre-Defined Functions</a:t>
            </a:r>
            <a:r>
              <a:rPr lang="en-IN" dirty="0"/>
              <a:t>. The implementation of system defined functions is already defined by the system.</a:t>
            </a:r>
          </a:p>
          <a:p>
            <a:endParaRPr lang="en-IN" dirty="0"/>
          </a:p>
          <a:p>
            <a:r>
              <a:rPr lang="en-IN" dirty="0"/>
              <a:t>In C, all the system defined functions are defined inside the </a:t>
            </a:r>
            <a:r>
              <a:rPr lang="en-IN" b="1" dirty="0"/>
              <a:t>header files</a:t>
            </a:r>
            <a:r>
              <a:rPr lang="en-IN" dirty="0"/>
              <a:t> like </a:t>
            </a:r>
            <a:r>
              <a:rPr lang="en-IN" b="1" dirty="0" err="1"/>
              <a:t>stdio.h</a:t>
            </a:r>
            <a:r>
              <a:rPr lang="en-IN" dirty="0"/>
              <a:t>, </a:t>
            </a:r>
            <a:r>
              <a:rPr lang="en-IN" b="1" dirty="0" err="1"/>
              <a:t>conio.h</a:t>
            </a:r>
            <a:r>
              <a:rPr lang="en-IN" dirty="0"/>
              <a:t>, </a:t>
            </a:r>
            <a:r>
              <a:rPr lang="en-IN" b="1" dirty="0" err="1"/>
              <a:t>math.h</a:t>
            </a:r>
            <a:r>
              <a:rPr lang="en-IN" dirty="0"/>
              <a:t>, </a:t>
            </a:r>
            <a:r>
              <a:rPr lang="en-IN" b="1" dirty="0" err="1"/>
              <a:t>string.h</a:t>
            </a:r>
            <a:r>
              <a:rPr lang="en-IN" dirty="0"/>
              <a:t> etc., For example, the </a:t>
            </a:r>
            <a:r>
              <a:rPr lang="en-IN" dirty="0" err="1"/>
              <a:t>funtions</a:t>
            </a:r>
            <a:r>
              <a:rPr lang="en-IN" dirty="0"/>
              <a:t> </a:t>
            </a:r>
            <a:r>
              <a:rPr lang="en-IN" b="1" dirty="0" err="1"/>
              <a:t>printf</a:t>
            </a:r>
            <a:r>
              <a:rPr lang="en-IN" b="1" dirty="0"/>
              <a:t>()</a:t>
            </a:r>
            <a:r>
              <a:rPr lang="en-IN" dirty="0"/>
              <a:t> and </a:t>
            </a:r>
            <a:r>
              <a:rPr lang="en-IN" b="1" dirty="0" err="1"/>
              <a:t>scanf</a:t>
            </a:r>
            <a:r>
              <a:rPr lang="en-IN" b="1" dirty="0"/>
              <a:t>()</a:t>
            </a:r>
            <a:r>
              <a:rPr lang="en-IN" dirty="0"/>
              <a:t> are defined in the header file called </a:t>
            </a:r>
            <a:r>
              <a:rPr lang="en-IN" b="1" dirty="0" err="1"/>
              <a:t>stdio.h</a:t>
            </a:r>
            <a:r>
              <a:rPr lang="en-IN" dirty="0"/>
              <a:t>.</a:t>
            </a:r>
          </a:p>
          <a:p>
            <a:endParaRPr lang="en-IN" dirty="0"/>
          </a:p>
        </p:txBody>
      </p:sp>
    </p:spTree>
    <p:extLst>
      <p:ext uri="{BB962C8B-B14F-4D97-AF65-F5344CB8AC3E}">
        <p14:creationId xmlns:p14="http://schemas.microsoft.com/office/powerpoint/2010/main" val="38172846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System Defined Functions</a:t>
            </a:r>
            <a:br>
              <a:rPr lang="en-IN" b="1" dirty="0"/>
            </a:br>
            <a:endParaRPr lang="en-IN" dirty="0"/>
          </a:p>
        </p:txBody>
      </p:sp>
      <p:sp>
        <p:nvSpPr>
          <p:cNvPr id="3" name="Content Placeholder 2"/>
          <p:cNvSpPr>
            <a:spLocks noGrp="1"/>
          </p:cNvSpPr>
          <p:nvPr>
            <p:ph idx="1"/>
          </p:nvPr>
        </p:nvSpPr>
        <p:spPr>
          <a:xfrm>
            <a:off x="457200" y="1412776"/>
            <a:ext cx="8229600" cy="4911824"/>
          </a:xfrm>
        </p:spPr>
        <p:txBody>
          <a:bodyPr>
            <a:normAutofit fontScale="77500" lnSpcReduction="20000"/>
          </a:bodyPr>
          <a:lstStyle/>
          <a:p>
            <a:r>
              <a:rPr lang="en-IN" dirty="0"/>
              <a:t>Whenever we use system defined functions in the program, we must include the respective header file using </a:t>
            </a:r>
            <a:r>
              <a:rPr lang="en-IN" b="1" dirty="0"/>
              <a:t>#include</a:t>
            </a:r>
            <a:r>
              <a:rPr lang="en-IN" dirty="0"/>
              <a:t> statement. </a:t>
            </a:r>
          </a:p>
          <a:p>
            <a:endParaRPr lang="en-IN" dirty="0"/>
          </a:p>
          <a:p>
            <a:r>
              <a:rPr lang="en-IN" dirty="0"/>
              <a:t>For example, if we use a system defined function </a:t>
            </a:r>
            <a:r>
              <a:rPr lang="en-IN" b="1" dirty="0" err="1"/>
              <a:t>sqrt</a:t>
            </a:r>
            <a:r>
              <a:rPr lang="en-IN" b="1" dirty="0"/>
              <a:t>()</a:t>
            </a:r>
            <a:r>
              <a:rPr lang="en-IN" dirty="0"/>
              <a:t> in the program, we must include the header file called </a:t>
            </a:r>
            <a:r>
              <a:rPr lang="en-IN" b="1" dirty="0" err="1"/>
              <a:t>math.h</a:t>
            </a:r>
            <a:r>
              <a:rPr lang="en-IN" dirty="0"/>
              <a:t> because the function </a:t>
            </a:r>
            <a:r>
              <a:rPr lang="en-IN" b="1" dirty="0" err="1"/>
              <a:t>sqrt</a:t>
            </a:r>
            <a:r>
              <a:rPr lang="en-IN" b="1" dirty="0"/>
              <a:t>()</a:t>
            </a:r>
            <a:r>
              <a:rPr lang="en-IN" dirty="0"/>
              <a:t> is defined in </a:t>
            </a:r>
            <a:r>
              <a:rPr lang="en-IN" b="1" dirty="0" err="1"/>
              <a:t>math.h</a:t>
            </a:r>
            <a:r>
              <a:rPr lang="en-IN" dirty="0"/>
              <a:t>.</a:t>
            </a:r>
          </a:p>
          <a:p>
            <a:endParaRPr lang="en-IN" dirty="0"/>
          </a:p>
          <a:p>
            <a:r>
              <a:rPr lang="en-IN" b="1" dirty="0"/>
              <a:t>Points to be Remembered</a:t>
            </a:r>
          </a:p>
          <a:p>
            <a:r>
              <a:rPr lang="en-IN" dirty="0"/>
              <a:t>System defined functions are declared in header files</a:t>
            </a:r>
          </a:p>
          <a:p>
            <a:endParaRPr lang="en-IN" dirty="0"/>
          </a:p>
          <a:p>
            <a:r>
              <a:rPr lang="en-IN" dirty="0"/>
              <a:t>System defined functions are implemented in .</a:t>
            </a:r>
            <a:r>
              <a:rPr lang="en-IN" dirty="0" err="1"/>
              <a:t>dll</a:t>
            </a:r>
            <a:r>
              <a:rPr lang="en-IN" dirty="0"/>
              <a:t> files. (DLL stands for </a:t>
            </a:r>
            <a:r>
              <a:rPr lang="en-IN" b="1" dirty="0"/>
              <a:t>Dynamic Link Library</a:t>
            </a:r>
            <a:r>
              <a:rPr lang="en-IN" dirty="0"/>
              <a:t>).</a:t>
            </a:r>
          </a:p>
          <a:p>
            <a:endParaRPr lang="en-IN" dirty="0"/>
          </a:p>
          <a:p>
            <a:r>
              <a:rPr lang="en-IN" dirty="0"/>
              <a:t>To use system defined functions the respective header file must be included.</a:t>
            </a:r>
          </a:p>
          <a:p>
            <a:endParaRPr lang="en-IN" dirty="0"/>
          </a:p>
        </p:txBody>
      </p:sp>
    </p:spTree>
    <p:extLst>
      <p:ext uri="{BB962C8B-B14F-4D97-AF65-F5344CB8AC3E}">
        <p14:creationId xmlns:p14="http://schemas.microsoft.com/office/powerpoint/2010/main" val="26457163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24712"/>
          </a:xfrm>
        </p:spPr>
        <p:txBody>
          <a:bodyPr>
            <a:normAutofit fontScale="90000"/>
          </a:bodyPr>
          <a:lstStyle/>
          <a:p>
            <a:r>
              <a:rPr lang="en-IN" b="1" dirty="0"/>
              <a:t>User Defined Functions</a:t>
            </a:r>
            <a:br>
              <a:rPr lang="en-IN" b="1" dirty="0"/>
            </a:br>
            <a:endParaRPr lang="en-IN" dirty="0"/>
          </a:p>
        </p:txBody>
      </p:sp>
      <p:sp>
        <p:nvSpPr>
          <p:cNvPr id="3" name="Content Placeholder 2"/>
          <p:cNvSpPr>
            <a:spLocks noGrp="1"/>
          </p:cNvSpPr>
          <p:nvPr>
            <p:ph idx="1"/>
          </p:nvPr>
        </p:nvSpPr>
        <p:spPr>
          <a:xfrm>
            <a:off x="457200" y="1052736"/>
            <a:ext cx="8229600" cy="5544616"/>
          </a:xfrm>
        </p:spPr>
        <p:txBody>
          <a:bodyPr>
            <a:normAutofit fontScale="77500" lnSpcReduction="20000"/>
          </a:bodyPr>
          <a:lstStyle/>
          <a:p>
            <a:r>
              <a:rPr lang="en-IN" b="1" dirty="0"/>
              <a:t>User Defined Functions</a:t>
            </a:r>
          </a:p>
          <a:p>
            <a:r>
              <a:rPr lang="en-IN" dirty="0"/>
              <a:t>In C programming language, users can also create their own functions. </a:t>
            </a:r>
          </a:p>
          <a:p>
            <a:endParaRPr lang="en-IN" dirty="0"/>
          </a:p>
          <a:p>
            <a:r>
              <a:rPr lang="en-IN" dirty="0"/>
              <a:t>The functions that are created by users are called as user defined functions. The user defined function is defined as follows...</a:t>
            </a:r>
          </a:p>
          <a:p>
            <a:endParaRPr lang="en-IN" dirty="0"/>
          </a:p>
          <a:p>
            <a:r>
              <a:rPr lang="en-IN" dirty="0"/>
              <a:t>The function whose definition is defined by the user is called as user defined function.</a:t>
            </a:r>
          </a:p>
          <a:p>
            <a:endParaRPr lang="en-IN" dirty="0"/>
          </a:p>
          <a:p>
            <a:r>
              <a:rPr lang="en-IN" dirty="0"/>
              <a:t>That means the function that is implemented by user is called as user defined function. For example, the function </a:t>
            </a:r>
            <a:r>
              <a:rPr lang="en-IN" b="1" dirty="0"/>
              <a:t>main</a:t>
            </a:r>
            <a:r>
              <a:rPr lang="en-IN" dirty="0"/>
              <a:t> is implemented by user so it is called as user defined function.</a:t>
            </a:r>
          </a:p>
          <a:p>
            <a:endParaRPr lang="en-IN" dirty="0"/>
          </a:p>
          <a:p>
            <a:r>
              <a:rPr lang="en-IN" dirty="0"/>
              <a:t>In C every user defined function must be declared and implemented. Whenever we make function call the function definition gets executed.</a:t>
            </a:r>
          </a:p>
          <a:p>
            <a:r>
              <a:rPr lang="en-IN" dirty="0"/>
              <a:t> For example, consider the following program in which we create a function called </a:t>
            </a:r>
            <a:r>
              <a:rPr lang="en-IN" b="1" dirty="0"/>
              <a:t>addition</a:t>
            </a:r>
            <a:r>
              <a:rPr lang="en-IN" dirty="0"/>
              <a:t> with two </a:t>
            </a:r>
            <a:r>
              <a:rPr lang="en-IN" dirty="0" err="1"/>
              <a:t>paramenters</a:t>
            </a:r>
            <a:r>
              <a:rPr lang="en-IN" dirty="0"/>
              <a:t> and a return value.</a:t>
            </a:r>
          </a:p>
          <a:p>
            <a:endParaRPr lang="en-IN" dirty="0"/>
          </a:p>
        </p:txBody>
      </p:sp>
    </p:spTree>
    <p:extLst>
      <p:ext uri="{BB962C8B-B14F-4D97-AF65-F5344CB8AC3E}">
        <p14:creationId xmlns:p14="http://schemas.microsoft.com/office/powerpoint/2010/main" val="38285962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User Defined Functions</a:t>
            </a:r>
            <a:br>
              <a:rPr lang="en-IN" b="1" dirty="0"/>
            </a:br>
            <a:endParaRPr lang="en-IN" dirty="0"/>
          </a:p>
        </p:txBody>
      </p:sp>
      <p:sp>
        <p:nvSpPr>
          <p:cNvPr id="3" name="Content Placeholder 2"/>
          <p:cNvSpPr>
            <a:spLocks noGrp="1"/>
          </p:cNvSpPr>
          <p:nvPr>
            <p:ph idx="1"/>
          </p:nvPr>
        </p:nvSpPr>
        <p:spPr>
          <a:xfrm>
            <a:off x="457200" y="1340768"/>
            <a:ext cx="8229600" cy="4983832"/>
          </a:xfrm>
        </p:spPr>
        <p:txBody>
          <a:bodyPr>
            <a:normAutofit fontScale="92500" lnSpcReduction="10000"/>
          </a:bodyPr>
          <a:lstStyle/>
          <a:p>
            <a:r>
              <a:rPr lang="en-IN" dirty="0"/>
              <a:t>That means the function that is implemented by user is called as user defined function. For example, the function </a:t>
            </a:r>
            <a:r>
              <a:rPr lang="en-IN" b="1" dirty="0"/>
              <a:t>main</a:t>
            </a:r>
            <a:r>
              <a:rPr lang="en-IN" dirty="0"/>
              <a:t> is implemented by user so it is called as user defined function.</a:t>
            </a:r>
          </a:p>
          <a:p>
            <a:endParaRPr lang="en-IN" dirty="0"/>
          </a:p>
          <a:p>
            <a:r>
              <a:rPr lang="en-IN" dirty="0"/>
              <a:t>In C every user defined function must be declared and implemented. Whenever we make function call the function definition gets executed.</a:t>
            </a:r>
          </a:p>
          <a:p>
            <a:endParaRPr lang="en-IN" dirty="0"/>
          </a:p>
          <a:p>
            <a:r>
              <a:rPr lang="en-IN" dirty="0"/>
              <a:t> For example, consider the  program in which we create a function called </a:t>
            </a:r>
            <a:r>
              <a:rPr lang="en-IN" b="1" dirty="0"/>
              <a:t>addition</a:t>
            </a:r>
            <a:r>
              <a:rPr lang="en-IN" dirty="0"/>
              <a:t> with two </a:t>
            </a:r>
            <a:r>
              <a:rPr lang="en-IN" dirty="0" err="1"/>
              <a:t>paramenters</a:t>
            </a:r>
            <a:r>
              <a:rPr lang="en-IN" dirty="0"/>
              <a:t> and a return value.</a:t>
            </a:r>
          </a:p>
          <a:p>
            <a:r>
              <a:rPr lang="en-US" dirty="0" err="1"/>
              <a:t>E.g</a:t>
            </a:r>
            <a:r>
              <a:rPr lang="en-US" dirty="0"/>
              <a:t>  </a:t>
            </a:r>
            <a:r>
              <a:rPr lang="en-US" dirty="0" err="1"/>
              <a:t>int</a:t>
            </a:r>
            <a:r>
              <a:rPr lang="en-US" dirty="0"/>
              <a:t> addition(</a:t>
            </a:r>
            <a:r>
              <a:rPr lang="en-US" dirty="0" err="1"/>
              <a:t>int,int</a:t>
            </a:r>
            <a:r>
              <a:rPr lang="en-US" dirty="0"/>
              <a:t>)</a:t>
            </a:r>
            <a:endParaRPr lang="en-IN" dirty="0"/>
          </a:p>
          <a:p>
            <a:endParaRPr lang="en-IN" dirty="0"/>
          </a:p>
        </p:txBody>
      </p:sp>
    </p:spTree>
    <p:extLst>
      <p:ext uri="{BB962C8B-B14F-4D97-AF65-F5344CB8AC3E}">
        <p14:creationId xmlns:p14="http://schemas.microsoft.com/office/powerpoint/2010/main" val="13400115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Advantage of functions in C</a:t>
            </a:r>
            <a:br>
              <a:rPr lang="en-IN" b="1" dirty="0"/>
            </a:br>
            <a:endParaRPr lang="en-IN" dirty="0"/>
          </a:p>
        </p:txBody>
      </p:sp>
      <p:sp>
        <p:nvSpPr>
          <p:cNvPr id="3" name="Content Placeholder 2"/>
          <p:cNvSpPr>
            <a:spLocks noGrp="1"/>
          </p:cNvSpPr>
          <p:nvPr>
            <p:ph idx="1"/>
          </p:nvPr>
        </p:nvSpPr>
        <p:spPr>
          <a:xfrm>
            <a:off x="457200" y="1268760"/>
            <a:ext cx="8229600" cy="5472608"/>
          </a:xfrm>
        </p:spPr>
        <p:txBody>
          <a:bodyPr>
            <a:normAutofit/>
          </a:bodyPr>
          <a:lstStyle/>
          <a:p>
            <a:r>
              <a:rPr lang="en-IN" dirty="0"/>
              <a:t>There are the following advantages of C functions.</a:t>
            </a:r>
          </a:p>
          <a:p>
            <a:r>
              <a:rPr lang="en-IN" dirty="0"/>
              <a:t>By using functions, we can avoid rewriting same logic/code again and again in a program.</a:t>
            </a:r>
          </a:p>
          <a:p>
            <a:r>
              <a:rPr lang="en-IN" dirty="0"/>
              <a:t>We can call C functions any number of times in a program and from any place in a program.</a:t>
            </a:r>
          </a:p>
          <a:p>
            <a:r>
              <a:rPr lang="en-IN" dirty="0"/>
              <a:t>We can track a large C program easily when it is divided into multiple functions.</a:t>
            </a:r>
          </a:p>
          <a:p>
            <a:r>
              <a:rPr lang="en-IN" dirty="0"/>
              <a:t>Reusability is the main achievement of C functions.</a:t>
            </a:r>
          </a:p>
          <a:p>
            <a:r>
              <a:rPr lang="en-IN" dirty="0"/>
              <a:t>Using functions larger programs can be divided into smaller module.</a:t>
            </a:r>
          </a:p>
          <a:p>
            <a:r>
              <a:rPr lang="en-IN" dirty="0"/>
              <a:t>Using functions the program implementation becomes easy.</a:t>
            </a:r>
          </a:p>
          <a:p>
            <a:endParaRPr lang="en-IN" dirty="0"/>
          </a:p>
          <a:p>
            <a:endParaRPr lang="en-IN" dirty="0"/>
          </a:p>
        </p:txBody>
      </p:sp>
    </p:spTree>
    <p:extLst>
      <p:ext uri="{BB962C8B-B14F-4D97-AF65-F5344CB8AC3E}">
        <p14:creationId xmlns:p14="http://schemas.microsoft.com/office/powerpoint/2010/main" val="255053395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r>
              <a:rPr lang="en-US" dirty="0"/>
              <a:t>Demonstration of Function</a:t>
            </a:r>
          </a:p>
        </p:txBody>
      </p:sp>
      <p:sp>
        <p:nvSpPr>
          <p:cNvPr id="3" name="Content Placeholder 2"/>
          <p:cNvSpPr>
            <a:spLocks noGrp="1"/>
          </p:cNvSpPr>
          <p:nvPr>
            <p:ph idx="1"/>
          </p:nvPr>
        </p:nvSpPr>
        <p:spPr>
          <a:xfrm>
            <a:off x="457200" y="1412776"/>
            <a:ext cx="8229600" cy="5256584"/>
          </a:xfrm>
        </p:spPr>
        <p:txBody>
          <a:bodyPr>
            <a:normAutofit fontScale="70000" lnSpcReduction="20000"/>
          </a:bodyPr>
          <a:lstStyle/>
          <a:p>
            <a:pPr>
              <a:buNone/>
            </a:pPr>
            <a:r>
              <a:rPr lang="en-US" dirty="0"/>
              <a:t>#include&lt;</a:t>
            </a:r>
            <a:r>
              <a:rPr lang="en-US" dirty="0" err="1"/>
              <a:t>stdio.h</a:t>
            </a:r>
            <a:r>
              <a:rPr lang="en-US" dirty="0"/>
              <a:t>&gt;</a:t>
            </a:r>
          </a:p>
          <a:p>
            <a:pPr>
              <a:buNone/>
            </a:pPr>
            <a:r>
              <a:rPr lang="en-US" dirty="0">
                <a:solidFill>
                  <a:srgbClr val="FF0000"/>
                </a:solidFill>
              </a:rPr>
              <a:t>void hello();//function declaration</a:t>
            </a:r>
          </a:p>
          <a:p>
            <a:pPr>
              <a:buNone/>
            </a:pPr>
            <a:r>
              <a:rPr lang="en-US" dirty="0"/>
              <a:t>void main()</a:t>
            </a:r>
          </a:p>
          <a:p>
            <a:pPr>
              <a:buNone/>
            </a:pPr>
            <a:r>
              <a:rPr lang="en-US" dirty="0"/>
              <a:t>{</a:t>
            </a:r>
          </a:p>
          <a:p>
            <a:pPr>
              <a:buNone/>
            </a:pPr>
            <a:r>
              <a:rPr lang="en-US" dirty="0" err="1"/>
              <a:t>printf</a:t>
            </a:r>
            <a:r>
              <a:rPr lang="en-US" dirty="0"/>
              <a:t>("Good morning");</a:t>
            </a:r>
          </a:p>
          <a:p>
            <a:pPr>
              <a:buNone/>
            </a:pPr>
            <a:r>
              <a:rPr lang="en-US" dirty="0">
                <a:solidFill>
                  <a:srgbClr val="FF0000"/>
                </a:solidFill>
              </a:rPr>
              <a:t>message(); //function call&amp; calling function</a:t>
            </a:r>
          </a:p>
          <a:p>
            <a:pPr>
              <a:buNone/>
            </a:pPr>
            <a:r>
              <a:rPr lang="en-US" dirty="0" err="1"/>
              <a:t>printf</a:t>
            </a:r>
            <a:r>
              <a:rPr lang="en-US" dirty="0"/>
              <a:t>("\n I live in </a:t>
            </a:r>
            <a:r>
              <a:rPr lang="en-US" dirty="0" err="1"/>
              <a:t>Tndia</a:t>
            </a:r>
            <a:r>
              <a:rPr lang="en-US" dirty="0"/>
              <a:t>");</a:t>
            </a:r>
          </a:p>
          <a:p>
            <a:pPr>
              <a:buNone/>
            </a:pPr>
            <a:r>
              <a:rPr lang="en-US" dirty="0"/>
              <a:t>hello();</a:t>
            </a:r>
            <a:r>
              <a:rPr lang="en-US" dirty="0">
                <a:solidFill>
                  <a:srgbClr val="FF0000"/>
                </a:solidFill>
              </a:rPr>
              <a:t> //function call&amp; calling function</a:t>
            </a:r>
            <a:endParaRPr lang="en-US" dirty="0"/>
          </a:p>
          <a:p>
            <a:pPr>
              <a:buNone/>
            </a:pPr>
            <a:r>
              <a:rPr lang="en-US" dirty="0"/>
              <a:t>}</a:t>
            </a:r>
          </a:p>
          <a:p>
            <a:pPr>
              <a:buNone/>
            </a:pPr>
            <a:r>
              <a:rPr lang="en-US" dirty="0">
                <a:solidFill>
                  <a:srgbClr val="FF0000"/>
                </a:solidFill>
              </a:rPr>
              <a:t>void message() //Function </a:t>
            </a:r>
            <a:r>
              <a:rPr lang="en-US" dirty="0" err="1">
                <a:solidFill>
                  <a:srgbClr val="FF0000"/>
                </a:solidFill>
              </a:rPr>
              <a:t>defination</a:t>
            </a:r>
            <a:r>
              <a:rPr lang="en-US" dirty="0">
                <a:solidFill>
                  <a:srgbClr val="FF0000"/>
                </a:solidFill>
              </a:rPr>
              <a:t>&amp;&amp; called function</a:t>
            </a:r>
          </a:p>
          <a:p>
            <a:pPr>
              <a:buNone/>
            </a:pPr>
            <a:r>
              <a:rPr lang="en-US" dirty="0"/>
              <a:t>{ </a:t>
            </a:r>
          </a:p>
          <a:p>
            <a:pPr>
              <a:buNone/>
            </a:pPr>
            <a:r>
              <a:rPr lang="en-US" dirty="0" err="1"/>
              <a:t>printf</a:t>
            </a:r>
            <a:r>
              <a:rPr lang="en-US" dirty="0"/>
              <a:t>("\n I am proud to be Indian");</a:t>
            </a:r>
          </a:p>
          <a:p>
            <a:pPr>
              <a:buNone/>
            </a:pPr>
            <a:r>
              <a:rPr lang="en-US" dirty="0"/>
              <a:t>}</a:t>
            </a:r>
          </a:p>
          <a:p>
            <a:pPr>
              <a:buNone/>
            </a:pPr>
            <a:r>
              <a:rPr lang="en-US" dirty="0"/>
              <a:t>void hello()</a:t>
            </a:r>
          </a:p>
          <a:p>
            <a:pPr>
              <a:buNone/>
            </a:pPr>
            <a:r>
              <a:rPr lang="en-US" dirty="0"/>
              <a:t>{ </a:t>
            </a:r>
          </a:p>
          <a:p>
            <a:pPr>
              <a:buNone/>
            </a:pPr>
            <a:r>
              <a:rPr lang="en-US" dirty="0"/>
              <a:t>  </a:t>
            </a:r>
            <a:r>
              <a:rPr lang="en-US" dirty="0">
                <a:solidFill>
                  <a:srgbClr val="FF0000"/>
                </a:solidFill>
              </a:rPr>
              <a:t>void message ();//function declaration</a:t>
            </a:r>
            <a:endParaRPr lang="en-US" dirty="0"/>
          </a:p>
          <a:p>
            <a:pPr>
              <a:buNone/>
            </a:pPr>
            <a:r>
              <a:rPr lang="en-US" dirty="0" err="1"/>
              <a:t>printf</a:t>
            </a:r>
            <a:r>
              <a:rPr lang="en-US" dirty="0"/>
              <a:t>("\n This is function name"); </a:t>
            </a:r>
          </a:p>
          <a:p>
            <a:pPr>
              <a:buNone/>
            </a:pPr>
            <a:r>
              <a:rPr lang="en-US" dirty="0"/>
              <a:t>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20688"/>
          </a:xfrm>
        </p:spPr>
        <p:txBody>
          <a:bodyPr>
            <a:normAutofit fontScale="90000"/>
          </a:bodyPr>
          <a:lstStyle/>
          <a:p>
            <a:endParaRPr lang="en-IN" dirty="0"/>
          </a:p>
        </p:txBody>
      </p:sp>
      <p:sp>
        <p:nvSpPr>
          <p:cNvPr id="3" name="Content Placeholder 2"/>
          <p:cNvSpPr>
            <a:spLocks noGrp="1"/>
          </p:cNvSpPr>
          <p:nvPr>
            <p:ph idx="1"/>
          </p:nvPr>
        </p:nvSpPr>
        <p:spPr>
          <a:xfrm>
            <a:off x="457200" y="692696"/>
            <a:ext cx="8229600" cy="5904656"/>
          </a:xfrm>
        </p:spPr>
        <p:txBody>
          <a:bodyPr>
            <a:normAutofit fontScale="77500" lnSpcReduction="20000"/>
          </a:bodyPr>
          <a:lstStyle/>
          <a:p>
            <a:r>
              <a:rPr lang="en-IN" dirty="0"/>
              <a:t>In the concept of functions, the function call is known as </a:t>
            </a:r>
          </a:p>
          <a:p>
            <a:pPr marL="0" indent="0">
              <a:buNone/>
            </a:pPr>
            <a:r>
              <a:rPr lang="en-IN" b="1" u="sng" dirty="0"/>
              <a:t>"Calling Function"</a:t>
            </a:r>
            <a:r>
              <a:rPr lang="en-IN" dirty="0"/>
              <a:t> and the function definition is known as </a:t>
            </a:r>
          </a:p>
          <a:p>
            <a:pPr marL="0" indent="0">
              <a:buNone/>
            </a:pPr>
            <a:r>
              <a:rPr lang="en-IN" b="1" u="sng" dirty="0"/>
              <a:t>"Called Function"</a:t>
            </a:r>
            <a:r>
              <a:rPr lang="en-IN" dirty="0"/>
              <a:t>.</a:t>
            </a:r>
          </a:p>
          <a:p>
            <a:endParaRPr lang="en-IN" dirty="0"/>
          </a:p>
          <a:p>
            <a:r>
              <a:rPr lang="en-IN" dirty="0"/>
              <a:t>When we make a function call, the execution control jumps from calling function to called function.</a:t>
            </a:r>
          </a:p>
          <a:p>
            <a:endParaRPr lang="en-IN" dirty="0"/>
          </a:p>
          <a:p>
            <a:r>
              <a:rPr lang="en-IN" dirty="0"/>
              <a:t> After executing the called function, the execution control comes back to calling function from called function. </a:t>
            </a:r>
          </a:p>
          <a:p>
            <a:endParaRPr lang="en-IN" dirty="0"/>
          </a:p>
          <a:p>
            <a:r>
              <a:rPr lang="en-IN" dirty="0"/>
              <a:t>When the control jumps from calling function to called function </a:t>
            </a:r>
          </a:p>
          <a:p>
            <a:pPr marL="0" indent="0">
              <a:buNone/>
            </a:pPr>
            <a:r>
              <a:rPr lang="en-IN" dirty="0"/>
              <a:t>,if it may carry one or more data values called "</a:t>
            </a:r>
            <a:r>
              <a:rPr lang="en-IN" b="1" dirty="0" err="1"/>
              <a:t>Paramenters</a:t>
            </a:r>
            <a:r>
              <a:rPr lang="en-IN" dirty="0"/>
              <a:t>" and while </a:t>
            </a:r>
          </a:p>
          <a:p>
            <a:pPr marL="0" indent="0">
              <a:buNone/>
            </a:pPr>
            <a:r>
              <a:rPr lang="en-IN" dirty="0"/>
              <a:t>coming back it may carry a single value called "</a:t>
            </a:r>
            <a:r>
              <a:rPr lang="en-IN" b="1" dirty="0"/>
              <a:t>return value</a:t>
            </a:r>
            <a:r>
              <a:rPr lang="en-IN" dirty="0"/>
              <a:t>". </a:t>
            </a:r>
          </a:p>
          <a:p>
            <a:endParaRPr lang="en-IN" dirty="0"/>
          </a:p>
          <a:p>
            <a:r>
              <a:rPr lang="en-IN" dirty="0"/>
              <a:t>That means the data values transferred from calling function to called</a:t>
            </a:r>
          </a:p>
          <a:p>
            <a:pPr marL="0" indent="0">
              <a:buNone/>
            </a:pPr>
            <a:r>
              <a:rPr lang="en-IN" dirty="0"/>
              <a:t> function are called as </a:t>
            </a:r>
            <a:r>
              <a:rPr lang="en-IN" b="1" dirty="0"/>
              <a:t>Parameters</a:t>
            </a:r>
            <a:r>
              <a:rPr lang="en-IN" dirty="0"/>
              <a:t> and the data value transferred from </a:t>
            </a:r>
          </a:p>
          <a:p>
            <a:pPr marL="0" indent="0">
              <a:buNone/>
            </a:pPr>
            <a:r>
              <a:rPr lang="en-IN" dirty="0"/>
              <a:t>called function to calling function is called </a:t>
            </a:r>
            <a:r>
              <a:rPr lang="en-IN" b="1" dirty="0"/>
              <a:t>Return value</a:t>
            </a:r>
            <a:r>
              <a:rPr lang="en-IN" dirty="0"/>
              <a:t>.</a:t>
            </a:r>
          </a:p>
          <a:p>
            <a:endParaRPr lang="en-IN" dirty="0"/>
          </a:p>
        </p:txBody>
      </p:sp>
    </p:spTree>
    <p:extLst>
      <p:ext uri="{BB962C8B-B14F-4D97-AF65-F5344CB8AC3E}">
        <p14:creationId xmlns:p14="http://schemas.microsoft.com/office/powerpoint/2010/main" val="19984890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Based on the data flow between the calling function and called function, the functions are classified as follows...</a:t>
            </a:r>
          </a:p>
          <a:p>
            <a:r>
              <a:rPr lang="en-IN" b="1" dirty="0"/>
              <a:t>Function without Parameters and without Return value</a:t>
            </a:r>
          </a:p>
          <a:p>
            <a:r>
              <a:rPr lang="en-IN" b="1" dirty="0"/>
              <a:t>Function with Parameters and without Return value</a:t>
            </a:r>
          </a:p>
          <a:p>
            <a:r>
              <a:rPr lang="en-IN" b="1" dirty="0"/>
              <a:t>Function without Parameters and with Return value</a:t>
            </a:r>
          </a:p>
          <a:p>
            <a:r>
              <a:rPr lang="en-IN" b="1" dirty="0"/>
              <a:t>Function with Parameters and with Return value</a:t>
            </a:r>
          </a:p>
          <a:p>
            <a:endParaRPr lang="en-IN" dirty="0"/>
          </a:p>
        </p:txBody>
      </p:sp>
    </p:spTree>
    <p:extLst>
      <p:ext uri="{BB962C8B-B14F-4D97-AF65-F5344CB8AC3E}">
        <p14:creationId xmlns:p14="http://schemas.microsoft.com/office/powerpoint/2010/main" val="240337076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b="1" dirty="0"/>
              <a:t>Function without Parameters and without Return value</a:t>
            </a:r>
            <a:br>
              <a:rPr lang="en-IN" b="1" dirty="0"/>
            </a:br>
            <a:endParaRPr lang="en-IN" dirty="0"/>
          </a:p>
        </p:txBody>
      </p:sp>
      <p:sp>
        <p:nvSpPr>
          <p:cNvPr id="3" name="Content Placeholder 2"/>
          <p:cNvSpPr>
            <a:spLocks noGrp="1"/>
          </p:cNvSpPr>
          <p:nvPr>
            <p:ph idx="1"/>
          </p:nvPr>
        </p:nvSpPr>
        <p:spPr>
          <a:xfrm>
            <a:off x="457200" y="1988840"/>
            <a:ext cx="8229600" cy="4536504"/>
          </a:xfrm>
        </p:spPr>
        <p:txBody>
          <a:bodyPr>
            <a:normAutofit/>
          </a:bodyPr>
          <a:lstStyle/>
          <a:p>
            <a:r>
              <a:rPr lang="en-IN" dirty="0"/>
              <a:t>In this type of functions there is no data transfer between calling function and called function. </a:t>
            </a:r>
          </a:p>
          <a:p>
            <a:r>
              <a:rPr lang="en-IN" dirty="0"/>
              <a:t>Simply the execution control jumps from calling-function to called function and executes called function, and finally comes back to the calling function.</a:t>
            </a:r>
          </a:p>
          <a:p>
            <a:r>
              <a:rPr lang="en-IN" dirty="0"/>
              <a:t> For example, consider the following program...</a:t>
            </a:r>
          </a:p>
          <a:p>
            <a:endParaRPr lang="en-IN" dirty="0"/>
          </a:p>
        </p:txBody>
      </p:sp>
    </p:spTree>
    <p:extLst>
      <p:ext uri="{BB962C8B-B14F-4D97-AF65-F5344CB8AC3E}">
        <p14:creationId xmlns:p14="http://schemas.microsoft.com/office/powerpoint/2010/main" val="380942433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Demonstration of Function</a:t>
            </a:r>
            <a:endParaRPr lang="en-IN" dirty="0"/>
          </a:p>
        </p:txBody>
      </p:sp>
      <p:sp>
        <p:nvSpPr>
          <p:cNvPr id="3" name="Content Placeholder 2"/>
          <p:cNvSpPr>
            <a:spLocks noGrp="1"/>
          </p:cNvSpPr>
          <p:nvPr>
            <p:ph idx="1"/>
          </p:nvPr>
        </p:nvSpPr>
        <p:spPr/>
        <p:txBody>
          <a:bodyPr>
            <a:normAutofit fontScale="62500" lnSpcReduction="20000"/>
          </a:bodyPr>
          <a:lstStyle/>
          <a:p>
            <a:r>
              <a:rPr lang="en-IN" dirty="0"/>
              <a:t>#include &lt;</a:t>
            </a:r>
            <a:r>
              <a:rPr lang="en-IN" dirty="0" err="1"/>
              <a:t>stdio.h</a:t>
            </a:r>
            <a:r>
              <a:rPr lang="en-IN" dirty="0"/>
              <a:t>&gt;</a:t>
            </a:r>
          </a:p>
          <a:p>
            <a:endParaRPr lang="en-IN" dirty="0"/>
          </a:p>
          <a:p>
            <a:r>
              <a:rPr lang="en-IN" b="1" dirty="0">
                <a:solidFill>
                  <a:srgbClr val="FF0000"/>
                </a:solidFill>
              </a:rPr>
              <a:t>void hi();// function declaration</a:t>
            </a:r>
          </a:p>
          <a:p>
            <a:endParaRPr lang="en-IN" b="1" dirty="0"/>
          </a:p>
          <a:p>
            <a:r>
              <a:rPr lang="en-IN" b="1" dirty="0"/>
              <a:t>main()</a:t>
            </a:r>
          </a:p>
          <a:p>
            <a:r>
              <a:rPr lang="en-IN" dirty="0"/>
              <a:t>{    </a:t>
            </a:r>
          </a:p>
          <a:p>
            <a:r>
              <a:rPr lang="en-US" dirty="0" err="1"/>
              <a:t>clrscr</a:t>
            </a:r>
            <a:r>
              <a:rPr lang="en-US" dirty="0"/>
              <a:t>();</a:t>
            </a:r>
            <a:endParaRPr lang="en-IN" dirty="0"/>
          </a:p>
          <a:p>
            <a:r>
              <a:rPr lang="en-IN" dirty="0" err="1"/>
              <a:t>printf</a:t>
            </a:r>
            <a:r>
              <a:rPr lang="en-IN" dirty="0"/>
              <a:t>("\</a:t>
            </a:r>
            <a:r>
              <a:rPr lang="en-IN" dirty="0" err="1"/>
              <a:t>nHello</a:t>
            </a:r>
            <a:r>
              <a:rPr lang="en-IN" dirty="0"/>
              <a:t> World");     </a:t>
            </a:r>
          </a:p>
          <a:p>
            <a:r>
              <a:rPr lang="en-IN" b="1" dirty="0">
                <a:solidFill>
                  <a:srgbClr val="FF0000"/>
                </a:solidFill>
              </a:rPr>
              <a:t>hi(); //function call</a:t>
            </a:r>
          </a:p>
          <a:p>
            <a:r>
              <a:rPr lang="en-US" dirty="0" err="1"/>
              <a:t>getch</a:t>
            </a:r>
            <a:r>
              <a:rPr lang="en-US" dirty="0"/>
              <a:t>();</a:t>
            </a:r>
            <a:endParaRPr lang="en-IN" dirty="0"/>
          </a:p>
          <a:p>
            <a:r>
              <a:rPr lang="en-IN" dirty="0"/>
              <a:t>}</a:t>
            </a:r>
          </a:p>
          <a:p>
            <a:endParaRPr lang="en-IN" dirty="0"/>
          </a:p>
          <a:p>
            <a:r>
              <a:rPr lang="en-IN" b="1" dirty="0">
                <a:solidFill>
                  <a:srgbClr val="FF0000"/>
                </a:solidFill>
              </a:rPr>
              <a:t>void hi()//Function </a:t>
            </a:r>
            <a:r>
              <a:rPr lang="en-IN" b="1" dirty="0" err="1">
                <a:solidFill>
                  <a:srgbClr val="FF0000"/>
                </a:solidFill>
              </a:rPr>
              <a:t>defination</a:t>
            </a:r>
            <a:endParaRPr lang="en-IN" b="1" dirty="0">
              <a:solidFill>
                <a:srgbClr val="FF0000"/>
              </a:solidFill>
            </a:endParaRPr>
          </a:p>
          <a:p>
            <a:r>
              <a:rPr lang="en-IN" dirty="0"/>
              <a:t>{    </a:t>
            </a:r>
          </a:p>
          <a:p>
            <a:r>
              <a:rPr lang="en-IN" dirty="0" err="1"/>
              <a:t>printf</a:t>
            </a:r>
            <a:r>
              <a:rPr lang="en-IN" dirty="0"/>
              <a:t>("\</a:t>
            </a:r>
            <a:r>
              <a:rPr lang="en-IN" dirty="0" err="1"/>
              <a:t>nI</a:t>
            </a:r>
            <a:r>
              <a:rPr lang="en-IN" dirty="0"/>
              <a:t> am the learning function"); </a:t>
            </a:r>
          </a:p>
          <a:p>
            <a:pPr marL="0" indent="0">
              <a:buNone/>
            </a:pPr>
            <a:r>
              <a:rPr lang="en-IN" dirty="0"/>
              <a:t>   </a:t>
            </a:r>
            <a:r>
              <a:rPr lang="en-IN" dirty="0" err="1"/>
              <a:t>printf</a:t>
            </a:r>
            <a:r>
              <a:rPr lang="en-IN" dirty="0"/>
              <a:t>("\</a:t>
            </a:r>
            <a:r>
              <a:rPr lang="en-IN" dirty="0" err="1"/>
              <a:t>nThis</a:t>
            </a:r>
            <a:r>
              <a:rPr lang="en-IN" dirty="0"/>
              <a:t> is my first program of function");</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0763464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432048"/>
          </a:xfrm>
        </p:spPr>
        <p:txBody>
          <a:bodyPr>
            <a:normAutofit fontScale="90000"/>
          </a:bodyPr>
          <a:lstStyle/>
          <a:p>
            <a:endParaRPr lang="en-IN" dirty="0"/>
          </a:p>
        </p:txBody>
      </p:sp>
      <p:sp>
        <p:nvSpPr>
          <p:cNvPr id="3" name="Content Placeholder 2"/>
          <p:cNvSpPr>
            <a:spLocks noGrp="1"/>
          </p:cNvSpPr>
          <p:nvPr>
            <p:ph idx="1"/>
          </p:nvPr>
        </p:nvSpPr>
        <p:spPr>
          <a:xfrm>
            <a:off x="457200" y="1052736"/>
            <a:ext cx="8229600" cy="5271864"/>
          </a:xfrm>
        </p:spPr>
        <p:txBody>
          <a:bodyPr>
            <a:normAutofit fontScale="70000" lnSpcReduction="20000"/>
          </a:bodyPr>
          <a:lstStyle/>
          <a:p>
            <a:pPr marL="0" lvl="0" indent="0">
              <a:buClr>
                <a:srgbClr val="0BD0D9"/>
              </a:buClr>
              <a:buNone/>
            </a:pPr>
            <a:r>
              <a:rPr lang="en-IN" b="1" dirty="0">
                <a:solidFill>
                  <a:prstClr val="black"/>
                </a:solidFill>
              </a:rPr>
              <a:t>Example Program</a:t>
            </a:r>
          </a:p>
          <a:p>
            <a:pPr marL="0" lvl="0" indent="0">
              <a:buClr>
                <a:srgbClr val="0BD0D9"/>
              </a:buClr>
              <a:buNone/>
            </a:pPr>
            <a:r>
              <a:rPr lang="en-IN" dirty="0">
                <a:solidFill>
                  <a:prstClr val="black"/>
                </a:solidFill>
              </a:rPr>
              <a:t>#include&lt;</a:t>
            </a:r>
            <a:r>
              <a:rPr lang="en-IN" dirty="0" err="1">
                <a:solidFill>
                  <a:prstClr val="black"/>
                </a:solidFill>
              </a:rPr>
              <a:t>stdio.h</a:t>
            </a:r>
            <a:r>
              <a:rPr lang="en-IN" dirty="0">
                <a:solidFill>
                  <a:prstClr val="black"/>
                </a:solidFill>
              </a:rPr>
              <a:t>&gt;</a:t>
            </a:r>
          </a:p>
          <a:p>
            <a:pPr marL="0" lvl="0" indent="0">
              <a:buClr>
                <a:srgbClr val="0BD0D9"/>
              </a:buClr>
              <a:buNone/>
            </a:pPr>
            <a:r>
              <a:rPr lang="en-IN" dirty="0">
                <a:solidFill>
                  <a:prstClr val="black"/>
                </a:solidFill>
              </a:rPr>
              <a:t> #include&lt;</a:t>
            </a:r>
            <a:r>
              <a:rPr lang="en-IN" dirty="0" err="1">
                <a:solidFill>
                  <a:prstClr val="black"/>
                </a:solidFill>
              </a:rPr>
              <a:t>conio.h</a:t>
            </a:r>
            <a:r>
              <a:rPr lang="en-IN" dirty="0">
                <a:solidFill>
                  <a:prstClr val="black"/>
                </a:solidFill>
              </a:rPr>
              <a:t>&gt; </a:t>
            </a:r>
          </a:p>
          <a:p>
            <a:pPr marL="0" indent="0">
              <a:buClr>
                <a:srgbClr val="0BD0D9"/>
              </a:buClr>
              <a:buNone/>
            </a:pPr>
            <a:r>
              <a:rPr lang="en-IN" b="1" dirty="0">
                <a:solidFill>
                  <a:srgbClr val="FF0000"/>
                </a:solidFill>
              </a:rPr>
              <a:t>void addition() ; // function declaration</a:t>
            </a:r>
            <a:r>
              <a:rPr lang="en-IN" dirty="0">
                <a:solidFill>
                  <a:srgbClr val="FF0000"/>
                </a:solidFill>
              </a:rPr>
              <a:t> </a:t>
            </a:r>
          </a:p>
          <a:p>
            <a:pPr marL="0" lvl="0" indent="0">
              <a:buClr>
                <a:srgbClr val="0BD0D9"/>
              </a:buClr>
              <a:buNone/>
            </a:pPr>
            <a:r>
              <a:rPr lang="en-IN" dirty="0">
                <a:solidFill>
                  <a:prstClr val="black"/>
                </a:solidFill>
              </a:rPr>
              <a:t>void main()</a:t>
            </a:r>
          </a:p>
          <a:p>
            <a:pPr marL="0" lvl="0" indent="0">
              <a:buClr>
                <a:srgbClr val="0BD0D9"/>
              </a:buClr>
              <a:buNone/>
            </a:pPr>
            <a:r>
              <a:rPr lang="en-IN" dirty="0">
                <a:solidFill>
                  <a:prstClr val="black"/>
                </a:solidFill>
              </a:rPr>
              <a:t>{ </a:t>
            </a:r>
          </a:p>
          <a:p>
            <a:pPr marL="0" lvl="0" indent="0">
              <a:buClr>
                <a:srgbClr val="0BD0D9"/>
              </a:buClr>
              <a:buNone/>
            </a:pPr>
            <a:r>
              <a:rPr lang="en-IN" dirty="0">
                <a:solidFill>
                  <a:prstClr val="black"/>
                </a:solidFill>
              </a:rPr>
              <a:t>    </a:t>
            </a:r>
            <a:r>
              <a:rPr lang="en-IN" dirty="0" err="1">
                <a:solidFill>
                  <a:prstClr val="black"/>
                </a:solidFill>
              </a:rPr>
              <a:t>clrscr</a:t>
            </a:r>
            <a:r>
              <a:rPr lang="en-IN" dirty="0">
                <a:solidFill>
                  <a:prstClr val="black"/>
                </a:solidFill>
              </a:rPr>
              <a:t>() ; </a:t>
            </a:r>
          </a:p>
          <a:p>
            <a:pPr marL="0" lvl="0" indent="0">
              <a:buClr>
                <a:srgbClr val="0BD0D9"/>
              </a:buClr>
              <a:buNone/>
            </a:pPr>
            <a:r>
              <a:rPr lang="en-IN" dirty="0">
                <a:solidFill>
                  <a:prstClr val="black"/>
                </a:solidFill>
              </a:rPr>
              <a:t>   </a:t>
            </a:r>
            <a:r>
              <a:rPr lang="en-IN" dirty="0" err="1">
                <a:solidFill>
                  <a:prstClr val="black"/>
                </a:solidFill>
              </a:rPr>
              <a:t>int</a:t>
            </a:r>
            <a:r>
              <a:rPr lang="en-IN" dirty="0">
                <a:solidFill>
                  <a:prstClr val="black"/>
                </a:solidFill>
              </a:rPr>
              <a:t> </a:t>
            </a:r>
            <a:r>
              <a:rPr lang="en-IN" dirty="0" err="1">
                <a:solidFill>
                  <a:prstClr val="black"/>
                </a:solidFill>
              </a:rPr>
              <a:t>a,b</a:t>
            </a:r>
            <a:r>
              <a:rPr lang="en-IN" dirty="0">
                <a:solidFill>
                  <a:prstClr val="black"/>
                </a:solidFill>
              </a:rPr>
              <a:t>;</a:t>
            </a:r>
          </a:p>
          <a:p>
            <a:pPr marL="0" lvl="0" indent="0">
              <a:buClr>
                <a:srgbClr val="0BD0D9"/>
              </a:buClr>
              <a:buNone/>
            </a:pPr>
            <a:r>
              <a:rPr lang="en-IN" b="1" dirty="0">
                <a:solidFill>
                  <a:srgbClr val="FF0000"/>
                </a:solidFill>
              </a:rPr>
              <a:t>    addition() ; // function call fun calling</a:t>
            </a:r>
          </a:p>
          <a:p>
            <a:pPr marL="0" lvl="0" indent="0">
              <a:buClr>
                <a:srgbClr val="0BD0D9"/>
              </a:buClr>
              <a:buNone/>
            </a:pPr>
            <a:r>
              <a:rPr lang="en-IN" dirty="0">
                <a:solidFill>
                  <a:prstClr val="black"/>
                </a:solidFill>
              </a:rPr>
              <a:t>    </a:t>
            </a:r>
            <a:r>
              <a:rPr lang="en-IN" dirty="0" err="1">
                <a:solidFill>
                  <a:prstClr val="black"/>
                </a:solidFill>
              </a:rPr>
              <a:t>getch</a:t>
            </a:r>
            <a:r>
              <a:rPr lang="en-IN" dirty="0">
                <a:solidFill>
                  <a:prstClr val="black"/>
                </a:solidFill>
              </a:rPr>
              <a:t>() ; </a:t>
            </a:r>
          </a:p>
          <a:p>
            <a:pPr marL="0" lvl="0" indent="0">
              <a:buClr>
                <a:srgbClr val="0BD0D9"/>
              </a:buClr>
              <a:buNone/>
            </a:pPr>
            <a:r>
              <a:rPr lang="en-IN" dirty="0">
                <a:solidFill>
                  <a:prstClr val="black"/>
                </a:solidFill>
              </a:rPr>
              <a:t>} </a:t>
            </a:r>
          </a:p>
          <a:p>
            <a:pPr marL="0" lvl="0" indent="0">
              <a:buClr>
                <a:srgbClr val="0BD0D9"/>
              </a:buClr>
              <a:buNone/>
            </a:pPr>
            <a:r>
              <a:rPr lang="en-IN" b="1" dirty="0">
                <a:solidFill>
                  <a:srgbClr val="FF0000"/>
                </a:solidFill>
              </a:rPr>
              <a:t>void addition() // function definition .function  called</a:t>
            </a:r>
          </a:p>
          <a:p>
            <a:pPr marL="0" lvl="0" indent="0">
              <a:buClr>
                <a:srgbClr val="0BD0D9"/>
              </a:buClr>
              <a:buNone/>
            </a:pPr>
            <a:r>
              <a:rPr lang="en-IN" b="1" dirty="0">
                <a:solidFill>
                  <a:prstClr val="black"/>
                </a:solidFill>
              </a:rPr>
              <a:t>{ </a:t>
            </a:r>
          </a:p>
          <a:p>
            <a:pPr marL="0" lvl="0" indent="0">
              <a:buClr>
                <a:srgbClr val="0BD0D9"/>
              </a:buClr>
              <a:buNone/>
            </a:pPr>
            <a:r>
              <a:rPr lang="en-IN" dirty="0" err="1">
                <a:solidFill>
                  <a:prstClr val="black"/>
                </a:solidFill>
              </a:rPr>
              <a:t>int</a:t>
            </a:r>
            <a:r>
              <a:rPr lang="en-IN" dirty="0">
                <a:solidFill>
                  <a:prstClr val="black"/>
                </a:solidFill>
              </a:rPr>
              <a:t> num1, num2 ; </a:t>
            </a:r>
          </a:p>
          <a:p>
            <a:pPr marL="0" lvl="0" indent="0">
              <a:buClr>
                <a:srgbClr val="0BD0D9"/>
              </a:buClr>
              <a:buNone/>
            </a:pPr>
            <a:r>
              <a:rPr lang="en-IN" dirty="0" err="1">
                <a:solidFill>
                  <a:prstClr val="black"/>
                </a:solidFill>
              </a:rPr>
              <a:t>printf</a:t>
            </a:r>
            <a:r>
              <a:rPr lang="en-IN" dirty="0">
                <a:solidFill>
                  <a:prstClr val="black"/>
                </a:solidFill>
              </a:rPr>
              <a:t>("Enter any two integer numbers : ") ;</a:t>
            </a:r>
          </a:p>
          <a:p>
            <a:pPr marL="0" lvl="0" indent="0">
              <a:buClr>
                <a:srgbClr val="0BD0D9"/>
              </a:buClr>
              <a:buNone/>
            </a:pPr>
            <a:r>
              <a:rPr lang="en-IN" dirty="0">
                <a:solidFill>
                  <a:prstClr val="black"/>
                </a:solidFill>
              </a:rPr>
              <a:t> </a:t>
            </a:r>
            <a:r>
              <a:rPr lang="en-IN" dirty="0" err="1">
                <a:solidFill>
                  <a:prstClr val="black"/>
                </a:solidFill>
              </a:rPr>
              <a:t>scanf</a:t>
            </a:r>
            <a:r>
              <a:rPr lang="en-IN" dirty="0">
                <a:solidFill>
                  <a:prstClr val="black"/>
                </a:solidFill>
              </a:rPr>
              <a:t>("%</a:t>
            </a:r>
            <a:r>
              <a:rPr lang="en-IN" dirty="0" err="1">
                <a:solidFill>
                  <a:prstClr val="black"/>
                </a:solidFill>
              </a:rPr>
              <a:t>d%d</a:t>
            </a:r>
            <a:r>
              <a:rPr lang="en-IN" dirty="0">
                <a:solidFill>
                  <a:prstClr val="black"/>
                </a:solidFill>
              </a:rPr>
              <a:t>", &amp;num1, &amp;num2); </a:t>
            </a:r>
          </a:p>
          <a:p>
            <a:pPr marL="0" lvl="0" indent="0">
              <a:buClr>
                <a:srgbClr val="0BD0D9"/>
              </a:buClr>
              <a:buNone/>
            </a:pPr>
            <a:r>
              <a:rPr lang="en-IN" dirty="0" err="1">
                <a:solidFill>
                  <a:prstClr val="black"/>
                </a:solidFill>
              </a:rPr>
              <a:t>printf</a:t>
            </a:r>
            <a:r>
              <a:rPr lang="en-IN" dirty="0">
                <a:solidFill>
                  <a:prstClr val="black"/>
                </a:solidFill>
              </a:rPr>
              <a:t>("Sum = %d", num1+num2 ) ;</a:t>
            </a:r>
          </a:p>
          <a:p>
            <a:pPr marL="0" lvl="0" indent="0">
              <a:buClr>
                <a:srgbClr val="0BD0D9"/>
              </a:buClr>
              <a:buNone/>
            </a:pPr>
            <a:r>
              <a:rPr lang="en-IN" b="1" dirty="0">
                <a:solidFill>
                  <a:prstClr val="black"/>
                </a:solidFill>
              </a:rPr>
              <a:t> }</a:t>
            </a:r>
            <a:r>
              <a:rPr lang="en-IN" dirty="0">
                <a:solidFill>
                  <a:prstClr val="black"/>
                </a:solidFill>
              </a:rPr>
              <a:t> </a:t>
            </a:r>
          </a:p>
          <a:p>
            <a:endParaRPr lang="en-IN" dirty="0"/>
          </a:p>
        </p:txBody>
      </p:sp>
    </p:spTree>
    <p:extLst>
      <p:ext uri="{BB962C8B-B14F-4D97-AF65-F5344CB8AC3E}">
        <p14:creationId xmlns:p14="http://schemas.microsoft.com/office/powerpoint/2010/main" val="62022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6712"/>
            <a:ext cx="8229600" cy="1010376"/>
          </a:xfrm>
        </p:spPr>
        <p:txBody>
          <a:bodyPr>
            <a:noAutofit/>
          </a:bodyPr>
          <a:lstStyle/>
          <a:p>
            <a:r>
              <a:rPr lang="en-IN" sz="3200" b="1" dirty="0"/>
              <a:t>Function with Parameters and without Return value</a:t>
            </a:r>
            <a:br>
              <a:rPr lang="en-IN" sz="3200" b="1" dirty="0"/>
            </a:br>
            <a:endParaRPr lang="en-IN" sz="3200" dirty="0"/>
          </a:p>
        </p:txBody>
      </p:sp>
      <p:sp>
        <p:nvSpPr>
          <p:cNvPr id="3" name="Content Placeholder 2"/>
          <p:cNvSpPr>
            <a:spLocks noGrp="1"/>
          </p:cNvSpPr>
          <p:nvPr>
            <p:ph idx="1"/>
          </p:nvPr>
        </p:nvSpPr>
        <p:spPr/>
        <p:txBody>
          <a:bodyPr/>
          <a:lstStyle/>
          <a:p>
            <a:r>
              <a:rPr lang="en-IN" dirty="0"/>
              <a:t>In this type of functions there is data transfer from calling-function to called function (parameters) but there is no data transfer from called function to calling-function (return value). </a:t>
            </a:r>
          </a:p>
          <a:p>
            <a:r>
              <a:rPr lang="en-IN" dirty="0"/>
              <a:t>The execution control jumps from calling-function to called function along with the parameters and executes called function, and finally comes back to the calling function. </a:t>
            </a:r>
          </a:p>
          <a:p>
            <a:r>
              <a:rPr lang="en-IN" dirty="0"/>
              <a:t>For example, consider the following program...</a:t>
            </a:r>
          </a:p>
          <a:p>
            <a:endParaRPr lang="en-IN" dirty="0"/>
          </a:p>
        </p:txBody>
      </p:sp>
    </p:spTree>
    <p:extLst>
      <p:ext uri="{BB962C8B-B14F-4D97-AF65-F5344CB8AC3E}">
        <p14:creationId xmlns:p14="http://schemas.microsoft.com/office/powerpoint/2010/main" val="25102797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IN" dirty="0"/>
              <a:t>#include &lt;</a:t>
            </a:r>
            <a:r>
              <a:rPr lang="en-IN" dirty="0" err="1"/>
              <a:t>stdio.h</a:t>
            </a:r>
            <a:r>
              <a:rPr lang="en-IN" dirty="0"/>
              <a:t>&gt; </a:t>
            </a:r>
          </a:p>
          <a:p>
            <a:r>
              <a:rPr lang="en-IN" dirty="0"/>
              <a:t>void fun(</a:t>
            </a:r>
            <a:r>
              <a:rPr lang="en-IN" dirty="0" err="1"/>
              <a:t>int</a:t>
            </a:r>
            <a:r>
              <a:rPr lang="en-IN" dirty="0"/>
              <a:t>);</a:t>
            </a:r>
          </a:p>
          <a:p>
            <a:pPr>
              <a:buNone/>
            </a:pPr>
            <a:r>
              <a:rPr lang="en-IN" dirty="0"/>
              <a:t>    main()</a:t>
            </a:r>
          </a:p>
          <a:p>
            <a:r>
              <a:rPr lang="en-IN" dirty="0"/>
              <a:t>{  </a:t>
            </a:r>
          </a:p>
          <a:p>
            <a:r>
              <a:rPr lang="en-IN" dirty="0"/>
              <a:t>  </a:t>
            </a:r>
            <a:r>
              <a:rPr lang="en-IN" dirty="0" err="1"/>
              <a:t>int</a:t>
            </a:r>
            <a:r>
              <a:rPr lang="en-IN" dirty="0"/>
              <a:t> x=5;  </a:t>
            </a:r>
          </a:p>
          <a:p>
            <a:r>
              <a:rPr lang="en-US" dirty="0" err="1"/>
              <a:t>clrscr</a:t>
            </a:r>
            <a:r>
              <a:rPr lang="en-US" dirty="0"/>
              <a:t>();</a:t>
            </a:r>
            <a:endParaRPr lang="en-IN" dirty="0"/>
          </a:p>
          <a:p>
            <a:r>
              <a:rPr lang="en-IN" dirty="0"/>
              <a:t> </a:t>
            </a:r>
            <a:r>
              <a:rPr lang="en-IN" dirty="0" err="1"/>
              <a:t>printf</a:t>
            </a:r>
            <a:r>
              <a:rPr lang="en-IN" dirty="0"/>
              <a:t>("The  Demonstration program for  passing    parameter/argument to function"); </a:t>
            </a:r>
          </a:p>
          <a:p>
            <a:r>
              <a:rPr lang="en-IN" dirty="0"/>
              <a:t>  fun(x); </a:t>
            </a:r>
          </a:p>
          <a:p>
            <a:r>
              <a:rPr lang="en-IN" dirty="0" err="1"/>
              <a:t>getch</a:t>
            </a:r>
            <a:r>
              <a:rPr lang="en-IN" dirty="0"/>
              <a:t>(); </a:t>
            </a:r>
          </a:p>
          <a:p>
            <a:r>
              <a:rPr lang="en-IN" dirty="0"/>
              <a:t>}</a:t>
            </a:r>
          </a:p>
          <a:p>
            <a:pPr marL="0" indent="0">
              <a:buNone/>
            </a:pPr>
            <a:r>
              <a:rPr lang="en-IN" dirty="0"/>
              <a:t>void fun(</a:t>
            </a:r>
            <a:r>
              <a:rPr lang="en-IN" dirty="0" err="1"/>
              <a:t>int</a:t>
            </a:r>
            <a:r>
              <a:rPr lang="en-IN" dirty="0"/>
              <a:t> x)</a:t>
            </a:r>
          </a:p>
          <a:p>
            <a:pPr marL="0" indent="0">
              <a:buNone/>
            </a:pPr>
            <a:r>
              <a:rPr lang="en-IN" dirty="0"/>
              <a:t>{    </a:t>
            </a:r>
          </a:p>
          <a:p>
            <a:pPr marL="0" indent="0">
              <a:buNone/>
            </a:pPr>
            <a:r>
              <a:rPr lang="en-IN" dirty="0"/>
              <a:t>   </a:t>
            </a:r>
            <a:r>
              <a:rPr lang="en-IN" dirty="0" err="1"/>
              <a:t>printf</a:t>
            </a:r>
            <a:r>
              <a:rPr lang="en-IN" dirty="0"/>
              <a:t>("\</a:t>
            </a:r>
            <a:r>
              <a:rPr lang="en-IN" dirty="0" err="1"/>
              <a:t>nThe</a:t>
            </a:r>
            <a:r>
              <a:rPr lang="en-IN" dirty="0"/>
              <a:t> value of x is=%</a:t>
            </a:r>
            <a:r>
              <a:rPr lang="en-IN" dirty="0" err="1"/>
              <a:t>d",x</a:t>
            </a:r>
            <a:r>
              <a:rPr lang="en-IN" dirty="0"/>
              <a:t>);</a:t>
            </a:r>
          </a:p>
          <a:p>
            <a:pPr marL="0" indent="0">
              <a:buNone/>
            </a:pPr>
            <a:r>
              <a:rPr lang="en-IN" dirty="0"/>
              <a:t>}</a:t>
            </a:r>
          </a:p>
        </p:txBody>
      </p:sp>
    </p:spTree>
    <p:extLst>
      <p:ext uri="{BB962C8B-B14F-4D97-AF65-F5344CB8AC3E}">
        <p14:creationId xmlns:p14="http://schemas.microsoft.com/office/powerpoint/2010/main" val="5677413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a:t>#include &lt;</a:t>
            </a:r>
            <a:r>
              <a:rPr lang="en-US" dirty="0" err="1"/>
              <a:t>stdio.h</a:t>
            </a:r>
            <a:r>
              <a:rPr lang="en-US" dirty="0"/>
              <a:t>&gt;</a:t>
            </a:r>
          </a:p>
          <a:p>
            <a:pPr>
              <a:buNone/>
            </a:pPr>
            <a:r>
              <a:rPr lang="en-US" dirty="0"/>
              <a:t> void fun(</a:t>
            </a:r>
            <a:r>
              <a:rPr lang="en-US" dirty="0" err="1"/>
              <a:t>int,int</a:t>
            </a:r>
            <a:r>
              <a:rPr lang="en-US" dirty="0"/>
              <a:t>);</a:t>
            </a:r>
          </a:p>
          <a:p>
            <a:pPr>
              <a:buNone/>
            </a:pPr>
            <a:r>
              <a:rPr lang="en-US" dirty="0"/>
              <a:t>main()</a:t>
            </a:r>
          </a:p>
          <a:p>
            <a:pPr>
              <a:buNone/>
            </a:pPr>
            <a:r>
              <a:rPr lang="en-US" dirty="0"/>
              <a:t>{    </a:t>
            </a:r>
          </a:p>
          <a:p>
            <a:pPr>
              <a:buNone/>
            </a:pPr>
            <a:r>
              <a:rPr lang="en-US" dirty="0" err="1"/>
              <a:t>int</a:t>
            </a:r>
            <a:r>
              <a:rPr lang="en-US" dirty="0"/>
              <a:t> x=5,y=10;     </a:t>
            </a:r>
          </a:p>
          <a:p>
            <a:pPr>
              <a:buNone/>
            </a:pPr>
            <a:r>
              <a:rPr lang="en-US" dirty="0" err="1"/>
              <a:t>printf</a:t>
            </a:r>
            <a:r>
              <a:rPr lang="en-US" dirty="0"/>
              <a:t>("The  Demonstration program for  passing    parameter/argument to function");   </a:t>
            </a:r>
          </a:p>
          <a:p>
            <a:pPr>
              <a:buNone/>
            </a:pPr>
            <a:r>
              <a:rPr lang="en-US" dirty="0"/>
              <a:t>fun(</a:t>
            </a:r>
            <a:r>
              <a:rPr lang="en-US" dirty="0" err="1"/>
              <a:t>x,y</a:t>
            </a:r>
            <a:r>
              <a:rPr lang="en-US" dirty="0"/>
              <a:t>); </a:t>
            </a:r>
          </a:p>
          <a:p>
            <a:pPr>
              <a:buNone/>
            </a:pPr>
            <a:r>
              <a:rPr lang="en-US" dirty="0"/>
              <a:t>}</a:t>
            </a:r>
          </a:p>
          <a:p>
            <a:pPr>
              <a:buNone/>
            </a:pPr>
            <a:r>
              <a:rPr lang="en-US" dirty="0"/>
              <a:t>void fun(</a:t>
            </a:r>
            <a:r>
              <a:rPr lang="en-US" dirty="0" err="1"/>
              <a:t>int</a:t>
            </a:r>
            <a:r>
              <a:rPr lang="en-US" dirty="0"/>
              <a:t> </a:t>
            </a:r>
            <a:r>
              <a:rPr lang="en-US" dirty="0" err="1"/>
              <a:t>a,int</a:t>
            </a:r>
            <a:r>
              <a:rPr lang="en-US" dirty="0"/>
              <a:t> b)</a:t>
            </a:r>
          </a:p>
          <a:p>
            <a:pPr>
              <a:buNone/>
            </a:pPr>
            <a:r>
              <a:rPr lang="en-US" dirty="0"/>
              <a:t>{     </a:t>
            </a:r>
          </a:p>
          <a:p>
            <a:pPr>
              <a:buNone/>
            </a:pPr>
            <a:r>
              <a:rPr lang="en-US" dirty="0"/>
              <a:t>  </a:t>
            </a:r>
            <a:r>
              <a:rPr lang="en-US" dirty="0" err="1"/>
              <a:t>int</a:t>
            </a:r>
            <a:r>
              <a:rPr lang="en-US" dirty="0"/>
              <a:t> c;  </a:t>
            </a:r>
          </a:p>
          <a:p>
            <a:pPr>
              <a:buNone/>
            </a:pPr>
            <a:r>
              <a:rPr lang="en-US" dirty="0"/>
              <a:t>  c=</a:t>
            </a:r>
            <a:r>
              <a:rPr lang="en-US" dirty="0" err="1"/>
              <a:t>a+b</a:t>
            </a:r>
            <a:r>
              <a:rPr lang="en-US" dirty="0"/>
              <a:t>;  </a:t>
            </a:r>
          </a:p>
          <a:p>
            <a:pPr>
              <a:buNone/>
            </a:pPr>
            <a:r>
              <a:rPr lang="en-US" dirty="0"/>
              <a:t> </a:t>
            </a:r>
            <a:r>
              <a:rPr lang="en-US" dirty="0" err="1"/>
              <a:t>printf</a:t>
            </a:r>
            <a:r>
              <a:rPr lang="en-US" dirty="0"/>
              <a:t>("\</a:t>
            </a:r>
            <a:r>
              <a:rPr lang="en-US" dirty="0" err="1"/>
              <a:t>nThe</a:t>
            </a:r>
            <a:r>
              <a:rPr lang="en-US" dirty="0"/>
              <a:t> value of x is=%</a:t>
            </a:r>
            <a:r>
              <a:rPr lang="en-US" dirty="0" err="1"/>
              <a:t>d",c</a:t>
            </a:r>
            <a:r>
              <a:rPr lang="en-US" dirty="0"/>
              <a:t>);</a:t>
            </a:r>
          </a:p>
          <a:p>
            <a:pPr>
              <a:buNone/>
            </a:pPr>
            <a:r>
              <a:rPr lang="en-US" dirty="0"/>
              <a: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endParaRPr lang="en-IN" dirty="0"/>
          </a:p>
        </p:txBody>
      </p:sp>
      <p:sp>
        <p:nvSpPr>
          <p:cNvPr id="3" name="Content Placeholder 2"/>
          <p:cNvSpPr>
            <a:spLocks noGrp="1"/>
          </p:cNvSpPr>
          <p:nvPr>
            <p:ph idx="1"/>
          </p:nvPr>
        </p:nvSpPr>
        <p:spPr>
          <a:xfrm>
            <a:off x="251520" y="1412776"/>
            <a:ext cx="8435280" cy="5328592"/>
          </a:xfrm>
        </p:spPr>
        <p:txBody>
          <a:bodyPr>
            <a:normAutofit fontScale="62500" lnSpcReduction="20000"/>
          </a:bodyPr>
          <a:lstStyle/>
          <a:p>
            <a:r>
              <a:rPr lang="en-IN" b="1" dirty="0"/>
              <a:t>program to calculate the average of five numbers.</a:t>
            </a:r>
          </a:p>
          <a:p>
            <a:endParaRPr lang="en-IN" dirty="0"/>
          </a:p>
          <a:p>
            <a:r>
              <a:rPr lang="en-IN" dirty="0"/>
              <a:t>#include&lt;</a:t>
            </a:r>
            <a:r>
              <a:rPr lang="en-IN" dirty="0" err="1"/>
              <a:t>stdio.h</a:t>
            </a:r>
            <a:r>
              <a:rPr lang="en-IN" dirty="0"/>
              <a:t>&gt;  </a:t>
            </a:r>
          </a:p>
          <a:p>
            <a:r>
              <a:rPr lang="en-IN" dirty="0"/>
              <a:t>void average(</a:t>
            </a:r>
            <a:r>
              <a:rPr lang="en-IN" dirty="0" err="1"/>
              <a:t>int</a:t>
            </a:r>
            <a:r>
              <a:rPr lang="en-IN" dirty="0"/>
              <a:t>, </a:t>
            </a:r>
            <a:r>
              <a:rPr lang="en-IN" dirty="0" err="1"/>
              <a:t>int</a:t>
            </a:r>
            <a:r>
              <a:rPr lang="en-IN" dirty="0"/>
              <a:t>, </a:t>
            </a:r>
            <a:r>
              <a:rPr lang="en-IN" dirty="0" err="1"/>
              <a:t>int</a:t>
            </a:r>
            <a:r>
              <a:rPr lang="en-IN" dirty="0"/>
              <a:t>, </a:t>
            </a:r>
            <a:r>
              <a:rPr lang="en-IN" dirty="0" err="1"/>
              <a:t>int</a:t>
            </a:r>
            <a:r>
              <a:rPr lang="en-IN" dirty="0"/>
              <a:t>, </a:t>
            </a:r>
            <a:r>
              <a:rPr lang="en-IN" dirty="0" err="1"/>
              <a:t>int</a:t>
            </a:r>
            <a:r>
              <a:rPr lang="en-IN" dirty="0"/>
              <a:t>);  </a:t>
            </a:r>
            <a:r>
              <a:rPr lang="en-IN" dirty="0">
                <a:solidFill>
                  <a:srgbClr val="FF0000"/>
                </a:solidFill>
              </a:rPr>
              <a:t> //function declaration</a:t>
            </a:r>
            <a:endParaRPr lang="en-IN" dirty="0"/>
          </a:p>
          <a:p>
            <a:r>
              <a:rPr lang="en-IN" dirty="0"/>
              <a:t>void main()  </a:t>
            </a:r>
          </a:p>
          <a:p>
            <a:r>
              <a:rPr lang="en-IN" dirty="0"/>
              <a:t>{  </a:t>
            </a:r>
          </a:p>
          <a:p>
            <a:r>
              <a:rPr lang="en-IN" dirty="0"/>
              <a:t>    </a:t>
            </a:r>
            <a:r>
              <a:rPr lang="en-IN" dirty="0" err="1"/>
              <a:t>int</a:t>
            </a:r>
            <a:r>
              <a:rPr lang="en-IN" dirty="0"/>
              <a:t> </a:t>
            </a:r>
            <a:r>
              <a:rPr lang="en-IN" dirty="0" err="1"/>
              <a:t>a,b,c,d,e</a:t>
            </a:r>
            <a:r>
              <a:rPr lang="en-IN" dirty="0"/>
              <a:t>;   </a:t>
            </a:r>
          </a:p>
          <a:p>
            <a:r>
              <a:rPr lang="en-IN" dirty="0"/>
              <a:t>    </a:t>
            </a:r>
            <a:r>
              <a:rPr lang="en-IN" dirty="0" err="1"/>
              <a:t>printf</a:t>
            </a:r>
            <a:r>
              <a:rPr lang="en-IN" dirty="0"/>
              <a:t>("\</a:t>
            </a:r>
            <a:r>
              <a:rPr lang="en-IN" dirty="0" err="1"/>
              <a:t>nGoing</a:t>
            </a:r>
            <a:r>
              <a:rPr lang="en-IN" dirty="0"/>
              <a:t> to calculate the average of five numbers:");  </a:t>
            </a:r>
          </a:p>
          <a:p>
            <a:r>
              <a:rPr lang="en-IN" dirty="0"/>
              <a:t>    </a:t>
            </a:r>
            <a:r>
              <a:rPr lang="en-IN" dirty="0" err="1"/>
              <a:t>printf</a:t>
            </a:r>
            <a:r>
              <a:rPr lang="en-IN" dirty="0"/>
              <a:t>("\</a:t>
            </a:r>
            <a:r>
              <a:rPr lang="en-IN" dirty="0" err="1"/>
              <a:t>nEnter</a:t>
            </a:r>
            <a:r>
              <a:rPr lang="en-IN" dirty="0"/>
              <a:t> five numbers:");  </a:t>
            </a:r>
          </a:p>
          <a:p>
            <a:r>
              <a:rPr lang="en-IN" dirty="0"/>
              <a:t>    </a:t>
            </a:r>
            <a:r>
              <a:rPr lang="en-IN" dirty="0" err="1"/>
              <a:t>scanf</a:t>
            </a:r>
            <a:r>
              <a:rPr lang="en-IN" dirty="0"/>
              <a:t>("%d %d %d %d %</a:t>
            </a:r>
            <a:r>
              <a:rPr lang="en-IN" dirty="0" err="1"/>
              <a:t>d",&amp;a,&amp;b,&amp;c,&amp;d,&amp;e</a:t>
            </a:r>
            <a:r>
              <a:rPr lang="en-IN" dirty="0"/>
              <a:t>);  </a:t>
            </a:r>
          </a:p>
          <a:p>
            <a:r>
              <a:rPr lang="en-IN" dirty="0"/>
              <a:t> </a:t>
            </a:r>
            <a:r>
              <a:rPr lang="en-IN" dirty="0">
                <a:solidFill>
                  <a:srgbClr val="FF0000"/>
                </a:solidFill>
              </a:rPr>
              <a:t>   average(</a:t>
            </a:r>
            <a:r>
              <a:rPr lang="en-IN" dirty="0" err="1">
                <a:solidFill>
                  <a:srgbClr val="FF0000"/>
                </a:solidFill>
              </a:rPr>
              <a:t>a,b,c,d,e</a:t>
            </a:r>
            <a:r>
              <a:rPr lang="en-IN" dirty="0">
                <a:solidFill>
                  <a:srgbClr val="FF0000"/>
                </a:solidFill>
              </a:rPr>
              <a:t>);  // function call </a:t>
            </a:r>
          </a:p>
          <a:p>
            <a:endParaRPr lang="en-IN" dirty="0"/>
          </a:p>
          <a:p>
            <a:r>
              <a:rPr lang="en-IN" dirty="0"/>
              <a:t>}  </a:t>
            </a:r>
          </a:p>
          <a:p>
            <a:endParaRPr lang="en-IN" dirty="0"/>
          </a:p>
          <a:p>
            <a:r>
              <a:rPr lang="en-IN" dirty="0">
                <a:solidFill>
                  <a:srgbClr val="FF0000"/>
                </a:solidFill>
              </a:rPr>
              <a:t>void average(</a:t>
            </a:r>
            <a:r>
              <a:rPr lang="en-IN" dirty="0" err="1">
                <a:solidFill>
                  <a:srgbClr val="FF0000"/>
                </a:solidFill>
              </a:rPr>
              <a:t>int</a:t>
            </a:r>
            <a:r>
              <a:rPr lang="en-IN" dirty="0">
                <a:solidFill>
                  <a:srgbClr val="FF0000"/>
                </a:solidFill>
              </a:rPr>
              <a:t> a, </a:t>
            </a:r>
            <a:r>
              <a:rPr lang="en-IN" dirty="0" err="1">
                <a:solidFill>
                  <a:srgbClr val="FF0000"/>
                </a:solidFill>
              </a:rPr>
              <a:t>int</a:t>
            </a:r>
            <a:r>
              <a:rPr lang="en-IN" dirty="0">
                <a:solidFill>
                  <a:srgbClr val="FF0000"/>
                </a:solidFill>
              </a:rPr>
              <a:t> b, </a:t>
            </a:r>
            <a:r>
              <a:rPr lang="en-IN" dirty="0" err="1">
                <a:solidFill>
                  <a:srgbClr val="FF0000"/>
                </a:solidFill>
              </a:rPr>
              <a:t>int</a:t>
            </a:r>
            <a:r>
              <a:rPr lang="en-IN" dirty="0">
                <a:solidFill>
                  <a:srgbClr val="FF0000"/>
                </a:solidFill>
              </a:rPr>
              <a:t> c, </a:t>
            </a:r>
            <a:r>
              <a:rPr lang="en-IN" dirty="0" err="1">
                <a:solidFill>
                  <a:srgbClr val="FF0000"/>
                </a:solidFill>
              </a:rPr>
              <a:t>int</a:t>
            </a:r>
            <a:r>
              <a:rPr lang="en-IN" dirty="0">
                <a:solidFill>
                  <a:srgbClr val="FF0000"/>
                </a:solidFill>
              </a:rPr>
              <a:t> d, </a:t>
            </a:r>
            <a:r>
              <a:rPr lang="en-IN" dirty="0" err="1">
                <a:solidFill>
                  <a:srgbClr val="FF0000"/>
                </a:solidFill>
              </a:rPr>
              <a:t>int</a:t>
            </a:r>
            <a:r>
              <a:rPr lang="en-IN" dirty="0">
                <a:solidFill>
                  <a:srgbClr val="FF0000"/>
                </a:solidFill>
              </a:rPr>
              <a:t> e)   // function definition</a:t>
            </a:r>
          </a:p>
          <a:p>
            <a:r>
              <a:rPr lang="en-IN" dirty="0"/>
              <a:t>{  </a:t>
            </a:r>
          </a:p>
          <a:p>
            <a:r>
              <a:rPr lang="en-IN" dirty="0"/>
              <a:t>    float </a:t>
            </a:r>
            <a:r>
              <a:rPr lang="en-IN" dirty="0" err="1"/>
              <a:t>avg</a:t>
            </a:r>
            <a:r>
              <a:rPr lang="en-IN" dirty="0"/>
              <a:t>;   </a:t>
            </a:r>
          </a:p>
          <a:p>
            <a:r>
              <a:rPr lang="en-IN" dirty="0"/>
              <a:t>    </a:t>
            </a:r>
            <a:r>
              <a:rPr lang="en-IN" dirty="0" err="1"/>
              <a:t>avg</a:t>
            </a:r>
            <a:r>
              <a:rPr lang="en-IN" dirty="0"/>
              <a:t> = (</a:t>
            </a:r>
            <a:r>
              <a:rPr lang="en-IN" dirty="0" err="1"/>
              <a:t>a+b+c+d+e</a:t>
            </a:r>
            <a:r>
              <a:rPr lang="en-IN" dirty="0"/>
              <a:t>)/5;   </a:t>
            </a:r>
          </a:p>
          <a:p>
            <a:r>
              <a:rPr lang="en-IN" dirty="0"/>
              <a:t>    </a:t>
            </a:r>
            <a:r>
              <a:rPr lang="en-IN" dirty="0" err="1"/>
              <a:t>printf</a:t>
            </a:r>
            <a:r>
              <a:rPr lang="en-IN" dirty="0"/>
              <a:t>("The average of given five numbers : %f",</a:t>
            </a:r>
            <a:r>
              <a:rPr lang="en-IN" dirty="0" err="1"/>
              <a:t>avg</a:t>
            </a:r>
            <a:r>
              <a:rPr lang="en-IN" dirty="0"/>
              <a:t>);  </a:t>
            </a:r>
          </a:p>
          <a:p>
            <a:r>
              <a:rPr lang="en-IN" dirty="0"/>
              <a:t>}  </a:t>
            </a:r>
          </a:p>
          <a:p>
            <a:endParaRPr lang="en-IN" dirty="0"/>
          </a:p>
        </p:txBody>
      </p:sp>
    </p:spTree>
    <p:extLst>
      <p:ext uri="{BB962C8B-B14F-4D97-AF65-F5344CB8AC3E}">
        <p14:creationId xmlns:p14="http://schemas.microsoft.com/office/powerpoint/2010/main" val="242763285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288032"/>
          </a:xfrm>
        </p:spPr>
        <p:txBody>
          <a:bodyPr>
            <a:normAutofit fontScale="90000"/>
          </a:bodyPr>
          <a:lstStyle/>
          <a:p>
            <a:endParaRPr lang="en-IN" dirty="0"/>
          </a:p>
        </p:txBody>
      </p:sp>
      <p:sp>
        <p:nvSpPr>
          <p:cNvPr id="3" name="Content Placeholder 2"/>
          <p:cNvSpPr>
            <a:spLocks noGrp="1"/>
          </p:cNvSpPr>
          <p:nvPr>
            <p:ph idx="1"/>
          </p:nvPr>
        </p:nvSpPr>
        <p:spPr>
          <a:xfrm>
            <a:off x="323528" y="548680"/>
            <a:ext cx="8363272" cy="6309320"/>
          </a:xfrm>
        </p:spPr>
        <p:txBody>
          <a:bodyPr>
            <a:normAutofit fontScale="40000" lnSpcReduction="20000"/>
          </a:bodyPr>
          <a:lstStyle/>
          <a:p>
            <a:r>
              <a:rPr lang="en-IN" b="1" dirty="0"/>
              <a:t>What is Fibonacci series?</a:t>
            </a:r>
          </a:p>
          <a:p>
            <a:r>
              <a:rPr lang="en-IN" sz="3800" i="1" dirty="0"/>
              <a:t>Fibonacci series</a:t>
            </a:r>
            <a:r>
              <a:rPr lang="en-IN" sz="3800" dirty="0"/>
              <a:t> is a series of numbers where the current number is the sum of previous two terms. For Example: 0, 1, 1, 2, 3, 5, 8, 13, 21, ... , (n-1th + n-2th)</a:t>
            </a:r>
          </a:p>
          <a:p>
            <a:pPr marL="0" indent="0">
              <a:buNone/>
            </a:pPr>
            <a:endParaRPr lang="en-US" sz="3800" dirty="0"/>
          </a:p>
          <a:p>
            <a:pPr marL="0" indent="0">
              <a:buNone/>
            </a:pPr>
            <a:endParaRPr lang="en-IN" dirty="0"/>
          </a:p>
          <a:p>
            <a:pPr marL="0" indent="0">
              <a:buNone/>
            </a:pPr>
            <a:endParaRPr lang="en-IN" sz="2900" dirty="0"/>
          </a:p>
          <a:p>
            <a:pPr marL="0" indent="0">
              <a:buNone/>
            </a:pPr>
            <a:r>
              <a:rPr lang="en-IN" sz="2900" dirty="0"/>
              <a:t>#include&lt;</a:t>
            </a:r>
            <a:r>
              <a:rPr lang="en-IN" sz="2900" dirty="0" err="1"/>
              <a:t>stdio.h</a:t>
            </a:r>
            <a:r>
              <a:rPr lang="en-IN" sz="2900" dirty="0"/>
              <a:t>&gt;</a:t>
            </a:r>
          </a:p>
          <a:p>
            <a:pPr marL="0" indent="0">
              <a:buNone/>
            </a:pPr>
            <a:r>
              <a:rPr lang="en-IN" sz="2900" dirty="0"/>
              <a:t>void </a:t>
            </a:r>
            <a:r>
              <a:rPr lang="en-IN" sz="2900" dirty="0" err="1"/>
              <a:t>fibb</a:t>
            </a:r>
            <a:r>
              <a:rPr lang="en-IN" sz="2900" dirty="0"/>
              <a:t>(</a:t>
            </a:r>
            <a:r>
              <a:rPr lang="en-IN" sz="2900" dirty="0" err="1"/>
              <a:t>int</a:t>
            </a:r>
            <a:r>
              <a:rPr lang="en-IN" sz="2900" dirty="0"/>
              <a:t>); </a:t>
            </a:r>
          </a:p>
          <a:p>
            <a:pPr marL="0" indent="0">
              <a:buNone/>
            </a:pPr>
            <a:r>
              <a:rPr lang="en-IN" sz="2900" dirty="0"/>
              <a:t>void main()</a:t>
            </a:r>
          </a:p>
          <a:p>
            <a:pPr marL="0" indent="0">
              <a:buNone/>
            </a:pPr>
            <a:r>
              <a:rPr lang="en-IN" sz="2900" dirty="0"/>
              <a:t>{   </a:t>
            </a:r>
          </a:p>
          <a:p>
            <a:pPr marL="0" indent="0">
              <a:buNone/>
            </a:pPr>
            <a:r>
              <a:rPr lang="en-IN" sz="2900" dirty="0"/>
              <a:t>  </a:t>
            </a:r>
            <a:r>
              <a:rPr lang="en-IN" sz="2900" dirty="0" err="1"/>
              <a:t>int</a:t>
            </a:r>
            <a:r>
              <a:rPr lang="en-IN" sz="2900" dirty="0"/>
              <a:t> </a:t>
            </a:r>
            <a:r>
              <a:rPr lang="en-IN" sz="2900" dirty="0" err="1"/>
              <a:t>n,fib</a:t>
            </a:r>
            <a:r>
              <a:rPr lang="en-IN" sz="2900" dirty="0"/>
              <a:t>;    </a:t>
            </a:r>
          </a:p>
          <a:p>
            <a:pPr marL="0" indent="0">
              <a:buNone/>
            </a:pPr>
            <a:r>
              <a:rPr lang="en-IN" sz="2900" dirty="0"/>
              <a:t>  </a:t>
            </a:r>
            <a:r>
              <a:rPr lang="en-IN" sz="2900" dirty="0" err="1"/>
              <a:t>printf</a:t>
            </a:r>
            <a:r>
              <a:rPr lang="en-IN" sz="2900" dirty="0"/>
              <a:t>("Enter the numbers");    </a:t>
            </a:r>
          </a:p>
          <a:p>
            <a:pPr marL="0" indent="0">
              <a:buNone/>
            </a:pPr>
            <a:r>
              <a:rPr lang="en-IN" sz="2900" dirty="0"/>
              <a:t>  </a:t>
            </a:r>
            <a:r>
              <a:rPr lang="en-IN" sz="2900" dirty="0" err="1"/>
              <a:t>scanf</a:t>
            </a:r>
            <a:r>
              <a:rPr lang="en-IN" sz="2900" dirty="0"/>
              <a:t>("%</a:t>
            </a:r>
            <a:r>
              <a:rPr lang="en-IN" sz="2900" dirty="0" err="1"/>
              <a:t>d",&amp;n</a:t>
            </a:r>
            <a:r>
              <a:rPr lang="en-IN" sz="2900" dirty="0"/>
              <a:t>);    </a:t>
            </a:r>
          </a:p>
          <a:p>
            <a:pPr marL="0" indent="0">
              <a:buNone/>
            </a:pPr>
            <a:r>
              <a:rPr lang="en-IN" sz="2900" dirty="0"/>
              <a:t>   </a:t>
            </a:r>
            <a:r>
              <a:rPr lang="en-IN" sz="2900" dirty="0" err="1"/>
              <a:t>fibb</a:t>
            </a:r>
            <a:r>
              <a:rPr lang="en-IN" sz="2900" dirty="0"/>
              <a:t>(n); </a:t>
            </a:r>
          </a:p>
          <a:p>
            <a:pPr marL="0" indent="0">
              <a:buNone/>
            </a:pPr>
            <a:r>
              <a:rPr lang="en-IN" sz="2900" dirty="0"/>
              <a:t>} </a:t>
            </a:r>
          </a:p>
          <a:p>
            <a:pPr marL="0" indent="0">
              <a:buNone/>
            </a:pPr>
            <a:r>
              <a:rPr lang="en-IN" sz="2900" dirty="0"/>
              <a:t>void </a:t>
            </a:r>
            <a:r>
              <a:rPr lang="en-IN" sz="2900" dirty="0" err="1"/>
              <a:t>fibb</a:t>
            </a:r>
            <a:r>
              <a:rPr lang="en-IN" sz="2900" dirty="0"/>
              <a:t>(</a:t>
            </a:r>
            <a:r>
              <a:rPr lang="en-IN" sz="2900" dirty="0" err="1"/>
              <a:t>int</a:t>
            </a:r>
            <a:r>
              <a:rPr lang="en-IN" sz="2900" dirty="0"/>
              <a:t> s)  </a:t>
            </a:r>
          </a:p>
          <a:p>
            <a:pPr marL="0" indent="0">
              <a:buNone/>
            </a:pPr>
            <a:r>
              <a:rPr lang="en-IN" sz="2900" dirty="0"/>
              <a:t> {</a:t>
            </a:r>
          </a:p>
          <a:p>
            <a:pPr marL="0" indent="0">
              <a:buNone/>
            </a:pPr>
            <a:r>
              <a:rPr lang="en-IN" sz="2900" dirty="0"/>
              <a:t>    </a:t>
            </a:r>
            <a:r>
              <a:rPr lang="en-IN" sz="2900" dirty="0" err="1"/>
              <a:t>int</a:t>
            </a:r>
            <a:r>
              <a:rPr lang="en-IN" sz="2900" dirty="0"/>
              <a:t> </a:t>
            </a:r>
            <a:r>
              <a:rPr lang="en-IN" sz="2900" dirty="0" err="1"/>
              <a:t>a,b,c,i,n</a:t>
            </a:r>
            <a:r>
              <a:rPr lang="en-IN" sz="2900" dirty="0"/>
              <a:t>;    </a:t>
            </a:r>
          </a:p>
          <a:p>
            <a:pPr marL="0" indent="0">
              <a:buNone/>
            </a:pPr>
            <a:r>
              <a:rPr lang="en-IN" sz="2900" dirty="0"/>
              <a:t>     a=0;   </a:t>
            </a:r>
          </a:p>
          <a:p>
            <a:pPr marL="0" indent="0">
              <a:buNone/>
            </a:pPr>
            <a:r>
              <a:rPr lang="en-IN" sz="2900" dirty="0"/>
              <a:t>     b=1;   </a:t>
            </a:r>
          </a:p>
          <a:p>
            <a:pPr marL="0" indent="0">
              <a:buNone/>
            </a:pPr>
            <a:r>
              <a:rPr lang="en-IN" sz="2900" dirty="0"/>
              <a:t>     c=0;        </a:t>
            </a:r>
          </a:p>
          <a:p>
            <a:pPr marL="0" indent="0">
              <a:buNone/>
            </a:pPr>
            <a:r>
              <a:rPr lang="en-IN" sz="2900" dirty="0"/>
              <a:t>   for(i=0;i&lt;</a:t>
            </a:r>
            <a:r>
              <a:rPr lang="en-IN" sz="2900" dirty="0" err="1"/>
              <a:t>s;i</a:t>
            </a:r>
            <a:r>
              <a:rPr lang="en-IN" sz="2900" dirty="0"/>
              <a:t>++)   </a:t>
            </a:r>
          </a:p>
          <a:p>
            <a:pPr marL="0" indent="0">
              <a:buNone/>
            </a:pPr>
            <a:r>
              <a:rPr lang="en-IN" sz="2900" dirty="0"/>
              <a:t>       {  </a:t>
            </a:r>
          </a:p>
          <a:p>
            <a:pPr marL="0" indent="0">
              <a:buNone/>
            </a:pPr>
            <a:r>
              <a:rPr lang="en-IN" sz="2900" dirty="0"/>
              <a:t>           </a:t>
            </a:r>
            <a:r>
              <a:rPr lang="en-IN" sz="2900" dirty="0" err="1"/>
              <a:t>printf</a:t>
            </a:r>
            <a:r>
              <a:rPr lang="en-IN" sz="2900" dirty="0"/>
              <a:t>("%</a:t>
            </a:r>
            <a:r>
              <a:rPr lang="en-IN" sz="2900" dirty="0" err="1"/>
              <a:t>d,",c</a:t>
            </a:r>
            <a:r>
              <a:rPr lang="en-IN" sz="2900" dirty="0"/>
              <a:t>);           </a:t>
            </a:r>
          </a:p>
          <a:p>
            <a:pPr marL="0" indent="0">
              <a:buNone/>
            </a:pPr>
            <a:r>
              <a:rPr lang="en-IN" sz="2900" dirty="0"/>
              <a:t>            a=b;       </a:t>
            </a:r>
          </a:p>
          <a:p>
            <a:pPr marL="0" indent="0">
              <a:buNone/>
            </a:pPr>
            <a:r>
              <a:rPr lang="en-IN" sz="2900" dirty="0"/>
              <a:t>            b=c;        </a:t>
            </a:r>
          </a:p>
          <a:p>
            <a:pPr marL="0" indent="0">
              <a:buNone/>
            </a:pPr>
            <a:r>
              <a:rPr lang="en-IN" sz="2900" dirty="0"/>
              <a:t>           c=</a:t>
            </a:r>
            <a:r>
              <a:rPr lang="en-IN" sz="2900" dirty="0" err="1"/>
              <a:t>a+b</a:t>
            </a:r>
            <a:r>
              <a:rPr lang="en-IN" sz="2900" dirty="0"/>
              <a:t>;      </a:t>
            </a:r>
          </a:p>
          <a:p>
            <a:pPr marL="0" indent="0">
              <a:buNone/>
            </a:pPr>
            <a:r>
              <a:rPr lang="en-IN" sz="2900" dirty="0"/>
              <a:t>  } </a:t>
            </a:r>
          </a:p>
          <a:p>
            <a:pPr marL="0" indent="0">
              <a:buNone/>
            </a:pPr>
            <a:r>
              <a:rPr lang="en-IN" sz="2900" dirty="0"/>
              <a:t> }</a:t>
            </a:r>
          </a:p>
        </p:txBody>
      </p:sp>
    </p:spTree>
    <p:extLst>
      <p:ext uri="{BB962C8B-B14F-4D97-AF65-F5344CB8AC3E}">
        <p14:creationId xmlns:p14="http://schemas.microsoft.com/office/powerpoint/2010/main" val="367276986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79512" y="1935480"/>
            <a:ext cx="8964488" cy="4389120"/>
          </a:xfrm>
        </p:spPr>
        <p:txBody>
          <a:bodyPr>
            <a:normAutofit fontScale="55000" lnSpcReduction="20000"/>
          </a:bodyPr>
          <a:lstStyle/>
          <a:p>
            <a:pPr marL="0" indent="0">
              <a:buNone/>
            </a:pPr>
            <a:r>
              <a:rPr lang="en-IN" sz="2800" dirty="0"/>
              <a:t> </a:t>
            </a:r>
            <a:r>
              <a:rPr lang="en-IN" sz="2800" dirty="0" err="1"/>
              <a:t>int</a:t>
            </a:r>
            <a:r>
              <a:rPr lang="en-IN" sz="2800" dirty="0"/>
              <a:t> </a:t>
            </a:r>
            <a:r>
              <a:rPr lang="en-IN" sz="2800" dirty="0" err="1"/>
              <a:t>a,b,c,i,n</a:t>
            </a:r>
            <a:r>
              <a:rPr lang="en-IN" sz="2800" dirty="0"/>
              <a:t>;    </a:t>
            </a:r>
          </a:p>
          <a:p>
            <a:pPr marL="0" indent="0">
              <a:buNone/>
            </a:pPr>
            <a:r>
              <a:rPr lang="en-IN" sz="2800" dirty="0"/>
              <a:t>     a=0;   </a:t>
            </a:r>
          </a:p>
          <a:p>
            <a:pPr marL="0" indent="0">
              <a:buNone/>
            </a:pPr>
            <a:r>
              <a:rPr lang="en-IN" sz="2800" dirty="0"/>
              <a:t>     b=1;   </a:t>
            </a:r>
          </a:p>
          <a:p>
            <a:pPr marL="0" indent="0">
              <a:buNone/>
            </a:pPr>
            <a:r>
              <a:rPr lang="en-IN" sz="2800" dirty="0"/>
              <a:t>     c=0;        </a:t>
            </a:r>
          </a:p>
          <a:p>
            <a:pPr marL="0" indent="0">
              <a:buNone/>
            </a:pPr>
            <a:r>
              <a:rPr lang="en-IN" sz="2800" dirty="0"/>
              <a:t>   for(</a:t>
            </a:r>
            <a:r>
              <a:rPr lang="en-IN" sz="2800" dirty="0" err="1"/>
              <a:t>i</a:t>
            </a:r>
            <a:r>
              <a:rPr lang="en-IN" sz="2800" dirty="0"/>
              <a:t>=0;i&lt;4;i++)   </a:t>
            </a:r>
          </a:p>
          <a:p>
            <a:pPr marL="0" indent="0">
              <a:buNone/>
            </a:pPr>
            <a:r>
              <a:rPr lang="en-IN" sz="2800" dirty="0"/>
              <a:t>       {  </a:t>
            </a:r>
          </a:p>
          <a:p>
            <a:pPr marL="0" indent="0">
              <a:buNone/>
            </a:pPr>
            <a:r>
              <a:rPr lang="en-IN" sz="2800" dirty="0"/>
              <a:t>           </a:t>
            </a:r>
            <a:r>
              <a:rPr lang="en-IN" sz="2800" dirty="0" err="1"/>
              <a:t>printf</a:t>
            </a:r>
            <a:r>
              <a:rPr lang="en-IN" sz="2800" dirty="0"/>
              <a:t>("%</a:t>
            </a:r>
            <a:r>
              <a:rPr lang="en-IN" sz="2800" dirty="0" err="1"/>
              <a:t>d,",c</a:t>
            </a:r>
            <a:r>
              <a:rPr lang="en-IN" sz="2800" dirty="0"/>
              <a:t>);           </a:t>
            </a:r>
          </a:p>
          <a:p>
            <a:pPr marL="0" indent="0">
              <a:buNone/>
            </a:pPr>
            <a:r>
              <a:rPr lang="en-IN" sz="2800" dirty="0"/>
              <a:t>            a=b;       </a:t>
            </a:r>
          </a:p>
          <a:p>
            <a:pPr marL="0" indent="0">
              <a:buNone/>
            </a:pPr>
            <a:r>
              <a:rPr lang="en-IN" sz="2800" dirty="0"/>
              <a:t>            b=c;        </a:t>
            </a:r>
          </a:p>
          <a:p>
            <a:pPr marL="0" indent="0">
              <a:buNone/>
            </a:pPr>
            <a:r>
              <a:rPr lang="en-IN" sz="2800" dirty="0"/>
              <a:t>           c=</a:t>
            </a:r>
            <a:r>
              <a:rPr lang="en-IN" sz="2800" dirty="0" err="1"/>
              <a:t>a+b</a:t>
            </a:r>
            <a:r>
              <a:rPr lang="en-IN" sz="2800" dirty="0"/>
              <a:t>; }</a:t>
            </a:r>
          </a:p>
          <a:p>
            <a:pPr marL="0" indent="0">
              <a:buNone/>
            </a:pPr>
            <a:endParaRPr lang="en-IN" sz="2800" dirty="0"/>
          </a:p>
          <a:p>
            <a:pPr marL="0" indent="0">
              <a:buNone/>
            </a:pPr>
            <a:r>
              <a:rPr lang="en-IN" sz="2800" dirty="0"/>
              <a:t>o/p  0,1,1,2</a:t>
            </a:r>
          </a:p>
          <a:p>
            <a:pPr marL="0" indent="0">
              <a:buNone/>
            </a:pPr>
            <a:r>
              <a:rPr lang="en-IN" sz="2800" dirty="0"/>
              <a:t>O=&gt;  a=1,b=0,c=1+0=1</a:t>
            </a:r>
          </a:p>
          <a:p>
            <a:pPr marL="0" indent="0">
              <a:buNone/>
            </a:pPr>
            <a:r>
              <a:rPr lang="en-IN" sz="2800" dirty="0"/>
              <a:t>1 =&gt; a=0,b=1,c=1</a:t>
            </a:r>
          </a:p>
          <a:p>
            <a:pPr marL="0" indent="0">
              <a:buNone/>
            </a:pPr>
            <a:r>
              <a:rPr lang="en-IN" sz="2800" dirty="0"/>
              <a:t>2 =&gt;a=1,b=1,c=2</a:t>
            </a:r>
          </a:p>
          <a:p>
            <a:pPr marL="0" indent="0">
              <a:buNone/>
            </a:pPr>
            <a:r>
              <a:rPr lang="en-IN" sz="2800" dirty="0"/>
              <a:t> 3=&gt;   a=1, b=2,c=3</a:t>
            </a:r>
          </a:p>
          <a:p>
            <a:pPr marL="0" indent="0">
              <a:buNone/>
            </a:pPr>
            <a:r>
              <a:rPr lang="en-IN" sz="2800" dirty="0"/>
              <a:t>4</a:t>
            </a:r>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r>
              <a:rPr lang="en-IN" dirty="0"/>
              <a:t>#include&lt;</a:t>
            </a:r>
            <a:r>
              <a:rPr lang="en-IN" dirty="0" err="1"/>
              <a:t>stdio.h</a:t>
            </a:r>
            <a:r>
              <a:rPr lang="en-IN" dirty="0"/>
              <a:t>&gt;</a:t>
            </a:r>
          </a:p>
          <a:p>
            <a:r>
              <a:rPr lang="en-IN" dirty="0"/>
              <a:t>#include&lt;</a:t>
            </a:r>
            <a:r>
              <a:rPr lang="en-IN" dirty="0" err="1"/>
              <a:t>conio.h</a:t>
            </a:r>
            <a:r>
              <a:rPr lang="en-IN" dirty="0"/>
              <a:t>&gt;</a:t>
            </a:r>
          </a:p>
          <a:p>
            <a:endParaRPr lang="en-IN" dirty="0"/>
          </a:p>
          <a:p>
            <a:r>
              <a:rPr lang="en-IN" dirty="0"/>
              <a:t>void main(){</a:t>
            </a:r>
          </a:p>
          <a:p>
            <a:r>
              <a:rPr lang="en-IN" dirty="0"/>
              <a:t>   </a:t>
            </a:r>
            <a:r>
              <a:rPr lang="en-IN" dirty="0" err="1"/>
              <a:t>int</a:t>
            </a:r>
            <a:r>
              <a:rPr lang="en-IN" dirty="0"/>
              <a:t> num1, num2 ;</a:t>
            </a:r>
          </a:p>
          <a:p>
            <a:r>
              <a:rPr lang="en-IN" dirty="0">
                <a:solidFill>
                  <a:srgbClr val="FF0000"/>
                </a:solidFill>
              </a:rPr>
              <a:t>   void addition(</a:t>
            </a:r>
            <a:r>
              <a:rPr lang="en-IN" dirty="0" err="1">
                <a:solidFill>
                  <a:srgbClr val="FF0000"/>
                </a:solidFill>
              </a:rPr>
              <a:t>int</a:t>
            </a:r>
            <a:r>
              <a:rPr lang="en-IN" dirty="0">
                <a:solidFill>
                  <a:srgbClr val="FF0000"/>
                </a:solidFill>
              </a:rPr>
              <a:t>, </a:t>
            </a:r>
            <a:r>
              <a:rPr lang="en-IN" dirty="0" err="1">
                <a:solidFill>
                  <a:srgbClr val="FF0000"/>
                </a:solidFill>
              </a:rPr>
              <a:t>int</a:t>
            </a:r>
            <a:r>
              <a:rPr lang="en-IN" dirty="0">
                <a:solidFill>
                  <a:srgbClr val="FF0000"/>
                </a:solidFill>
              </a:rPr>
              <a:t>) ; // function declaration</a:t>
            </a:r>
          </a:p>
          <a:p>
            <a:r>
              <a:rPr lang="en-IN" dirty="0"/>
              <a:t>   </a:t>
            </a:r>
            <a:r>
              <a:rPr lang="en-IN" dirty="0" err="1"/>
              <a:t>clrscr</a:t>
            </a:r>
            <a:r>
              <a:rPr lang="en-IN" dirty="0"/>
              <a:t>() ;</a:t>
            </a:r>
          </a:p>
          <a:p>
            <a:r>
              <a:rPr lang="en-IN" dirty="0"/>
              <a:t>   </a:t>
            </a:r>
            <a:r>
              <a:rPr lang="en-IN" dirty="0" err="1"/>
              <a:t>printf</a:t>
            </a:r>
            <a:r>
              <a:rPr lang="en-IN" dirty="0"/>
              <a:t>("Enter any two integer numbers : ") ;</a:t>
            </a:r>
          </a:p>
          <a:p>
            <a:r>
              <a:rPr lang="en-IN" dirty="0"/>
              <a:t>   </a:t>
            </a:r>
            <a:r>
              <a:rPr lang="en-IN" dirty="0" err="1"/>
              <a:t>scanf</a:t>
            </a:r>
            <a:r>
              <a:rPr lang="en-IN" dirty="0"/>
              <a:t>("%</a:t>
            </a:r>
            <a:r>
              <a:rPr lang="en-IN" dirty="0" err="1"/>
              <a:t>d%d</a:t>
            </a:r>
            <a:r>
              <a:rPr lang="en-IN" dirty="0"/>
              <a:t>", &amp;num1, &amp;num2);</a:t>
            </a:r>
          </a:p>
          <a:p>
            <a:r>
              <a:rPr lang="en-IN" dirty="0"/>
              <a:t>   </a:t>
            </a:r>
          </a:p>
          <a:p>
            <a:r>
              <a:rPr lang="en-IN" dirty="0"/>
              <a:t>   </a:t>
            </a:r>
            <a:r>
              <a:rPr lang="en-IN" dirty="0">
                <a:solidFill>
                  <a:srgbClr val="FF0000"/>
                </a:solidFill>
              </a:rPr>
              <a:t>addition(num1, num2) ; // function call </a:t>
            </a:r>
          </a:p>
          <a:p>
            <a:r>
              <a:rPr lang="en-IN" dirty="0"/>
              <a:t>   </a:t>
            </a:r>
          </a:p>
          <a:p>
            <a:r>
              <a:rPr lang="en-IN" dirty="0"/>
              <a:t>   </a:t>
            </a:r>
            <a:r>
              <a:rPr lang="en-IN" dirty="0" err="1"/>
              <a:t>getch</a:t>
            </a:r>
            <a:r>
              <a:rPr lang="en-IN" dirty="0"/>
              <a:t>() ;</a:t>
            </a:r>
          </a:p>
          <a:p>
            <a:r>
              <a:rPr lang="en-IN" dirty="0"/>
              <a:t>}</a:t>
            </a:r>
          </a:p>
          <a:p>
            <a:r>
              <a:rPr lang="en-IN" dirty="0">
                <a:solidFill>
                  <a:srgbClr val="FF0000"/>
                </a:solidFill>
              </a:rPr>
              <a:t>void addition(</a:t>
            </a:r>
            <a:r>
              <a:rPr lang="en-IN" dirty="0" err="1">
                <a:solidFill>
                  <a:srgbClr val="FF0000"/>
                </a:solidFill>
              </a:rPr>
              <a:t>int</a:t>
            </a:r>
            <a:r>
              <a:rPr lang="en-IN" dirty="0">
                <a:solidFill>
                  <a:srgbClr val="FF0000"/>
                </a:solidFill>
              </a:rPr>
              <a:t> a, </a:t>
            </a:r>
            <a:r>
              <a:rPr lang="en-IN" dirty="0" err="1">
                <a:solidFill>
                  <a:srgbClr val="FF0000"/>
                </a:solidFill>
              </a:rPr>
              <a:t>int</a:t>
            </a:r>
            <a:r>
              <a:rPr lang="en-IN" dirty="0">
                <a:solidFill>
                  <a:srgbClr val="FF0000"/>
                </a:solidFill>
              </a:rPr>
              <a:t> b)  // function definition</a:t>
            </a:r>
          </a:p>
          <a:p>
            <a:r>
              <a:rPr lang="en-IN" dirty="0"/>
              <a:t>{</a:t>
            </a:r>
          </a:p>
          <a:p>
            <a:r>
              <a:rPr lang="en-IN" dirty="0"/>
              <a:t>   </a:t>
            </a:r>
            <a:r>
              <a:rPr lang="en-IN" dirty="0" err="1"/>
              <a:t>printf</a:t>
            </a:r>
            <a:r>
              <a:rPr lang="en-IN" dirty="0"/>
              <a:t>("Sum = %d", </a:t>
            </a:r>
            <a:r>
              <a:rPr lang="en-IN" dirty="0" err="1"/>
              <a:t>a+b</a:t>
            </a:r>
            <a:r>
              <a:rPr lang="en-IN" dirty="0"/>
              <a:t> ) ;</a:t>
            </a:r>
          </a:p>
          <a:p>
            <a:r>
              <a:rPr lang="en-IN" dirty="0"/>
              <a:t>}</a:t>
            </a:r>
          </a:p>
        </p:txBody>
      </p:sp>
    </p:spTree>
    <p:extLst>
      <p:ext uri="{BB962C8B-B14F-4D97-AF65-F5344CB8AC3E}">
        <p14:creationId xmlns:p14="http://schemas.microsoft.com/office/powerpoint/2010/main" val="195049736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b="1" dirty="0"/>
              <a:t>Function without Parameters and with Return value</a:t>
            </a:r>
            <a:br>
              <a:rPr lang="en-IN" sz="3200" b="1" dirty="0"/>
            </a:br>
            <a:endParaRPr lang="en-IN" sz="3200" dirty="0"/>
          </a:p>
        </p:txBody>
      </p:sp>
      <p:sp>
        <p:nvSpPr>
          <p:cNvPr id="3" name="Content Placeholder 2"/>
          <p:cNvSpPr>
            <a:spLocks noGrp="1"/>
          </p:cNvSpPr>
          <p:nvPr>
            <p:ph idx="1"/>
          </p:nvPr>
        </p:nvSpPr>
        <p:spPr>
          <a:xfrm>
            <a:off x="457200" y="1412776"/>
            <a:ext cx="8229600" cy="4911824"/>
          </a:xfrm>
        </p:spPr>
        <p:txBody>
          <a:bodyPr/>
          <a:lstStyle/>
          <a:p>
            <a:r>
              <a:rPr lang="en-IN" dirty="0"/>
              <a:t>In this type of functions there is no data transfer from calling-function to called-function (parameters) but there is data transfer from called function to calling-function (return value). </a:t>
            </a:r>
          </a:p>
          <a:p>
            <a:r>
              <a:rPr lang="en-IN" dirty="0"/>
              <a:t>The execution control jumps from calling-function to called function and executes called function, and finally comes back to the calling function along with a return value. </a:t>
            </a:r>
          </a:p>
          <a:p>
            <a:r>
              <a:rPr lang="en-IN" dirty="0"/>
              <a:t>For example, consider the following program...</a:t>
            </a:r>
          </a:p>
          <a:p>
            <a:endParaRPr lang="en-IN" dirty="0"/>
          </a:p>
        </p:txBody>
      </p:sp>
    </p:spTree>
    <p:extLst>
      <p:ext uri="{BB962C8B-B14F-4D97-AF65-F5344CB8AC3E}">
        <p14:creationId xmlns:p14="http://schemas.microsoft.com/office/powerpoint/2010/main" val="28903712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92664"/>
          </a:xfrm>
        </p:spPr>
        <p:txBody>
          <a:bodyPr>
            <a:normAutofit fontScale="90000"/>
          </a:bodyPr>
          <a:lstStyle/>
          <a:p>
            <a:r>
              <a:rPr lang="en-US" dirty="0"/>
              <a:t>Find Cube of A no</a:t>
            </a:r>
            <a:endParaRPr lang="en-IN" dirty="0"/>
          </a:p>
        </p:txBody>
      </p:sp>
      <p:sp>
        <p:nvSpPr>
          <p:cNvPr id="3" name="Content Placeholder 2"/>
          <p:cNvSpPr>
            <a:spLocks noGrp="1"/>
          </p:cNvSpPr>
          <p:nvPr>
            <p:ph idx="1"/>
          </p:nvPr>
        </p:nvSpPr>
        <p:spPr>
          <a:xfrm>
            <a:off x="457200" y="1340768"/>
            <a:ext cx="8229600" cy="4983832"/>
          </a:xfrm>
        </p:spPr>
        <p:txBody>
          <a:bodyPr>
            <a:normAutofit fontScale="70000" lnSpcReduction="20000"/>
          </a:bodyPr>
          <a:lstStyle/>
          <a:p>
            <a:pPr marL="0" indent="0">
              <a:buNone/>
            </a:pPr>
            <a:r>
              <a:rPr lang="en-IN" dirty="0"/>
              <a:t>#include &lt;</a:t>
            </a:r>
            <a:r>
              <a:rPr lang="en-IN" dirty="0" err="1"/>
              <a:t>stdio.h</a:t>
            </a:r>
            <a:r>
              <a:rPr lang="en-IN" dirty="0"/>
              <a:t>&gt;</a:t>
            </a:r>
          </a:p>
          <a:p>
            <a:pPr marL="0" indent="0">
              <a:buNone/>
            </a:pPr>
            <a:r>
              <a:rPr lang="en-IN" dirty="0" err="1"/>
              <a:t>int</a:t>
            </a:r>
            <a:r>
              <a:rPr lang="en-IN" dirty="0"/>
              <a:t> cube();/fun declaration</a:t>
            </a:r>
          </a:p>
          <a:p>
            <a:pPr marL="0" indent="0">
              <a:buNone/>
            </a:pPr>
            <a:r>
              <a:rPr lang="en-IN" dirty="0"/>
              <a:t> main()</a:t>
            </a:r>
          </a:p>
          <a:p>
            <a:pPr marL="0" indent="0">
              <a:buNone/>
            </a:pPr>
            <a:r>
              <a:rPr lang="en-IN" dirty="0"/>
              <a:t>{   </a:t>
            </a:r>
          </a:p>
          <a:p>
            <a:pPr marL="0" indent="0">
              <a:buNone/>
            </a:pPr>
            <a:r>
              <a:rPr lang="en-IN" dirty="0"/>
              <a:t> </a:t>
            </a:r>
            <a:r>
              <a:rPr lang="en-IN" dirty="0" err="1"/>
              <a:t>int</a:t>
            </a:r>
            <a:r>
              <a:rPr lang="en-IN" dirty="0"/>
              <a:t> result;    </a:t>
            </a:r>
          </a:p>
          <a:p>
            <a:pPr marL="0" indent="0">
              <a:buNone/>
            </a:pPr>
            <a:r>
              <a:rPr lang="en-IN" dirty="0" err="1"/>
              <a:t>printf</a:t>
            </a:r>
            <a:r>
              <a:rPr lang="en-IN" dirty="0"/>
              <a:t>("Hello World");    </a:t>
            </a:r>
          </a:p>
          <a:p>
            <a:pPr marL="0" indent="0">
              <a:buNone/>
            </a:pPr>
            <a:r>
              <a:rPr lang="en-IN" dirty="0"/>
              <a:t>result=cube();   //fun calling</a:t>
            </a:r>
          </a:p>
          <a:p>
            <a:pPr marL="0" indent="0">
              <a:buNone/>
            </a:pPr>
            <a:r>
              <a:rPr lang="en-IN" dirty="0" err="1"/>
              <a:t>printf</a:t>
            </a:r>
            <a:r>
              <a:rPr lang="en-IN" dirty="0"/>
              <a:t>("\</a:t>
            </a:r>
            <a:r>
              <a:rPr lang="en-IN" dirty="0" err="1"/>
              <a:t>nThe</a:t>
            </a:r>
            <a:r>
              <a:rPr lang="en-IN" dirty="0"/>
              <a:t> cube of no is=%</a:t>
            </a:r>
            <a:r>
              <a:rPr lang="en-IN" dirty="0" err="1"/>
              <a:t>d",result</a:t>
            </a:r>
            <a:r>
              <a:rPr lang="en-IN" dirty="0"/>
              <a:t>);    </a:t>
            </a:r>
          </a:p>
          <a:p>
            <a:pPr marL="0" indent="0">
              <a:buNone/>
            </a:pPr>
            <a:r>
              <a:rPr lang="en-IN" dirty="0"/>
              <a:t>}</a:t>
            </a:r>
          </a:p>
          <a:p>
            <a:pPr marL="0" indent="0">
              <a:buNone/>
            </a:pPr>
            <a:endParaRPr lang="en-IN" dirty="0"/>
          </a:p>
          <a:p>
            <a:pPr marL="0" indent="0">
              <a:buNone/>
            </a:pPr>
            <a:r>
              <a:rPr lang="en-IN" dirty="0" err="1"/>
              <a:t>Int</a:t>
            </a:r>
            <a:r>
              <a:rPr lang="en-IN" dirty="0"/>
              <a:t> cube()// fun </a:t>
            </a:r>
            <a:r>
              <a:rPr lang="en-IN" dirty="0" err="1"/>
              <a:t>definatiom</a:t>
            </a:r>
            <a:endParaRPr lang="en-IN" dirty="0"/>
          </a:p>
          <a:p>
            <a:pPr marL="0" indent="0">
              <a:buNone/>
            </a:pPr>
            <a:r>
              <a:rPr lang="en-IN" dirty="0"/>
              <a:t>{   </a:t>
            </a:r>
          </a:p>
          <a:p>
            <a:pPr marL="0" indent="0">
              <a:buNone/>
            </a:pPr>
            <a:r>
              <a:rPr lang="en-IN" dirty="0"/>
              <a:t>     </a:t>
            </a:r>
            <a:r>
              <a:rPr lang="en-IN" dirty="0" err="1"/>
              <a:t>int</a:t>
            </a:r>
            <a:r>
              <a:rPr lang="en-IN" dirty="0"/>
              <a:t> </a:t>
            </a:r>
            <a:r>
              <a:rPr lang="en-IN" dirty="0" err="1"/>
              <a:t>cube,n</a:t>
            </a:r>
            <a:r>
              <a:rPr lang="en-IN" dirty="0"/>
              <a:t>;   </a:t>
            </a:r>
          </a:p>
          <a:p>
            <a:pPr marL="0" indent="0">
              <a:buNone/>
            </a:pPr>
            <a:r>
              <a:rPr lang="en-IN" dirty="0"/>
              <a:t>     </a:t>
            </a:r>
            <a:r>
              <a:rPr lang="en-IN" dirty="0" err="1"/>
              <a:t>printf</a:t>
            </a:r>
            <a:r>
              <a:rPr lang="en-IN" dirty="0"/>
              <a:t>("\</a:t>
            </a:r>
            <a:r>
              <a:rPr lang="en-IN" dirty="0" err="1"/>
              <a:t>nEnter</a:t>
            </a:r>
            <a:r>
              <a:rPr lang="en-IN" dirty="0"/>
              <a:t> The no");    </a:t>
            </a:r>
          </a:p>
          <a:p>
            <a:pPr marL="0" indent="0">
              <a:buNone/>
            </a:pPr>
            <a:r>
              <a:rPr lang="en-IN" dirty="0"/>
              <a:t>     </a:t>
            </a:r>
            <a:r>
              <a:rPr lang="en-IN" dirty="0" err="1"/>
              <a:t>scanf</a:t>
            </a:r>
            <a:r>
              <a:rPr lang="en-IN" dirty="0"/>
              <a:t>("%</a:t>
            </a:r>
            <a:r>
              <a:rPr lang="en-IN" dirty="0" err="1"/>
              <a:t>d",&amp;n</a:t>
            </a:r>
            <a:r>
              <a:rPr lang="en-IN" dirty="0"/>
              <a:t>);    </a:t>
            </a:r>
          </a:p>
          <a:p>
            <a:pPr marL="0" indent="0">
              <a:buNone/>
            </a:pPr>
            <a:r>
              <a:rPr lang="en-IN" dirty="0"/>
              <a:t>    cube=n*n*n;    </a:t>
            </a:r>
          </a:p>
          <a:p>
            <a:pPr marL="0" indent="0">
              <a:buNone/>
            </a:pPr>
            <a:r>
              <a:rPr lang="en-IN" dirty="0"/>
              <a:t>     return cube;</a:t>
            </a:r>
          </a:p>
          <a:p>
            <a:pPr marL="0" indent="0">
              <a:buNone/>
            </a:pPr>
            <a:r>
              <a:rPr lang="en-IN" dirty="0"/>
              <a:t>}</a:t>
            </a:r>
          </a:p>
        </p:txBody>
      </p:sp>
    </p:spTree>
    <p:extLst>
      <p:ext uri="{BB962C8B-B14F-4D97-AF65-F5344CB8AC3E}">
        <p14:creationId xmlns:p14="http://schemas.microsoft.com/office/powerpoint/2010/main" val="404896140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52704"/>
          </a:xfrm>
        </p:spPr>
        <p:txBody>
          <a:bodyPr>
            <a:normAutofit fontScale="90000"/>
          </a:bodyPr>
          <a:lstStyle/>
          <a:p>
            <a:r>
              <a:rPr lang="en-IN" dirty="0"/>
              <a:t> </a:t>
            </a:r>
            <a:r>
              <a:rPr lang="en-IN" sz="2200" dirty="0"/>
              <a:t>program to calculate the area of the square</a:t>
            </a:r>
            <a:br>
              <a:rPr lang="en-IN" sz="2200" dirty="0"/>
            </a:br>
            <a:endParaRPr lang="en-IN" sz="2200" dirty="0"/>
          </a:p>
        </p:txBody>
      </p:sp>
      <p:sp>
        <p:nvSpPr>
          <p:cNvPr id="3" name="Content Placeholder 2"/>
          <p:cNvSpPr>
            <a:spLocks noGrp="1"/>
          </p:cNvSpPr>
          <p:nvPr>
            <p:ph idx="1"/>
          </p:nvPr>
        </p:nvSpPr>
        <p:spPr>
          <a:xfrm>
            <a:off x="457200" y="1556792"/>
            <a:ext cx="8229600" cy="4767808"/>
          </a:xfrm>
        </p:spPr>
        <p:txBody>
          <a:bodyPr>
            <a:normAutofit fontScale="62500" lnSpcReduction="20000"/>
          </a:bodyPr>
          <a:lstStyle/>
          <a:p>
            <a:endParaRPr lang="en-IN" dirty="0"/>
          </a:p>
          <a:p>
            <a:r>
              <a:rPr lang="en-IN" dirty="0"/>
              <a:t>    #include&lt;</a:t>
            </a:r>
            <a:r>
              <a:rPr lang="en-IN" dirty="0" err="1"/>
              <a:t>stdio.h</a:t>
            </a:r>
            <a:r>
              <a:rPr lang="en-IN" dirty="0"/>
              <a:t>&gt;  </a:t>
            </a:r>
          </a:p>
          <a:p>
            <a:r>
              <a:rPr lang="en-IN" dirty="0">
                <a:solidFill>
                  <a:srgbClr val="FF0000"/>
                </a:solidFill>
              </a:rPr>
              <a:t>    </a:t>
            </a:r>
            <a:r>
              <a:rPr lang="en-IN" dirty="0" err="1">
                <a:solidFill>
                  <a:srgbClr val="FF0000"/>
                </a:solidFill>
              </a:rPr>
              <a:t>int</a:t>
            </a:r>
            <a:r>
              <a:rPr lang="en-IN" dirty="0">
                <a:solidFill>
                  <a:srgbClr val="FF0000"/>
                </a:solidFill>
              </a:rPr>
              <a:t> sum(); // function declaration</a:t>
            </a:r>
          </a:p>
          <a:p>
            <a:endParaRPr lang="en-IN" dirty="0"/>
          </a:p>
          <a:p>
            <a:r>
              <a:rPr lang="en-IN" dirty="0"/>
              <a:t>    void main()  </a:t>
            </a:r>
          </a:p>
          <a:p>
            <a:r>
              <a:rPr lang="en-IN" dirty="0"/>
              <a:t>    {  </a:t>
            </a:r>
          </a:p>
          <a:p>
            <a:r>
              <a:rPr lang="en-IN" dirty="0"/>
              <a:t>        </a:t>
            </a:r>
            <a:r>
              <a:rPr lang="en-IN" dirty="0" err="1"/>
              <a:t>printf</a:t>
            </a:r>
            <a:r>
              <a:rPr lang="en-IN" dirty="0"/>
              <a:t>("Going to calculate the area of the square\n");  </a:t>
            </a:r>
          </a:p>
          <a:p>
            <a:r>
              <a:rPr lang="en-IN" dirty="0"/>
              <a:t>        </a:t>
            </a:r>
            <a:r>
              <a:rPr lang="en-IN" dirty="0">
                <a:solidFill>
                  <a:srgbClr val="FF0000"/>
                </a:solidFill>
              </a:rPr>
              <a:t>float area = square(); // function call </a:t>
            </a:r>
          </a:p>
          <a:p>
            <a:endParaRPr lang="en-IN" dirty="0"/>
          </a:p>
          <a:p>
            <a:r>
              <a:rPr lang="en-IN" dirty="0"/>
              <a:t>        </a:t>
            </a:r>
            <a:r>
              <a:rPr lang="en-IN" dirty="0" err="1"/>
              <a:t>printf</a:t>
            </a:r>
            <a:r>
              <a:rPr lang="en-IN" dirty="0"/>
              <a:t>("The area of the square: %f\</a:t>
            </a:r>
            <a:r>
              <a:rPr lang="en-IN" dirty="0" err="1"/>
              <a:t>n",area</a:t>
            </a:r>
            <a:r>
              <a:rPr lang="en-IN" dirty="0"/>
              <a:t>);  </a:t>
            </a:r>
          </a:p>
          <a:p>
            <a:r>
              <a:rPr lang="en-IN" dirty="0"/>
              <a:t>    }  </a:t>
            </a:r>
          </a:p>
          <a:p>
            <a:r>
              <a:rPr lang="en-IN" dirty="0">
                <a:solidFill>
                  <a:srgbClr val="FF0000"/>
                </a:solidFill>
              </a:rPr>
              <a:t>    </a:t>
            </a:r>
            <a:r>
              <a:rPr lang="en-IN" dirty="0" err="1">
                <a:solidFill>
                  <a:srgbClr val="FF0000"/>
                </a:solidFill>
              </a:rPr>
              <a:t>int</a:t>
            </a:r>
            <a:r>
              <a:rPr lang="en-IN" dirty="0">
                <a:solidFill>
                  <a:srgbClr val="FF0000"/>
                </a:solidFill>
              </a:rPr>
              <a:t> square() // function definition</a:t>
            </a:r>
          </a:p>
          <a:p>
            <a:endParaRPr lang="en-IN" dirty="0"/>
          </a:p>
          <a:p>
            <a:r>
              <a:rPr lang="en-IN" dirty="0"/>
              <a:t>    {  </a:t>
            </a:r>
          </a:p>
          <a:p>
            <a:r>
              <a:rPr lang="en-IN" dirty="0"/>
              <a:t>        float side;  </a:t>
            </a:r>
          </a:p>
          <a:p>
            <a:r>
              <a:rPr lang="en-IN" dirty="0"/>
              <a:t>        </a:t>
            </a:r>
            <a:r>
              <a:rPr lang="en-IN" dirty="0" err="1"/>
              <a:t>printf</a:t>
            </a:r>
            <a:r>
              <a:rPr lang="en-IN" dirty="0"/>
              <a:t>("Enter the length of the side in meters: ");  </a:t>
            </a:r>
          </a:p>
          <a:p>
            <a:r>
              <a:rPr lang="en-IN" dirty="0"/>
              <a:t>        </a:t>
            </a:r>
            <a:r>
              <a:rPr lang="en-IN" dirty="0" err="1"/>
              <a:t>scanf</a:t>
            </a:r>
            <a:r>
              <a:rPr lang="en-IN" dirty="0"/>
              <a:t>("%</a:t>
            </a:r>
            <a:r>
              <a:rPr lang="en-IN" dirty="0" err="1"/>
              <a:t>f",&amp;side</a:t>
            </a:r>
            <a:r>
              <a:rPr lang="en-IN" dirty="0"/>
              <a:t>);  </a:t>
            </a:r>
          </a:p>
          <a:p>
            <a:r>
              <a:rPr lang="en-IN" dirty="0"/>
              <a:t>        return side * side;  </a:t>
            </a:r>
          </a:p>
          <a:p>
            <a:r>
              <a:rPr lang="en-IN" dirty="0"/>
              <a:t>    } </a:t>
            </a:r>
          </a:p>
        </p:txBody>
      </p:sp>
    </p:spTree>
    <p:extLst>
      <p:ext uri="{BB962C8B-B14F-4D97-AF65-F5344CB8AC3E}">
        <p14:creationId xmlns:p14="http://schemas.microsoft.com/office/powerpoint/2010/main" val="349769794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92664"/>
          </a:xfrm>
        </p:spPr>
        <p:txBody>
          <a:bodyPr>
            <a:normAutofit fontScale="90000"/>
          </a:bodyPr>
          <a:lstStyle/>
          <a:p>
            <a:r>
              <a:rPr lang="en-US" dirty="0"/>
              <a:t>Area of Circle</a:t>
            </a:r>
            <a:endParaRPr lang="en-IN" dirty="0"/>
          </a:p>
        </p:txBody>
      </p:sp>
      <p:sp>
        <p:nvSpPr>
          <p:cNvPr id="3" name="Content Placeholder 2"/>
          <p:cNvSpPr>
            <a:spLocks noGrp="1"/>
          </p:cNvSpPr>
          <p:nvPr>
            <p:ph idx="1"/>
          </p:nvPr>
        </p:nvSpPr>
        <p:spPr>
          <a:xfrm>
            <a:off x="457200" y="1268760"/>
            <a:ext cx="8229600" cy="5400600"/>
          </a:xfrm>
        </p:spPr>
        <p:txBody>
          <a:bodyPr>
            <a:normAutofit fontScale="77500" lnSpcReduction="20000"/>
          </a:bodyPr>
          <a:lstStyle/>
          <a:p>
            <a:pPr marL="0" indent="0">
              <a:buNone/>
            </a:pPr>
            <a:r>
              <a:rPr lang="en-IN" dirty="0"/>
              <a:t> #include&lt;</a:t>
            </a:r>
            <a:r>
              <a:rPr lang="en-IN" dirty="0" err="1"/>
              <a:t>stdio.h</a:t>
            </a:r>
            <a:r>
              <a:rPr lang="en-IN" dirty="0"/>
              <a:t>&gt;      </a:t>
            </a:r>
          </a:p>
          <a:p>
            <a:pPr marL="0" indent="0">
              <a:buNone/>
            </a:pPr>
            <a:r>
              <a:rPr lang="en-IN" dirty="0" err="1"/>
              <a:t>int</a:t>
            </a:r>
            <a:r>
              <a:rPr lang="en-IN" dirty="0"/>
              <a:t> circle(); // function declaration    </a:t>
            </a:r>
          </a:p>
          <a:p>
            <a:pPr marL="0" indent="0">
              <a:buNone/>
            </a:pPr>
            <a:r>
              <a:rPr lang="en-IN" dirty="0"/>
              <a:t>void main()      </a:t>
            </a:r>
          </a:p>
          <a:p>
            <a:pPr marL="0" indent="0">
              <a:buNone/>
            </a:pPr>
            <a:r>
              <a:rPr lang="en-IN" dirty="0"/>
              <a:t>{ </a:t>
            </a:r>
          </a:p>
          <a:p>
            <a:pPr marL="0" indent="0">
              <a:buNone/>
            </a:pPr>
            <a:r>
              <a:rPr lang="en-IN" dirty="0"/>
              <a:t>   float area;                </a:t>
            </a:r>
          </a:p>
          <a:p>
            <a:pPr marL="0" indent="0">
              <a:buNone/>
            </a:pPr>
            <a:r>
              <a:rPr lang="en-IN" dirty="0" err="1"/>
              <a:t>printf</a:t>
            </a:r>
            <a:r>
              <a:rPr lang="en-IN" dirty="0"/>
              <a:t>("Going to calculate the area of the circle\n");          </a:t>
            </a:r>
          </a:p>
          <a:p>
            <a:pPr marL="0" indent="0">
              <a:buNone/>
            </a:pPr>
            <a:r>
              <a:rPr lang="en-IN" dirty="0"/>
              <a:t> area = circle(); // function call         </a:t>
            </a:r>
          </a:p>
          <a:p>
            <a:pPr marL="0" indent="0">
              <a:buNone/>
            </a:pPr>
            <a:r>
              <a:rPr lang="en-IN" dirty="0" err="1"/>
              <a:t>printf</a:t>
            </a:r>
            <a:r>
              <a:rPr lang="en-IN" dirty="0"/>
              <a:t>("The area of the circle: %f\</a:t>
            </a:r>
            <a:r>
              <a:rPr lang="en-IN" dirty="0" err="1"/>
              <a:t>n",area</a:t>
            </a:r>
            <a:r>
              <a:rPr lang="en-IN" dirty="0"/>
              <a:t>);      </a:t>
            </a:r>
          </a:p>
          <a:p>
            <a:pPr marL="0" indent="0">
              <a:buNone/>
            </a:pPr>
            <a:r>
              <a:rPr lang="en-IN" dirty="0"/>
              <a:t>}     </a:t>
            </a:r>
          </a:p>
          <a:p>
            <a:pPr marL="0" indent="0">
              <a:buNone/>
            </a:pPr>
            <a:r>
              <a:rPr lang="en-IN" dirty="0"/>
              <a:t> </a:t>
            </a:r>
            <a:r>
              <a:rPr lang="en-IN" dirty="0" err="1"/>
              <a:t>int</a:t>
            </a:r>
            <a:r>
              <a:rPr lang="en-IN" dirty="0"/>
              <a:t> circle() // function definition  </a:t>
            </a:r>
          </a:p>
          <a:p>
            <a:pPr marL="0" indent="0">
              <a:buNone/>
            </a:pPr>
            <a:r>
              <a:rPr lang="en-IN" dirty="0"/>
              <a:t>  {          </a:t>
            </a:r>
          </a:p>
          <a:p>
            <a:pPr marL="0" indent="0">
              <a:buNone/>
            </a:pPr>
            <a:r>
              <a:rPr lang="en-IN" dirty="0"/>
              <a:t>      </a:t>
            </a:r>
            <a:r>
              <a:rPr lang="en-IN" dirty="0" err="1"/>
              <a:t>int</a:t>
            </a:r>
            <a:r>
              <a:rPr lang="en-IN" dirty="0"/>
              <a:t> </a:t>
            </a:r>
            <a:r>
              <a:rPr lang="en-IN" dirty="0" err="1"/>
              <a:t>r,res</a:t>
            </a:r>
            <a:r>
              <a:rPr lang="en-IN" dirty="0"/>
              <a:t>;          </a:t>
            </a:r>
          </a:p>
          <a:p>
            <a:pPr marL="0" indent="0">
              <a:buNone/>
            </a:pPr>
            <a:r>
              <a:rPr lang="en-IN" dirty="0"/>
              <a:t>     </a:t>
            </a:r>
            <a:r>
              <a:rPr lang="en-IN" dirty="0" err="1"/>
              <a:t>printf</a:t>
            </a:r>
            <a:r>
              <a:rPr lang="en-IN" dirty="0"/>
              <a:t>("Enter the radius of the circle: ");         </a:t>
            </a:r>
          </a:p>
          <a:p>
            <a:pPr marL="0" indent="0">
              <a:buNone/>
            </a:pPr>
            <a:r>
              <a:rPr lang="en-IN" dirty="0"/>
              <a:t>     </a:t>
            </a:r>
            <a:r>
              <a:rPr lang="en-IN" dirty="0" err="1"/>
              <a:t>scanf</a:t>
            </a:r>
            <a:r>
              <a:rPr lang="en-IN" dirty="0"/>
              <a:t>("%</a:t>
            </a:r>
            <a:r>
              <a:rPr lang="en-IN" dirty="0" err="1"/>
              <a:t>d",&amp;r</a:t>
            </a:r>
            <a:r>
              <a:rPr lang="en-IN" dirty="0"/>
              <a:t>);          </a:t>
            </a:r>
          </a:p>
          <a:p>
            <a:pPr marL="0" indent="0">
              <a:buNone/>
            </a:pPr>
            <a:r>
              <a:rPr lang="en-IN" dirty="0"/>
              <a:t>     res=3.14*r*r;       </a:t>
            </a:r>
          </a:p>
          <a:p>
            <a:pPr marL="0" indent="0">
              <a:buNone/>
            </a:pPr>
            <a:r>
              <a:rPr lang="en-IN" dirty="0"/>
              <a:t>     return res;    </a:t>
            </a:r>
          </a:p>
          <a:p>
            <a:pPr marL="0" indent="0">
              <a:buNone/>
            </a:pPr>
            <a:r>
              <a:rPr lang="en-IN" dirty="0"/>
              <a:t>} </a:t>
            </a:r>
          </a:p>
        </p:txBody>
      </p:sp>
    </p:spTree>
    <p:extLst>
      <p:ext uri="{BB962C8B-B14F-4D97-AF65-F5344CB8AC3E}">
        <p14:creationId xmlns:p14="http://schemas.microsoft.com/office/powerpoint/2010/main" val="32954981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80696"/>
          </a:xfrm>
        </p:spPr>
        <p:txBody>
          <a:bodyPr>
            <a:normAutofit fontScale="90000"/>
          </a:bodyPr>
          <a:lstStyle/>
          <a:p>
            <a:r>
              <a:rPr lang="en-US" dirty="0"/>
              <a:t>Addition of a no</a:t>
            </a:r>
            <a:endParaRPr lang="en-IN" dirty="0"/>
          </a:p>
        </p:txBody>
      </p:sp>
      <p:sp>
        <p:nvSpPr>
          <p:cNvPr id="3" name="Content Placeholder 2"/>
          <p:cNvSpPr>
            <a:spLocks noGrp="1"/>
          </p:cNvSpPr>
          <p:nvPr>
            <p:ph idx="1"/>
          </p:nvPr>
        </p:nvSpPr>
        <p:spPr>
          <a:xfrm>
            <a:off x="457200" y="1935480"/>
            <a:ext cx="8229600" cy="4373840"/>
          </a:xfrm>
        </p:spPr>
        <p:txBody>
          <a:bodyPr>
            <a:normAutofit fontScale="55000" lnSpcReduction="20000"/>
          </a:bodyPr>
          <a:lstStyle/>
          <a:p>
            <a:r>
              <a:rPr lang="en-IN" dirty="0"/>
              <a:t>#include&lt;</a:t>
            </a:r>
            <a:r>
              <a:rPr lang="en-IN" dirty="0" err="1"/>
              <a:t>stdio.h</a:t>
            </a:r>
            <a:r>
              <a:rPr lang="en-IN" dirty="0"/>
              <a:t>&gt;</a:t>
            </a:r>
          </a:p>
          <a:p>
            <a:r>
              <a:rPr lang="en-IN" dirty="0"/>
              <a:t>#include&lt;</a:t>
            </a:r>
            <a:r>
              <a:rPr lang="en-IN" dirty="0" err="1"/>
              <a:t>conio.h</a:t>
            </a:r>
            <a:r>
              <a:rPr lang="en-IN" dirty="0"/>
              <a:t>&gt;</a:t>
            </a:r>
          </a:p>
          <a:p>
            <a:endParaRPr lang="en-IN" dirty="0"/>
          </a:p>
          <a:p>
            <a:r>
              <a:rPr lang="en-IN" dirty="0"/>
              <a:t>void main()</a:t>
            </a:r>
          </a:p>
          <a:p>
            <a:r>
              <a:rPr lang="en-IN" dirty="0"/>
              <a:t>{</a:t>
            </a:r>
          </a:p>
          <a:p>
            <a:r>
              <a:rPr lang="en-IN" dirty="0"/>
              <a:t>   </a:t>
            </a:r>
            <a:r>
              <a:rPr lang="en-IN" dirty="0" err="1"/>
              <a:t>int</a:t>
            </a:r>
            <a:r>
              <a:rPr lang="en-IN" dirty="0"/>
              <a:t> result ;</a:t>
            </a:r>
          </a:p>
          <a:p>
            <a:r>
              <a:rPr lang="en-IN" dirty="0">
                <a:solidFill>
                  <a:srgbClr val="FF0000"/>
                </a:solidFill>
              </a:rPr>
              <a:t>   </a:t>
            </a:r>
            <a:r>
              <a:rPr lang="en-IN" dirty="0" err="1">
                <a:solidFill>
                  <a:srgbClr val="FF0000"/>
                </a:solidFill>
              </a:rPr>
              <a:t>int</a:t>
            </a:r>
            <a:r>
              <a:rPr lang="en-IN" dirty="0">
                <a:solidFill>
                  <a:srgbClr val="FF0000"/>
                </a:solidFill>
              </a:rPr>
              <a:t> addition() ; // function declaration</a:t>
            </a:r>
          </a:p>
          <a:p>
            <a:r>
              <a:rPr lang="en-IN" dirty="0"/>
              <a:t>   </a:t>
            </a:r>
            <a:r>
              <a:rPr lang="en-IN" dirty="0" err="1"/>
              <a:t>clrscr</a:t>
            </a:r>
            <a:r>
              <a:rPr lang="en-IN" dirty="0"/>
              <a:t>() ;</a:t>
            </a:r>
          </a:p>
          <a:p>
            <a:r>
              <a:rPr lang="en-IN" dirty="0"/>
              <a:t>   </a:t>
            </a:r>
            <a:endParaRPr lang="en-IN" dirty="0">
              <a:solidFill>
                <a:srgbClr val="FF0000"/>
              </a:solidFill>
            </a:endParaRPr>
          </a:p>
          <a:p>
            <a:r>
              <a:rPr lang="en-IN" dirty="0">
                <a:solidFill>
                  <a:srgbClr val="FF0000"/>
                </a:solidFill>
              </a:rPr>
              <a:t>   result = addition() ; // function call </a:t>
            </a:r>
          </a:p>
          <a:p>
            <a:r>
              <a:rPr lang="en-IN" dirty="0"/>
              <a:t>   </a:t>
            </a:r>
            <a:r>
              <a:rPr lang="en-IN" dirty="0" err="1"/>
              <a:t>printf</a:t>
            </a:r>
            <a:r>
              <a:rPr lang="en-IN" dirty="0"/>
              <a:t>("Sum = %d", result) ;</a:t>
            </a:r>
          </a:p>
          <a:p>
            <a:r>
              <a:rPr lang="en-IN" dirty="0"/>
              <a:t>   </a:t>
            </a:r>
            <a:r>
              <a:rPr lang="en-IN" dirty="0" err="1"/>
              <a:t>getch</a:t>
            </a:r>
            <a:r>
              <a:rPr lang="en-IN" dirty="0"/>
              <a:t>() ;</a:t>
            </a:r>
          </a:p>
          <a:p>
            <a:r>
              <a:rPr lang="en-IN" dirty="0"/>
              <a:t>}</a:t>
            </a:r>
          </a:p>
          <a:p>
            <a:r>
              <a:rPr lang="en-IN" dirty="0" err="1">
                <a:solidFill>
                  <a:srgbClr val="FF0000"/>
                </a:solidFill>
              </a:rPr>
              <a:t>int</a:t>
            </a:r>
            <a:r>
              <a:rPr lang="en-IN" dirty="0">
                <a:solidFill>
                  <a:srgbClr val="FF0000"/>
                </a:solidFill>
              </a:rPr>
              <a:t> addition()  // function definition</a:t>
            </a:r>
          </a:p>
          <a:p>
            <a:r>
              <a:rPr lang="en-IN" dirty="0"/>
              <a:t>{</a:t>
            </a:r>
          </a:p>
          <a:p>
            <a:r>
              <a:rPr lang="en-IN" dirty="0"/>
              <a:t>   </a:t>
            </a:r>
            <a:r>
              <a:rPr lang="en-IN" dirty="0" err="1"/>
              <a:t>int</a:t>
            </a:r>
            <a:r>
              <a:rPr lang="en-IN" dirty="0"/>
              <a:t> num1, num2 ;</a:t>
            </a:r>
          </a:p>
          <a:p>
            <a:r>
              <a:rPr lang="en-IN" dirty="0"/>
              <a:t>   </a:t>
            </a:r>
            <a:r>
              <a:rPr lang="en-IN" dirty="0" err="1"/>
              <a:t>printf</a:t>
            </a:r>
            <a:r>
              <a:rPr lang="en-IN" dirty="0"/>
              <a:t>("Enter any two integer numbers : ") ;</a:t>
            </a:r>
          </a:p>
          <a:p>
            <a:r>
              <a:rPr lang="en-IN" dirty="0"/>
              <a:t>   </a:t>
            </a:r>
            <a:r>
              <a:rPr lang="en-IN" dirty="0" err="1"/>
              <a:t>scanf</a:t>
            </a:r>
            <a:r>
              <a:rPr lang="en-IN" dirty="0"/>
              <a:t>("%</a:t>
            </a:r>
            <a:r>
              <a:rPr lang="en-IN" dirty="0" err="1"/>
              <a:t>d%d</a:t>
            </a:r>
            <a:r>
              <a:rPr lang="en-IN" dirty="0"/>
              <a:t>", &amp;num1, &amp;num2);</a:t>
            </a:r>
          </a:p>
          <a:p>
            <a:r>
              <a:rPr lang="en-IN" dirty="0"/>
              <a:t>   return (num1+num2) ;</a:t>
            </a:r>
          </a:p>
          <a:p>
            <a:r>
              <a:rPr lang="en-IN" dirty="0"/>
              <a:t>}</a:t>
            </a:r>
          </a:p>
        </p:txBody>
      </p:sp>
    </p:spTree>
    <p:extLst>
      <p:ext uri="{BB962C8B-B14F-4D97-AF65-F5344CB8AC3E}">
        <p14:creationId xmlns:p14="http://schemas.microsoft.com/office/powerpoint/2010/main" val="2153473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fontScale="90000"/>
          </a:bodyPr>
          <a:lstStyle/>
          <a:p>
            <a:r>
              <a:rPr lang="en-IN" sz="3200" b="1" dirty="0"/>
              <a:t>Function with Parameters and with Return value</a:t>
            </a:r>
            <a:br>
              <a:rPr lang="en-IN" sz="3200" b="1" dirty="0"/>
            </a:br>
            <a:endParaRPr lang="en-IN" sz="3200" dirty="0"/>
          </a:p>
        </p:txBody>
      </p:sp>
      <p:sp>
        <p:nvSpPr>
          <p:cNvPr id="3" name="Content Placeholder 2"/>
          <p:cNvSpPr>
            <a:spLocks noGrp="1"/>
          </p:cNvSpPr>
          <p:nvPr>
            <p:ph idx="1"/>
          </p:nvPr>
        </p:nvSpPr>
        <p:spPr>
          <a:xfrm>
            <a:off x="457200" y="1340768"/>
            <a:ext cx="8229600" cy="4983832"/>
          </a:xfrm>
        </p:spPr>
        <p:txBody>
          <a:bodyPr>
            <a:normAutofit/>
          </a:bodyPr>
          <a:lstStyle/>
          <a:p>
            <a:r>
              <a:rPr lang="en-IN" b="1" dirty="0"/>
              <a:t>Function with Parameters and with Return value</a:t>
            </a:r>
          </a:p>
          <a:p>
            <a:r>
              <a:rPr lang="en-IN" dirty="0"/>
              <a:t>In this type of functions there is data transfer from calling-function to called-function (parameters) and also from called function to calling-function (return value).</a:t>
            </a:r>
          </a:p>
          <a:p>
            <a:r>
              <a:rPr lang="en-IN" dirty="0"/>
              <a:t> The execution control jumps from calling-function to called function along with parameters and executes called function, and finally comes back to the calling function along with a return value. </a:t>
            </a:r>
          </a:p>
          <a:p>
            <a:r>
              <a:rPr lang="en-IN" dirty="0"/>
              <a:t>For example, consider the following program...</a:t>
            </a:r>
          </a:p>
          <a:p>
            <a:endParaRPr lang="en-IN" dirty="0"/>
          </a:p>
        </p:txBody>
      </p:sp>
    </p:spTree>
    <p:extLst>
      <p:ext uri="{BB962C8B-B14F-4D97-AF65-F5344CB8AC3E}">
        <p14:creationId xmlns:p14="http://schemas.microsoft.com/office/powerpoint/2010/main" val="325473090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r>
              <a:rPr lang="en-US" dirty="0"/>
              <a:t>Square root of a function</a:t>
            </a:r>
            <a:endParaRPr lang="en-IN" dirty="0"/>
          </a:p>
        </p:txBody>
      </p:sp>
      <p:sp>
        <p:nvSpPr>
          <p:cNvPr id="3" name="Content Placeholder 2"/>
          <p:cNvSpPr>
            <a:spLocks noGrp="1"/>
          </p:cNvSpPr>
          <p:nvPr>
            <p:ph idx="1"/>
          </p:nvPr>
        </p:nvSpPr>
        <p:spPr>
          <a:xfrm>
            <a:off x="457200" y="1268760"/>
            <a:ext cx="8229600" cy="5055840"/>
          </a:xfrm>
        </p:spPr>
        <p:txBody>
          <a:bodyPr>
            <a:normAutofit fontScale="70000" lnSpcReduction="20000"/>
          </a:bodyPr>
          <a:lstStyle/>
          <a:p>
            <a:pPr marL="0" indent="0">
              <a:buNone/>
            </a:pPr>
            <a:r>
              <a:rPr lang="en-IN" dirty="0"/>
              <a:t>#include &lt;</a:t>
            </a:r>
            <a:r>
              <a:rPr lang="en-IN" dirty="0" err="1"/>
              <a:t>stdio.h</a:t>
            </a:r>
            <a:r>
              <a:rPr lang="en-IN" dirty="0"/>
              <a:t>&gt;</a:t>
            </a:r>
          </a:p>
          <a:p>
            <a:pPr marL="0" indent="0">
              <a:buNone/>
            </a:pPr>
            <a:r>
              <a:rPr lang="en-US" dirty="0"/>
              <a:t>#include&lt;</a:t>
            </a:r>
            <a:r>
              <a:rPr lang="en-US" dirty="0" err="1"/>
              <a:t>math.h</a:t>
            </a:r>
            <a:r>
              <a:rPr lang="en-US" dirty="0"/>
              <a:t>&gt;</a:t>
            </a:r>
          </a:p>
          <a:p>
            <a:pPr marL="0" indent="0">
              <a:buNone/>
            </a:pPr>
            <a:endParaRPr lang="en-IN" dirty="0"/>
          </a:p>
          <a:p>
            <a:pPr marL="0" indent="0">
              <a:buNone/>
            </a:pPr>
            <a:r>
              <a:rPr lang="en-IN" dirty="0" err="1"/>
              <a:t>int</a:t>
            </a:r>
            <a:r>
              <a:rPr lang="en-IN" dirty="0"/>
              <a:t> </a:t>
            </a:r>
            <a:r>
              <a:rPr lang="en-IN" dirty="0" err="1"/>
              <a:t>squrt</a:t>
            </a:r>
            <a:r>
              <a:rPr lang="en-IN" dirty="0"/>
              <a:t>(</a:t>
            </a:r>
            <a:r>
              <a:rPr lang="en-IN" dirty="0" err="1"/>
              <a:t>int</a:t>
            </a:r>
            <a:r>
              <a:rPr lang="en-IN" dirty="0"/>
              <a:t>);</a:t>
            </a:r>
          </a:p>
          <a:p>
            <a:pPr marL="0" indent="0">
              <a:buNone/>
            </a:pPr>
            <a:r>
              <a:rPr lang="en-IN" dirty="0"/>
              <a:t>main()</a:t>
            </a:r>
          </a:p>
          <a:p>
            <a:pPr marL="0" indent="0">
              <a:buNone/>
            </a:pPr>
            <a:r>
              <a:rPr lang="en-IN" dirty="0"/>
              <a:t>{    </a:t>
            </a:r>
          </a:p>
          <a:p>
            <a:pPr marL="0" indent="0">
              <a:buNone/>
            </a:pPr>
            <a:r>
              <a:rPr lang="en-IN" dirty="0"/>
              <a:t>   </a:t>
            </a:r>
            <a:r>
              <a:rPr lang="en-IN" dirty="0" err="1"/>
              <a:t>int</a:t>
            </a:r>
            <a:r>
              <a:rPr lang="en-IN" dirty="0"/>
              <a:t> </a:t>
            </a:r>
            <a:r>
              <a:rPr lang="en-IN" dirty="0" err="1"/>
              <a:t>n,result</a:t>
            </a:r>
            <a:r>
              <a:rPr lang="en-IN" dirty="0"/>
              <a:t>;   </a:t>
            </a:r>
          </a:p>
          <a:p>
            <a:pPr marL="0" indent="0">
              <a:buNone/>
            </a:pPr>
            <a:r>
              <a:rPr lang="en-IN" dirty="0"/>
              <a:t>   </a:t>
            </a:r>
            <a:r>
              <a:rPr lang="en-IN" dirty="0" err="1"/>
              <a:t>printf</a:t>
            </a:r>
            <a:r>
              <a:rPr lang="en-IN" dirty="0"/>
              <a:t>("Enter a no");    </a:t>
            </a:r>
          </a:p>
          <a:p>
            <a:pPr marL="0" indent="0">
              <a:buNone/>
            </a:pPr>
            <a:r>
              <a:rPr lang="en-IN" dirty="0"/>
              <a:t>   </a:t>
            </a:r>
            <a:r>
              <a:rPr lang="en-IN" dirty="0" err="1"/>
              <a:t>scanf</a:t>
            </a:r>
            <a:r>
              <a:rPr lang="en-IN" dirty="0"/>
              <a:t>("%</a:t>
            </a:r>
            <a:r>
              <a:rPr lang="en-IN" dirty="0" err="1"/>
              <a:t>d",&amp;n</a:t>
            </a:r>
            <a:r>
              <a:rPr lang="en-IN" dirty="0"/>
              <a:t>);   </a:t>
            </a:r>
          </a:p>
          <a:p>
            <a:pPr marL="0" indent="0">
              <a:buNone/>
            </a:pPr>
            <a:r>
              <a:rPr lang="en-IN" dirty="0"/>
              <a:t>    result=</a:t>
            </a:r>
            <a:r>
              <a:rPr lang="en-IN" dirty="0" err="1"/>
              <a:t>squrt</a:t>
            </a:r>
            <a:r>
              <a:rPr lang="en-IN" dirty="0"/>
              <a:t>(n);    </a:t>
            </a:r>
          </a:p>
          <a:p>
            <a:pPr marL="0" indent="0">
              <a:buNone/>
            </a:pPr>
            <a:r>
              <a:rPr lang="en-IN" dirty="0"/>
              <a:t>   </a:t>
            </a:r>
            <a:r>
              <a:rPr lang="en-IN" dirty="0" err="1"/>
              <a:t>printf</a:t>
            </a:r>
            <a:r>
              <a:rPr lang="en-IN" dirty="0"/>
              <a:t>("The </a:t>
            </a:r>
            <a:r>
              <a:rPr lang="en-IN" dirty="0" err="1"/>
              <a:t>squre</a:t>
            </a:r>
            <a:r>
              <a:rPr lang="en-IN" dirty="0"/>
              <a:t> root </a:t>
            </a:r>
            <a:r>
              <a:rPr lang="en-IN" dirty="0" err="1"/>
              <a:t>ofa</a:t>
            </a:r>
            <a:r>
              <a:rPr lang="en-IN" dirty="0"/>
              <a:t> no is=%d",</a:t>
            </a:r>
            <a:r>
              <a:rPr lang="en-IN" dirty="0" err="1"/>
              <a:t>squ</a:t>
            </a:r>
            <a:r>
              <a:rPr lang="en-IN" dirty="0"/>
              <a:t>);       </a:t>
            </a:r>
          </a:p>
          <a:p>
            <a:pPr marL="0" indent="0">
              <a:buNone/>
            </a:pPr>
            <a:r>
              <a:rPr lang="en-IN" dirty="0"/>
              <a:t> }</a:t>
            </a:r>
          </a:p>
          <a:p>
            <a:pPr marL="0" indent="0">
              <a:buNone/>
            </a:pPr>
            <a:r>
              <a:rPr lang="en-IN" dirty="0" err="1"/>
              <a:t>int</a:t>
            </a:r>
            <a:r>
              <a:rPr lang="en-IN" dirty="0"/>
              <a:t> </a:t>
            </a:r>
            <a:r>
              <a:rPr lang="en-IN" dirty="0" err="1"/>
              <a:t>squrt</a:t>
            </a:r>
            <a:r>
              <a:rPr lang="en-IN" dirty="0"/>
              <a:t>(</a:t>
            </a:r>
            <a:r>
              <a:rPr lang="en-IN" dirty="0" err="1"/>
              <a:t>int</a:t>
            </a:r>
            <a:r>
              <a:rPr lang="en-IN" dirty="0"/>
              <a:t> a)</a:t>
            </a:r>
          </a:p>
          <a:p>
            <a:pPr marL="0" indent="0">
              <a:buNone/>
            </a:pPr>
            <a:r>
              <a:rPr lang="en-IN" dirty="0"/>
              <a:t>  {    </a:t>
            </a:r>
          </a:p>
          <a:p>
            <a:pPr marL="0" indent="0">
              <a:buNone/>
            </a:pPr>
            <a:r>
              <a:rPr lang="en-IN" dirty="0"/>
              <a:t>      </a:t>
            </a:r>
            <a:r>
              <a:rPr lang="en-IN" dirty="0" err="1"/>
              <a:t>int</a:t>
            </a:r>
            <a:r>
              <a:rPr lang="en-IN" dirty="0"/>
              <a:t> sol;    </a:t>
            </a:r>
          </a:p>
          <a:p>
            <a:pPr marL="0" indent="0">
              <a:buNone/>
            </a:pPr>
            <a:r>
              <a:rPr lang="en-IN" dirty="0"/>
              <a:t>      sol=</a:t>
            </a:r>
            <a:r>
              <a:rPr lang="en-IN" dirty="0" err="1"/>
              <a:t>sqrt</a:t>
            </a:r>
            <a:r>
              <a:rPr lang="en-IN" dirty="0"/>
              <a:t>(a);   </a:t>
            </a:r>
          </a:p>
          <a:p>
            <a:pPr marL="0" indent="0">
              <a:buNone/>
            </a:pPr>
            <a:r>
              <a:rPr lang="en-IN" dirty="0"/>
              <a:t>    return sol;</a:t>
            </a:r>
          </a:p>
          <a:p>
            <a:pPr marL="0" indent="0">
              <a:buNone/>
            </a:pPr>
            <a:r>
              <a:rPr lang="en-IN" dirty="0"/>
              <a:t>}</a:t>
            </a:r>
          </a:p>
        </p:txBody>
      </p:sp>
    </p:spTree>
    <p:extLst>
      <p:ext uri="{BB962C8B-B14F-4D97-AF65-F5344CB8AC3E}">
        <p14:creationId xmlns:p14="http://schemas.microsoft.com/office/powerpoint/2010/main" val="29375509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80696"/>
          </a:xfrm>
        </p:spPr>
        <p:txBody>
          <a:bodyPr>
            <a:normAutofit fontScale="90000"/>
          </a:bodyPr>
          <a:lstStyle/>
          <a:p>
            <a:r>
              <a:rPr lang="en-IN" sz="3600" dirty="0"/>
              <a:t>Program to check whether a number is even or odd</a:t>
            </a:r>
            <a:br>
              <a:rPr lang="en-IN" dirty="0"/>
            </a:br>
            <a:endParaRPr lang="en-IN" dirty="0"/>
          </a:p>
        </p:txBody>
      </p:sp>
      <p:sp>
        <p:nvSpPr>
          <p:cNvPr id="3" name="Content Placeholder 2"/>
          <p:cNvSpPr>
            <a:spLocks noGrp="1"/>
          </p:cNvSpPr>
          <p:nvPr>
            <p:ph idx="1"/>
          </p:nvPr>
        </p:nvSpPr>
        <p:spPr>
          <a:xfrm>
            <a:off x="179512" y="908720"/>
            <a:ext cx="8507288" cy="5760640"/>
          </a:xfrm>
        </p:spPr>
        <p:txBody>
          <a:bodyPr>
            <a:normAutofit fontScale="47500" lnSpcReduction="20000"/>
          </a:bodyPr>
          <a:lstStyle/>
          <a:p>
            <a:endParaRPr lang="en-IN" dirty="0"/>
          </a:p>
          <a:p>
            <a:r>
              <a:rPr lang="en-IN" dirty="0"/>
              <a:t>   #include&lt;</a:t>
            </a:r>
            <a:r>
              <a:rPr lang="en-IN" dirty="0" err="1"/>
              <a:t>stdio.h</a:t>
            </a:r>
            <a:r>
              <a:rPr lang="en-IN" dirty="0"/>
              <a:t>&gt;  </a:t>
            </a:r>
          </a:p>
          <a:p>
            <a:r>
              <a:rPr lang="en-IN" dirty="0"/>
              <a:t>    </a:t>
            </a:r>
            <a:r>
              <a:rPr lang="en-IN" dirty="0" err="1"/>
              <a:t>int</a:t>
            </a:r>
            <a:r>
              <a:rPr lang="en-IN" dirty="0"/>
              <a:t> </a:t>
            </a:r>
            <a:r>
              <a:rPr lang="en-IN" dirty="0" err="1"/>
              <a:t>even_odd</a:t>
            </a:r>
            <a:r>
              <a:rPr lang="en-IN" dirty="0"/>
              <a:t>(</a:t>
            </a:r>
            <a:r>
              <a:rPr lang="en-IN" dirty="0" err="1"/>
              <a:t>int</a:t>
            </a:r>
            <a:r>
              <a:rPr lang="en-IN" dirty="0"/>
              <a:t>);  </a:t>
            </a:r>
          </a:p>
          <a:p>
            <a:r>
              <a:rPr lang="en-IN" dirty="0"/>
              <a:t>    void main()  </a:t>
            </a:r>
          </a:p>
          <a:p>
            <a:r>
              <a:rPr lang="en-IN" dirty="0"/>
              <a:t>    {  </a:t>
            </a:r>
          </a:p>
          <a:p>
            <a:r>
              <a:rPr lang="en-IN" dirty="0"/>
              <a:t>     </a:t>
            </a:r>
            <a:r>
              <a:rPr lang="en-IN" dirty="0" err="1"/>
              <a:t>int</a:t>
            </a:r>
            <a:r>
              <a:rPr lang="en-IN" dirty="0"/>
              <a:t> </a:t>
            </a:r>
            <a:r>
              <a:rPr lang="en-IN" dirty="0" err="1"/>
              <a:t>n,flag</a:t>
            </a:r>
            <a:r>
              <a:rPr lang="en-IN" dirty="0"/>
              <a:t>=0;  </a:t>
            </a:r>
          </a:p>
          <a:p>
            <a:r>
              <a:rPr lang="en-IN" dirty="0"/>
              <a:t>     </a:t>
            </a:r>
            <a:r>
              <a:rPr lang="en-IN" dirty="0" err="1"/>
              <a:t>printf</a:t>
            </a:r>
            <a:r>
              <a:rPr lang="en-IN" dirty="0"/>
              <a:t>("\</a:t>
            </a:r>
            <a:r>
              <a:rPr lang="en-IN" dirty="0" err="1"/>
              <a:t>nGoing</a:t>
            </a:r>
            <a:r>
              <a:rPr lang="en-IN" dirty="0"/>
              <a:t> to check whether a number is even or odd");  </a:t>
            </a:r>
          </a:p>
          <a:p>
            <a:r>
              <a:rPr lang="en-IN" dirty="0"/>
              <a:t>     </a:t>
            </a:r>
            <a:r>
              <a:rPr lang="en-IN" dirty="0" err="1"/>
              <a:t>printf</a:t>
            </a:r>
            <a:r>
              <a:rPr lang="en-IN" dirty="0"/>
              <a:t>("\</a:t>
            </a:r>
            <a:r>
              <a:rPr lang="en-IN" dirty="0" err="1"/>
              <a:t>nEnter</a:t>
            </a:r>
            <a:r>
              <a:rPr lang="en-IN" dirty="0"/>
              <a:t> the number: ");  </a:t>
            </a:r>
          </a:p>
          <a:p>
            <a:r>
              <a:rPr lang="en-IN" dirty="0"/>
              <a:t>     </a:t>
            </a:r>
            <a:r>
              <a:rPr lang="en-IN" dirty="0" err="1"/>
              <a:t>scanf</a:t>
            </a:r>
            <a:r>
              <a:rPr lang="en-IN" dirty="0"/>
              <a:t>("%</a:t>
            </a:r>
            <a:r>
              <a:rPr lang="en-IN" dirty="0" err="1"/>
              <a:t>d",&amp;n</a:t>
            </a:r>
            <a:r>
              <a:rPr lang="en-IN" dirty="0"/>
              <a:t>);  </a:t>
            </a:r>
          </a:p>
          <a:p>
            <a:r>
              <a:rPr lang="en-IN" dirty="0"/>
              <a:t>     flag = </a:t>
            </a:r>
            <a:r>
              <a:rPr lang="en-IN" dirty="0" err="1"/>
              <a:t>even_odd</a:t>
            </a:r>
            <a:r>
              <a:rPr lang="en-IN" dirty="0"/>
              <a:t>(n);  </a:t>
            </a:r>
          </a:p>
          <a:p>
            <a:r>
              <a:rPr lang="en-IN" dirty="0"/>
              <a:t>     if(flag == 1)  </a:t>
            </a:r>
          </a:p>
          <a:p>
            <a:r>
              <a:rPr lang="en-IN" dirty="0"/>
              <a:t>     {  </a:t>
            </a:r>
          </a:p>
          <a:p>
            <a:r>
              <a:rPr lang="en-IN" dirty="0"/>
              <a:t>        </a:t>
            </a:r>
            <a:r>
              <a:rPr lang="en-IN" dirty="0" err="1"/>
              <a:t>printf</a:t>
            </a:r>
            <a:r>
              <a:rPr lang="en-IN" dirty="0"/>
              <a:t>("\</a:t>
            </a:r>
            <a:r>
              <a:rPr lang="en-IN" dirty="0" err="1"/>
              <a:t>nThe</a:t>
            </a:r>
            <a:r>
              <a:rPr lang="en-IN" dirty="0"/>
              <a:t> number is even");  </a:t>
            </a:r>
          </a:p>
          <a:p>
            <a:r>
              <a:rPr lang="en-IN" dirty="0"/>
              <a:t>     }  </a:t>
            </a:r>
          </a:p>
          <a:p>
            <a:r>
              <a:rPr lang="en-IN" dirty="0"/>
              <a:t>     else   </a:t>
            </a:r>
          </a:p>
          <a:p>
            <a:r>
              <a:rPr lang="en-IN" dirty="0"/>
              <a:t>     {  </a:t>
            </a:r>
          </a:p>
          <a:p>
            <a:r>
              <a:rPr lang="en-IN" dirty="0"/>
              <a:t>        </a:t>
            </a:r>
            <a:r>
              <a:rPr lang="en-IN" dirty="0" err="1"/>
              <a:t>printf</a:t>
            </a:r>
            <a:r>
              <a:rPr lang="en-IN" dirty="0"/>
              <a:t>("\</a:t>
            </a:r>
            <a:r>
              <a:rPr lang="en-IN" dirty="0" err="1"/>
              <a:t>nThe</a:t>
            </a:r>
            <a:r>
              <a:rPr lang="en-IN" dirty="0"/>
              <a:t> number is odd");  </a:t>
            </a:r>
          </a:p>
          <a:p>
            <a:r>
              <a:rPr lang="en-IN" dirty="0"/>
              <a:t>     }  </a:t>
            </a:r>
          </a:p>
          <a:p>
            <a:r>
              <a:rPr lang="en-IN" dirty="0"/>
              <a:t>    }  </a:t>
            </a:r>
          </a:p>
          <a:p>
            <a:r>
              <a:rPr lang="en-IN" dirty="0"/>
              <a:t>    </a:t>
            </a:r>
            <a:r>
              <a:rPr lang="en-IN" dirty="0" err="1"/>
              <a:t>int</a:t>
            </a:r>
            <a:r>
              <a:rPr lang="en-IN" dirty="0"/>
              <a:t> </a:t>
            </a:r>
            <a:r>
              <a:rPr lang="en-IN" dirty="0" err="1"/>
              <a:t>even_odd</a:t>
            </a:r>
            <a:r>
              <a:rPr lang="en-IN" dirty="0"/>
              <a:t>(</a:t>
            </a:r>
            <a:r>
              <a:rPr lang="en-IN" dirty="0" err="1"/>
              <a:t>int</a:t>
            </a:r>
            <a:r>
              <a:rPr lang="en-IN" dirty="0"/>
              <a:t> n)  </a:t>
            </a:r>
          </a:p>
          <a:p>
            <a:r>
              <a:rPr lang="en-IN" dirty="0"/>
              <a:t>    {  </a:t>
            </a:r>
          </a:p>
          <a:p>
            <a:r>
              <a:rPr lang="en-IN" dirty="0"/>
              <a:t>        if(n%2 == 0)  </a:t>
            </a:r>
          </a:p>
          <a:p>
            <a:r>
              <a:rPr lang="en-IN" dirty="0"/>
              <a:t>        {  </a:t>
            </a:r>
          </a:p>
          <a:p>
            <a:r>
              <a:rPr lang="en-IN" dirty="0"/>
              <a:t>            return 1;  </a:t>
            </a:r>
          </a:p>
          <a:p>
            <a:r>
              <a:rPr lang="en-IN" dirty="0"/>
              <a:t>        }  </a:t>
            </a:r>
          </a:p>
          <a:p>
            <a:r>
              <a:rPr lang="en-IN" dirty="0"/>
              <a:t>        else   </a:t>
            </a:r>
          </a:p>
          <a:p>
            <a:r>
              <a:rPr lang="en-IN" dirty="0"/>
              <a:t>        {  </a:t>
            </a:r>
          </a:p>
          <a:p>
            <a:r>
              <a:rPr lang="en-IN" dirty="0"/>
              <a:t>            return 0;  </a:t>
            </a:r>
          </a:p>
          <a:p>
            <a:r>
              <a:rPr lang="en-IN" dirty="0"/>
              <a:t>        }  </a:t>
            </a:r>
          </a:p>
          <a:p>
            <a:r>
              <a:rPr lang="en-IN" dirty="0"/>
              <a:t>    } </a:t>
            </a:r>
          </a:p>
        </p:txBody>
      </p:sp>
    </p:spTree>
    <p:extLst>
      <p:ext uri="{BB962C8B-B14F-4D97-AF65-F5344CB8AC3E}">
        <p14:creationId xmlns:p14="http://schemas.microsoft.com/office/powerpoint/2010/main" val="360715565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20656"/>
          </a:xfrm>
        </p:spPr>
        <p:txBody>
          <a:bodyPr>
            <a:normAutofit fontScale="90000"/>
          </a:bodyPr>
          <a:lstStyle/>
          <a:p>
            <a:r>
              <a:rPr lang="en-IN" dirty="0"/>
              <a:t>Factorial of a number n</a:t>
            </a:r>
          </a:p>
        </p:txBody>
      </p:sp>
      <p:sp>
        <p:nvSpPr>
          <p:cNvPr id="3" name="Content Placeholder 2"/>
          <p:cNvSpPr>
            <a:spLocks noGrp="1"/>
          </p:cNvSpPr>
          <p:nvPr>
            <p:ph idx="1"/>
          </p:nvPr>
        </p:nvSpPr>
        <p:spPr>
          <a:xfrm>
            <a:off x="457200" y="1196752"/>
            <a:ext cx="8229600" cy="5127848"/>
          </a:xfrm>
        </p:spPr>
        <p:txBody>
          <a:bodyPr>
            <a:normAutofit fontScale="55000" lnSpcReduction="20000"/>
          </a:bodyPr>
          <a:lstStyle/>
          <a:p>
            <a:r>
              <a:rPr lang="en-IN" dirty="0"/>
              <a:t>Factorial of a number n is product of all positive integers less than or equal to n. It is denoted as n!.</a:t>
            </a:r>
          </a:p>
          <a:p>
            <a:pPr marL="0" indent="0">
              <a:buNone/>
            </a:pPr>
            <a:r>
              <a:rPr lang="en-IN" dirty="0"/>
              <a:t>For example factorial of 5 = 1 * 2 * 3 * 4 * 5 = 120</a:t>
            </a:r>
          </a:p>
          <a:p>
            <a:pPr marL="0" indent="0">
              <a:buNone/>
            </a:pPr>
            <a:endParaRPr lang="en-IN" dirty="0"/>
          </a:p>
          <a:p>
            <a:r>
              <a:rPr lang="en-IN" dirty="0"/>
              <a:t>#include &lt;</a:t>
            </a:r>
            <a:r>
              <a:rPr lang="en-IN" dirty="0" err="1"/>
              <a:t>stdio.h</a:t>
            </a:r>
            <a:r>
              <a:rPr lang="en-IN" dirty="0"/>
              <a:t>&gt;</a:t>
            </a:r>
          </a:p>
          <a:p>
            <a:r>
              <a:rPr lang="en-IN" dirty="0" err="1"/>
              <a:t>int</a:t>
            </a:r>
            <a:r>
              <a:rPr lang="en-IN" dirty="0"/>
              <a:t> fact(</a:t>
            </a:r>
            <a:r>
              <a:rPr lang="en-IN" dirty="0" err="1"/>
              <a:t>int</a:t>
            </a:r>
            <a:r>
              <a:rPr lang="en-IN" dirty="0"/>
              <a:t>);</a:t>
            </a:r>
          </a:p>
          <a:p>
            <a:r>
              <a:rPr lang="en-IN" dirty="0"/>
              <a:t>main()</a:t>
            </a:r>
          </a:p>
          <a:p>
            <a:r>
              <a:rPr lang="en-IN" dirty="0"/>
              <a:t>{    </a:t>
            </a:r>
            <a:r>
              <a:rPr lang="en-IN" dirty="0" err="1"/>
              <a:t>int</a:t>
            </a:r>
            <a:r>
              <a:rPr lang="en-IN" dirty="0"/>
              <a:t> </a:t>
            </a:r>
            <a:r>
              <a:rPr lang="en-IN" dirty="0" err="1"/>
              <a:t>n,res</a:t>
            </a:r>
            <a:r>
              <a:rPr lang="en-IN" dirty="0"/>
              <a:t>;   </a:t>
            </a:r>
          </a:p>
          <a:p>
            <a:r>
              <a:rPr lang="en-IN" dirty="0"/>
              <a:t> </a:t>
            </a:r>
            <a:r>
              <a:rPr lang="en-IN" dirty="0" err="1"/>
              <a:t>printf</a:t>
            </a:r>
            <a:r>
              <a:rPr lang="en-IN" dirty="0"/>
              <a:t>("Enter a no");    </a:t>
            </a:r>
          </a:p>
          <a:p>
            <a:r>
              <a:rPr lang="en-IN" dirty="0" err="1"/>
              <a:t>scanf</a:t>
            </a:r>
            <a:r>
              <a:rPr lang="en-IN" dirty="0"/>
              <a:t>("%</a:t>
            </a:r>
            <a:r>
              <a:rPr lang="en-IN" dirty="0" err="1"/>
              <a:t>d",&amp;n</a:t>
            </a:r>
            <a:r>
              <a:rPr lang="en-IN" dirty="0"/>
              <a:t>);    </a:t>
            </a:r>
          </a:p>
          <a:p>
            <a:r>
              <a:rPr lang="en-IN" dirty="0"/>
              <a:t>res=fact(n);    </a:t>
            </a:r>
          </a:p>
          <a:p>
            <a:r>
              <a:rPr lang="en-IN" dirty="0" err="1"/>
              <a:t>printf</a:t>
            </a:r>
            <a:r>
              <a:rPr lang="en-IN" dirty="0"/>
              <a:t>("The factorial of a given no is=%</a:t>
            </a:r>
            <a:r>
              <a:rPr lang="en-IN" dirty="0" err="1"/>
              <a:t>d",res</a:t>
            </a:r>
            <a:r>
              <a:rPr lang="en-IN" dirty="0"/>
              <a:t>);   </a:t>
            </a:r>
          </a:p>
          <a:p>
            <a:r>
              <a:rPr lang="en-IN" dirty="0"/>
              <a:t> }</a:t>
            </a:r>
          </a:p>
          <a:p>
            <a:r>
              <a:rPr lang="en-IN" dirty="0" err="1"/>
              <a:t>int</a:t>
            </a:r>
            <a:r>
              <a:rPr lang="en-IN" dirty="0"/>
              <a:t> fact(</a:t>
            </a:r>
            <a:r>
              <a:rPr lang="en-IN" dirty="0" err="1"/>
              <a:t>int</a:t>
            </a:r>
            <a:r>
              <a:rPr lang="en-IN" dirty="0"/>
              <a:t> a)</a:t>
            </a:r>
          </a:p>
          <a:p>
            <a:r>
              <a:rPr lang="en-IN" dirty="0"/>
              <a:t>{       </a:t>
            </a:r>
          </a:p>
          <a:p>
            <a:r>
              <a:rPr lang="en-IN" dirty="0"/>
              <a:t>     </a:t>
            </a:r>
            <a:r>
              <a:rPr lang="en-IN" dirty="0" err="1"/>
              <a:t>int</a:t>
            </a:r>
            <a:r>
              <a:rPr lang="en-IN" dirty="0"/>
              <a:t> </a:t>
            </a:r>
            <a:r>
              <a:rPr lang="en-IN" dirty="0" err="1"/>
              <a:t>i,fact</a:t>
            </a:r>
            <a:r>
              <a:rPr lang="en-IN" dirty="0"/>
              <a:t>=1;    </a:t>
            </a:r>
          </a:p>
          <a:p>
            <a:r>
              <a:rPr lang="en-IN" dirty="0"/>
              <a:t>    for(i=1;i&lt;=</a:t>
            </a:r>
            <a:r>
              <a:rPr lang="en-IN" dirty="0" err="1"/>
              <a:t>a;i</a:t>
            </a:r>
            <a:r>
              <a:rPr lang="en-IN" dirty="0"/>
              <a:t>++)   </a:t>
            </a:r>
          </a:p>
          <a:p>
            <a:r>
              <a:rPr lang="en-IN" dirty="0"/>
              <a:t>       {        </a:t>
            </a:r>
          </a:p>
          <a:p>
            <a:r>
              <a:rPr lang="en-IN" dirty="0"/>
              <a:t>            fact=fact*i;    </a:t>
            </a:r>
          </a:p>
          <a:p>
            <a:r>
              <a:rPr lang="en-IN" dirty="0"/>
              <a:t>         }       </a:t>
            </a:r>
          </a:p>
          <a:p>
            <a:r>
              <a:rPr lang="en-IN" dirty="0"/>
              <a:t>  return fact; </a:t>
            </a:r>
          </a:p>
          <a:p>
            <a:r>
              <a:rPr lang="en-IN" dirty="0"/>
              <a:t>}</a:t>
            </a:r>
          </a:p>
        </p:txBody>
      </p:sp>
    </p:spTree>
    <p:extLst>
      <p:ext uri="{BB962C8B-B14F-4D97-AF65-F5344CB8AC3E}">
        <p14:creationId xmlns:p14="http://schemas.microsoft.com/office/powerpoint/2010/main" val="82141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sz="5400" b="1" dirty="0"/>
            </a:br>
            <a:r>
              <a:rPr lang="en-IN" sz="5400" b="1" dirty="0"/>
              <a:t>To check whether given no is Prime or Not</a:t>
            </a:r>
            <a:br>
              <a:rPr lang="en-IN" sz="5400" dirty="0"/>
            </a:br>
            <a:endParaRPr lang="en-US" dirty="0"/>
          </a:p>
        </p:txBody>
      </p:sp>
      <p:sp>
        <p:nvSpPr>
          <p:cNvPr id="3" name="Content Placeholder 2"/>
          <p:cNvSpPr>
            <a:spLocks noGrp="1"/>
          </p:cNvSpPr>
          <p:nvPr>
            <p:ph idx="1"/>
          </p:nvPr>
        </p:nvSpPr>
        <p:spPr>
          <a:xfrm>
            <a:off x="457200" y="1196752"/>
            <a:ext cx="8229600" cy="5127848"/>
          </a:xfrm>
        </p:spPr>
        <p:txBody>
          <a:bodyPr/>
          <a:lstStyle/>
          <a:p>
            <a:r>
              <a:rPr lang="en-US" dirty="0"/>
              <a:t>Prime number in C: </a:t>
            </a:r>
            <a:r>
              <a:rPr lang="en-US" b="1" dirty="0"/>
              <a:t>Prime number</a:t>
            </a:r>
            <a:r>
              <a:rPr lang="en-US" dirty="0"/>
              <a:t> is a number that is greater than 1 and divided by 1 or itself. In other words, prime numbers can't be divided by other numbers than itself or 1. For example 2, 3, 5, 7, 11, 13, 17, 19, 23.... are the prime numbers.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20656"/>
          </a:xfrm>
        </p:spPr>
        <p:txBody>
          <a:bodyPr>
            <a:normAutofit/>
          </a:bodyPr>
          <a:lstStyle/>
          <a:p>
            <a:endParaRPr lang="en-IN" sz="1400" dirty="0"/>
          </a:p>
        </p:txBody>
      </p:sp>
      <p:sp>
        <p:nvSpPr>
          <p:cNvPr id="3" name="Content Placeholder 2"/>
          <p:cNvSpPr>
            <a:spLocks noGrp="1"/>
          </p:cNvSpPr>
          <p:nvPr>
            <p:ph idx="1"/>
          </p:nvPr>
        </p:nvSpPr>
        <p:spPr>
          <a:xfrm>
            <a:off x="457200" y="1268760"/>
            <a:ext cx="8229600" cy="5472608"/>
          </a:xfrm>
        </p:spPr>
        <p:txBody>
          <a:bodyPr>
            <a:normAutofit fontScale="62500" lnSpcReduction="20000"/>
          </a:bodyPr>
          <a:lstStyle/>
          <a:p>
            <a:pPr marL="0" indent="0">
              <a:buNone/>
            </a:pPr>
            <a:r>
              <a:rPr lang="en-IN" dirty="0"/>
              <a:t>#include&lt;</a:t>
            </a:r>
            <a:r>
              <a:rPr lang="en-IN" dirty="0" err="1"/>
              <a:t>stdio.h</a:t>
            </a:r>
            <a:r>
              <a:rPr lang="en-IN" dirty="0"/>
              <a:t>&gt;      </a:t>
            </a:r>
          </a:p>
          <a:p>
            <a:pPr marL="0" indent="0">
              <a:buNone/>
            </a:pPr>
            <a:r>
              <a:rPr lang="en-IN" dirty="0" err="1"/>
              <a:t>int</a:t>
            </a:r>
            <a:r>
              <a:rPr lang="en-IN" dirty="0"/>
              <a:t> prime(</a:t>
            </a:r>
            <a:r>
              <a:rPr lang="en-IN" dirty="0" err="1"/>
              <a:t>int</a:t>
            </a:r>
            <a:r>
              <a:rPr lang="en-IN" dirty="0"/>
              <a:t>);     </a:t>
            </a:r>
          </a:p>
          <a:p>
            <a:pPr marL="0" indent="0">
              <a:buNone/>
            </a:pPr>
            <a:r>
              <a:rPr lang="en-IN" dirty="0"/>
              <a:t> void main()      </a:t>
            </a:r>
          </a:p>
          <a:p>
            <a:pPr marL="0" indent="0">
              <a:buNone/>
            </a:pPr>
            <a:r>
              <a:rPr lang="en-IN" dirty="0"/>
              <a:t>{      </a:t>
            </a:r>
          </a:p>
          <a:p>
            <a:pPr marL="0" indent="0">
              <a:buNone/>
            </a:pPr>
            <a:r>
              <a:rPr lang="en-IN" dirty="0"/>
              <a:t> </a:t>
            </a:r>
            <a:r>
              <a:rPr lang="en-IN" dirty="0" err="1"/>
              <a:t>int</a:t>
            </a:r>
            <a:r>
              <a:rPr lang="en-IN" dirty="0"/>
              <a:t> </a:t>
            </a:r>
            <a:r>
              <a:rPr lang="en-IN" dirty="0" err="1"/>
              <a:t>n,res</a:t>
            </a:r>
            <a:r>
              <a:rPr lang="en-IN" dirty="0"/>
              <a:t>;       </a:t>
            </a:r>
          </a:p>
          <a:p>
            <a:pPr marL="0" indent="0">
              <a:buNone/>
            </a:pPr>
            <a:r>
              <a:rPr lang="en-IN" dirty="0" err="1"/>
              <a:t>printf</a:t>
            </a:r>
            <a:r>
              <a:rPr lang="en-IN" dirty="0"/>
              <a:t>("\</a:t>
            </a:r>
            <a:r>
              <a:rPr lang="en-IN" dirty="0" err="1"/>
              <a:t>nGoing</a:t>
            </a:r>
            <a:r>
              <a:rPr lang="en-IN" dirty="0"/>
              <a:t> to check whether a number is  Prime");      </a:t>
            </a:r>
          </a:p>
          <a:p>
            <a:pPr marL="0" indent="0">
              <a:buNone/>
            </a:pPr>
            <a:r>
              <a:rPr lang="en-IN" dirty="0"/>
              <a:t> </a:t>
            </a:r>
            <a:r>
              <a:rPr lang="en-IN" dirty="0" err="1"/>
              <a:t>printf</a:t>
            </a:r>
            <a:r>
              <a:rPr lang="en-IN" dirty="0"/>
              <a:t>("\</a:t>
            </a:r>
            <a:r>
              <a:rPr lang="en-IN" dirty="0" err="1"/>
              <a:t>nEnter</a:t>
            </a:r>
            <a:r>
              <a:rPr lang="en-IN" dirty="0"/>
              <a:t> the number: ");      </a:t>
            </a:r>
          </a:p>
          <a:p>
            <a:pPr marL="0" indent="0">
              <a:buNone/>
            </a:pPr>
            <a:r>
              <a:rPr lang="en-IN" dirty="0"/>
              <a:t> </a:t>
            </a:r>
            <a:r>
              <a:rPr lang="en-IN" dirty="0" err="1"/>
              <a:t>scanf</a:t>
            </a:r>
            <a:r>
              <a:rPr lang="en-IN" dirty="0"/>
              <a:t>("%</a:t>
            </a:r>
            <a:r>
              <a:rPr lang="en-IN" dirty="0" err="1"/>
              <a:t>d",&amp;n</a:t>
            </a:r>
            <a:r>
              <a:rPr lang="en-IN" dirty="0"/>
              <a:t>);      </a:t>
            </a:r>
          </a:p>
          <a:p>
            <a:pPr marL="0" indent="0">
              <a:buNone/>
            </a:pPr>
            <a:r>
              <a:rPr lang="en-IN" dirty="0"/>
              <a:t> res = prime(n);      </a:t>
            </a:r>
          </a:p>
          <a:p>
            <a:pPr marL="0" indent="0">
              <a:buNone/>
            </a:pPr>
            <a:r>
              <a:rPr lang="en-IN" dirty="0"/>
              <a:t> if(res == 0)         </a:t>
            </a:r>
          </a:p>
          <a:p>
            <a:pPr marL="0" indent="0">
              <a:buNone/>
            </a:pPr>
            <a:r>
              <a:rPr lang="en-IN" dirty="0"/>
              <a:t>  </a:t>
            </a:r>
            <a:r>
              <a:rPr lang="en-IN" dirty="0" err="1"/>
              <a:t>printf</a:t>
            </a:r>
            <a:r>
              <a:rPr lang="en-IN" dirty="0"/>
              <a:t>("\</a:t>
            </a:r>
            <a:r>
              <a:rPr lang="en-IN" dirty="0" err="1"/>
              <a:t>nThe</a:t>
            </a:r>
            <a:r>
              <a:rPr lang="en-IN" dirty="0"/>
              <a:t> number is Prime");     </a:t>
            </a:r>
          </a:p>
          <a:p>
            <a:pPr marL="0" indent="0">
              <a:buNone/>
            </a:pPr>
            <a:r>
              <a:rPr lang="en-IN" dirty="0"/>
              <a:t>   else             </a:t>
            </a:r>
          </a:p>
          <a:p>
            <a:pPr marL="0" indent="0">
              <a:buNone/>
            </a:pPr>
            <a:r>
              <a:rPr lang="en-IN" dirty="0"/>
              <a:t>    </a:t>
            </a:r>
            <a:r>
              <a:rPr lang="en-IN" dirty="0" err="1"/>
              <a:t>printf</a:t>
            </a:r>
            <a:r>
              <a:rPr lang="en-IN" dirty="0"/>
              <a:t>("\</a:t>
            </a:r>
            <a:r>
              <a:rPr lang="en-IN" dirty="0" err="1"/>
              <a:t>nThe</a:t>
            </a:r>
            <a:r>
              <a:rPr lang="en-IN" dirty="0"/>
              <a:t> number is not Prime");            </a:t>
            </a:r>
          </a:p>
          <a:p>
            <a:pPr marL="0" indent="0">
              <a:buNone/>
            </a:pPr>
            <a:r>
              <a:rPr lang="en-IN" dirty="0"/>
              <a:t> }      </a:t>
            </a:r>
          </a:p>
          <a:p>
            <a:pPr marL="0" indent="0">
              <a:buNone/>
            </a:pPr>
            <a:r>
              <a:rPr lang="en-IN" dirty="0" err="1"/>
              <a:t>int</a:t>
            </a:r>
            <a:r>
              <a:rPr lang="en-IN" dirty="0"/>
              <a:t> prime(</a:t>
            </a:r>
            <a:r>
              <a:rPr lang="en-IN" dirty="0" err="1"/>
              <a:t>int</a:t>
            </a:r>
            <a:r>
              <a:rPr lang="en-IN" dirty="0"/>
              <a:t> n)      </a:t>
            </a:r>
          </a:p>
          <a:p>
            <a:pPr marL="0" indent="0">
              <a:buNone/>
            </a:pPr>
            <a:r>
              <a:rPr lang="en-IN" dirty="0"/>
              <a:t>{          </a:t>
            </a:r>
          </a:p>
          <a:p>
            <a:pPr marL="0" indent="0">
              <a:buNone/>
            </a:pPr>
            <a:r>
              <a:rPr lang="en-IN" dirty="0"/>
              <a:t>    if(n%2 == 0)         </a:t>
            </a:r>
          </a:p>
          <a:p>
            <a:pPr marL="0" indent="0">
              <a:buNone/>
            </a:pPr>
            <a:r>
              <a:rPr lang="en-IN" dirty="0"/>
              <a:t>       return 1;                 </a:t>
            </a:r>
          </a:p>
          <a:p>
            <a:pPr marL="0" indent="0">
              <a:buNone/>
            </a:pPr>
            <a:r>
              <a:rPr lang="en-IN" dirty="0"/>
              <a:t>      else                        </a:t>
            </a:r>
          </a:p>
          <a:p>
            <a:pPr marL="0" indent="0">
              <a:buNone/>
            </a:pPr>
            <a:r>
              <a:rPr lang="en-IN" dirty="0"/>
              <a:t>     return 0;          </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208330203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endParaRPr lang="en-IN" dirty="0"/>
          </a:p>
          <a:p>
            <a:r>
              <a:rPr lang="en-IN" dirty="0"/>
              <a:t>Example Program</a:t>
            </a:r>
          </a:p>
          <a:p>
            <a:endParaRPr lang="en-IN" dirty="0"/>
          </a:p>
          <a:p>
            <a:r>
              <a:rPr lang="en-IN" dirty="0"/>
              <a:t>#include&lt;</a:t>
            </a:r>
            <a:r>
              <a:rPr lang="en-IN" dirty="0" err="1"/>
              <a:t>stdio.h</a:t>
            </a:r>
            <a:r>
              <a:rPr lang="en-IN" dirty="0"/>
              <a:t>&gt;</a:t>
            </a:r>
          </a:p>
          <a:p>
            <a:r>
              <a:rPr lang="en-IN" dirty="0"/>
              <a:t>#include&lt;</a:t>
            </a:r>
            <a:r>
              <a:rPr lang="en-IN" dirty="0" err="1"/>
              <a:t>conio.h</a:t>
            </a:r>
            <a:r>
              <a:rPr lang="en-IN" dirty="0"/>
              <a:t>&gt;</a:t>
            </a:r>
          </a:p>
          <a:p>
            <a:endParaRPr lang="en-IN" dirty="0"/>
          </a:p>
          <a:p>
            <a:r>
              <a:rPr lang="en-IN" dirty="0"/>
              <a:t>void main(){</a:t>
            </a:r>
          </a:p>
          <a:p>
            <a:r>
              <a:rPr lang="en-IN" dirty="0"/>
              <a:t>   </a:t>
            </a:r>
            <a:r>
              <a:rPr lang="en-IN" dirty="0" err="1"/>
              <a:t>int</a:t>
            </a:r>
            <a:r>
              <a:rPr lang="en-IN" dirty="0"/>
              <a:t> num1, num2, result ;</a:t>
            </a:r>
          </a:p>
          <a:p>
            <a:r>
              <a:rPr lang="en-IN" dirty="0">
                <a:solidFill>
                  <a:srgbClr val="FF0000"/>
                </a:solidFill>
              </a:rPr>
              <a:t>   </a:t>
            </a:r>
            <a:r>
              <a:rPr lang="en-IN" dirty="0" err="1">
                <a:solidFill>
                  <a:srgbClr val="FF0000"/>
                </a:solidFill>
              </a:rPr>
              <a:t>int</a:t>
            </a:r>
            <a:r>
              <a:rPr lang="en-IN" dirty="0">
                <a:solidFill>
                  <a:srgbClr val="FF0000"/>
                </a:solidFill>
              </a:rPr>
              <a:t> addition(</a:t>
            </a:r>
            <a:r>
              <a:rPr lang="en-IN" dirty="0" err="1">
                <a:solidFill>
                  <a:srgbClr val="FF0000"/>
                </a:solidFill>
              </a:rPr>
              <a:t>int</a:t>
            </a:r>
            <a:r>
              <a:rPr lang="en-IN" dirty="0">
                <a:solidFill>
                  <a:srgbClr val="FF0000"/>
                </a:solidFill>
              </a:rPr>
              <a:t>, </a:t>
            </a:r>
            <a:r>
              <a:rPr lang="en-IN" dirty="0" err="1">
                <a:solidFill>
                  <a:srgbClr val="FF0000"/>
                </a:solidFill>
              </a:rPr>
              <a:t>int</a:t>
            </a:r>
            <a:r>
              <a:rPr lang="en-IN" dirty="0">
                <a:solidFill>
                  <a:srgbClr val="FF0000"/>
                </a:solidFill>
              </a:rPr>
              <a:t>) ; // function declaration</a:t>
            </a:r>
          </a:p>
          <a:p>
            <a:r>
              <a:rPr lang="en-IN" dirty="0"/>
              <a:t>   </a:t>
            </a:r>
            <a:r>
              <a:rPr lang="en-IN" dirty="0" err="1"/>
              <a:t>clrscr</a:t>
            </a:r>
            <a:r>
              <a:rPr lang="en-IN" dirty="0"/>
              <a:t>() ;</a:t>
            </a:r>
          </a:p>
          <a:p>
            <a:r>
              <a:rPr lang="en-IN" dirty="0"/>
              <a:t>   </a:t>
            </a:r>
            <a:r>
              <a:rPr lang="en-IN" dirty="0" err="1"/>
              <a:t>printf</a:t>
            </a:r>
            <a:r>
              <a:rPr lang="en-IN" dirty="0"/>
              <a:t>("Enter any two integer numbers : ") ;</a:t>
            </a:r>
          </a:p>
          <a:p>
            <a:r>
              <a:rPr lang="en-IN" dirty="0"/>
              <a:t>   </a:t>
            </a:r>
            <a:r>
              <a:rPr lang="en-IN" dirty="0" err="1"/>
              <a:t>scanf</a:t>
            </a:r>
            <a:r>
              <a:rPr lang="en-IN" dirty="0"/>
              <a:t>("%</a:t>
            </a:r>
            <a:r>
              <a:rPr lang="en-IN" dirty="0" err="1"/>
              <a:t>d%d</a:t>
            </a:r>
            <a:r>
              <a:rPr lang="en-IN" dirty="0"/>
              <a:t>", &amp;num1, &amp;num2);</a:t>
            </a:r>
          </a:p>
          <a:p>
            <a:r>
              <a:rPr lang="en-IN" dirty="0"/>
              <a:t>   </a:t>
            </a:r>
          </a:p>
          <a:p>
            <a:r>
              <a:rPr lang="en-IN" dirty="0">
                <a:solidFill>
                  <a:srgbClr val="FF0000"/>
                </a:solidFill>
              </a:rPr>
              <a:t>   result = addition(num1, num2) ; // function call </a:t>
            </a:r>
          </a:p>
          <a:p>
            <a:r>
              <a:rPr lang="en-IN" dirty="0"/>
              <a:t>   </a:t>
            </a:r>
            <a:r>
              <a:rPr lang="en-IN" dirty="0" err="1"/>
              <a:t>printf</a:t>
            </a:r>
            <a:r>
              <a:rPr lang="en-IN" dirty="0"/>
              <a:t>("Sum = %d", result) ;</a:t>
            </a:r>
          </a:p>
          <a:p>
            <a:r>
              <a:rPr lang="en-IN" dirty="0"/>
              <a:t>   </a:t>
            </a:r>
            <a:r>
              <a:rPr lang="en-IN" dirty="0" err="1"/>
              <a:t>getch</a:t>
            </a:r>
            <a:r>
              <a:rPr lang="en-IN" dirty="0"/>
              <a:t>() ;</a:t>
            </a:r>
          </a:p>
          <a:p>
            <a:r>
              <a:rPr lang="en-IN" dirty="0"/>
              <a:t>}</a:t>
            </a:r>
          </a:p>
          <a:p>
            <a:r>
              <a:rPr lang="en-IN" dirty="0" err="1">
                <a:solidFill>
                  <a:srgbClr val="FF0000"/>
                </a:solidFill>
              </a:rPr>
              <a:t>int</a:t>
            </a:r>
            <a:r>
              <a:rPr lang="en-IN" dirty="0">
                <a:solidFill>
                  <a:srgbClr val="FF0000"/>
                </a:solidFill>
              </a:rPr>
              <a:t> addition(</a:t>
            </a:r>
            <a:r>
              <a:rPr lang="en-IN" dirty="0" err="1">
                <a:solidFill>
                  <a:srgbClr val="FF0000"/>
                </a:solidFill>
              </a:rPr>
              <a:t>int</a:t>
            </a:r>
            <a:r>
              <a:rPr lang="en-IN" dirty="0">
                <a:solidFill>
                  <a:srgbClr val="FF0000"/>
                </a:solidFill>
              </a:rPr>
              <a:t> a, </a:t>
            </a:r>
            <a:r>
              <a:rPr lang="en-IN" dirty="0" err="1">
                <a:solidFill>
                  <a:srgbClr val="FF0000"/>
                </a:solidFill>
              </a:rPr>
              <a:t>int</a:t>
            </a:r>
            <a:r>
              <a:rPr lang="en-IN" dirty="0">
                <a:solidFill>
                  <a:srgbClr val="FF0000"/>
                </a:solidFill>
              </a:rPr>
              <a:t> b)  // function definition</a:t>
            </a:r>
          </a:p>
          <a:p>
            <a:r>
              <a:rPr lang="en-IN" dirty="0"/>
              <a:t>{</a:t>
            </a:r>
          </a:p>
          <a:p>
            <a:r>
              <a:rPr lang="en-IN" dirty="0"/>
              <a:t>   return (</a:t>
            </a:r>
            <a:r>
              <a:rPr lang="en-IN" dirty="0" err="1"/>
              <a:t>a+b</a:t>
            </a:r>
            <a:r>
              <a:rPr lang="en-IN" dirty="0"/>
              <a:t>) ;</a:t>
            </a:r>
          </a:p>
          <a:p>
            <a:r>
              <a:rPr lang="en-IN" dirty="0"/>
              <a:t>}</a:t>
            </a:r>
          </a:p>
          <a:p>
            <a:endParaRPr lang="en-IN" dirty="0"/>
          </a:p>
          <a:p>
            <a:endParaRPr lang="en-IN" dirty="0"/>
          </a:p>
        </p:txBody>
      </p:sp>
    </p:spTree>
    <p:extLst>
      <p:ext uri="{BB962C8B-B14F-4D97-AF65-F5344CB8AC3E}">
        <p14:creationId xmlns:p14="http://schemas.microsoft.com/office/powerpoint/2010/main" val="36541961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r>
              <a:rPr lang="en-IN" dirty="0"/>
              <a:t>call by value</a:t>
            </a:r>
          </a:p>
        </p:txBody>
      </p:sp>
      <p:sp>
        <p:nvSpPr>
          <p:cNvPr id="3" name="Content Placeholder 2"/>
          <p:cNvSpPr>
            <a:spLocks noGrp="1"/>
          </p:cNvSpPr>
          <p:nvPr>
            <p:ph idx="1"/>
          </p:nvPr>
        </p:nvSpPr>
        <p:spPr>
          <a:xfrm>
            <a:off x="457200" y="1340768"/>
            <a:ext cx="8229600" cy="5400600"/>
          </a:xfrm>
        </p:spPr>
        <p:txBody>
          <a:bodyPr>
            <a:normAutofit fontScale="92500"/>
          </a:bodyPr>
          <a:lstStyle/>
          <a:p>
            <a:r>
              <a:rPr lang="en-IN" dirty="0"/>
              <a:t>In call by value method, the value of the </a:t>
            </a:r>
            <a:r>
              <a:rPr lang="en-IN" b="1" dirty="0"/>
              <a:t>actual parameters</a:t>
            </a:r>
            <a:r>
              <a:rPr lang="en-IN" dirty="0"/>
              <a:t> is copied into the </a:t>
            </a:r>
            <a:r>
              <a:rPr lang="en-IN" b="1" dirty="0"/>
              <a:t>formal parameters</a:t>
            </a:r>
            <a:r>
              <a:rPr lang="en-IN" dirty="0"/>
              <a:t>. </a:t>
            </a:r>
          </a:p>
          <a:p>
            <a:r>
              <a:rPr lang="en-IN" dirty="0"/>
              <a:t>In other words, we can say that the value of the variable is used in the function call in the call by value method.</a:t>
            </a:r>
          </a:p>
          <a:p>
            <a:r>
              <a:rPr lang="en-IN" dirty="0"/>
              <a:t>In call by value method, we can not modify the value </a:t>
            </a:r>
            <a:r>
              <a:rPr lang="en-IN" b="1" dirty="0"/>
              <a:t>of the actual parameter </a:t>
            </a:r>
            <a:r>
              <a:rPr lang="en-IN" dirty="0"/>
              <a:t>by </a:t>
            </a:r>
            <a:r>
              <a:rPr lang="en-IN" b="1" dirty="0"/>
              <a:t>the formal parameter</a:t>
            </a:r>
            <a:r>
              <a:rPr lang="en-IN" dirty="0"/>
              <a:t>.</a:t>
            </a:r>
          </a:p>
          <a:p>
            <a:r>
              <a:rPr lang="en-IN" dirty="0"/>
              <a:t>In call by value, </a:t>
            </a:r>
            <a:r>
              <a:rPr lang="en-IN" b="1" dirty="0"/>
              <a:t>different memory is </a:t>
            </a:r>
            <a:r>
              <a:rPr lang="en-IN" dirty="0"/>
              <a:t>allocated for </a:t>
            </a:r>
            <a:r>
              <a:rPr lang="en-IN" b="1" dirty="0"/>
              <a:t>actual and formal parameters </a:t>
            </a:r>
            <a:r>
              <a:rPr lang="en-IN" dirty="0"/>
              <a:t>since the value of the actual parameter is copied into the formal parameter.</a:t>
            </a:r>
          </a:p>
          <a:p>
            <a:r>
              <a:rPr lang="en-IN" dirty="0"/>
              <a:t>The </a:t>
            </a:r>
            <a:r>
              <a:rPr lang="en-IN" b="1" dirty="0"/>
              <a:t>actual parameter is the argument </a:t>
            </a:r>
            <a:r>
              <a:rPr lang="en-IN" dirty="0"/>
              <a:t>which is used in the </a:t>
            </a:r>
            <a:r>
              <a:rPr lang="en-IN" b="1" dirty="0"/>
              <a:t>function call </a:t>
            </a:r>
            <a:r>
              <a:rPr lang="en-IN" dirty="0"/>
              <a:t>whereas </a:t>
            </a:r>
            <a:r>
              <a:rPr lang="en-IN" b="1" dirty="0"/>
              <a:t>formal parameter is the argument</a:t>
            </a:r>
            <a:r>
              <a:rPr lang="en-IN" dirty="0"/>
              <a:t> which is used in the </a:t>
            </a:r>
            <a:r>
              <a:rPr lang="en-IN" b="1" dirty="0"/>
              <a:t>function definition.</a:t>
            </a:r>
          </a:p>
          <a:p>
            <a:endParaRPr lang="en-IN" dirty="0"/>
          </a:p>
        </p:txBody>
      </p:sp>
    </p:spTree>
    <p:extLst>
      <p:ext uri="{BB962C8B-B14F-4D97-AF65-F5344CB8AC3E}">
        <p14:creationId xmlns:p14="http://schemas.microsoft.com/office/powerpoint/2010/main" val="21596398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48648"/>
          </a:xfrm>
        </p:spPr>
        <p:txBody>
          <a:bodyPr>
            <a:normAutofit fontScale="90000"/>
          </a:bodyPr>
          <a:lstStyle/>
          <a:p>
            <a:endParaRPr lang="en-IN" dirty="0"/>
          </a:p>
        </p:txBody>
      </p:sp>
      <p:sp>
        <p:nvSpPr>
          <p:cNvPr id="3" name="Content Placeholder 2"/>
          <p:cNvSpPr>
            <a:spLocks noGrp="1"/>
          </p:cNvSpPr>
          <p:nvPr>
            <p:ph idx="1"/>
          </p:nvPr>
        </p:nvSpPr>
        <p:spPr>
          <a:xfrm>
            <a:off x="457200" y="980728"/>
            <a:ext cx="8229600" cy="5343872"/>
          </a:xfrm>
        </p:spPr>
        <p:txBody>
          <a:bodyPr>
            <a:normAutofit fontScale="70000" lnSpcReduction="20000"/>
          </a:bodyPr>
          <a:lstStyle/>
          <a:p>
            <a:pPr marL="0" indent="0">
              <a:buNone/>
            </a:pPr>
            <a:r>
              <a:rPr lang="en-IN" dirty="0"/>
              <a:t>#include&lt;</a:t>
            </a:r>
            <a:r>
              <a:rPr lang="en-IN" dirty="0" err="1"/>
              <a:t>stdio.h</a:t>
            </a:r>
            <a:r>
              <a:rPr lang="en-IN" dirty="0"/>
              <a:t>&gt;  </a:t>
            </a:r>
          </a:p>
          <a:p>
            <a:pPr marL="0" indent="0">
              <a:buNone/>
            </a:pPr>
            <a:r>
              <a:rPr lang="en-US" dirty="0"/>
              <a:t>void change (</a:t>
            </a:r>
            <a:r>
              <a:rPr lang="en-US" dirty="0" err="1"/>
              <a:t>int</a:t>
            </a:r>
            <a:r>
              <a:rPr lang="en-US" dirty="0"/>
              <a:t>);</a:t>
            </a:r>
            <a:endParaRPr lang="en-IN" dirty="0"/>
          </a:p>
          <a:p>
            <a:pPr marL="0" indent="0">
              <a:buNone/>
            </a:pPr>
            <a:r>
              <a:rPr lang="en-IN" dirty="0"/>
              <a:t>void change(</a:t>
            </a:r>
            <a:r>
              <a:rPr lang="en-IN" dirty="0" err="1"/>
              <a:t>int</a:t>
            </a:r>
            <a:r>
              <a:rPr lang="en-IN" dirty="0"/>
              <a:t> </a:t>
            </a:r>
            <a:r>
              <a:rPr lang="en-IN" dirty="0" err="1"/>
              <a:t>num</a:t>
            </a:r>
            <a:r>
              <a:rPr lang="en-IN" dirty="0"/>
              <a:t>)</a:t>
            </a:r>
          </a:p>
          <a:p>
            <a:pPr marL="0" indent="0">
              <a:buNone/>
            </a:pPr>
            <a:r>
              <a:rPr lang="en-IN" dirty="0"/>
              <a:t> {    </a:t>
            </a:r>
          </a:p>
          <a:p>
            <a:pPr marL="0" indent="0">
              <a:buNone/>
            </a:pPr>
            <a:r>
              <a:rPr lang="en-IN" dirty="0"/>
              <a:t>    </a:t>
            </a:r>
            <a:r>
              <a:rPr lang="en-IN" dirty="0" err="1"/>
              <a:t>printf</a:t>
            </a:r>
            <a:r>
              <a:rPr lang="en-IN" dirty="0"/>
              <a:t>("Before adding value inside function </a:t>
            </a:r>
            <a:r>
              <a:rPr lang="en-IN" dirty="0" err="1"/>
              <a:t>num</a:t>
            </a:r>
            <a:r>
              <a:rPr lang="en-IN" dirty="0"/>
              <a:t>=%d \n",</a:t>
            </a:r>
            <a:r>
              <a:rPr lang="en-IN" dirty="0" err="1"/>
              <a:t>num</a:t>
            </a:r>
            <a:r>
              <a:rPr lang="en-IN" dirty="0"/>
              <a:t>);    </a:t>
            </a:r>
          </a:p>
          <a:p>
            <a:pPr marL="0" indent="0">
              <a:buNone/>
            </a:pPr>
            <a:r>
              <a:rPr lang="en-IN" dirty="0"/>
              <a:t>    </a:t>
            </a:r>
            <a:r>
              <a:rPr lang="en-IN" dirty="0" err="1"/>
              <a:t>num</a:t>
            </a:r>
            <a:r>
              <a:rPr lang="en-IN" dirty="0"/>
              <a:t>=num+100;    </a:t>
            </a:r>
          </a:p>
          <a:p>
            <a:pPr marL="0" indent="0">
              <a:buNone/>
            </a:pPr>
            <a:r>
              <a:rPr lang="en-IN" dirty="0"/>
              <a:t>    </a:t>
            </a:r>
            <a:r>
              <a:rPr lang="en-IN" dirty="0" err="1"/>
              <a:t>printf</a:t>
            </a:r>
            <a:r>
              <a:rPr lang="en-IN" dirty="0"/>
              <a:t>("After adding value inside function </a:t>
            </a:r>
            <a:r>
              <a:rPr lang="en-IN" dirty="0" err="1"/>
              <a:t>num</a:t>
            </a:r>
            <a:r>
              <a:rPr lang="en-IN" dirty="0"/>
              <a:t>=%d \n", </a:t>
            </a:r>
            <a:r>
              <a:rPr lang="en-IN" dirty="0" err="1"/>
              <a:t>num</a:t>
            </a:r>
            <a:r>
              <a:rPr lang="en-IN" dirty="0"/>
              <a:t>);    </a:t>
            </a:r>
          </a:p>
          <a:p>
            <a:pPr marL="0" indent="0">
              <a:buNone/>
            </a:pPr>
            <a:r>
              <a:rPr lang="en-IN" dirty="0"/>
              <a:t>}    </a:t>
            </a:r>
          </a:p>
          <a:p>
            <a:pPr marL="0" indent="0">
              <a:buNone/>
            </a:pPr>
            <a:endParaRPr lang="en-IN" dirty="0"/>
          </a:p>
          <a:p>
            <a:pPr marL="0" indent="0">
              <a:buNone/>
            </a:pPr>
            <a:r>
              <a:rPr lang="en-IN" dirty="0" err="1"/>
              <a:t>int</a:t>
            </a:r>
            <a:r>
              <a:rPr lang="en-IN" dirty="0"/>
              <a:t> main()</a:t>
            </a:r>
          </a:p>
          <a:p>
            <a:pPr marL="0" indent="0">
              <a:buNone/>
            </a:pPr>
            <a:endParaRPr lang="en-IN" dirty="0"/>
          </a:p>
          <a:p>
            <a:pPr marL="0" indent="0">
              <a:buNone/>
            </a:pPr>
            <a:r>
              <a:rPr lang="en-IN" dirty="0"/>
              <a:t> {    </a:t>
            </a:r>
          </a:p>
          <a:p>
            <a:pPr marL="0" indent="0">
              <a:buNone/>
            </a:pPr>
            <a:endParaRPr lang="en-IN" dirty="0"/>
          </a:p>
          <a:p>
            <a:pPr marL="0" indent="0">
              <a:buNone/>
            </a:pPr>
            <a:r>
              <a:rPr lang="en-IN" dirty="0"/>
              <a:t>    </a:t>
            </a:r>
            <a:r>
              <a:rPr lang="en-IN" dirty="0" err="1"/>
              <a:t>int</a:t>
            </a:r>
            <a:r>
              <a:rPr lang="en-IN" dirty="0"/>
              <a:t> x=100;    </a:t>
            </a:r>
          </a:p>
          <a:p>
            <a:pPr marL="0" indent="0">
              <a:buNone/>
            </a:pPr>
            <a:r>
              <a:rPr lang="en-IN" dirty="0"/>
              <a:t>    </a:t>
            </a:r>
            <a:r>
              <a:rPr lang="en-IN" dirty="0" err="1"/>
              <a:t>printf</a:t>
            </a:r>
            <a:r>
              <a:rPr lang="en-IN" dirty="0"/>
              <a:t>("Before function call x=%d \n", x);    </a:t>
            </a:r>
          </a:p>
          <a:p>
            <a:pPr marL="0" indent="0">
              <a:buNone/>
            </a:pPr>
            <a:r>
              <a:rPr lang="en-IN" dirty="0"/>
              <a:t>    change(x);//passing value in function    </a:t>
            </a:r>
          </a:p>
          <a:p>
            <a:pPr marL="0" indent="0">
              <a:buNone/>
            </a:pPr>
            <a:r>
              <a:rPr lang="en-IN" dirty="0"/>
              <a:t>    </a:t>
            </a:r>
            <a:r>
              <a:rPr lang="en-IN" dirty="0" err="1"/>
              <a:t>printf</a:t>
            </a:r>
            <a:r>
              <a:rPr lang="en-IN" dirty="0"/>
              <a:t>("After function call x=%d \n", x);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42308522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6640"/>
          </a:xfrm>
        </p:spPr>
        <p:txBody>
          <a:bodyPr>
            <a:normAutofit fontScale="90000"/>
          </a:bodyPr>
          <a:lstStyle/>
          <a:p>
            <a:endParaRPr lang="en-IN" dirty="0"/>
          </a:p>
        </p:txBody>
      </p:sp>
      <p:sp>
        <p:nvSpPr>
          <p:cNvPr id="3" name="Content Placeholder 2"/>
          <p:cNvSpPr>
            <a:spLocks noGrp="1"/>
          </p:cNvSpPr>
          <p:nvPr>
            <p:ph idx="1"/>
          </p:nvPr>
        </p:nvSpPr>
        <p:spPr>
          <a:xfrm>
            <a:off x="457200" y="1124744"/>
            <a:ext cx="8229600" cy="5199856"/>
          </a:xfrm>
        </p:spPr>
        <p:txBody>
          <a:bodyPr>
            <a:normAutofit fontScale="47500" lnSpcReduction="20000"/>
          </a:bodyPr>
          <a:lstStyle/>
          <a:p>
            <a:pPr marL="0" indent="0">
              <a:buNone/>
            </a:pPr>
            <a:r>
              <a:rPr lang="en-IN" dirty="0"/>
              <a:t> #include &lt;</a:t>
            </a:r>
            <a:r>
              <a:rPr lang="en-IN" dirty="0" err="1"/>
              <a:t>stdio.h</a:t>
            </a:r>
            <a:r>
              <a:rPr lang="en-IN" dirty="0"/>
              <a:t>&gt;  </a:t>
            </a:r>
          </a:p>
          <a:p>
            <a:pPr marL="0" indent="0">
              <a:buNone/>
            </a:pPr>
            <a:r>
              <a:rPr lang="en-IN" dirty="0"/>
              <a:t> void swap(</a:t>
            </a:r>
            <a:r>
              <a:rPr lang="en-IN" dirty="0" err="1"/>
              <a:t>int</a:t>
            </a:r>
            <a:r>
              <a:rPr lang="en-IN" dirty="0"/>
              <a:t> , </a:t>
            </a:r>
            <a:r>
              <a:rPr lang="en-IN" dirty="0" err="1"/>
              <a:t>int</a:t>
            </a:r>
            <a:r>
              <a:rPr lang="en-IN" dirty="0"/>
              <a:t>); //prototype of the function   </a:t>
            </a:r>
          </a:p>
          <a:p>
            <a:pPr marL="0" indent="0">
              <a:buNone/>
            </a:pPr>
            <a:endParaRPr lang="en-IN" dirty="0"/>
          </a:p>
          <a:p>
            <a:pPr marL="0" indent="0">
              <a:buNone/>
            </a:pPr>
            <a:r>
              <a:rPr lang="en-IN" dirty="0"/>
              <a:t>    </a:t>
            </a:r>
            <a:r>
              <a:rPr lang="en-IN" dirty="0" err="1"/>
              <a:t>int</a:t>
            </a:r>
            <a:r>
              <a:rPr lang="en-IN" dirty="0"/>
              <a:t> main()  </a:t>
            </a:r>
          </a:p>
          <a:p>
            <a:pPr marL="0" indent="0">
              <a:buNone/>
            </a:pPr>
            <a:endParaRPr lang="en-IN" dirty="0"/>
          </a:p>
          <a:p>
            <a:pPr marL="0" indent="0">
              <a:buNone/>
            </a:pPr>
            <a:r>
              <a:rPr lang="en-IN" dirty="0"/>
              <a:t>    {  </a:t>
            </a:r>
          </a:p>
          <a:p>
            <a:pPr marL="0" indent="0">
              <a:buNone/>
            </a:pPr>
            <a:r>
              <a:rPr lang="en-IN" dirty="0"/>
              <a:t>        </a:t>
            </a:r>
            <a:r>
              <a:rPr lang="en-IN" dirty="0" err="1"/>
              <a:t>int</a:t>
            </a:r>
            <a:r>
              <a:rPr lang="en-IN" dirty="0"/>
              <a:t> a = 10;  </a:t>
            </a:r>
          </a:p>
          <a:p>
            <a:pPr marL="0" indent="0">
              <a:buNone/>
            </a:pPr>
            <a:r>
              <a:rPr lang="en-IN" dirty="0"/>
              <a:t>        </a:t>
            </a:r>
            <a:r>
              <a:rPr lang="en-IN" dirty="0" err="1"/>
              <a:t>int</a:t>
            </a:r>
            <a:r>
              <a:rPr lang="en-IN" dirty="0"/>
              <a:t> b = 20;   </a:t>
            </a:r>
          </a:p>
          <a:p>
            <a:pPr marL="0" indent="0">
              <a:buNone/>
            </a:pPr>
            <a:r>
              <a:rPr lang="en-IN" dirty="0"/>
              <a:t>        </a:t>
            </a:r>
            <a:r>
              <a:rPr lang="en-IN" dirty="0" err="1"/>
              <a:t>printf</a:t>
            </a:r>
            <a:r>
              <a:rPr lang="en-IN" dirty="0"/>
              <a:t>("Before swapping the values in main a = %d, b = %d\n",</a:t>
            </a:r>
            <a:r>
              <a:rPr lang="en-IN" dirty="0" err="1"/>
              <a:t>a,b</a:t>
            </a:r>
            <a:r>
              <a:rPr lang="en-IN" dirty="0"/>
              <a:t>); </a:t>
            </a:r>
            <a:r>
              <a:rPr lang="en-IN" b="1" dirty="0"/>
              <a:t>// printing the value of a and b in main  </a:t>
            </a:r>
          </a:p>
          <a:p>
            <a:pPr marL="0" indent="0">
              <a:buNone/>
            </a:pPr>
            <a:r>
              <a:rPr lang="en-IN" dirty="0"/>
              <a:t>        swap(</a:t>
            </a:r>
            <a:r>
              <a:rPr lang="en-IN" dirty="0" err="1"/>
              <a:t>a,b</a:t>
            </a:r>
            <a:r>
              <a:rPr lang="en-IN" dirty="0"/>
              <a:t>);  </a:t>
            </a:r>
          </a:p>
          <a:p>
            <a:pPr marL="0" indent="0">
              <a:buNone/>
            </a:pPr>
            <a:r>
              <a:rPr lang="en-IN" dirty="0"/>
              <a:t>        </a:t>
            </a:r>
            <a:r>
              <a:rPr lang="en-IN" dirty="0" err="1"/>
              <a:t>printf</a:t>
            </a:r>
            <a:r>
              <a:rPr lang="en-IN" dirty="0"/>
              <a:t>("After swapping values in main a = %d, b = %d\n",</a:t>
            </a:r>
            <a:r>
              <a:rPr lang="en-IN" dirty="0" err="1"/>
              <a:t>a,b</a:t>
            </a:r>
            <a:r>
              <a:rPr lang="en-IN" dirty="0"/>
              <a:t>); </a:t>
            </a:r>
            <a:r>
              <a:rPr lang="en-IN" b="1" dirty="0"/>
              <a:t>// The value of actual parameters do not change </a:t>
            </a:r>
          </a:p>
          <a:p>
            <a:pPr marL="0" indent="0">
              <a:buNone/>
            </a:pPr>
            <a:endParaRPr lang="en-IN" b="1" dirty="0"/>
          </a:p>
          <a:p>
            <a:pPr marL="0" indent="0">
              <a:buNone/>
            </a:pPr>
            <a:r>
              <a:rPr lang="en-IN" b="1" dirty="0"/>
              <a:t>                                                                                 by changing the formal parameters in call by value, a = 10, b = 20  </a:t>
            </a:r>
          </a:p>
          <a:p>
            <a:pPr marL="0" indent="0">
              <a:buNone/>
            </a:pPr>
            <a:r>
              <a:rPr lang="en-IN" dirty="0"/>
              <a:t>  </a:t>
            </a:r>
          </a:p>
          <a:p>
            <a:pPr marL="0" indent="0">
              <a:buNone/>
            </a:pPr>
            <a:r>
              <a:rPr lang="en-IN" dirty="0"/>
              <a:t>  }  </a:t>
            </a:r>
          </a:p>
          <a:p>
            <a:pPr marL="0" indent="0">
              <a:buNone/>
            </a:pPr>
            <a:endParaRPr lang="en-US" dirty="0"/>
          </a:p>
          <a:p>
            <a:pPr marL="0" indent="0">
              <a:buNone/>
            </a:pPr>
            <a:endParaRPr lang="en-US" dirty="0"/>
          </a:p>
          <a:p>
            <a:pPr marL="0" indent="0">
              <a:buNone/>
            </a:pPr>
            <a:endParaRPr lang="en-IN" dirty="0"/>
          </a:p>
          <a:p>
            <a:pPr marL="0" indent="0">
              <a:buNone/>
            </a:pPr>
            <a:r>
              <a:rPr lang="en-IN" dirty="0"/>
              <a:t>    void swap (</a:t>
            </a:r>
            <a:r>
              <a:rPr lang="en-IN" dirty="0" err="1"/>
              <a:t>int</a:t>
            </a:r>
            <a:r>
              <a:rPr lang="en-IN" dirty="0"/>
              <a:t> a, </a:t>
            </a:r>
            <a:r>
              <a:rPr lang="en-IN" dirty="0" err="1"/>
              <a:t>int</a:t>
            </a:r>
            <a:r>
              <a:rPr lang="en-IN" dirty="0"/>
              <a:t> b)  </a:t>
            </a:r>
          </a:p>
          <a:p>
            <a:pPr marL="0" indent="0">
              <a:buNone/>
            </a:pPr>
            <a:r>
              <a:rPr lang="en-IN" dirty="0"/>
              <a:t>    {  </a:t>
            </a:r>
          </a:p>
          <a:p>
            <a:pPr marL="0" indent="0">
              <a:buNone/>
            </a:pPr>
            <a:r>
              <a:rPr lang="en-IN" dirty="0"/>
              <a:t>        </a:t>
            </a:r>
            <a:r>
              <a:rPr lang="en-IN" dirty="0" err="1"/>
              <a:t>int</a:t>
            </a:r>
            <a:r>
              <a:rPr lang="en-IN" dirty="0"/>
              <a:t> temp;   </a:t>
            </a:r>
          </a:p>
          <a:p>
            <a:pPr marL="0" indent="0">
              <a:buNone/>
            </a:pPr>
            <a:r>
              <a:rPr lang="en-IN" dirty="0"/>
              <a:t>        temp = a;  </a:t>
            </a:r>
          </a:p>
          <a:p>
            <a:pPr marL="0" indent="0">
              <a:buNone/>
            </a:pPr>
            <a:r>
              <a:rPr lang="en-IN" dirty="0"/>
              <a:t>        a=b;  </a:t>
            </a:r>
          </a:p>
          <a:p>
            <a:pPr marL="0" indent="0">
              <a:buNone/>
            </a:pPr>
            <a:r>
              <a:rPr lang="en-IN" dirty="0"/>
              <a:t>        b=temp;  </a:t>
            </a:r>
          </a:p>
          <a:p>
            <a:pPr marL="0" indent="0">
              <a:buNone/>
            </a:pPr>
            <a:r>
              <a:rPr lang="en-IN" dirty="0"/>
              <a:t>        </a:t>
            </a:r>
            <a:r>
              <a:rPr lang="en-IN" dirty="0" err="1"/>
              <a:t>printf</a:t>
            </a:r>
            <a:r>
              <a:rPr lang="en-IN" dirty="0"/>
              <a:t>("After swapping values in function a = %d, b = %d\n",</a:t>
            </a:r>
            <a:r>
              <a:rPr lang="en-IN" dirty="0" err="1"/>
              <a:t>a,b</a:t>
            </a:r>
            <a:r>
              <a:rPr lang="en-IN" dirty="0"/>
              <a:t>); // Formal parameters, a = 20, b = 10   </a:t>
            </a:r>
          </a:p>
          <a:p>
            <a:pPr marL="0" indent="0">
              <a:buNone/>
            </a:pPr>
            <a:r>
              <a:rPr lang="en-IN" dirty="0"/>
              <a:t>    } </a:t>
            </a:r>
          </a:p>
        </p:txBody>
      </p:sp>
    </p:spTree>
    <p:extLst>
      <p:ext uri="{BB962C8B-B14F-4D97-AF65-F5344CB8AC3E}">
        <p14:creationId xmlns:p14="http://schemas.microsoft.com/office/powerpoint/2010/main" val="268364018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8229600" cy="936104"/>
          </a:xfrm>
        </p:spPr>
        <p:txBody>
          <a:bodyPr>
            <a:normAutofit fontScale="90000"/>
          </a:bodyPr>
          <a:lstStyle/>
          <a:p>
            <a:br>
              <a:rPr lang="en-IN" b="1" dirty="0"/>
            </a:br>
            <a:br>
              <a:rPr lang="en-IN" b="1" dirty="0"/>
            </a:br>
            <a:r>
              <a:rPr lang="en-IN" sz="3600" b="1" dirty="0"/>
              <a:t>Call by Reference</a:t>
            </a:r>
            <a:endParaRPr lang="en-IN" sz="3600" dirty="0"/>
          </a:p>
        </p:txBody>
      </p:sp>
      <p:sp>
        <p:nvSpPr>
          <p:cNvPr id="3" name="Content Placeholder 2"/>
          <p:cNvSpPr>
            <a:spLocks noGrp="1"/>
          </p:cNvSpPr>
          <p:nvPr>
            <p:ph idx="1"/>
          </p:nvPr>
        </p:nvSpPr>
        <p:spPr>
          <a:xfrm>
            <a:off x="251520" y="1412776"/>
            <a:ext cx="8712968" cy="5256584"/>
          </a:xfrm>
        </p:spPr>
        <p:txBody>
          <a:bodyPr>
            <a:normAutofit/>
          </a:bodyPr>
          <a:lstStyle/>
          <a:p>
            <a:pPr>
              <a:buFont typeface="Arial"/>
              <a:buChar char="•"/>
            </a:pPr>
            <a:r>
              <a:rPr lang="en-IN" dirty="0"/>
              <a:t>In call by reference, the address of the variable is passed into the function call as the actual parameter.</a:t>
            </a:r>
          </a:p>
          <a:p>
            <a:pPr>
              <a:buFont typeface="Arial"/>
              <a:buChar char="•"/>
            </a:pPr>
            <a:r>
              <a:rPr lang="en-IN" dirty="0"/>
              <a:t>The value of the actual parameters can be modified by changing the formal parameters since the address of the actual parameters is passed.</a:t>
            </a:r>
          </a:p>
          <a:p>
            <a:pPr>
              <a:buFont typeface="Arial"/>
              <a:buChar char="•"/>
            </a:pPr>
            <a:r>
              <a:rPr lang="en-IN" dirty="0"/>
              <a:t>In call by reference, the memory allocation is similar for both formal parameters and actual parameters. </a:t>
            </a:r>
          </a:p>
          <a:p>
            <a:pPr>
              <a:buFont typeface="Arial"/>
              <a:buChar char="•"/>
            </a:pPr>
            <a:r>
              <a:rPr lang="en-IN" dirty="0"/>
              <a:t>All the operations in the function are performed on the value stored at the address of the actual parameters, and the modified value gets stored at the same address.</a:t>
            </a:r>
          </a:p>
          <a:p>
            <a:endParaRPr lang="en-IN" dirty="0"/>
          </a:p>
        </p:txBody>
      </p:sp>
    </p:spTree>
    <p:extLst>
      <p:ext uri="{BB962C8B-B14F-4D97-AF65-F5344CB8AC3E}">
        <p14:creationId xmlns:p14="http://schemas.microsoft.com/office/powerpoint/2010/main" val="216723672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432048"/>
          </a:xfrm>
        </p:spPr>
        <p:txBody>
          <a:bodyPr>
            <a:normAutofit fontScale="90000"/>
          </a:bodyPr>
          <a:lstStyle/>
          <a:p>
            <a:r>
              <a:rPr lang="en-IN" dirty="0"/>
              <a:t>pointer</a:t>
            </a:r>
          </a:p>
        </p:txBody>
      </p:sp>
      <p:sp>
        <p:nvSpPr>
          <p:cNvPr id="3" name="Content Placeholder 2"/>
          <p:cNvSpPr>
            <a:spLocks noGrp="1"/>
          </p:cNvSpPr>
          <p:nvPr>
            <p:ph idx="1"/>
          </p:nvPr>
        </p:nvSpPr>
        <p:spPr>
          <a:xfrm>
            <a:off x="457200" y="836712"/>
            <a:ext cx="8229600" cy="5487888"/>
          </a:xfrm>
        </p:spPr>
        <p:txBody>
          <a:bodyPr>
            <a:normAutofit fontScale="92500" lnSpcReduction="10000"/>
          </a:bodyPr>
          <a:lstStyle/>
          <a:p>
            <a:r>
              <a:rPr lang="en-IN" dirty="0"/>
              <a:t>The pointer in C language is a variable which stores the address of another variable. </a:t>
            </a:r>
          </a:p>
          <a:p>
            <a:r>
              <a:rPr lang="en-IN" dirty="0"/>
              <a:t>This variable can be of type </a:t>
            </a:r>
            <a:r>
              <a:rPr lang="en-IN" dirty="0" err="1"/>
              <a:t>int</a:t>
            </a:r>
            <a:r>
              <a:rPr lang="en-IN" dirty="0"/>
              <a:t>, char, array, function, or any other pointer.</a:t>
            </a:r>
          </a:p>
          <a:p>
            <a:r>
              <a:rPr lang="en-IN" dirty="0"/>
              <a:t>main()  </a:t>
            </a:r>
          </a:p>
          <a:p>
            <a:r>
              <a:rPr lang="en-IN" dirty="0"/>
              <a:t>{  </a:t>
            </a:r>
          </a:p>
          <a:p>
            <a:r>
              <a:rPr lang="en-IN" dirty="0"/>
              <a:t>       </a:t>
            </a:r>
          </a:p>
          <a:p>
            <a:r>
              <a:rPr lang="en-IN" dirty="0"/>
              <a:t> </a:t>
            </a:r>
            <a:r>
              <a:rPr lang="en-IN" dirty="0" err="1"/>
              <a:t>int</a:t>
            </a:r>
            <a:r>
              <a:rPr lang="en-IN" dirty="0"/>
              <a:t> n = 10;        </a:t>
            </a:r>
          </a:p>
          <a:p>
            <a:r>
              <a:rPr lang="en-IN" dirty="0"/>
              <a:t> </a:t>
            </a:r>
            <a:r>
              <a:rPr lang="en-IN" dirty="0" err="1"/>
              <a:t>int</a:t>
            </a:r>
            <a:r>
              <a:rPr lang="en-IN" dirty="0"/>
              <a:t>* p = &amp;n;    </a:t>
            </a:r>
          </a:p>
          <a:p>
            <a:r>
              <a:rPr lang="en-IN" dirty="0"/>
              <a:t> </a:t>
            </a:r>
            <a:r>
              <a:rPr lang="en-IN" dirty="0" err="1"/>
              <a:t>printf</a:t>
            </a:r>
            <a:r>
              <a:rPr lang="en-IN" dirty="0"/>
              <a:t>("\</a:t>
            </a:r>
            <a:r>
              <a:rPr lang="en-IN" dirty="0" err="1"/>
              <a:t>nThe</a:t>
            </a:r>
            <a:r>
              <a:rPr lang="en-IN" dirty="0"/>
              <a:t> value of P=%</a:t>
            </a:r>
            <a:r>
              <a:rPr lang="en-IN" dirty="0" err="1"/>
              <a:t>d",p</a:t>
            </a:r>
            <a:r>
              <a:rPr lang="en-IN" dirty="0"/>
              <a:t>);   </a:t>
            </a:r>
          </a:p>
          <a:p>
            <a:r>
              <a:rPr lang="en-IN" dirty="0"/>
              <a:t> </a:t>
            </a:r>
            <a:r>
              <a:rPr lang="en-IN" dirty="0" err="1"/>
              <a:t>printf</a:t>
            </a:r>
            <a:r>
              <a:rPr lang="en-IN" dirty="0"/>
              <a:t>("\</a:t>
            </a:r>
            <a:r>
              <a:rPr lang="en-IN" dirty="0" err="1"/>
              <a:t>nThe</a:t>
            </a:r>
            <a:r>
              <a:rPr lang="en-IN" dirty="0"/>
              <a:t> value of N=%</a:t>
            </a:r>
            <a:r>
              <a:rPr lang="en-IN" dirty="0" err="1"/>
              <a:t>d",n</a:t>
            </a:r>
            <a:r>
              <a:rPr lang="en-IN" dirty="0"/>
              <a:t>);    </a:t>
            </a:r>
          </a:p>
          <a:p>
            <a:endParaRPr lang="en-IN" dirty="0"/>
          </a:p>
          <a:p>
            <a:r>
              <a:rPr lang="en-IN" dirty="0"/>
              <a:t>} </a:t>
            </a:r>
          </a:p>
        </p:txBody>
      </p:sp>
    </p:spTree>
    <p:extLst>
      <p:ext uri="{BB962C8B-B14F-4D97-AF65-F5344CB8AC3E}">
        <p14:creationId xmlns:p14="http://schemas.microsoft.com/office/powerpoint/2010/main" val="209863573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32624"/>
          </a:xfrm>
        </p:spPr>
        <p:txBody>
          <a:bodyPr>
            <a:normAutofit fontScale="90000"/>
          </a:bodyPr>
          <a:lstStyle/>
          <a:p>
            <a:endParaRPr lang="en-IN" dirty="0"/>
          </a:p>
        </p:txBody>
      </p:sp>
      <p:sp>
        <p:nvSpPr>
          <p:cNvPr id="3" name="Content Placeholder 2"/>
          <p:cNvSpPr>
            <a:spLocks noGrp="1"/>
          </p:cNvSpPr>
          <p:nvPr>
            <p:ph idx="1"/>
          </p:nvPr>
        </p:nvSpPr>
        <p:spPr>
          <a:xfrm>
            <a:off x="457200" y="980728"/>
            <a:ext cx="8229600" cy="5343872"/>
          </a:xfrm>
        </p:spPr>
        <p:txBody>
          <a:bodyPr>
            <a:normAutofit fontScale="85000" lnSpcReduction="20000"/>
          </a:bodyPr>
          <a:lstStyle/>
          <a:p>
            <a:pPr marL="0" indent="0">
              <a:buNone/>
            </a:pPr>
            <a:r>
              <a:rPr lang="en-IN" dirty="0"/>
              <a:t> #include&lt;</a:t>
            </a:r>
            <a:r>
              <a:rPr lang="en-IN" dirty="0" err="1"/>
              <a:t>stdio.h</a:t>
            </a:r>
            <a:r>
              <a:rPr lang="en-IN" dirty="0"/>
              <a:t>&gt;  </a:t>
            </a:r>
          </a:p>
          <a:p>
            <a:pPr marL="0" indent="0">
              <a:buNone/>
            </a:pPr>
            <a:r>
              <a:rPr lang="en-IN" dirty="0"/>
              <a:t>void change(</a:t>
            </a:r>
            <a:r>
              <a:rPr lang="en-IN" dirty="0" err="1"/>
              <a:t>int</a:t>
            </a:r>
            <a:r>
              <a:rPr lang="en-IN" dirty="0"/>
              <a:t> *);</a:t>
            </a:r>
          </a:p>
          <a:p>
            <a:pPr marL="0" indent="0">
              <a:buNone/>
            </a:pPr>
            <a:r>
              <a:rPr lang="en-IN" dirty="0" err="1"/>
              <a:t>int</a:t>
            </a:r>
            <a:r>
              <a:rPr lang="en-IN" dirty="0"/>
              <a:t> main() {    </a:t>
            </a:r>
          </a:p>
          <a:p>
            <a:pPr marL="0" indent="0">
              <a:buNone/>
            </a:pPr>
            <a:r>
              <a:rPr lang="en-IN" dirty="0"/>
              <a:t>        </a:t>
            </a:r>
            <a:r>
              <a:rPr lang="en-IN" dirty="0" err="1"/>
              <a:t>int</a:t>
            </a:r>
            <a:r>
              <a:rPr lang="en-IN" dirty="0"/>
              <a:t> x=100;    </a:t>
            </a:r>
          </a:p>
          <a:p>
            <a:pPr marL="0" indent="0">
              <a:buNone/>
            </a:pPr>
            <a:r>
              <a:rPr lang="en-IN" dirty="0"/>
              <a:t>        </a:t>
            </a:r>
            <a:r>
              <a:rPr lang="en-IN" dirty="0" err="1"/>
              <a:t>printf</a:t>
            </a:r>
            <a:r>
              <a:rPr lang="en-IN" dirty="0"/>
              <a:t>("Before function call x=%d \n", x);    </a:t>
            </a:r>
          </a:p>
          <a:p>
            <a:pPr marL="0" indent="0">
              <a:buNone/>
            </a:pPr>
            <a:r>
              <a:rPr lang="en-IN" dirty="0"/>
              <a:t>        change(&amp;x);//passing reference in function    </a:t>
            </a:r>
          </a:p>
          <a:p>
            <a:pPr marL="0" indent="0">
              <a:buNone/>
            </a:pPr>
            <a:r>
              <a:rPr lang="en-IN" dirty="0"/>
              <a:t>        </a:t>
            </a:r>
            <a:r>
              <a:rPr lang="en-IN" dirty="0" err="1"/>
              <a:t>printf</a:t>
            </a:r>
            <a:r>
              <a:rPr lang="en-IN" dirty="0"/>
              <a:t>("After function call x=%d \n", x);    </a:t>
            </a:r>
          </a:p>
          <a:p>
            <a:pPr marL="0" indent="0">
              <a:buNone/>
            </a:pPr>
            <a:r>
              <a:rPr lang="en-IN" dirty="0"/>
              <a:t>    return 0;  </a:t>
            </a:r>
          </a:p>
          <a:p>
            <a:pPr marL="0" indent="0">
              <a:buNone/>
            </a:pPr>
            <a:r>
              <a:rPr lang="en-IN" dirty="0"/>
              <a:t>    } </a:t>
            </a:r>
          </a:p>
          <a:p>
            <a:pPr marL="0" indent="0">
              <a:buNone/>
            </a:pPr>
            <a:r>
              <a:rPr lang="en-IN" dirty="0"/>
              <a:t> void change(</a:t>
            </a:r>
            <a:r>
              <a:rPr lang="en-IN" dirty="0" err="1"/>
              <a:t>int</a:t>
            </a:r>
            <a:r>
              <a:rPr lang="en-IN" dirty="0"/>
              <a:t> *</a:t>
            </a:r>
            <a:r>
              <a:rPr lang="en-IN" dirty="0" err="1"/>
              <a:t>num</a:t>
            </a:r>
            <a:r>
              <a:rPr lang="en-IN" dirty="0"/>
              <a:t>) {    </a:t>
            </a:r>
          </a:p>
          <a:p>
            <a:pPr marL="0" indent="0">
              <a:buNone/>
            </a:pPr>
            <a:r>
              <a:rPr lang="en-IN" dirty="0"/>
              <a:t>        </a:t>
            </a:r>
            <a:r>
              <a:rPr lang="en-IN" dirty="0" err="1"/>
              <a:t>printf</a:t>
            </a:r>
            <a:r>
              <a:rPr lang="en-IN" dirty="0"/>
              <a:t>("Before adding value inside function </a:t>
            </a:r>
            <a:r>
              <a:rPr lang="en-IN" dirty="0" err="1"/>
              <a:t>num</a:t>
            </a:r>
            <a:r>
              <a:rPr lang="en-IN" dirty="0"/>
              <a:t>=%d \n",*</a:t>
            </a:r>
            <a:r>
              <a:rPr lang="en-IN" dirty="0" err="1"/>
              <a:t>num</a:t>
            </a:r>
            <a:r>
              <a:rPr lang="en-IN" dirty="0"/>
              <a:t>);    </a:t>
            </a:r>
          </a:p>
          <a:p>
            <a:pPr marL="0" indent="0">
              <a:buNone/>
            </a:pPr>
            <a:r>
              <a:rPr lang="en-IN" dirty="0"/>
              <a:t>       *</a:t>
            </a:r>
            <a:r>
              <a:rPr lang="en-IN" dirty="0" err="1"/>
              <a:t>num</a:t>
            </a:r>
            <a:r>
              <a:rPr lang="en-IN" dirty="0"/>
              <a:t>=*num+100;    </a:t>
            </a:r>
          </a:p>
          <a:p>
            <a:pPr marL="0" indent="0">
              <a:buNone/>
            </a:pPr>
            <a:r>
              <a:rPr lang="en-IN" dirty="0"/>
              <a:t>        </a:t>
            </a:r>
            <a:r>
              <a:rPr lang="en-IN" dirty="0" err="1"/>
              <a:t>printf</a:t>
            </a:r>
            <a:r>
              <a:rPr lang="en-IN" dirty="0"/>
              <a:t>("After adding value inside function </a:t>
            </a:r>
            <a:r>
              <a:rPr lang="en-IN" dirty="0" err="1"/>
              <a:t>num</a:t>
            </a:r>
            <a:r>
              <a:rPr lang="en-IN" dirty="0"/>
              <a:t>=%d \n", *</a:t>
            </a:r>
            <a:r>
              <a:rPr lang="en-IN" dirty="0" err="1"/>
              <a:t>num</a:t>
            </a:r>
            <a:r>
              <a:rPr lang="en-IN" dirty="0"/>
              <a:t>);    </a:t>
            </a:r>
          </a:p>
          <a:p>
            <a:pPr marL="0" indent="0">
              <a:buNone/>
            </a:pPr>
            <a:r>
              <a:rPr lang="en-IN" dirty="0"/>
              <a:t>    }      </a:t>
            </a:r>
          </a:p>
        </p:txBody>
      </p:sp>
    </p:spTree>
    <p:extLst>
      <p:ext uri="{BB962C8B-B14F-4D97-AF65-F5344CB8AC3E}">
        <p14:creationId xmlns:p14="http://schemas.microsoft.com/office/powerpoint/2010/main" val="116572272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endParaRPr lang="en-IN" dirty="0"/>
          </a:p>
        </p:txBody>
      </p:sp>
      <p:sp>
        <p:nvSpPr>
          <p:cNvPr id="3" name="Content Placeholder 2"/>
          <p:cNvSpPr>
            <a:spLocks noGrp="1"/>
          </p:cNvSpPr>
          <p:nvPr>
            <p:ph idx="1"/>
          </p:nvPr>
        </p:nvSpPr>
        <p:spPr>
          <a:xfrm>
            <a:off x="457200" y="1412776"/>
            <a:ext cx="8229600" cy="5256584"/>
          </a:xfrm>
        </p:spPr>
        <p:txBody>
          <a:bodyPr>
            <a:normAutofit fontScale="62500" lnSpcReduction="20000"/>
          </a:bodyPr>
          <a:lstStyle/>
          <a:p>
            <a:pPr marL="0" indent="0">
              <a:buNone/>
            </a:pPr>
            <a:r>
              <a:rPr lang="en-IN" dirty="0"/>
              <a:t> #include &lt;</a:t>
            </a:r>
            <a:r>
              <a:rPr lang="en-IN" dirty="0" err="1"/>
              <a:t>stdio.h</a:t>
            </a:r>
            <a:r>
              <a:rPr lang="en-IN" dirty="0"/>
              <a:t>&gt;  </a:t>
            </a:r>
          </a:p>
          <a:p>
            <a:pPr marL="0" indent="0">
              <a:buNone/>
            </a:pPr>
            <a:r>
              <a:rPr lang="en-IN" dirty="0"/>
              <a:t>    void swap(</a:t>
            </a:r>
            <a:r>
              <a:rPr lang="en-IN" dirty="0" err="1"/>
              <a:t>int</a:t>
            </a:r>
            <a:r>
              <a:rPr lang="en-IN" dirty="0"/>
              <a:t> *, </a:t>
            </a:r>
            <a:r>
              <a:rPr lang="en-IN" dirty="0" err="1"/>
              <a:t>int</a:t>
            </a:r>
            <a:r>
              <a:rPr lang="en-IN" dirty="0"/>
              <a:t> *); //prototype of the function   </a:t>
            </a:r>
          </a:p>
          <a:p>
            <a:pPr marL="0" indent="0">
              <a:buNone/>
            </a:pPr>
            <a:r>
              <a:rPr lang="en-IN" dirty="0"/>
              <a:t>    </a:t>
            </a:r>
            <a:r>
              <a:rPr lang="en-IN" dirty="0" err="1"/>
              <a:t>int</a:t>
            </a:r>
            <a:r>
              <a:rPr lang="en-IN" dirty="0"/>
              <a:t> main()  </a:t>
            </a:r>
          </a:p>
          <a:p>
            <a:pPr marL="0" indent="0">
              <a:buNone/>
            </a:pPr>
            <a:r>
              <a:rPr lang="en-IN" dirty="0"/>
              <a:t>    {  </a:t>
            </a:r>
          </a:p>
          <a:p>
            <a:pPr marL="0" indent="0">
              <a:buNone/>
            </a:pPr>
            <a:r>
              <a:rPr lang="en-IN" dirty="0"/>
              <a:t>        </a:t>
            </a:r>
            <a:r>
              <a:rPr lang="en-IN" dirty="0" err="1"/>
              <a:t>int</a:t>
            </a:r>
            <a:r>
              <a:rPr lang="en-IN" dirty="0"/>
              <a:t> a = 10;  </a:t>
            </a:r>
          </a:p>
          <a:p>
            <a:pPr marL="0" indent="0">
              <a:buNone/>
            </a:pPr>
            <a:r>
              <a:rPr lang="en-IN" dirty="0"/>
              <a:t>        </a:t>
            </a:r>
            <a:r>
              <a:rPr lang="en-IN" dirty="0" err="1"/>
              <a:t>int</a:t>
            </a:r>
            <a:r>
              <a:rPr lang="en-IN" dirty="0"/>
              <a:t> b = 20;   </a:t>
            </a:r>
          </a:p>
          <a:p>
            <a:pPr marL="0" indent="0">
              <a:buNone/>
            </a:pPr>
            <a:r>
              <a:rPr lang="en-IN" dirty="0"/>
              <a:t>        </a:t>
            </a:r>
            <a:r>
              <a:rPr lang="en-IN" dirty="0" err="1"/>
              <a:t>printf</a:t>
            </a:r>
            <a:r>
              <a:rPr lang="en-IN" dirty="0"/>
              <a:t>("Before swapping the values in main a = %d, b = %d\n",</a:t>
            </a:r>
            <a:r>
              <a:rPr lang="en-IN" dirty="0" err="1"/>
              <a:t>a,b</a:t>
            </a:r>
            <a:r>
              <a:rPr lang="en-IN" dirty="0"/>
              <a:t>); // printing the value of a and b in main  </a:t>
            </a:r>
          </a:p>
          <a:p>
            <a:pPr marL="0" indent="0">
              <a:buNone/>
            </a:pPr>
            <a:r>
              <a:rPr lang="en-IN" dirty="0"/>
              <a:t>        swap(&amp;</a:t>
            </a:r>
            <a:r>
              <a:rPr lang="en-IN" dirty="0" err="1"/>
              <a:t>a,&amp;b</a:t>
            </a:r>
            <a:r>
              <a:rPr lang="en-IN" dirty="0"/>
              <a:t>);  </a:t>
            </a:r>
          </a:p>
          <a:p>
            <a:pPr marL="0" indent="0">
              <a:buNone/>
            </a:pPr>
            <a:r>
              <a:rPr lang="en-IN" dirty="0"/>
              <a:t>        </a:t>
            </a:r>
            <a:r>
              <a:rPr lang="en-IN" dirty="0" err="1"/>
              <a:t>printf</a:t>
            </a:r>
            <a:r>
              <a:rPr lang="en-IN" dirty="0"/>
              <a:t>("After swapping values in main a = %d, b = %d\n",</a:t>
            </a:r>
            <a:r>
              <a:rPr lang="en-IN" dirty="0" err="1"/>
              <a:t>a,b</a:t>
            </a:r>
            <a:r>
              <a:rPr lang="en-IN" dirty="0"/>
              <a:t>); // The values of actual parameters do change in call     by reference, a = 10, b = 20  </a:t>
            </a:r>
          </a:p>
          <a:p>
            <a:pPr marL="0" indent="0">
              <a:buNone/>
            </a:pPr>
            <a:r>
              <a:rPr lang="en-IN" dirty="0"/>
              <a:t>    }  </a:t>
            </a:r>
          </a:p>
          <a:p>
            <a:pPr marL="0" indent="0">
              <a:buNone/>
            </a:pPr>
            <a:r>
              <a:rPr lang="en-IN" dirty="0"/>
              <a:t>    void swap (</a:t>
            </a:r>
            <a:r>
              <a:rPr lang="en-IN" dirty="0" err="1"/>
              <a:t>int</a:t>
            </a:r>
            <a:r>
              <a:rPr lang="en-IN" dirty="0"/>
              <a:t> *a, </a:t>
            </a:r>
            <a:r>
              <a:rPr lang="en-IN" dirty="0" err="1"/>
              <a:t>int</a:t>
            </a:r>
            <a:r>
              <a:rPr lang="en-IN" dirty="0"/>
              <a:t> *b)  </a:t>
            </a:r>
          </a:p>
          <a:p>
            <a:pPr marL="0" indent="0">
              <a:buNone/>
            </a:pPr>
            <a:r>
              <a:rPr lang="en-IN" dirty="0"/>
              <a:t>    {  </a:t>
            </a:r>
          </a:p>
          <a:p>
            <a:pPr marL="0" indent="0">
              <a:buNone/>
            </a:pPr>
            <a:r>
              <a:rPr lang="en-IN" dirty="0"/>
              <a:t>        </a:t>
            </a:r>
            <a:r>
              <a:rPr lang="en-IN" dirty="0" err="1"/>
              <a:t>int</a:t>
            </a:r>
            <a:r>
              <a:rPr lang="en-IN" dirty="0"/>
              <a:t> temp;   </a:t>
            </a:r>
          </a:p>
          <a:p>
            <a:pPr marL="0" indent="0">
              <a:buNone/>
            </a:pPr>
            <a:r>
              <a:rPr lang="en-IN" dirty="0"/>
              <a:t>        temp = *a;  </a:t>
            </a:r>
          </a:p>
          <a:p>
            <a:pPr marL="0" indent="0">
              <a:buNone/>
            </a:pPr>
            <a:r>
              <a:rPr lang="en-IN" dirty="0"/>
              <a:t>        *a=*b;  </a:t>
            </a:r>
          </a:p>
          <a:p>
            <a:pPr marL="0" indent="0">
              <a:buNone/>
            </a:pPr>
            <a:r>
              <a:rPr lang="en-IN" dirty="0"/>
              <a:t>        *b=temp;  </a:t>
            </a:r>
          </a:p>
          <a:p>
            <a:pPr marL="0" indent="0">
              <a:buNone/>
            </a:pPr>
            <a:r>
              <a:rPr lang="en-IN" dirty="0"/>
              <a:t>        </a:t>
            </a:r>
            <a:r>
              <a:rPr lang="en-IN" dirty="0" err="1"/>
              <a:t>printf</a:t>
            </a:r>
            <a:r>
              <a:rPr lang="en-IN" dirty="0"/>
              <a:t>("After swapping values in function a = %d, b = %d\n",*a,*b); // Formal parameters, a = 20, b = 10   </a:t>
            </a:r>
          </a:p>
          <a:p>
            <a:pPr marL="0" indent="0">
              <a:buNone/>
            </a:pPr>
            <a:r>
              <a:rPr lang="en-IN" dirty="0"/>
              <a:t>    } </a:t>
            </a:r>
          </a:p>
        </p:txBody>
      </p:sp>
    </p:spTree>
    <p:extLst>
      <p:ext uri="{BB962C8B-B14F-4D97-AF65-F5344CB8AC3E}">
        <p14:creationId xmlns:p14="http://schemas.microsoft.com/office/powerpoint/2010/main" val="27197145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360040"/>
          </a:xfrm>
        </p:spPr>
        <p:txBody>
          <a:bodyPr>
            <a:normAutofit fontScale="90000"/>
          </a:bodyPr>
          <a:lstStyle/>
          <a:p>
            <a:endParaRPr lang="en-IN" dirty="0"/>
          </a:p>
        </p:txBody>
      </p:sp>
      <p:sp>
        <p:nvSpPr>
          <p:cNvPr id="3" name="Content Placeholder 2"/>
          <p:cNvSpPr>
            <a:spLocks noGrp="1"/>
          </p:cNvSpPr>
          <p:nvPr>
            <p:ph idx="1"/>
          </p:nvPr>
        </p:nvSpPr>
        <p:spPr>
          <a:xfrm>
            <a:off x="457200" y="908720"/>
            <a:ext cx="8229600" cy="5760640"/>
          </a:xfrm>
        </p:spPr>
        <p:txBody>
          <a:bodyPr>
            <a:normAutofit fontScale="55000" lnSpcReduction="20000"/>
          </a:bodyPr>
          <a:lstStyle/>
          <a:p>
            <a:endParaRPr lang="en-IN" dirty="0"/>
          </a:p>
          <a:p>
            <a:pPr marL="0" indent="0">
              <a:buNone/>
            </a:pPr>
            <a:r>
              <a:rPr lang="en-IN" dirty="0"/>
              <a:t>      #include&lt;</a:t>
            </a:r>
            <a:r>
              <a:rPr lang="en-IN" dirty="0" err="1"/>
              <a:t>stdio.h</a:t>
            </a:r>
            <a:r>
              <a:rPr lang="en-IN" dirty="0"/>
              <a:t>&gt;</a:t>
            </a:r>
          </a:p>
          <a:p>
            <a:r>
              <a:rPr lang="en-IN" dirty="0"/>
              <a:t>#include&lt;</a:t>
            </a:r>
            <a:r>
              <a:rPr lang="en-IN" dirty="0" err="1"/>
              <a:t>conio.h</a:t>
            </a:r>
            <a:r>
              <a:rPr lang="en-IN" dirty="0"/>
              <a:t>&gt;</a:t>
            </a:r>
          </a:p>
          <a:p>
            <a:pPr marL="0" indent="0">
              <a:buNone/>
            </a:pPr>
            <a:r>
              <a:rPr lang="en-IN" dirty="0"/>
              <a:t>  void main()</a:t>
            </a:r>
          </a:p>
          <a:p>
            <a:pPr marL="0" indent="0">
              <a:buNone/>
            </a:pPr>
            <a:r>
              <a:rPr lang="en-IN" dirty="0"/>
              <a:t>{</a:t>
            </a:r>
          </a:p>
          <a:p>
            <a:r>
              <a:rPr lang="en-IN" dirty="0"/>
              <a:t>  auto </a:t>
            </a:r>
            <a:r>
              <a:rPr lang="en-IN" dirty="0" err="1"/>
              <a:t>int</a:t>
            </a:r>
            <a:r>
              <a:rPr lang="en-IN" dirty="0"/>
              <a:t> num1, num2 ;</a:t>
            </a:r>
          </a:p>
          <a:p>
            <a:r>
              <a:rPr lang="en-IN" dirty="0">
                <a:solidFill>
                  <a:srgbClr val="FF0000"/>
                </a:solidFill>
              </a:rPr>
              <a:t>void swap(</a:t>
            </a:r>
            <a:r>
              <a:rPr lang="en-IN" dirty="0" err="1">
                <a:solidFill>
                  <a:srgbClr val="FF0000"/>
                </a:solidFill>
              </a:rPr>
              <a:t>int</a:t>
            </a:r>
            <a:r>
              <a:rPr lang="en-IN" dirty="0">
                <a:solidFill>
                  <a:srgbClr val="FF0000"/>
                </a:solidFill>
              </a:rPr>
              <a:t> *,</a:t>
            </a:r>
            <a:r>
              <a:rPr lang="en-IN" dirty="0" err="1">
                <a:solidFill>
                  <a:srgbClr val="FF0000"/>
                </a:solidFill>
              </a:rPr>
              <a:t>int</a:t>
            </a:r>
            <a:r>
              <a:rPr lang="en-IN" dirty="0">
                <a:solidFill>
                  <a:srgbClr val="FF0000"/>
                </a:solidFill>
              </a:rPr>
              <a:t> *) ; // function declaration</a:t>
            </a:r>
          </a:p>
          <a:p>
            <a:r>
              <a:rPr lang="en-IN" dirty="0"/>
              <a:t>   </a:t>
            </a:r>
            <a:r>
              <a:rPr lang="en-IN" dirty="0" err="1"/>
              <a:t>clrscr</a:t>
            </a:r>
            <a:r>
              <a:rPr lang="en-IN" dirty="0"/>
              <a:t>() ;</a:t>
            </a:r>
          </a:p>
          <a:p>
            <a:r>
              <a:rPr lang="en-IN" dirty="0"/>
              <a:t>   num1 = 10 ;</a:t>
            </a:r>
          </a:p>
          <a:p>
            <a:r>
              <a:rPr lang="en-IN" dirty="0"/>
              <a:t>   num2 = 20 ;</a:t>
            </a:r>
          </a:p>
          <a:p>
            <a:r>
              <a:rPr lang="en-IN" dirty="0"/>
              <a:t>   </a:t>
            </a:r>
          </a:p>
          <a:p>
            <a:r>
              <a:rPr lang="en-IN" dirty="0"/>
              <a:t>   </a:t>
            </a:r>
            <a:r>
              <a:rPr lang="en-IN" dirty="0" err="1"/>
              <a:t>printf</a:t>
            </a:r>
            <a:r>
              <a:rPr lang="en-IN" dirty="0"/>
              <a:t>("\</a:t>
            </a:r>
            <a:r>
              <a:rPr lang="en-IN" dirty="0" err="1"/>
              <a:t>nBefore</a:t>
            </a:r>
            <a:r>
              <a:rPr lang="en-IN" dirty="0"/>
              <a:t> swap: num1 = %d, num2 = %d", num1, num2) ;</a:t>
            </a:r>
          </a:p>
          <a:p>
            <a:r>
              <a:rPr lang="en-IN" dirty="0">
                <a:solidFill>
                  <a:srgbClr val="FF0000"/>
                </a:solidFill>
              </a:rPr>
              <a:t>   swap(&amp;num1, &amp;num2) ; // calling function </a:t>
            </a:r>
          </a:p>
          <a:p>
            <a:r>
              <a:rPr lang="en-IN" dirty="0"/>
              <a:t>   </a:t>
            </a:r>
          </a:p>
          <a:p>
            <a:r>
              <a:rPr lang="en-IN" dirty="0"/>
              <a:t>   </a:t>
            </a:r>
            <a:r>
              <a:rPr lang="en-IN" dirty="0" err="1"/>
              <a:t>printf</a:t>
            </a:r>
            <a:r>
              <a:rPr lang="en-IN" dirty="0"/>
              <a:t>("\</a:t>
            </a:r>
            <a:r>
              <a:rPr lang="en-IN" dirty="0" err="1"/>
              <a:t>nAfter</a:t>
            </a:r>
            <a:r>
              <a:rPr lang="en-IN" dirty="0"/>
              <a:t> swap: num1 = %d, num2 = %d", num1, num2);</a:t>
            </a:r>
          </a:p>
          <a:p>
            <a:r>
              <a:rPr lang="en-IN" dirty="0"/>
              <a:t>   </a:t>
            </a:r>
            <a:r>
              <a:rPr lang="en-IN" dirty="0" err="1"/>
              <a:t>getch</a:t>
            </a:r>
            <a:r>
              <a:rPr lang="en-IN" dirty="0"/>
              <a:t>() ;</a:t>
            </a:r>
          </a:p>
          <a:p>
            <a:pPr marL="0" indent="0">
              <a:buNone/>
            </a:pPr>
            <a:r>
              <a:rPr lang="en-IN" dirty="0"/>
              <a:t>}</a:t>
            </a:r>
          </a:p>
          <a:p>
            <a:r>
              <a:rPr lang="en-IN" dirty="0">
                <a:solidFill>
                  <a:srgbClr val="FF0000"/>
                </a:solidFill>
              </a:rPr>
              <a:t>void swap(</a:t>
            </a:r>
            <a:r>
              <a:rPr lang="en-IN" dirty="0" err="1">
                <a:solidFill>
                  <a:srgbClr val="FF0000"/>
                </a:solidFill>
              </a:rPr>
              <a:t>int</a:t>
            </a:r>
            <a:r>
              <a:rPr lang="en-IN" dirty="0">
                <a:solidFill>
                  <a:srgbClr val="FF0000"/>
                </a:solidFill>
              </a:rPr>
              <a:t> *a, </a:t>
            </a:r>
            <a:r>
              <a:rPr lang="en-IN" dirty="0" err="1">
                <a:solidFill>
                  <a:srgbClr val="FF0000"/>
                </a:solidFill>
              </a:rPr>
              <a:t>int</a:t>
            </a:r>
            <a:r>
              <a:rPr lang="en-IN" dirty="0">
                <a:solidFill>
                  <a:srgbClr val="FF0000"/>
                </a:solidFill>
              </a:rPr>
              <a:t> *b)  // called function</a:t>
            </a:r>
          </a:p>
          <a:p>
            <a:endParaRPr lang="en-IN" dirty="0"/>
          </a:p>
          <a:p>
            <a:r>
              <a:rPr lang="en-IN" dirty="0"/>
              <a:t>{</a:t>
            </a:r>
          </a:p>
          <a:p>
            <a:r>
              <a:rPr lang="en-IN" dirty="0"/>
              <a:t>   </a:t>
            </a:r>
            <a:r>
              <a:rPr lang="en-IN" dirty="0" err="1"/>
              <a:t>int</a:t>
            </a:r>
            <a:r>
              <a:rPr lang="en-IN" dirty="0"/>
              <a:t> temp ;</a:t>
            </a:r>
          </a:p>
          <a:p>
            <a:r>
              <a:rPr lang="en-IN" dirty="0"/>
              <a:t>   temp = *a ;</a:t>
            </a:r>
          </a:p>
          <a:p>
            <a:r>
              <a:rPr lang="en-IN" dirty="0"/>
              <a:t>   *a = *b ;</a:t>
            </a:r>
          </a:p>
          <a:p>
            <a:r>
              <a:rPr lang="en-IN" dirty="0"/>
              <a:t>   *b = temp ;</a:t>
            </a:r>
          </a:p>
          <a:p>
            <a:r>
              <a:rPr lang="en-IN" dirty="0"/>
              <a:t>}</a:t>
            </a:r>
          </a:p>
          <a:p>
            <a:endParaRPr lang="en-IN" dirty="0"/>
          </a:p>
          <a:p>
            <a:endParaRPr lang="en-IN" dirty="0"/>
          </a:p>
        </p:txBody>
      </p:sp>
    </p:spTree>
    <p:extLst>
      <p:ext uri="{BB962C8B-B14F-4D97-AF65-F5344CB8AC3E}">
        <p14:creationId xmlns:p14="http://schemas.microsoft.com/office/powerpoint/2010/main" val="215261770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a:t>Difference between call by value and call by reference in c</a:t>
            </a:r>
            <a:br>
              <a:rPr lang="en-IN" sz="2800" b="1" dirty="0"/>
            </a:b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9625085"/>
              </p:ext>
            </p:extLst>
          </p:nvPr>
        </p:nvGraphicFramePr>
        <p:xfrm>
          <a:off x="457200" y="1801336"/>
          <a:ext cx="8229600" cy="4147943"/>
        </p:xfrm>
        <a:graphic>
          <a:graphicData uri="http://schemas.openxmlformats.org/drawingml/2006/table">
            <a:tbl>
              <a:tblPr>
                <a:tableStyleId>{5940675A-B579-460E-94D1-54222C63F5DA}</a:tableStyleId>
              </a:tblPr>
              <a:tblGrid>
                <a:gridCol w="586408">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4186808">
                  <a:extLst>
                    <a:ext uri="{9D8B030D-6E8A-4147-A177-3AD203B41FA5}">
                      <a16:colId xmlns:a16="http://schemas.microsoft.com/office/drawing/2014/main" val="20002"/>
                    </a:ext>
                  </a:extLst>
                </a:gridCol>
              </a:tblGrid>
              <a:tr h="414794">
                <a:tc>
                  <a:txBody>
                    <a:bodyPr/>
                    <a:lstStyle/>
                    <a:p>
                      <a:r>
                        <a:rPr lang="en-IN"/>
                        <a:t>No.</a:t>
                      </a:r>
                    </a:p>
                  </a:txBody>
                  <a:tcPr anchor="ctr"/>
                </a:tc>
                <a:tc>
                  <a:txBody>
                    <a:bodyPr/>
                    <a:lstStyle/>
                    <a:p>
                      <a:r>
                        <a:rPr lang="en-IN"/>
                        <a:t>Call by value</a:t>
                      </a:r>
                    </a:p>
                  </a:txBody>
                  <a:tcPr anchor="ctr"/>
                </a:tc>
                <a:tc>
                  <a:txBody>
                    <a:bodyPr/>
                    <a:lstStyle/>
                    <a:p>
                      <a:r>
                        <a:rPr lang="en-IN" dirty="0"/>
                        <a:t>Call by reference</a:t>
                      </a:r>
                    </a:p>
                  </a:txBody>
                  <a:tcPr anchor="ctr"/>
                </a:tc>
                <a:extLst>
                  <a:ext uri="{0D108BD9-81ED-4DB2-BD59-A6C34878D82A}">
                    <a16:rowId xmlns:a16="http://schemas.microsoft.com/office/drawing/2014/main" val="10000"/>
                  </a:ext>
                </a:extLst>
              </a:tr>
              <a:tr h="725890">
                <a:tc>
                  <a:txBody>
                    <a:bodyPr/>
                    <a:lstStyle/>
                    <a:p>
                      <a:r>
                        <a:rPr lang="en-IN" dirty="0"/>
                        <a:t>1</a:t>
                      </a:r>
                    </a:p>
                  </a:txBody>
                  <a:tcPr anchor="ctr"/>
                </a:tc>
                <a:tc>
                  <a:txBody>
                    <a:bodyPr/>
                    <a:lstStyle/>
                    <a:p>
                      <a:r>
                        <a:rPr lang="en-IN" dirty="0"/>
                        <a:t>A copy of the value is passed into the function</a:t>
                      </a:r>
                    </a:p>
                  </a:txBody>
                  <a:tcPr anchor="ctr"/>
                </a:tc>
                <a:tc>
                  <a:txBody>
                    <a:bodyPr/>
                    <a:lstStyle/>
                    <a:p>
                      <a:r>
                        <a:rPr lang="en-IN" dirty="0"/>
                        <a:t>An address of value is passed into the function</a:t>
                      </a:r>
                    </a:p>
                  </a:txBody>
                  <a:tcPr anchor="ctr"/>
                </a:tc>
                <a:extLst>
                  <a:ext uri="{0D108BD9-81ED-4DB2-BD59-A6C34878D82A}">
                    <a16:rowId xmlns:a16="http://schemas.microsoft.com/office/drawing/2014/main" val="10001"/>
                  </a:ext>
                </a:extLst>
              </a:tr>
              <a:tr h="1970273">
                <a:tc>
                  <a:txBody>
                    <a:bodyPr/>
                    <a:lstStyle/>
                    <a:p>
                      <a:r>
                        <a:rPr lang="en-IN" dirty="0"/>
                        <a:t>2</a:t>
                      </a:r>
                    </a:p>
                  </a:txBody>
                  <a:tcPr anchor="ctr"/>
                </a:tc>
                <a:tc>
                  <a:txBody>
                    <a:bodyPr/>
                    <a:lstStyle/>
                    <a:p>
                      <a:r>
                        <a:rPr lang="en-IN"/>
                        <a:t>Changes made inside the function is limited to the function only. The values of the actual parameters do not change by changing the formal parameters.</a:t>
                      </a:r>
                    </a:p>
                  </a:txBody>
                  <a:tcPr anchor="ctr"/>
                </a:tc>
                <a:tc>
                  <a:txBody>
                    <a:bodyPr/>
                    <a:lstStyle/>
                    <a:p>
                      <a:r>
                        <a:rPr lang="en-IN"/>
                        <a:t>Changes made inside the function validate outside of the function also. The values of the actual parameters do change by changing the formal parameters.</a:t>
                      </a:r>
                    </a:p>
                  </a:txBody>
                  <a:tcPr anchor="ctr"/>
                </a:tc>
                <a:extLst>
                  <a:ext uri="{0D108BD9-81ED-4DB2-BD59-A6C34878D82A}">
                    <a16:rowId xmlns:a16="http://schemas.microsoft.com/office/drawing/2014/main" val="10002"/>
                  </a:ext>
                </a:extLst>
              </a:tr>
              <a:tr h="1036986">
                <a:tc>
                  <a:txBody>
                    <a:bodyPr/>
                    <a:lstStyle/>
                    <a:p>
                      <a:r>
                        <a:rPr lang="en-IN"/>
                        <a:t>3</a:t>
                      </a:r>
                    </a:p>
                  </a:txBody>
                  <a:tcPr anchor="ctr"/>
                </a:tc>
                <a:tc>
                  <a:txBody>
                    <a:bodyPr/>
                    <a:lstStyle/>
                    <a:p>
                      <a:r>
                        <a:rPr lang="en-IN"/>
                        <a:t>Actual and formal arguments are created at the different memory location</a:t>
                      </a:r>
                    </a:p>
                  </a:txBody>
                  <a:tcPr anchor="ctr"/>
                </a:tc>
                <a:tc>
                  <a:txBody>
                    <a:bodyPr/>
                    <a:lstStyle/>
                    <a:p>
                      <a:r>
                        <a:rPr lang="en-IN" dirty="0"/>
                        <a:t>Actual and formal arguments are created at the same memory location</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9205860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864096"/>
          </a:xfrm>
        </p:spPr>
        <p:txBody>
          <a:bodyPr>
            <a:normAutofit fontScale="90000"/>
          </a:bodyPr>
          <a:lstStyle/>
          <a:p>
            <a:r>
              <a:rPr lang="en-US" dirty="0"/>
              <a:t>Storage Classes in C</a:t>
            </a:r>
            <a:br>
              <a:rPr lang="en-US" dirty="0"/>
            </a:br>
            <a:endParaRPr lang="en-US" dirty="0"/>
          </a:p>
        </p:txBody>
      </p:sp>
      <p:sp>
        <p:nvSpPr>
          <p:cNvPr id="3" name="Content Placeholder 2"/>
          <p:cNvSpPr>
            <a:spLocks noGrp="1"/>
          </p:cNvSpPr>
          <p:nvPr>
            <p:ph idx="1"/>
          </p:nvPr>
        </p:nvSpPr>
        <p:spPr>
          <a:xfrm>
            <a:off x="457200" y="548680"/>
            <a:ext cx="8229600" cy="5775920"/>
          </a:xfrm>
        </p:spPr>
        <p:txBody>
          <a:bodyPr/>
          <a:lstStyle/>
          <a:p>
            <a:r>
              <a:rPr lang="en-US" dirty="0"/>
              <a:t>Storage classes in C are used to determine the lifetime, visibility, memory location, and initial value of a variable. There are four types of storage classes in C</a:t>
            </a:r>
          </a:p>
          <a:p>
            <a:r>
              <a:rPr lang="en-US" dirty="0"/>
              <a:t>Automatic</a:t>
            </a:r>
          </a:p>
          <a:p>
            <a:r>
              <a:rPr lang="en-US" dirty="0"/>
              <a:t>External</a:t>
            </a:r>
          </a:p>
          <a:p>
            <a:r>
              <a:rPr lang="en-US" dirty="0"/>
              <a:t>Static</a:t>
            </a:r>
          </a:p>
          <a:p>
            <a:r>
              <a:rPr lang="en-US" dirty="0"/>
              <a:t>Register</a:t>
            </a:r>
          </a:p>
          <a:p>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a:t>Storage Classes in C: auto, extern, static, register class in C </a:t>
            </a:r>
            <a:br>
              <a:rPr lang="en-IN" sz="2800" b="1" dirty="0"/>
            </a:br>
            <a:endParaRPr lang="en-IN" sz="2800" dirty="0"/>
          </a:p>
        </p:txBody>
      </p:sp>
      <p:sp>
        <p:nvSpPr>
          <p:cNvPr id="3" name="Content Placeholder 2"/>
          <p:cNvSpPr>
            <a:spLocks noGrp="1"/>
          </p:cNvSpPr>
          <p:nvPr>
            <p:ph idx="1"/>
          </p:nvPr>
        </p:nvSpPr>
        <p:spPr>
          <a:xfrm>
            <a:off x="457200" y="1412776"/>
            <a:ext cx="8229600" cy="4911824"/>
          </a:xfrm>
        </p:spPr>
        <p:txBody>
          <a:bodyPr>
            <a:normAutofit fontScale="85000" lnSpcReduction="10000"/>
          </a:bodyPr>
          <a:lstStyle/>
          <a:p>
            <a:r>
              <a:rPr lang="en-IN" b="1" dirty="0"/>
              <a:t>What is Storage Class in C?</a:t>
            </a:r>
          </a:p>
          <a:p>
            <a:r>
              <a:rPr lang="en-IN" b="1" dirty="0"/>
              <a:t>A storage class represents the visibility and a location of a variable</a:t>
            </a:r>
            <a:r>
              <a:rPr lang="en-IN" dirty="0"/>
              <a:t>. It tells from what part of code we can access a variable.</a:t>
            </a:r>
          </a:p>
          <a:p>
            <a:r>
              <a:rPr lang="en-IN" dirty="0"/>
              <a:t>storage Classes are used to describe the features of a variable/function. </a:t>
            </a:r>
          </a:p>
          <a:p>
            <a:r>
              <a:rPr lang="en-IN" dirty="0"/>
              <a:t>These features basically include the </a:t>
            </a:r>
            <a:r>
              <a:rPr lang="en-IN" b="1" dirty="0"/>
              <a:t>store</a:t>
            </a:r>
            <a:r>
              <a:rPr lang="en-IN" dirty="0"/>
              <a:t> </a:t>
            </a:r>
            <a:r>
              <a:rPr lang="en-IN" b="1" dirty="0"/>
              <a:t>scope and life-time </a:t>
            </a:r>
            <a:r>
              <a:rPr lang="en-IN" dirty="0"/>
              <a:t>which help us to trace the existence of a particular variable during the runtime of a program.</a:t>
            </a:r>
          </a:p>
          <a:p>
            <a:r>
              <a:rPr lang="en-IN" dirty="0"/>
              <a:t> A storage class in C is used to describe the following things: </a:t>
            </a:r>
          </a:p>
          <a:p>
            <a:r>
              <a:rPr lang="en-IN" dirty="0"/>
              <a:t>The variable scope.</a:t>
            </a:r>
          </a:p>
          <a:p>
            <a:r>
              <a:rPr lang="en-IN" dirty="0"/>
              <a:t>The location where the variable will be stored.</a:t>
            </a:r>
          </a:p>
          <a:p>
            <a:r>
              <a:rPr lang="en-IN" dirty="0"/>
              <a:t>The initialized value of a variable.</a:t>
            </a:r>
          </a:p>
          <a:p>
            <a:r>
              <a:rPr lang="en-IN" dirty="0"/>
              <a:t>A lifetime of a variable.</a:t>
            </a:r>
          </a:p>
          <a:p>
            <a:endParaRPr lang="en-IN" dirty="0"/>
          </a:p>
        </p:txBody>
      </p:sp>
    </p:spTree>
    <p:extLst>
      <p:ext uri="{BB962C8B-B14F-4D97-AF65-F5344CB8AC3E}">
        <p14:creationId xmlns:p14="http://schemas.microsoft.com/office/powerpoint/2010/main" val="263455152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endParaRPr lang="en-IN" dirty="0"/>
          </a:p>
        </p:txBody>
      </p:sp>
      <p:sp>
        <p:nvSpPr>
          <p:cNvPr id="3" name="Content Placeholder 2"/>
          <p:cNvSpPr>
            <a:spLocks noGrp="1"/>
          </p:cNvSpPr>
          <p:nvPr>
            <p:ph idx="1"/>
          </p:nvPr>
        </p:nvSpPr>
        <p:spPr>
          <a:xfrm>
            <a:off x="457200" y="1268760"/>
            <a:ext cx="8229600" cy="5055840"/>
          </a:xfrm>
        </p:spPr>
        <p:txBody>
          <a:bodyPr/>
          <a:lstStyle/>
          <a:p>
            <a:r>
              <a:rPr lang="en-IN" dirty="0"/>
              <a:t>Who can access a variable?</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586150438"/>
              </p:ext>
            </p:extLst>
          </p:nvPr>
        </p:nvGraphicFramePr>
        <p:xfrm>
          <a:off x="611560" y="3501008"/>
          <a:ext cx="7272808" cy="3068728"/>
        </p:xfrm>
        <a:graphic>
          <a:graphicData uri="http://schemas.openxmlformats.org/drawingml/2006/table">
            <a:tbl>
              <a:tblPr>
                <a:tableStyleId>{5940675A-B579-460E-94D1-54222C63F5DA}</a:tableStyleId>
              </a:tblPr>
              <a:tblGrid>
                <a:gridCol w="3636404">
                  <a:extLst>
                    <a:ext uri="{9D8B030D-6E8A-4147-A177-3AD203B41FA5}">
                      <a16:colId xmlns:a16="http://schemas.microsoft.com/office/drawing/2014/main" val="20000"/>
                    </a:ext>
                  </a:extLst>
                </a:gridCol>
                <a:gridCol w="3636404">
                  <a:extLst>
                    <a:ext uri="{9D8B030D-6E8A-4147-A177-3AD203B41FA5}">
                      <a16:colId xmlns:a16="http://schemas.microsoft.com/office/drawing/2014/main" val="20001"/>
                    </a:ext>
                  </a:extLst>
                </a:gridCol>
              </a:tblGrid>
              <a:tr h="332842">
                <a:tc>
                  <a:txBody>
                    <a:bodyPr/>
                    <a:lstStyle/>
                    <a:p>
                      <a:r>
                        <a:rPr lang="en-IN" dirty="0"/>
                        <a:t>Storage class </a:t>
                      </a:r>
                    </a:p>
                  </a:txBody>
                  <a:tcPr anchor="ctr"/>
                </a:tc>
                <a:tc>
                  <a:txBody>
                    <a:bodyPr/>
                    <a:lstStyle/>
                    <a:p>
                      <a:r>
                        <a:rPr lang="en-IN"/>
                        <a:t>Purpose </a:t>
                      </a:r>
                    </a:p>
                  </a:txBody>
                  <a:tcPr anchor="ctr"/>
                </a:tc>
                <a:extLst>
                  <a:ext uri="{0D108BD9-81ED-4DB2-BD59-A6C34878D82A}">
                    <a16:rowId xmlns:a16="http://schemas.microsoft.com/office/drawing/2014/main" val="10000"/>
                  </a:ext>
                </a:extLst>
              </a:tr>
              <a:tr h="332842">
                <a:tc>
                  <a:txBody>
                    <a:bodyPr/>
                    <a:lstStyle/>
                    <a:p>
                      <a:r>
                        <a:rPr lang="en-IN" dirty="0"/>
                        <a:t>auto </a:t>
                      </a:r>
                    </a:p>
                  </a:txBody>
                  <a:tcPr anchor="ctr"/>
                </a:tc>
                <a:tc>
                  <a:txBody>
                    <a:bodyPr/>
                    <a:lstStyle/>
                    <a:p>
                      <a:r>
                        <a:rPr lang="en-IN"/>
                        <a:t>It is a default storage class. </a:t>
                      </a:r>
                    </a:p>
                  </a:txBody>
                  <a:tcPr anchor="ctr"/>
                </a:tc>
                <a:extLst>
                  <a:ext uri="{0D108BD9-81ED-4DB2-BD59-A6C34878D82A}">
                    <a16:rowId xmlns:a16="http://schemas.microsoft.com/office/drawing/2014/main" val="10001"/>
                  </a:ext>
                </a:extLst>
              </a:tr>
              <a:tr h="332842">
                <a:tc>
                  <a:txBody>
                    <a:bodyPr/>
                    <a:lstStyle/>
                    <a:p>
                      <a:r>
                        <a:rPr lang="en-IN" dirty="0"/>
                        <a:t>extern </a:t>
                      </a:r>
                    </a:p>
                  </a:txBody>
                  <a:tcPr anchor="ctr"/>
                </a:tc>
                <a:tc>
                  <a:txBody>
                    <a:bodyPr/>
                    <a:lstStyle/>
                    <a:p>
                      <a:r>
                        <a:rPr lang="en-IN"/>
                        <a:t>It is a global variable. </a:t>
                      </a:r>
                    </a:p>
                  </a:txBody>
                  <a:tcPr anchor="ctr"/>
                </a:tc>
                <a:extLst>
                  <a:ext uri="{0D108BD9-81ED-4DB2-BD59-A6C34878D82A}">
                    <a16:rowId xmlns:a16="http://schemas.microsoft.com/office/drawing/2014/main" val="10002"/>
                  </a:ext>
                </a:extLst>
              </a:tr>
              <a:tr h="1331368">
                <a:tc>
                  <a:txBody>
                    <a:bodyPr/>
                    <a:lstStyle/>
                    <a:p>
                      <a:r>
                        <a:rPr lang="en-IN" dirty="0"/>
                        <a:t>static </a:t>
                      </a:r>
                    </a:p>
                  </a:txBody>
                  <a:tcPr anchor="ctr"/>
                </a:tc>
                <a:tc>
                  <a:txBody>
                    <a:bodyPr/>
                    <a:lstStyle/>
                    <a:p>
                      <a:r>
                        <a:rPr lang="en-IN"/>
                        <a:t>It is a local variable which is capable of returning a value even when control is transferred to the function call. </a:t>
                      </a:r>
                    </a:p>
                  </a:txBody>
                  <a:tcPr anchor="ctr"/>
                </a:tc>
                <a:extLst>
                  <a:ext uri="{0D108BD9-81ED-4DB2-BD59-A6C34878D82A}">
                    <a16:rowId xmlns:a16="http://schemas.microsoft.com/office/drawing/2014/main" val="10003"/>
                  </a:ext>
                </a:extLst>
              </a:tr>
              <a:tr h="582474">
                <a:tc>
                  <a:txBody>
                    <a:bodyPr/>
                    <a:lstStyle/>
                    <a:p>
                      <a:r>
                        <a:rPr lang="en-IN"/>
                        <a:t>register </a:t>
                      </a:r>
                    </a:p>
                  </a:txBody>
                  <a:tcPr anchor="ctr"/>
                </a:tc>
                <a:tc>
                  <a:txBody>
                    <a:bodyPr/>
                    <a:lstStyle/>
                    <a:p>
                      <a:r>
                        <a:rPr lang="en-IN" dirty="0"/>
                        <a:t>It is a variable which is stored inside a Register. </a:t>
                      </a:r>
                    </a:p>
                  </a:txBody>
                  <a:tcPr anchor="ctr"/>
                </a:tc>
                <a:extLst>
                  <a:ext uri="{0D108BD9-81ED-4DB2-BD59-A6C34878D82A}">
                    <a16:rowId xmlns:a16="http://schemas.microsoft.com/office/drawing/2014/main" val="10004"/>
                  </a:ext>
                </a:extLst>
              </a:tr>
            </a:tbl>
          </a:graphicData>
        </a:graphic>
      </p:graphicFrame>
      <p:sp>
        <p:nvSpPr>
          <p:cNvPr id="5" name="Rectangle 1"/>
          <p:cNvSpPr>
            <a:spLocks noChangeArrowheads="1"/>
          </p:cNvSpPr>
          <p:nvPr/>
        </p:nvSpPr>
        <p:spPr bwMode="auto">
          <a:xfrm>
            <a:off x="457200" y="1702872"/>
            <a:ext cx="807524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Thus a storage class is used to represent the information about a variable.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NOTE: A variable is not only associated with a data type, its value but also a storage class.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There are total four types of standard storage classes. The table below represents the storage classes in C. </a:t>
            </a:r>
          </a:p>
        </p:txBody>
      </p:sp>
    </p:spTree>
    <p:extLst>
      <p:ext uri="{BB962C8B-B14F-4D97-AF65-F5344CB8AC3E}">
        <p14:creationId xmlns:p14="http://schemas.microsoft.com/office/powerpoint/2010/main" val="3100208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63310330"/>
              </p:ext>
            </p:extLst>
          </p:nvPr>
        </p:nvGraphicFramePr>
        <p:xfrm>
          <a:off x="611558" y="2038769"/>
          <a:ext cx="7589850" cy="4123486"/>
        </p:xfrm>
        <a:graphic>
          <a:graphicData uri="http://schemas.openxmlformats.org/drawingml/2006/table">
            <a:tbl>
              <a:tblPr>
                <a:tableStyleId>{5940675A-B579-460E-94D1-54222C63F5DA}</a:tableStyleId>
              </a:tblPr>
              <a:tblGrid>
                <a:gridCol w="1517970">
                  <a:extLst>
                    <a:ext uri="{9D8B030D-6E8A-4147-A177-3AD203B41FA5}">
                      <a16:colId xmlns:a16="http://schemas.microsoft.com/office/drawing/2014/main" val="20000"/>
                    </a:ext>
                  </a:extLst>
                </a:gridCol>
                <a:gridCol w="1517970">
                  <a:extLst>
                    <a:ext uri="{9D8B030D-6E8A-4147-A177-3AD203B41FA5}">
                      <a16:colId xmlns:a16="http://schemas.microsoft.com/office/drawing/2014/main" val="20001"/>
                    </a:ext>
                  </a:extLst>
                </a:gridCol>
                <a:gridCol w="1517970">
                  <a:extLst>
                    <a:ext uri="{9D8B030D-6E8A-4147-A177-3AD203B41FA5}">
                      <a16:colId xmlns:a16="http://schemas.microsoft.com/office/drawing/2014/main" val="20002"/>
                    </a:ext>
                  </a:extLst>
                </a:gridCol>
                <a:gridCol w="1517970">
                  <a:extLst>
                    <a:ext uri="{9D8B030D-6E8A-4147-A177-3AD203B41FA5}">
                      <a16:colId xmlns:a16="http://schemas.microsoft.com/office/drawing/2014/main" val="20003"/>
                    </a:ext>
                  </a:extLst>
                </a:gridCol>
                <a:gridCol w="1517970">
                  <a:extLst>
                    <a:ext uri="{9D8B030D-6E8A-4147-A177-3AD203B41FA5}">
                      <a16:colId xmlns:a16="http://schemas.microsoft.com/office/drawing/2014/main" val="20004"/>
                    </a:ext>
                  </a:extLst>
                </a:gridCol>
              </a:tblGrid>
              <a:tr h="441690">
                <a:tc>
                  <a:txBody>
                    <a:bodyPr/>
                    <a:lstStyle/>
                    <a:p>
                      <a:r>
                        <a:rPr lang="en-IN" sz="1300" dirty="0"/>
                        <a:t>Storage Classes</a:t>
                      </a:r>
                    </a:p>
                  </a:txBody>
                  <a:tcPr marL="67530" marR="67530" marT="33765" marB="33765" anchor="ctr"/>
                </a:tc>
                <a:tc>
                  <a:txBody>
                    <a:bodyPr/>
                    <a:lstStyle/>
                    <a:p>
                      <a:r>
                        <a:rPr lang="en-IN" sz="1300" dirty="0"/>
                        <a:t>Storage Place</a:t>
                      </a:r>
                    </a:p>
                  </a:txBody>
                  <a:tcPr marL="67530" marR="67530" marT="33765" marB="33765" anchor="ctr"/>
                </a:tc>
                <a:tc>
                  <a:txBody>
                    <a:bodyPr/>
                    <a:lstStyle/>
                    <a:p>
                      <a:r>
                        <a:rPr lang="en-IN" sz="1300"/>
                        <a:t>Default Value</a:t>
                      </a:r>
                    </a:p>
                  </a:txBody>
                  <a:tcPr marL="67530" marR="67530" marT="33765" marB="33765" anchor="ctr"/>
                </a:tc>
                <a:tc>
                  <a:txBody>
                    <a:bodyPr/>
                    <a:lstStyle/>
                    <a:p>
                      <a:r>
                        <a:rPr lang="en-IN" sz="1300"/>
                        <a:t>Scope</a:t>
                      </a:r>
                    </a:p>
                  </a:txBody>
                  <a:tcPr marL="67530" marR="67530" marT="33765" marB="33765" anchor="ctr"/>
                </a:tc>
                <a:tc>
                  <a:txBody>
                    <a:bodyPr/>
                    <a:lstStyle/>
                    <a:p>
                      <a:r>
                        <a:rPr lang="en-IN" sz="1300"/>
                        <a:t>Lifetime</a:t>
                      </a:r>
                    </a:p>
                  </a:txBody>
                  <a:tcPr marL="67530" marR="67530" marT="33765" marB="33765" anchor="ctr"/>
                </a:tc>
                <a:extLst>
                  <a:ext uri="{0D108BD9-81ED-4DB2-BD59-A6C34878D82A}">
                    <a16:rowId xmlns:a16="http://schemas.microsoft.com/office/drawing/2014/main" val="10000"/>
                  </a:ext>
                </a:extLst>
              </a:tr>
              <a:tr h="441690">
                <a:tc>
                  <a:txBody>
                    <a:bodyPr/>
                    <a:lstStyle/>
                    <a:p>
                      <a:r>
                        <a:rPr lang="en-IN" sz="1300" dirty="0"/>
                        <a:t>auto</a:t>
                      </a:r>
                    </a:p>
                  </a:txBody>
                  <a:tcPr marL="67530" marR="67530" marT="33765" marB="33765" anchor="ctr"/>
                </a:tc>
                <a:tc>
                  <a:txBody>
                    <a:bodyPr/>
                    <a:lstStyle/>
                    <a:p>
                      <a:r>
                        <a:rPr lang="en-IN" sz="1300" dirty="0"/>
                        <a:t>RAM</a:t>
                      </a:r>
                    </a:p>
                  </a:txBody>
                  <a:tcPr marL="67530" marR="67530" marT="33765" marB="33765" anchor="ctr"/>
                </a:tc>
                <a:tc>
                  <a:txBody>
                    <a:bodyPr/>
                    <a:lstStyle/>
                    <a:p>
                      <a:r>
                        <a:rPr lang="en-IN" sz="1300" dirty="0"/>
                        <a:t>Garbage Value</a:t>
                      </a:r>
                    </a:p>
                  </a:txBody>
                  <a:tcPr marL="67530" marR="67530" marT="33765" marB="33765" anchor="ctr"/>
                </a:tc>
                <a:tc>
                  <a:txBody>
                    <a:bodyPr/>
                    <a:lstStyle/>
                    <a:p>
                      <a:r>
                        <a:rPr lang="en-IN" sz="1300" dirty="0"/>
                        <a:t>Local</a:t>
                      </a:r>
                    </a:p>
                  </a:txBody>
                  <a:tcPr marL="67530" marR="67530" marT="33765" marB="33765" anchor="ctr"/>
                </a:tc>
                <a:tc>
                  <a:txBody>
                    <a:bodyPr/>
                    <a:lstStyle/>
                    <a:p>
                      <a:r>
                        <a:rPr lang="en-IN" sz="1300"/>
                        <a:t>Within function</a:t>
                      </a:r>
                    </a:p>
                  </a:txBody>
                  <a:tcPr marL="67530" marR="67530" marT="33765" marB="33765" anchor="ctr"/>
                </a:tc>
                <a:extLst>
                  <a:ext uri="{0D108BD9-81ED-4DB2-BD59-A6C34878D82A}">
                    <a16:rowId xmlns:a16="http://schemas.microsoft.com/office/drawing/2014/main" val="10001"/>
                  </a:ext>
                </a:extLst>
              </a:tr>
              <a:tr h="1388168">
                <a:tc>
                  <a:txBody>
                    <a:bodyPr/>
                    <a:lstStyle/>
                    <a:p>
                      <a:r>
                        <a:rPr lang="en-IN" sz="1300" dirty="0"/>
                        <a:t>extern</a:t>
                      </a:r>
                    </a:p>
                  </a:txBody>
                  <a:tcPr marL="67530" marR="67530" marT="33765" marB="33765" anchor="ctr"/>
                </a:tc>
                <a:tc>
                  <a:txBody>
                    <a:bodyPr/>
                    <a:lstStyle/>
                    <a:p>
                      <a:r>
                        <a:rPr lang="en-IN" sz="1300" dirty="0"/>
                        <a:t>RAM</a:t>
                      </a:r>
                    </a:p>
                  </a:txBody>
                  <a:tcPr marL="67530" marR="67530" marT="33765" marB="33765" anchor="ctr"/>
                </a:tc>
                <a:tc>
                  <a:txBody>
                    <a:bodyPr/>
                    <a:lstStyle/>
                    <a:p>
                      <a:r>
                        <a:rPr lang="en-IN" sz="1300" dirty="0"/>
                        <a:t>Zero</a:t>
                      </a:r>
                    </a:p>
                  </a:txBody>
                  <a:tcPr marL="67530" marR="67530" marT="33765" marB="33765" anchor="ctr"/>
                </a:tc>
                <a:tc>
                  <a:txBody>
                    <a:bodyPr/>
                    <a:lstStyle/>
                    <a:p>
                      <a:r>
                        <a:rPr lang="en-IN" sz="1300"/>
                        <a:t>Global</a:t>
                      </a:r>
                    </a:p>
                  </a:txBody>
                  <a:tcPr marL="67530" marR="67530" marT="33765" marB="33765" anchor="ctr"/>
                </a:tc>
                <a:tc>
                  <a:txBody>
                    <a:bodyPr/>
                    <a:lstStyle/>
                    <a:p>
                      <a:r>
                        <a:rPr lang="en-IN" sz="1300"/>
                        <a:t>Till the end of the main program Maybe declared anywhere in the program</a:t>
                      </a:r>
                    </a:p>
                  </a:txBody>
                  <a:tcPr marL="67530" marR="67530" marT="33765" marB="33765" anchor="ctr"/>
                </a:tc>
                <a:extLst>
                  <a:ext uri="{0D108BD9-81ED-4DB2-BD59-A6C34878D82A}">
                    <a16:rowId xmlns:a16="http://schemas.microsoft.com/office/drawing/2014/main" val="10002"/>
                  </a:ext>
                </a:extLst>
              </a:tr>
              <a:tr h="1388168">
                <a:tc>
                  <a:txBody>
                    <a:bodyPr/>
                    <a:lstStyle/>
                    <a:p>
                      <a:r>
                        <a:rPr lang="en-IN" sz="1300" dirty="0"/>
                        <a:t>static</a:t>
                      </a:r>
                    </a:p>
                  </a:txBody>
                  <a:tcPr marL="67530" marR="67530" marT="33765" marB="33765" anchor="ctr"/>
                </a:tc>
                <a:tc>
                  <a:txBody>
                    <a:bodyPr/>
                    <a:lstStyle/>
                    <a:p>
                      <a:r>
                        <a:rPr lang="en-IN" sz="1300"/>
                        <a:t>RAM</a:t>
                      </a:r>
                    </a:p>
                  </a:txBody>
                  <a:tcPr marL="67530" marR="67530" marT="33765" marB="33765" anchor="ctr"/>
                </a:tc>
                <a:tc>
                  <a:txBody>
                    <a:bodyPr/>
                    <a:lstStyle/>
                    <a:p>
                      <a:r>
                        <a:rPr lang="en-IN" sz="1300"/>
                        <a:t>Zero</a:t>
                      </a:r>
                    </a:p>
                  </a:txBody>
                  <a:tcPr marL="67530" marR="67530" marT="33765" marB="33765" anchor="ctr"/>
                </a:tc>
                <a:tc>
                  <a:txBody>
                    <a:bodyPr/>
                    <a:lstStyle/>
                    <a:p>
                      <a:r>
                        <a:rPr lang="en-IN" sz="1300"/>
                        <a:t>Local</a:t>
                      </a:r>
                    </a:p>
                  </a:txBody>
                  <a:tcPr marL="67530" marR="67530" marT="33765" marB="33765" anchor="ctr"/>
                </a:tc>
                <a:tc>
                  <a:txBody>
                    <a:bodyPr/>
                    <a:lstStyle/>
                    <a:p>
                      <a:r>
                        <a:rPr lang="en-IN" sz="1300"/>
                        <a:t>Till the end of the main program, Retains value between multiple functions call</a:t>
                      </a:r>
                    </a:p>
                  </a:txBody>
                  <a:tcPr marL="67530" marR="67530" marT="33765" marB="33765" anchor="ctr"/>
                </a:tc>
                <a:extLst>
                  <a:ext uri="{0D108BD9-81ED-4DB2-BD59-A6C34878D82A}">
                    <a16:rowId xmlns:a16="http://schemas.microsoft.com/office/drawing/2014/main" val="10003"/>
                  </a:ext>
                </a:extLst>
              </a:tr>
              <a:tr h="441690">
                <a:tc>
                  <a:txBody>
                    <a:bodyPr/>
                    <a:lstStyle/>
                    <a:p>
                      <a:r>
                        <a:rPr lang="en-IN" sz="1300" dirty="0"/>
                        <a:t>register</a:t>
                      </a:r>
                    </a:p>
                  </a:txBody>
                  <a:tcPr marL="67530" marR="67530" marT="33765" marB="33765" anchor="ctr"/>
                </a:tc>
                <a:tc>
                  <a:txBody>
                    <a:bodyPr/>
                    <a:lstStyle/>
                    <a:p>
                      <a:r>
                        <a:rPr lang="en-IN" sz="1300" dirty="0"/>
                        <a:t>Register</a:t>
                      </a:r>
                    </a:p>
                  </a:txBody>
                  <a:tcPr marL="67530" marR="67530" marT="33765" marB="33765" anchor="ctr"/>
                </a:tc>
                <a:tc>
                  <a:txBody>
                    <a:bodyPr/>
                    <a:lstStyle/>
                    <a:p>
                      <a:r>
                        <a:rPr lang="en-IN" sz="1300" dirty="0"/>
                        <a:t>Garbage Value</a:t>
                      </a:r>
                    </a:p>
                  </a:txBody>
                  <a:tcPr marL="67530" marR="67530" marT="33765" marB="33765" anchor="ctr"/>
                </a:tc>
                <a:tc>
                  <a:txBody>
                    <a:bodyPr/>
                    <a:lstStyle/>
                    <a:p>
                      <a:r>
                        <a:rPr lang="en-IN" sz="1300"/>
                        <a:t>Local</a:t>
                      </a:r>
                    </a:p>
                  </a:txBody>
                  <a:tcPr marL="67530" marR="67530" marT="33765" marB="33765" anchor="ctr"/>
                </a:tc>
                <a:tc>
                  <a:txBody>
                    <a:bodyPr/>
                    <a:lstStyle/>
                    <a:p>
                      <a:r>
                        <a:rPr lang="en-IN" sz="1300" dirty="0"/>
                        <a:t>Within the function</a:t>
                      </a:r>
                    </a:p>
                  </a:txBody>
                  <a:tcPr marL="67530" marR="67530" marT="33765" marB="33765"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9370018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r>
              <a:rPr lang="en-IN" b="1" dirty="0"/>
              <a:t>Automatic variables: auto</a:t>
            </a:r>
            <a:br>
              <a:rPr lang="en-IN" b="1" dirty="0"/>
            </a:br>
            <a:endParaRPr lang="en-IN" dirty="0"/>
          </a:p>
        </p:txBody>
      </p:sp>
      <p:sp>
        <p:nvSpPr>
          <p:cNvPr id="3" name="Content Placeholder 2"/>
          <p:cNvSpPr>
            <a:spLocks noGrp="1"/>
          </p:cNvSpPr>
          <p:nvPr>
            <p:ph idx="1"/>
          </p:nvPr>
        </p:nvSpPr>
        <p:spPr>
          <a:xfrm>
            <a:off x="457200" y="764704"/>
            <a:ext cx="8229600" cy="5559896"/>
          </a:xfrm>
        </p:spPr>
        <p:txBody>
          <a:bodyPr>
            <a:normAutofit fontScale="92500" lnSpcReduction="10000"/>
          </a:bodyPr>
          <a:lstStyle/>
          <a:p>
            <a:r>
              <a:rPr lang="en-IN" b="1" dirty="0"/>
              <a:t>Scope:</a:t>
            </a:r>
            <a:r>
              <a:rPr lang="en-IN" dirty="0"/>
              <a:t> </a:t>
            </a:r>
          </a:p>
          <a:p>
            <a:pPr marL="0" indent="0">
              <a:buNone/>
            </a:pPr>
            <a:r>
              <a:rPr lang="en-IN" b="1" dirty="0"/>
              <a:t>Variable defined with auto storage class are local to the function block inside which they are defined</a:t>
            </a:r>
            <a:r>
              <a:rPr lang="en-IN" dirty="0"/>
              <a:t>.</a:t>
            </a:r>
          </a:p>
          <a:p>
            <a:r>
              <a:rPr lang="en-IN" b="1" dirty="0"/>
              <a:t>Default Initial Value:</a:t>
            </a:r>
            <a:r>
              <a:rPr lang="en-IN" dirty="0"/>
              <a:t> </a:t>
            </a:r>
          </a:p>
          <a:p>
            <a:pPr marL="0" indent="0">
              <a:buNone/>
            </a:pPr>
            <a:r>
              <a:rPr lang="en-IN" dirty="0"/>
              <a:t>Any random value </a:t>
            </a:r>
            <a:r>
              <a:rPr lang="en-IN" dirty="0" err="1"/>
              <a:t>i.e</a:t>
            </a:r>
            <a:r>
              <a:rPr lang="en-IN" dirty="0"/>
              <a:t> garbage value.</a:t>
            </a:r>
          </a:p>
          <a:p>
            <a:r>
              <a:rPr lang="en-IN" b="1" dirty="0"/>
              <a:t>Lifetime:</a:t>
            </a:r>
            <a:r>
              <a:rPr lang="en-IN" dirty="0"/>
              <a:t> </a:t>
            </a:r>
          </a:p>
          <a:p>
            <a:pPr marL="0" indent="0">
              <a:buNone/>
            </a:pPr>
            <a:r>
              <a:rPr lang="en-IN" b="1" dirty="0"/>
              <a:t>Till the end of the function/method block where the variable is defined.</a:t>
            </a:r>
          </a:p>
          <a:p>
            <a:pPr marL="0" indent="0">
              <a:buNone/>
            </a:pPr>
            <a:r>
              <a:rPr lang="en-IN" dirty="0"/>
              <a:t>A variable declared inside a function without any storage class specification, is by default an </a:t>
            </a:r>
            <a:r>
              <a:rPr lang="en-IN" b="1" dirty="0"/>
              <a:t>automatic variable</a:t>
            </a:r>
            <a:r>
              <a:rPr lang="en-IN" dirty="0"/>
              <a:t>. They are created when a function is called and are destroyed </a:t>
            </a:r>
            <a:r>
              <a:rPr lang="en-IN" b="1" dirty="0"/>
              <a:t>automatically</a:t>
            </a:r>
            <a:r>
              <a:rPr lang="en-IN" dirty="0"/>
              <a:t> when the function's execution is completed. Automatic variables can also be called </a:t>
            </a:r>
            <a:r>
              <a:rPr lang="en-IN" b="1" dirty="0"/>
              <a:t>local variables</a:t>
            </a:r>
            <a:r>
              <a:rPr lang="en-IN" dirty="0"/>
              <a:t> because they are local to a function. By default they are assigned </a:t>
            </a:r>
            <a:r>
              <a:rPr lang="en-IN" b="1" dirty="0"/>
              <a:t>garbage value</a:t>
            </a:r>
            <a:r>
              <a:rPr lang="en-IN" dirty="0"/>
              <a:t> by the compiler.</a:t>
            </a:r>
          </a:p>
          <a:p>
            <a:endParaRPr lang="en-IN" dirty="0"/>
          </a:p>
        </p:txBody>
      </p:sp>
    </p:spTree>
    <p:extLst>
      <p:ext uri="{BB962C8B-B14F-4D97-AF65-F5344CB8AC3E}">
        <p14:creationId xmlns:p14="http://schemas.microsoft.com/office/powerpoint/2010/main" val="107928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#include&lt;</a:t>
            </a:r>
            <a:r>
              <a:rPr lang="en-IN" dirty="0" err="1"/>
              <a:t>stdio.h</a:t>
            </a:r>
            <a:r>
              <a:rPr lang="en-IN" dirty="0"/>
              <a:t>&gt; </a:t>
            </a:r>
          </a:p>
          <a:p>
            <a:pPr marL="0" indent="0">
              <a:buNone/>
            </a:pPr>
            <a:r>
              <a:rPr lang="en-IN" dirty="0"/>
              <a:t>void main()</a:t>
            </a:r>
          </a:p>
          <a:p>
            <a:pPr marL="0" indent="0">
              <a:buNone/>
            </a:pPr>
            <a:r>
              <a:rPr lang="en-IN" dirty="0"/>
              <a:t> {</a:t>
            </a:r>
          </a:p>
          <a:p>
            <a:pPr marL="0" indent="0">
              <a:buNone/>
            </a:pPr>
            <a:r>
              <a:rPr lang="en-IN" dirty="0"/>
              <a:t>  auto </a:t>
            </a:r>
            <a:r>
              <a:rPr lang="en-IN" dirty="0" err="1"/>
              <a:t>int</a:t>
            </a:r>
            <a:r>
              <a:rPr lang="en-IN" dirty="0"/>
              <a:t> a=5; </a:t>
            </a:r>
          </a:p>
          <a:p>
            <a:pPr marL="0" indent="0">
              <a:buNone/>
            </a:pPr>
            <a:r>
              <a:rPr lang="pt-BR" dirty="0"/>
              <a:t>  printf("\n%d",a);  </a:t>
            </a:r>
          </a:p>
          <a:p>
            <a:pPr marL="0" indent="0">
              <a:buNone/>
            </a:pPr>
            <a:r>
              <a:rPr lang="en-IN" dirty="0"/>
              <a:t>}</a:t>
            </a:r>
          </a:p>
        </p:txBody>
      </p:sp>
    </p:spTree>
    <p:extLst>
      <p:ext uri="{BB962C8B-B14F-4D97-AF65-F5344CB8AC3E}">
        <p14:creationId xmlns:p14="http://schemas.microsoft.com/office/powerpoint/2010/main" val="425557019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pt-BR" dirty="0"/>
              <a:t>void main()     </a:t>
            </a:r>
          </a:p>
          <a:p>
            <a:pPr>
              <a:buNone/>
            </a:pPr>
            <a:r>
              <a:rPr lang="pt-BR" dirty="0"/>
              <a:t> {       </a:t>
            </a:r>
          </a:p>
          <a:p>
            <a:pPr>
              <a:buNone/>
            </a:pPr>
            <a:r>
              <a:rPr lang="pt-BR" dirty="0"/>
              <a:t>   auto int a=8;  </a:t>
            </a:r>
          </a:p>
          <a:p>
            <a:pPr>
              <a:buNone/>
            </a:pPr>
            <a:r>
              <a:rPr lang="pt-BR" dirty="0"/>
              <a:t>   {      </a:t>
            </a:r>
          </a:p>
          <a:p>
            <a:pPr>
              <a:buNone/>
            </a:pPr>
            <a:r>
              <a:rPr lang="pt-BR" dirty="0"/>
              <a:t>    auto int b=5;     </a:t>
            </a:r>
          </a:p>
          <a:p>
            <a:pPr>
              <a:buNone/>
            </a:pPr>
            <a:r>
              <a:rPr lang="pt-BR" dirty="0"/>
              <a:t>    printf("\n%d",b);     </a:t>
            </a:r>
          </a:p>
          <a:p>
            <a:pPr>
              <a:buNone/>
            </a:pPr>
            <a:r>
              <a:rPr lang="pt-BR" dirty="0"/>
              <a:t>    printf("\n%d",a);  </a:t>
            </a:r>
          </a:p>
          <a:p>
            <a:pPr>
              <a:buNone/>
            </a:pPr>
            <a:r>
              <a:rPr lang="pt-BR" dirty="0"/>
              <a:t>   }   </a:t>
            </a:r>
          </a:p>
          <a:p>
            <a:pPr>
              <a:buNone/>
            </a:pPr>
            <a:r>
              <a:rPr lang="pt-BR" dirty="0"/>
              <a:t>//printf("\n%d",b);  </a:t>
            </a:r>
          </a:p>
          <a:p>
            <a:pPr>
              <a:buNone/>
            </a:pPr>
            <a:r>
              <a:rPr lang="pt-BR" dirty="0"/>
              <a:t>printf("\n%d",a);</a:t>
            </a:r>
          </a:p>
          <a:p>
            <a:pPr>
              <a:buNone/>
            </a:pPr>
            <a:r>
              <a:rPr lang="pt-BR" dirty="0"/>
              <a:t>}</a:t>
            </a:r>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a:t>#include&lt;</a:t>
            </a:r>
            <a:r>
              <a:rPr lang="en-US" dirty="0" err="1"/>
              <a:t>stdio.h</a:t>
            </a:r>
            <a:r>
              <a:rPr lang="en-US" dirty="0"/>
              <a:t>&gt;</a:t>
            </a:r>
          </a:p>
          <a:p>
            <a:pPr>
              <a:buNone/>
            </a:pPr>
            <a:r>
              <a:rPr lang="en-US" dirty="0"/>
              <a:t> void test(); </a:t>
            </a:r>
          </a:p>
          <a:p>
            <a:pPr>
              <a:buNone/>
            </a:pPr>
            <a:r>
              <a:rPr lang="en-US" dirty="0" err="1"/>
              <a:t>int</a:t>
            </a:r>
            <a:r>
              <a:rPr lang="en-US" dirty="0"/>
              <a:t> main() </a:t>
            </a:r>
          </a:p>
          <a:p>
            <a:pPr>
              <a:buNone/>
            </a:pPr>
            <a:r>
              <a:rPr lang="en-US" dirty="0"/>
              <a:t>{ </a:t>
            </a:r>
          </a:p>
          <a:p>
            <a:pPr>
              <a:buNone/>
            </a:pPr>
            <a:r>
              <a:rPr lang="en-US" dirty="0"/>
              <a:t>test(); </a:t>
            </a:r>
          </a:p>
          <a:p>
            <a:pPr>
              <a:buNone/>
            </a:pPr>
            <a:r>
              <a:rPr lang="en-US" dirty="0"/>
              <a:t>test(); </a:t>
            </a:r>
          </a:p>
          <a:p>
            <a:pPr>
              <a:buNone/>
            </a:pPr>
            <a:r>
              <a:rPr lang="en-US" dirty="0"/>
              <a:t>test(); </a:t>
            </a:r>
          </a:p>
          <a:p>
            <a:pPr>
              <a:buNone/>
            </a:pPr>
            <a:r>
              <a:rPr lang="en-US" dirty="0"/>
              <a:t>} </a:t>
            </a:r>
          </a:p>
          <a:p>
            <a:pPr>
              <a:buNone/>
            </a:pPr>
            <a:r>
              <a:rPr lang="en-US" dirty="0"/>
              <a:t>void test()</a:t>
            </a:r>
          </a:p>
          <a:p>
            <a:pPr>
              <a:buNone/>
            </a:pPr>
            <a:r>
              <a:rPr lang="en-US" dirty="0"/>
              <a:t> { </a:t>
            </a:r>
          </a:p>
          <a:p>
            <a:pPr>
              <a:buNone/>
            </a:pPr>
            <a:r>
              <a:rPr lang="en-US" dirty="0"/>
              <a:t>  auto </a:t>
            </a:r>
            <a:r>
              <a:rPr lang="en-US" dirty="0" err="1"/>
              <a:t>int</a:t>
            </a:r>
            <a:r>
              <a:rPr lang="en-US" dirty="0"/>
              <a:t> a = 0; </a:t>
            </a:r>
          </a:p>
          <a:p>
            <a:pPr>
              <a:buNone/>
            </a:pPr>
            <a:r>
              <a:rPr lang="en-US" dirty="0"/>
              <a:t>   a = a + 1; </a:t>
            </a:r>
          </a:p>
          <a:p>
            <a:pPr>
              <a:buNone/>
            </a:pPr>
            <a:r>
              <a:rPr lang="en-US" dirty="0"/>
              <a:t>   </a:t>
            </a:r>
            <a:r>
              <a:rPr lang="en-US" dirty="0" err="1"/>
              <a:t>printf</a:t>
            </a:r>
            <a:r>
              <a:rPr lang="en-US" dirty="0"/>
              <a:t>("%d\</a:t>
            </a:r>
            <a:r>
              <a:rPr lang="en-US" dirty="0" err="1"/>
              <a:t>t",a</a:t>
            </a:r>
            <a:r>
              <a:rPr lang="en-US" dirty="0"/>
              <a:t>);</a:t>
            </a:r>
          </a:p>
          <a:p>
            <a:pPr>
              <a:buNone/>
            </a:pPr>
            <a:r>
              <a:rPr lang="en-US" dirty="0"/>
              <a:t> }</a:t>
            </a:r>
          </a:p>
          <a:p>
            <a:pPr>
              <a:buNone/>
            </a:pPr>
            <a:r>
              <a:rPr lang="en-US" dirty="0"/>
              <a:t>o/p   1  1    1</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Static variables</a:t>
            </a:r>
            <a:br>
              <a:rPr lang="en-IN" b="1" dirty="0"/>
            </a:br>
            <a:endParaRPr lang="en-IN" dirty="0"/>
          </a:p>
        </p:txBody>
      </p:sp>
      <p:sp>
        <p:nvSpPr>
          <p:cNvPr id="3" name="Content Placeholder 2"/>
          <p:cNvSpPr>
            <a:spLocks noGrp="1"/>
          </p:cNvSpPr>
          <p:nvPr>
            <p:ph idx="1"/>
          </p:nvPr>
        </p:nvSpPr>
        <p:spPr>
          <a:xfrm>
            <a:off x="457200" y="1124744"/>
            <a:ext cx="8229600" cy="5199856"/>
          </a:xfrm>
        </p:spPr>
        <p:txBody>
          <a:bodyPr>
            <a:normAutofit fontScale="92500" lnSpcReduction="20000"/>
          </a:bodyPr>
          <a:lstStyle/>
          <a:p>
            <a:r>
              <a:rPr lang="en-IN" b="1" dirty="0"/>
              <a:t>Scope:</a:t>
            </a:r>
            <a:r>
              <a:rPr lang="en-IN" dirty="0"/>
              <a:t> Local to the block in which the variable is defined</a:t>
            </a:r>
          </a:p>
          <a:p>
            <a:r>
              <a:rPr lang="en-IN" b="1" dirty="0"/>
              <a:t>Default initial value:</a:t>
            </a:r>
            <a:r>
              <a:rPr lang="en-IN" dirty="0"/>
              <a:t> 0(Zero).</a:t>
            </a:r>
          </a:p>
          <a:p>
            <a:r>
              <a:rPr lang="en-IN" b="1" dirty="0"/>
              <a:t>Lifetime:</a:t>
            </a:r>
            <a:r>
              <a:rPr lang="en-IN" dirty="0"/>
              <a:t> Till the whole program doesn't finish its execution.</a:t>
            </a:r>
          </a:p>
          <a:p>
            <a:r>
              <a:rPr lang="en-IN" dirty="0"/>
              <a:t>A static variable tells the compiler to persist/save the variable until the end of program. Instead of creating and destroying a variable every time when it comes into and goes out of scope, static variable is initialized only once and remains into existence till the end of the program. A static variable can either be internal or external depending upon the place of declaration. Scope of </a:t>
            </a:r>
            <a:r>
              <a:rPr lang="en-IN" b="1" dirty="0"/>
              <a:t>internal static</a:t>
            </a:r>
            <a:r>
              <a:rPr lang="en-IN" dirty="0"/>
              <a:t> variable remains inside the function in which it is defined. </a:t>
            </a:r>
            <a:r>
              <a:rPr lang="en-IN" b="1" dirty="0"/>
              <a:t>External static</a:t>
            </a:r>
            <a:r>
              <a:rPr lang="en-IN" dirty="0"/>
              <a:t> variables remain restricted to scope of file in which they are declared.</a:t>
            </a:r>
          </a:p>
          <a:p>
            <a:r>
              <a:rPr lang="en-IN" dirty="0"/>
              <a:t>They are assigned </a:t>
            </a:r>
            <a:r>
              <a:rPr lang="en-IN" b="1" dirty="0"/>
              <a:t>0 (zero)</a:t>
            </a:r>
            <a:r>
              <a:rPr lang="en-IN" dirty="0"/>
              <a:t> as default value by the compiler.</a:t>
            </a:r>
          </a:p>
          <a:p>
            <a:endParaRPr lang="en-IN" dirty="0"/>
          </a:p>
        </p:txBody>
      </p:sp>
    </p:spTree>
    <p:extLst>
      <p:ext uri="{BB962C8B-B14F-4D97-AF65-F5344CB8AC3E}">
        <p14:creationId xmlns:p14="http://schemas.microsoft.com/office/powerpoint/2010/main" val="329978156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#include&lt;</a:t>
            </a:r>
            <a:r>
              <a:rPr lang="en-US" dirty="0" err="1"/>
              <a:t>stdio.h</a:t>
            </a:r>
            <a:r>
              <a:rPr lang="en-US" dirty="0"/>
              <a:t>&gt;</a:t>
            </a:r>
          </a:p>
          <a:p>
            <a:pPr>
              <a:buNone/>
            </a:pPr>
            <a:r>
              <a:rPr lang="en-US" dirty="0"/>
              <a:t> void main()</a:t>
            </a:r>
          </a:p>
          <a:p>
            <a:pPr>
              <a:buNone/>
            </a:pPr>
            <a:r>
              <a:rPr lang="en-US" dirty="0"/>
              <a:t> {</a:t>
            </a:r>
          </a:p>
          <a:p>
            <a:pPr>
              <a:buNone/>
            </a:pPr>
            <a:r>
              <a:rPr lang="en-US" dirty="0"/>
              <a:t>static </a:t>
            </a:r>
            <a:r>
              <a:rPr lang="en-US" dirty="0" err="1"/>
              <a:t>int</a:t>
            </a:r>
            <a:r>
              <a:rPr lang="en-US" dirty="0"/>
              <a:t> a;   </a:t>
            </a:r>
          </a:p>
          <a:p>
            <a:pPr>
              <a:buNone/>
            </a:pPr>
            <a:r>
              <a:rPr lang="en-US" dirty="0" err="1"/>
              <a:t>printf</a:t>
            </a:r>
            <a:r>
              <a:rPr lang="en-US" dirty="0"/>
              <a:t>("\</a:t>
            </a:r>
            <a:r>
              <a:rPr lang="en-US" dirty="0" err="1"/>
              <a:t>n%d",a</a:t>
            </a:r>
            <a:r>
              <a:rPr lang="en-US" dirty="0"/>
              <a:t>); </a:t>
            </a:r>
          </a:p>
          <a:p>
            <a:pPr>
              <a:buNone/>
            </a:pPr>
            <a:r>
              <a:rPr lang="en-US" dirty="0"/>
              <a:t>  }</a:t>
            </a:r>
          </a:p>
        </p:txBody>
      </p:sp>
    </p:spTree>
    <p:extLst>
      <p:ext uri="{BB962C8B-B14F-4D97-AF65-F5344CB8AC3E}">
        <p14:creationId xmlns:p14="http://schemas.microsoft.com/office/powerpoint/2010/main" val="120819983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endParaRPr lang="en-IN" dirty="0"/>
          </a:p>
        </p:txBody>
      </p:sp>
      <p:sp>
        <p:nvSpPr>
          <p:cNvPr id="3" name="Content Placeholder 2"/>
          <p:cNvSpPr>
            <a:spLocks noGrp="1"/>
          </p:cNvSpPr>
          <p:nvPr>
            <p:ph idx="1"/>
          </p:nvPr>
        </p:nvSpPr>
        <p:spPr>
          <a:xfrm>
            <a:off x="457200" y="1484784"/>
            <a:ext cx="8229600" cy="4839816"/>
          </a:xfrm>
        </p:spPr>
        <p:txBody>
          <a:bodyPr>
            <a:normAutofit fontScale="70000" lnSpcReduction="20000"/>
          </a:bodyPr>
          <a:lstStyle/>
          <a:p>
            <a:pPr marL="0" indent="0">
              <a:buNone/>
            </a:pPr>
            <a:r>
              <a:rPr lang="en-IN" dirty="0"/>
              <a:t>#include&lt;</a:t>
            </a:r>
            <a:r>
              <a:rPr lang="en-IN" dirty="0" err="1"/>
              <a:t>stdio.h</a:t>
            </a:r>
            <a:r>
              <a:rPr lang="en-IN" dirty="0"/>
              <a:t>&gt;</a:t>
            </a:r>
          </a:p>
          <a:p>
            <a:pPr marL="0" indent="0">
              <a:buNone/>
            </a:pPr>
            <a:r>
              <a:rPr lang="en-IN" dirty="0"/>
              <a:t> void test(); //Function declaration (discussed in next topic) </a:t>
            </a:r>
          </a:p>
          <a:p>
            <a:pPr marL="0" indent="0">
              <a:buNone/>
            </a:pPr>
            <a:r>
              <a:rPr lang="en-IN" dirty="0" err="1"/>
              <a:t>int</a:t>
            </a:r>
            <a:r>
              <a:rPr lang="en-IN" dirty="0"/>
              <a:t> main() </a:t>
            </a:r>
          </a:p>
          <a:p>
            <a:pPr marL="0" indent="0">
              <a:buNone/>
            </a:pPr>
            <a:r>
              <a:rPr lang="en-IN" dirty="0"/>
              <a:t>{ </a:t>
            </a:r>
          </a:p>
          <a:p>
            <a:pPr marL="0" indent="0">
              <a:buNone/>
            </a:pPr>
            <a:r>
              <a:rPr lang="en-IN" dirty="0"/>
              <a:t>test(); </a:t>
            </a:r>
          </a:p>
          <a:p>
            <a:pPr marL="0" indent="0">
              <a:buNone/>
            </a:pPr>
            <a:r>
              <a:rPr lang="en-IN" dirty="0"/>
              <a:t>test(); </a:t>
            </a:r>
          </a:p>
          <a:p>
            <a:pPr marL="0" indent="0">
              <a:buNone/>
            </a:pPr>
            <a:r>
              <a:rPr lang="en-IN" dirty="0"/>
              <a:t>test();</a:t>
            </a:r>
          </a:p>
          <a:p>
            <a:pPr marL="0" indent="0">
              <a:buNone/>
            </a:pPr>
            <a:r>
              <a:rPr lang="en-IN" dirty="0"/>
              <a:t> } </a:t>
            </a:r>
          </a:p>
          <a:p>
            <a:pPr marL="0" indent="0">
              <a:buNone/>
            </a:pPr>
            <a:r>
              <a:rPr lang="en-IN" dirty="0"/>
              <a:t>void test() </a:t>
            </a:r>
          </a:p>
          <a:p>
            <a:pPr marL="0" indent="0">
              <a:buNone/>
            </a:pPr>
            <a:r>
              <a:rPr lang="en-IN" dirty="0"/>
              <a:t>{ </a:t>
            </a:r>
          </a:p>
          <a:p>
            <a:pPr marL="0" indent="0">
              <a:buNone/>
            </a:pPr>
            <a:r>
              <a:rPr lang="en-IN" dirty="0"/>
              <a:t>static </a:t>
            </a:r>
            <a:r>
              <a:rPr lang="en-IN" dirty="0" err="1"/>
              <a:t>int</a:t>
            </a:r>
            <a:r>
              <a:rPr lang="en-IN" dirty="0"/>
              <a:t> a = 0; //a static variable </a:t>
            </a:r>
          </a:p>
          <a:p>
            <a:pPr marL="0" indent="0">
              <a:buNone/>
            </a:pPr>
            <a:r>
              <a:rPr lang="en-IN" dirty="0"/>
              <a:t>a = a + 1; </a:t>
            </a:r>
          </a:p>
          <a:p>
            <a:pPr marL="0" indent="0">
              <a:buNone/>
            </a:pPr>
            <a:r>
              <a:rPr lang="en-IN" dirty="0" err="1"/>
              <a:t>printf</a:t>
            </a:r>
            <a:r>
              <a:rPr lang="en-IN" dirty="0"/>
              <a:t>("%d\</a:t>
            </a:r>
            <a:r>
              <a:rPr lang="en-IN" dirty="0" err="1"/>
              <a:t>t",a</a:t>
            </a:r>
            <a:r>
              <a:rPr lang="en-IN" dirty="0"/>
              <a:t>);</a:t>
            </a:r>
          </a:p>
          <a:p>
            <a:pPr marL="0" indent="0">
              <a:buNone/>
            </a:pPr>
            <a:r>
              <a:rPr lang="en-IN" dirty="0"/>
              <a:t> }</a:t>
            </a:r>
          </a:p>
          <a:p>
            <a:pPr marL="0" indent="0">
              <a:buNone/>
            </a:pPr>
            <a:r>
              <a:rPr lang="en-US" b="1" dirty="0"/>
              <a:t>o/p</a:t>
            </a:r>
          </a:p>
          <a:p>
            <a:pPr marL="0" indent="0">
              <a:buNone/>
            </a:pPr>
            <a:r>
              <a:rPr lang="en-US" dirty="0"/>
              <a:t>1 2 3</a:t>
            </a:r>
            <a:endParaRPr lang="en-IN" dirty="0"/>
          </a:p>
        </p:txBody>
      </p:sp>
    </p:spTree>
    <p:extLst>
      <p:ext uri="{BB962C8B-B14F-4D97-AF65-F5344CB8AC3E}">
        <p14:creationId xmlns:p14="http://schemas.microsoft.com/office/powerpoint/2010/main" val="269387610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1" dirty="0"/>
              <a:t>External or Global variable(</a:t>
            </a:r>
            <a:r>
              <a:rPr lang="en-IN" sz="4000" dirty="0"/>
              <a:t>extern)</a:t>
            </a:r>
            <a:br>
              <a:rPr lang="en-IN" sz="4000" dirty="0"/>
            </a:br>
            <a:br>
              <a:rPr lang="en-IN" sz="4000" b="1" dirty="0"/>
            </a:br>
            <a:endParaRPr lang="en-IN" sz="4000" dirty="0"/>
          </a:p>
        </p:txBody>
      </p:sp>
      <p:sp>
        <p:nvSpPr>
          <p:cNvPr id="3" name="Content Placeholder 2"/>
          <p:cNvSpPr>
            <a:spLocks noGrp="1"/>
          </p:cNvSpPr>
          <p:nvPr>
            <p:ph idx="1"/>
          </p:nvPr>
        </p:nvSpPr>
        <p:spPr>
          <a:xfrm>
            <a:off x="457200" y="764704"/>
            <a:ext cx="8229600" cy="5559896"/>
          </a:xfrm>
        </p:spPr>
        <p:txBody>
          <a:bodyPr>
            <a:normAutofit/>
          </a:bodyPr>
          <a:lstStyle/>
          <a:p>
            <a:r>
              <a:rPr lang="en-IN" b="1" dirty="0"/>
              <a:t>Scope:</a:t>
            </a:r>
            <a:r>
              <a:rPr lang="en-IN" dirty="0"/>
              <a:t> </a:t>
            </a:r>
          </a:p>
          <a:p>
            <a:r>
              <a:rPr lang="en-IN" dirty="0"/>
              <a:t>Global </a:t>
            </a:r>
            <a:r>
              <a:rPr lang="en-IN" dirty="0" err="1"/>
              <a:t>i.e</a:t>
            </a:r>
            <a:r>
              <a:rPr lang="en-IN" dirty="0"/>
              <a:t> everywhere in the program. These variables are not bound by any function, they are available everywhere.</a:t>
            </a:r>
          </a:p>
          <a:p>
            <a:r>
              <a:rPr lang="en-IN" b="1" dirty="0"/>
              <a:t>Default initial value:</a:t>
            </a:r>
            <a:r>
              <a:rPr lang="en-IN" dirty="0"/>
              <a:t> 0(zero).</a:t>
            </a:r>
          </a:p>
          <a:p>
            <a:r>
              <a:rPr lang="en-IN" b="1" dirty="0"/>
              <a:t>Lifetime:</a:t>
            </a:r>
            <a:r>
              <a:rPr lang="en-IN" dirty="0"/>
              <a:t> Till the program doesn't finish its execution, you can access global variables.</a:t>
            </a:r>
          </a:p>
          <a:p>
            <a:r>
              <a:rPr lang="en-IN" dirty="0"/>
              <a:t>A variable that is declared outside any function is a </a:t>
            </a:r>
            <a:r>
              <a:rPr lang="en-IN" b="1" dirty="0"/>
              <a:t>Global Variable</a:t>
            </a:r>
            <a:r>
              <a:rPr lang="en-IN" dirty="0"/>
              <a:t>. Global variables remain available throughout the program execution. By default, initial value of the Global variable is 0(zero). One important thing to remember about global variable is that their values can be changed by any function in the program.</a:t>
            </a:r>
          </a:p>
          <a:p>
            <a:endParaRPr lang="en-IN" dirty="0"/>
          </a:p>
        </p:txBody>
      </p:sp>
    </p:spTree>
    <p:extLst>
      <p:ext uri="{BB962C8B-B14F-4D97-AF65-F5344CB8AC3E}">
        <p14:creationId xmlns:p14="http://schemas.microsoft.com/office/powerpoint/2010/main" val="395541355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Here the global variable number is available to all three functions and thus, if one function changes the value of the variable, it gets changed in every function. </a:t>
            </a:r>
          </a:p>
          <a:p>
            <a:r>
              <a:rPr lang="en-IN" b="1" dirty="0"/>
              <a:t>Note:</a:t>
            </a:r>
            <a:r>
              <a:rPr lang="en-IN" dirty="0"/>
              <a:t> Declaring the storage class as global or external for all the variables in a program can waste a lot of memory space because these variables have a lifetime till the end of the program. Thus, variables, which are not needed till the end of the program, will still occupy the memory and thus, memory will be wasted.</a:t>
            </a:r>
          </a:p>
          <a:p>
            <a:endParaRPr lang="en-IN" dirty="0"/>
          </a:p>
        </p:txBody>
      </p:sp>
    </p:spTree>
    <p:extLst>
      <p:ext uri="{BB962C8B-B14F-4D97-AF65-F5344CB8AC3E}">
        <p14:creationId xmlns:p14="http://schemas.microsoft.com/office/powerpoint/2010/main" val="122198632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229600" cy="360040"/>
          </a:xfrm>
        </p:spPr>
        <p:txBody>
          <a:bodyPr>
            <a:normAutofit fontScale="90000"/>
          </a:bodyPr>
          <a:lstStyle/>
          <a:p>
            <a:endParaRPr lang="en-IN" dirty="0"/>
          </a:p>
        </p:txBody>
      </p:sp>
      <p:sp>
        <p:nvSpPr>
          <p:cNvPr id="3" name="Content Placeholder 2"/>
          <p:cNvSpPr>
            <a:spLocks noGrp="1"/>
          </p:cNvSpPr>
          <p:nvPr>
            <p:ph idx="1"/>
          </p:nvPr>
        </p:nvSpPr>
        <p:spPr>
          <a:xfrm>
            <a:off x="323528" y="836712"/>
            <a:ext cx="8363272" cy="5487888"/>
          </a:xfrm>
        </p:spPr>
        <p:txBody>
          <a:bodyPr>
            <a:normAutofit fontScale="55000" lnSpcReduction="20000"/>
          </a:bodyPr>
          <a:lstStyle/>
          <a:p>
            <a:pPr marL="0" indent="0">
              <a:buNone/>
            </a:pPr>
            <a:r>
              <a:rPr lang="en-IN" dirty="0"/>
              <a:t>#include&lt;</a:t>
            </a:r>
            <a:r>
              <a:rPr lang="en-IN" dirty="0" err="1"/>
              <a:t>stdio.h</a:t>
            </a:r>
            <a:r>
              <a:rPr lang="en-IN" dirty="0"/>
              <a:t>&gt; </a:t>
            </a:r>
          </a:p>
          <a:p>
            <a:pPr marL="0" indent="0">
              <a:buNone/>
            </a:pPr>
            <a:r>
              <a:rPr lang="en-IN" dirty="0" err="1"/>
              <a:t>int</a:t>
            </a:r>
            <a:r>
              <a:rPr lang="en-IN" dirty="0"/>
              <a:t> number; // global variable</a:t>
            </a:r>
          </a:p>
          <a:p>
            <a:pPr marL="0" indent="0">
              <a:buNone/>
            </a:pPr>
            <a:r>
              <a:rPr lang="en-IN" dirty="0"/>
              <a:t> void main() </a:t>
            </a:r>
          </a:p>
          <a:p>
            <a:pPr marL="0" indent="0">
              <a:buNone/>
            </a:pPr>
            <a:r>
              <a:rPr lang="en-IN" dirty="0"/>
              <a:t>{ </a:t>
            </a:r>
          </a:p>
          <a:p>
            <a:pPr marL="0" indent="0">
              <a:buNone/>
            </a:pPr>
            <a:r>
              <a:rPr lang="en-IN" dirty="0"/>
              <a:t>number = 10; </a:t>
            </a:r>
          </a:p>
          <a:p>
            <a:pPr marL="0" indent="0">
              <a:buNone/>
            </a:pPr>
            <a:r>
              <a:rPr lang="en-IN" dirty="0" err="1"/>
              <a:t>printf</a:t>
            </a:r>
            <a:r>
              <a:rPr lang="en-IN" dirty="0"/>
              <a:t>("I am in main function. My value is %d\n", number); </a:t>
            </a:r>
          </a:p>
          <a:p>
            <a:pPr marL="0" indent="0">
              <a:buNone/>
            </a:pPr>
            <a:r>
              <a:rPr lang="en-IN" dirty="0"/>
              <a:t>fun1(); //function calling, discussed in next topic </a:t>
            </a:r>
          </a:p>
          <a:p>
            <a:pPr marL="0" indent="0">
              <a:buNone/>
            </a:pPr>
            <a:r>
              <a:rPr lang="en-IN" dirty="0"/>
              <a:t>fun2(); //function calling, discussed in next topic }</a:t>
            </a:r>
          </a:p>
          <a:p>
            <a:pPr marL="0" indent="0">
              <a:buNone/>
            </a:pPr>
            <a:r>
              <a:rPr lang="en-IN" b="1" dirty="0"/>
              <a:t>/* This is function 1 */ </a:t>
            </a:r>
          </a:p>
          <a:p>
            <a:pPr marL="0" indent="0">
              <a:buNone/>
            </a:pPr>
            <a:endParaRPr lang="en-IN" dirty="0"/>
          </a:p>
          <a:p>
            <a:pPr marL="0" indent="0">
              <a:buNone/>
            </a:pPr>
            <a:r>
              <a:rPr lang="en-IN" dirty="0"/>
              <a:t>fun1()</a:t>
            </a:r>
          </a:p>
          <a:p>
            <a:pPr marL="0" indent="0">
              <a:buNone/>
            </a:pPr>
            <a:r>
              <a:rPr lang="en-IN" dirty="0"/>
              <a:t> { </a:t>
            </a:r>
          </a:p>
          <a:p>
            <a:pPr marL="0" indent="0">
              <a:buNone/>
            </a:pPr>
            <a:r>
              <a:rPr lang="en-IN" dirty="0"/>
              <a:t>number = 20; </a:t>
            </a:r>
          </a:p>
          <a:p>
            <a:pPr marL="0" indent="0">
              <a:buNone/>
            </a:pPr>
            <a:r>
              <a:rPr lang="en-IN" dirty="0" err="1"/>
              <a:t>printf</a:t>
            </a:r>
            <a:r>
              <a:rPr lang="en-IN" dirty="0"/>
              <a:t>("I am in function fun1. My value is %d", number); }</a:t>
            </a:r>
          </a:p>
          <a:p>
            <a:pPr marL="0" indent="0">
              <a:buNone/>
            </a:pPr>
            <a:endParaRPr lang="en-IN" dirty="0"/>
          </a:p>
          <a:p>
            <a:pPr marL="0" indent="0">
              <a:buNone/>
            </a:pPr>
            <a:r>
              <a:rPr lang="en-IN" b="1" dirty="0"/>
              <a:t> /* This is function 1 */</a:t>
            </a:r>
          </a:p>
          <a:p>
            <a:pPr marL="0" indent="0">
              <a:buNone/>
            </a:pPr>
            <a:r>
              <a:rPr lang="en-IN" dirty="0"/>
              <a:t> fun2()</a:t>
            </a:r>
          </a:p>
          <a:p>
            <a:pPr marL="0" indent="0">
              <a:buNone/>
            </a:pPr>
            <a:r>
              <a:rPr lang="en-IN" dirty="0"/>
              <a:t> { </a:t>
            </a:r>
          </a:p>
          <a:p>
            <a:pPr marL="0" indent="0">
              <a:buNone/>
            </a:pPr>
            <a:r>
              <a:rPr lang="en-IN" dirty="0" err="1"/>
              <a:t>printf</a:t>
            </a:r>
            <a:r>
              <a:rPr lang="en-IN" dirty="0"/>
              <a:t>("\</a:t>
            </a:r>
            <a:r>
              <a:rPr lang="en-IN" dirty="0" err="1"/>
              <a:t>nI</a:t>
            </a:r>
            <a:r>
              <a:rPr lang="en-IN" dirty="0"/>
              <a:t> am in function fun2. My value is %d", number); </a:t>
            </a:r>
          </a:p>
          <a:p>
            <a:pPr marL="0" indent="0">
              <a:buNone/>
            </a:pPr>
            <a:r>
              <a:rPr lang="en-IN" dirty="0"/>
              <a:t>}</a:t>
            </a:r>
          </a:p>
          <a:p>
            <a:pPr marL="0" indent="0">
              <a:buNone/>
            </a:pPr>
            <a:r>
              <a:rPr lang="en-US" b="1" dirty="0"/>
              <a:t>O/p</a:t>
            </a:r>
          </a:p>
          <a:p>
            <a:pPr marL="0" indent="0">
              <a:buNone/>
            </a:pPr>
            <a:r>
              <a:rPr lang="en-IN" dirty="0"/>
              <a:t>I am in function main. My value is 10</a:t>
            </a:r>
          </a:p>
          <a:p>
            <a:pPr marL="0" indent="0">
              <a:buNone/>
            </a:pPr>
            <a:r>
              <a:rPr lang="en-IN" dirty="0"/>
              <a:t> I am in function fun1. My value is 20</a:t>
            </a:r>
          </a:p>
          <a:p>
            <a:pPr marL="0" indent="0">
              <a:buNone/>
            </a:pPr>
            <a:r>
              <a:rPr lang="en-IN" dirty="0"/>
              <a:t>I am in function fun2. My value is 20 </a:t>
            </a:r>
          </a:p>
          <a:p>
            <a:pPr marL="0" indent="0">
              <a:buNone/>
            </a:pPr>
            <a:endParaRPr lang="en-IN" dirty="0"/>
          </a:p>
        </p:txBody>
      </p:sp>
    </p:spTree>
    <p:extLst>
      <p:ext uri="{BB962C8B-B14F-4D97-AF65-F5344CB8AC3E}">
        <p14:creationId xmlns:p14="http://schemas.microsoft.com/office/powerpoint/2010/main" val="187117372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48648"/>
          </a:xfrm>
        </p:spPr>
        <p:txBody>
          <a:bodyPr>
            <a:normAutofit fontScale="90000"/>
          </a:bodyPr>
          <a:lstStyle/>
          <a:p>
            <a:endParaRPr lang="en-US" dirty="0"/>
          </a:p>
        </p:txBody>
      </p:sp>
      <p:sp>
        <p:nvSpPr>
          <p:cNvPr id="3" name="Content Placeholder 2"/>
          <p:cNvSpPr>
            <a:spLocks noGrp="1"/>
          </p:cNvSpPr>
          <p:nvPr>
            <p:ph idx="1"/>
          </p:nvPr>
        </p:nvSpPr>
        <p:spPr>
          <a:xfrm>
            <a:off x="457200" y="1124744"/>
            <a:ext cx="8229600" cy="5733256"/>
          </a:xfrm>
        </p:spPr>
        <p:txBody>
          <a:bodyPr>
            <a:normAutofit fontScale="62500" lnSpcReduction="20000"/>
          </a:bodyPr>
          <a:lstStyle/>
          <a:p>
            <a:pPr>
              <a:buNone/>
            </a:pPr>
            <a:r>
              <a:rPr lang="en-US" dirty="0"/>
              <a:t>#include&lt;</a:t>
            </a:r>
            <a:r>
              <a:rPr lang="en-US" dirty="0" err="1"/>
              <a:t>stdio.h</a:t>
            </a:r>
            <a:r>
              <a:rPr lang="en-US" dirty="0"/>
              <a:t>&gt;</a:t>
            </a:r>
          </a:p>
          <a:p>
            <a:pPr>
              <a:buNone/>
            </a:pPr>
            <a:r>
              <a:rPr lang="en-US" dirty="0"/>
              <a:t> void fun1();</a:t>
            </a:r>
          </a:p>
          <a:p>
            <a:pPr>
              <a:buNone/>
            </a:pPr>
            <a:r>
              <a:rPr lang="en-US" dirty="0"/>
              <a:t>void fun2();</a:t>
            </a:r>
          </a:p>
          <a:p>
            <a:pPr>
              <a:buNone/>
            </a:pPr>
            <a:r>
              <a:rPr lang="en-US" dirty="0" err="1"/>
              <a:t>int</a:t>
            </a:r>
            <a:r>
              <a:rPr lang="en-US" dirty="0"/>
              <a:t> a ;// global variable </a:t>
            </a:r>
          </a:p>
          <a:p>
            <a:pPr>
              <a:buNone/>
            </a:pPr>
            <a:r>
              <a:rPr lang="en-US" dirty="0"/>
              <a:t>void main()</a:t>
            </a:r>
          </a:p>
          <a:p>
            <a:pPr>
              <a:buNone/>
            </a:pPr>
            <a:r>
              <a:rPr lang="en-US" dirty="0"/>
              <a:t> {  </a:t>
            </a:r>
          </a:p>
          <a:p>
            <a:pPr>
              <a:buNone/>
            </a:pPr>
            <a:r>
              <a:rPr lang="en-US" dirty="0"/>
              <a:t>    </a:t>
            </a:r>
            <a:r>
              <a:rPr lang="en-US" dirty="0" err="1"/>
              <a:t>printf</a:t>
            </a:r>
            <a:r>
              <a:rPr lang="en-US" dirty="0"/>
              <a:t>("I am in main </a:t>
            </a:r>
            <a:r>
              <a:rPr lang="en-US" dirty="0" err="1"/>
              <a:t>function.The</a:t>
            </a:r>
            <a:r>
              <a:rPr lang="en-US" dirty="0"/>
              <a:t> My value a is %d\n", a); </a:t>
            </a:r>
          </a:p>
          <a:p>
            <a:pPr>
              <a:buNone/>
            </a:pPr>
            <a:r>
              <a:rPr lang="en-US" dirty="0"/>
              <a:t>fun1(); </a:t>
            </a:r>
          </a:p>
          <a:p>
            <a:pPr>
              <a:buNone/>
            </a:pPr>
            <a:r>
              <a:rPr lang="en-US" dirty="0"/>
              <a:t>fun2(); </a:t>
            </a:r>
          </a:p>
          <a:p>
            <a:pPr>
              <a:buNone/>
            </a:pPr>
            <a:r>
              <a:rPr lang="en-US" dirty="0" err="1"/>
              <a:t>printf</a:t>
            </a:r>
            <a:r>
              <a:rPr lang="en-US" dirty="0"/>
              <a:t>("\</a:t>
            </a:r>
            <a:r>
              <a:rPr lang="en-US" dirty="0" err="1"/>
              <a:t>nI</a:t>
            </a:r>
            <a:r>
              <a:rPr lang="en-US" dirty="0"/>
              <a:t> am in main </a:t>
            </a:r>
            <a:r>
              <a:rPr lang="en-US" dirty="0" err="1"/>
              <a:t>function.The</a:t>
            </a:r>
            <a:r>
              <a:rPr lang="en-US" dirty="0"/>
              <a:t> My value a is %d\n", a); </a:t>
            </a:r>
          </a:p>
          <a:p>
            <a:pPr>
              <a:buNone/>
            </a:pPr>
            <a:r>
              <a:rPr lang="en-US" dirty="0"/>
              <a:t>}</a:t>
            </a:r>
          </a:p>
          <a:p>
            <a:pPr>
              <a:buNone/>
            </a:pPr>
            <a:r>
              <a:rPr lang="en-US" dirty="0"/>
              <a:t>/* This is function 1 */</a:t>
            </a:r>
          </a:p>
          <a:p>
            <a:pPr>
              <a:buNone/>
            </a:pPr>
            <a:r>
              <a:rPr lang="en-US" dirty="0"/>
              <a:t>void fun1() </a:t>
            </a:r>
          </a:p>
          <a:p>
            <a:pPr>
              <a:buNone/>
            </a:pPr>
            <a:r>
              <a:rPr lang="en-US" dirty="0"/>
              <a:t>{  </a:t>
            </a:r>
          </a:p>
          <a:p>
            <a:pPr>
              <a:buNone/>
            </a:pPr>
            <a:r>
              <a:rPr lang="en-US" dirty="0"/>
              <a:t>  a=a+2; </a:t>
            </a:r>
          </a:p>
          <a:p>
            <a:pPr>
              <a:buNone/>
            </a:pPr>
            <a:r>
              <a:rPr lang="en-US" dirty="0" err="1"/>
              <a:t>printf</a:t>
            </a:r>
            <a:r>
              <a:rPr lang="en-US" dirty="0"/>
              <a:t>("I am in function fun1. My value a is %d", a); </a:t>
            </a:r>
          </a:p>
          <a:p>
            <a:pPr>
              <a:buNone/>
            </a:pPr>
            <a:r>
              <a:rPr lang="en-US" dirty="0"/>
              <a:t>}</a:t>
            </a:r>
          </a:p>
          <a:p>
            <a:pPr>
              <a:buNone/>
            </a:pPr>
            <a:r>
              <a:rPr lang="en-US" dirty="0"/>
              <a:t> /* This is function 2 */ </a:t>
            </a:r>
          </a:p>
          <a:p>
            <a:pPr>
              <a:buNone/>
            </a:pPr>
            <a:r>
              <a:rPr lang="en-US" dirty="0"/>
              <a:t>void fun2()</a:t>
            </a:r>
          </a:p>
          <a:p>
            <a:pPr>
              <a:buNone/>
            </a:pPr>
            <a:r>
              <a:rPr lang="en-US" dirty="0"/>
              <a:t> {      </a:t>
            </a:r>
          </a:p>
          <a:p>
            <a:pPr>
              <a:buNone/>
            </a:pPr>
            <a:r>
              <a:rPr lang="en-US" dirty="0"/>
              <a:t>a=a+10;   </a:t>
            </a:r>
          </a:p>
          <a:p>
            <a:pPr>
              <a:buNone/>
            </a:pPr>
            <a:r>
              <a:rPr lang="en-US" dirty="0"/>
              <a:t> </a:t>
            </a:r>
            <a:r>
              <a:rPr lang="en-US" dirty="0" err="1"/>
              <a:t>printf</a:t>
            </a:r>
            <a:r>
              <a:rPr lang="en-US" dirty="0"/>
              <a:t>("\</a:t>
            </a:r>
            <a:r>
              <a:rPr lang="en-US" dirty="0" err="1"/>
              <a:t>nI</a:t>
            </a:r>
            <a:r>
              <a:rPr lang="en-US" dirty="0"/>
              <a:t> am in function fun2. My value  a is %d", a); </a:t>
            </a:r>
          </a:p>
          <a:p>
            <a:pPr>
              <a:buNone/>
            </a:pPr>
            <a:r>
              <a:rPr lang="en-US" dirty="0"/>
              <a:t> }</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Register variable</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r>
              <a:rPr lang="en-IN" b="1" dirty="0"/>
              <a:t>Scope:</a:t>
            </a:r>
            <a:r>
              <a:rPr lang="en-IN" dirty="0"/>
              <a:t> Local to the function in which it is declared.</a:t>
            </a:r>
          </a:p>
          <a:p>
            <a:r>
              <a:rPr lang="en-IN" b="1" dirty="0"/>
              <a:t>Default initial value:</a:t>
            </a:r>
            <a:r>
              <a:rPr lang="en-IN" dirty="0"/>
              <a:t> Any random value </a:t>
            </a:r>
            <a:r>
              <a:rPr lang="en-IN" dirty="0" err="1"/>
              <a:t>i.e</a:t>
            </a:r>
            <a:r>
              <a:rPr lang="en-IN" dirty="0"/>
              <a:t> garbage value</a:t>
            </a:r>
          </a:p>
          <a:p>
            <a:r>
              <a:rPr lang="en-IN" b="1" dirty="0"/>
              <a:t>Lifetime:</a:t>
            </a:r>
            <a:r>
              <a:rPr lang="en-IN" dirty="0"/>
              <a:t> Till the end of function/method block, in which the variable is defined.</a:t>
            </a:r>
          </a:p>
          <a:p>
            <a:r>
              <a:rPr lang="en-IN" dirty="0"/>
              <a:t>Register variables inform the compiler to store the variable in CPU register instead of memory. Register variables have faster accessibility than a normal variable. Generally, the frequently used variables are kept in registers. But only a few variables can be placed inside registers. One application of register storage class can be in using loops, where the variable gets used a number of times in the program, in a very short span of time.</a:t>
            </a:r>
          </a:p>
          <a:p>
            <a:r>
              <a:rPr lang="en-IN" b="1" dirty="0"/>
              <a:t>NOTE:</a:t>
            </a:r>
            <a:r>
              <a:rPr lang="en-IN" dirty="0"/>
              <a:t> We can never get the address of such variables.</a:t>
            </a:r>
          </a:p>
          <a:p>
            <a:endParaRPr lang="en-IN" dirty="0"/>
          </a:p>
        </p:txBody>
      </p:sp>
    </p:spTree>
    <p:extLst>
      <p:ext uri="{BB962C8B-B14F-4D97-AF65-F5344CB8AC3E}">
        <p14:creationId xmlns:p14="http://schemas.microsoft.com/office/powerpoint/2010/main" val="158315041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IN" dirty="0"/>
              <a:t>The variables defined as the register is allocated the memory into the CPU registers depending upon the size of the memory remaining in the CPU.</a:t>
            </a:r>
          </a:p>
          <a:p>
            <a:r>
              <a:rPr lang="en-IN" dirty="0"/>
              <a:t>We can not dereference the register variables, i.e., we can not use &amp;operator for the register variable.</a:t>
            </a:r>
          </a:p>
          <a:p>
            <a:r>
              <a:rPr lang="en-IN" dirty="0"/>
              <a:t>The access time of the register variables is faster than the automatic variables.</a:t>
            </a:r>
          </a:p>
          <a:p>
            <a:r>
              <a:rPr lang="en-IN" dirty="0"/>
              <a:t>The initial default value of the register local variables is 0.</a:t>
            </a:r>
          </a:p>
          <a:p>
            <a:r>
              <a:rPr lang="en-IN" dirty="0"/>
              <a:t>The register keyword is used for the variable which should be stored in the CPU register. However, it is </a:t>
            </a:r>
            <a:r>
              <a:rPr lang="en-IN" dirty="0" err="1"/>
              <a:t>compiler?s</a:t>
            </a:r>
            <a:r>
              <a:rPr lang="en-IN" dirty="0"/>
              <a:t> choice whether or not; the variables can be stored in the register.</a:t>
            </a:r>
          </a:p>
          <a:p>
            <a:r>
              <a:rPr lang="en-IN" dirty="0"/>
              <a:t>We can store pointers into the register, i.e., a register can store the address of a variable.</a:t>
            </a:r>
          </a:p>
          <a:p>
            <a:r>
              <a:rPr lang="en-IN" dirty="0"/>
              <a:t>Static variables can not be stored into the register since we can not use more than one storage </a:t>
            </a:r>
            <a:r>
              <a:rPr lang="en-IN" dirty="0" err="1"/>
              <a:t>specifier</a:t>
            </a:r>
            <a:r>
              <a:rPr lang="en-IN" dirty="0"/>
              <a:t> for the same variable.</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#include&lt;</a:t>
            </a:r>
            <a:r>
              <a:rPr lang="en-US" dirty="0" err="1"/>
              <a:t>stdio.h</a:t>
            </a:r>
            <a:r>
              <a:rPr lang="en-US" dirty="0"/>
              <a:t>&gt;</a:t>
            </a:r>
          </a:p>
          <a:p>
            <a:pPr>
              <a:buNone/>
            </a:pPr>
            <a:r>
              <a:rPr lang="en-US" dirty="0"/>
              <a:t>void main()     </a:t>
            </a:r>
          </a:p>
          <a:p>
            <a:pPr>
              <a:buNone/>
            </a:pPr>
            <a:r>
              <a:rPr lang="en-US" dirty="0"/>
              <a:t> {           </a:t>
            </a:r>
          </a:p>
          <a:p>
            <a:pPr>
              <a:buNone/>
            </a:pPr>
            <a:r>
              <a:rPr lang="en-US" dirty="0"/>
              <a:t>    </a:t>
            </a:r>
            <a:r>
              <a:rPr lang="en-US" dirty="0" err="1"/>
              <a:t>int</a:t>
            </a:r>
            <a:r>
              <a:rPr lang="en-US" dirty="0"/>
              <a:t> a=8;             </a:t>
            </a:r>
          </a:p>
          <a:p>
            <a:pPr>
              <a:buNone/>
            </a:pPr>
            <a:r>
              <a:rPr lang="en-US" dirty="0"/>
              <a:t>   register </a:t>
            </a:r>
            <a:r>
              <a:rPr lang="en-US" dirty="0" err="1"/>
              <a:t>int</a:t>
            </a:r>
            <a:r>
              <a:rPr lang="en-US" dirty="0"/>
              <a:t> b=5;        </a:t>
            </a:r>
          </a:p>
          <a:p>
            <a:pPr>
              <a:buNone/>
            </a:pPr>
            <a:r>
              <a:rPr lang="en-US" dirty="0"/>
              <a:t> </a:t>
            </a:r>
            <a:r>
              <a:rPr lang="en-US" dirty="0" err="1"/>
              <a:t>printf</a:t>
            </a:r>
            <a:r>
              <a:rPr lang="en-US" dirty="0"/>
              <a:t>("\</a:t>
            </a:r>
            <a:r>
              <a:rPr lang="en-US" dirty="0" err="1"/>
              <a:t>n%d",b</a:t>
            </a:r>
            <a:r>
              <a:rPr lang="en-US" dirty="0"/>
              <a:t>);        </a:t>
            </a:r>
          </a:p>
          <a:p>
            <a:pPr>
              <a:buNone/>
            </a:pPr>
            <a:r>
              <a:rPr lang="en-US" dirty="0"/>
              <a:t> </a:t>
            </a:r>
            <a:r>
              <a:rPr lang="en-US" dirty="0" err="1"/>
              <a:t>printf</a:t>
            </a:r>
            <a:r>
              <a:rPr lang="en-US" dirty="0"/>
              <a:t>("\</a:t>
            </a:r>
            <a:r>
              <a:rPr lang="en-US" dirty="0" err="1"/>
              <a:t>n%d",a</a:t>
            </a:r>
            <a:r>
              <a:rPr lang="en-US" dirty="0"/>
              <a:t>);      </a:t>
            </a:r>
          </a:p>
          <a:p>
            <a:pPr>
              <a:buNone/>
            </a:pPr>
            <a:r>
              <a:rPr lang="en-US" dirty="0"/>
              <a:t> }</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Recursive Functions in C</a:t>
            </a:r>
            <a:br>
              <a:rPr lang="en-IN" b="1" dirty="0"/>
            </a:br>
            <a:endParaRPr lang="en-IN" dirty="0"/>
          </a:p>
        </p:txBody>
      </p:sp>
      <p:sp>
        <p:nvSpPr>
          <p:cNvPr id="3" name="Content Placeholder 2"/>
          <p:cNvSpPr>
            <a:spLocks noGrp="1"/>
          </p:cNvSpPr>
          <p:nvPr>
            <p:ph idx="1"/>
          </p:nvPr>
        </p:nvSpPr>
        <p:spPr>
          <a:xfrm>
            <a:off x="457200" y="1052736"/>
            <a:ext cx="8229600" cy="5271864"/>
          </a:xfrm>
        </p:spPr>
        <p:txBody>
          <a:bodyPr>
            <a:normAutofit fontScale="92500" lnSpcReduction="10000"/>
          </a:bodyPr>
          <a:lstStyle/>
          <a:p>
            <a:r>
              <a:rPr lang="en-IN" dirty="0"/>
              <a:t>In C programming language, function calls can be made from the main() function, other functions or from the same function itself. The recursive function is defined as follows...</a:t>
            </a:r>
          </a:p>
          <a:p>
            <a:r>
              <a:rPr lang="en-IN" b="1" dirty="0"/>
              <a:t>A function called by itself is called recursive function.</a:t>
            </a:r>
          </a:p>
          <a:p>
            <a:r>
              <a:rPr lang="en-IN" dirty="0"/>
              <a:t>The recursive functions should be used very carefully because, when a function called by itself it enters into the infinite loop. And when a function enters into the infinite loop, the function execution never gets completed. We should define the condition to exit from the function call so that the recursive function gets terminated.</a:t>
            </a:r>
          </a:p>
          <a:p>
            <a:r>
              <a:rPr lang="en-IN" dirty="0"/>
              <a:t>When a function is called by itself, the first call remains under execution till the last call gets invoked. Every time when a function call is invoked, the function returns the execution control to the previous function call.</a:t>
            </a:r>
          </a:p>
          <a:p>
            <a:endParaRPr lang="en-IN" dirty="0"/>
          </a:p>
        </p:txBody>
      </p:sp>
    </p:spTree>
    <p:extLst>
      <p:ext uri="{BB962C8B-B14F-4D97-AF65-F5344CB8AC3E}">
        <p14:creationId xmlns:p14="http://schemas.microsoft.com/office/powerpoint/2010/main" val="40609830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20656"/>
          </a:xfrm>
        </p:spPr>
        <p:txBody>
          <a:bodyPr>
            <a:normAutofit fontScale="90000"/>
          </a:bodyPr>
          <a:lstStyle/>
          <a:p>
            <a:endParaRPr lang="en-IN" dirty="0"/>
          </a:p>
        </p:txBody>
      </p:sp>
      <p:sp>
        <p:nvSpPr>
          <p:cNvPr id="3" name="Content Placeholder 2"/>
          <p:cNvSpPr>
            <a:spLocks noGrp="1"/>
          </p:cNvSpPr>
          <p:nvPr>
            <p:ph idx="1"/>
          </p:nvPr>
        </p:nvSpPr>
        <p:spPr>
          <a:xfrm>
            <a:off x="457200" y="1124744"/>
            <a:ext cx="8229600" cy="5199856"/>
          </a:xfrm>
        </p:spPr>
        <p:txBody>
          <a:bodyPr>
            <a:normAutofit fontScale="55000" lnSpcReduction="20000"/>
          </a:bodyPr>
          <a:lstStyle/>
          <a:p>
            <a:pPr marL="0" indent="0">
              <a:buNone/>
            </a:pPr>
            <a:r>
              <a:rPr lang="en-IN" dirty="0"/>
              <a:t>#include&lt;</a:t>
            </a:r>
            <a:r>
              <a:rPr lang="en-IN" dirty="0" err="1"/>
              <a:t>stdio.h</a:t>
            </a:r>
            <a:r>
              <a:rPr lang="en-IN" dirty="0"/>
              <a:t>&gt;</a:t>
            </a:r>
          </a:p>
          <a:p>
            <a:pPr marL="0" indent="0">
              <a:buNone/>
            </a:pPr>
            <a:r>
              <a:rPr lang="en-IN" dirty="0"/>
              <a:t>#include&lt;</a:t>
            </a:r>
            <a:r>
              <a:rPr lang="en-IN" dirty="0" err="1"/>
              <a:t>conio.h</a:t>
            </a:r>
            <a:r>
              <a:rPr lang="en-IN" dirty="0"/>
              <a:t>&gt;</a:t>
            </a:r>
          </a:p>
          <a:p>
            <a:pPr marL="0" indent="0">
              <a:buNone/>
            </a:pPr>
            <a:endParaRPr lang="en-IN" dirty="0"/>
          </a:p>
          <a:p>
            <a:pPr marL="0" indent="0">
              <a:buNone/>
            </a:pPr>
            <a:r>
              <a:rPr lang="en-IN" dirty="0" err="1"/>
              <a:t>int</a:t>
            </a:r>
            <a:r>
              <a:rPr lang="en-IN" dirty="0"/>
              <a:t>  factorial( </a:t>
            </a:r>
            <a:r>
              <a:rPr lang="en-IN" dirty="0" err="1"/>
              <a:t>int</a:t>
            </a:r>
            <a:r>
              <a:rPr lang="en-IN" dirty="0"/>
              <a:t> ) ;</a:t>
            </a:r>
          </a:p>
          <a:p>
            <a:pPr marL="0" indent="0">
              <a:buNone/>
            </a:pPr>
            <a:r>
              <a:rPr lang="en-IN" dirty="0" err="1"/>
              <a:t>int</a:t>
            </a:r>
            <a:r>
              <a:rPr lang="en-IN" dirty="0"/>
              <a:t> main()</a:t>
            </a:r>
          </a:p>
          <a:p>
            <a:pPr marL="0" indent="0">
              <a:buNone/>
            </a:pPr>
            <a:r>
              <a:rPr lang="en-IN" dirty="0"/>
              <a:t>{</a:t>
            </a:r>
          </a:p>
          <a:p>
            <a:pPr marL="0" indent="0">
              <a:buNone/>
            </a:pPr>
            <a:r>
              <a:rPr lang="en-IN" dirty="0"/>
              <a:t>      	</a:t>
            </a:r>
            <a:r>
              <a:rPr lang="en-IN" dirty="0" err="1"/>
              <a:t>int</a:t>
            </a:r>
            <a:r>
              <a:rPr lang="en-IN" dirty="0"/>
              <a:t>  fact, n ;</a:t>
            </a:r>
          </a:p>
          <a:p>
            <a:pPr marL="0" indent="0">
              <a:buNone/>
            </a:pPr>
            <a:r>
              <a:rPr lang="en-IN" dirty="0"/>
              <a:t>	</a:t>
            </a:r>
            <a:r>
              <a:rPr lang="en-IN" dirty="0" err="1"/>
              <a:t>printf</a:t>
            </a:r>
            <a:r>
              <a:rPr lang="en-IN" dirty="0"/>
              <a:t>("Enter any positive integer: ") ;</a:t>
            </a:r>
          </a:p>
          <a:p>
            <a:pPr marL="0" indent="0">
              <a:buNone/>
            </a:pPr>
            <a:r>
              <a:rPr lang="en-IN" dirty="0"/>
              <a:t>	</a:t>
            </a:r>
            <a:r>
              <a:rPr lang="en-IN" dirty="0" err="1"/>
              <a:t>scanf</a:t>
            </a:r>
            <a:r>
              <a:rPr lang="en-IN" dirty="0"/>
              <a:t>("%d", &amp;n) ;</a:t>
            </a:r>
          </a:p>
          <a:p>
            <a:pPr marL="0" indent="0">
              <a:buNone/>
            </a:pPr>
            <a:r>
              <a:rPr lang="en-IN" dirty="0"/>
              <a:t>	fact = factorial( n ) ;</a:t>
            </a:r>
          </a:p>
          <a:p>
            <a:pPr marL="0" indent="0">
              <a:buNone/>
            </a:pPr>
            <a:r>
              <a:rPr lang="en-IN" dirty="0"/>
              <a:t>      	</a:t>
            </a:r>
            <a:r>
              <a:rPr lang="en-IN" dirty="0" err="1"/>
              <a:t>printf</a:t>
            </a:r>
            <a:r>
              <a:rPr lang="en-IN" dirty="0"/>
              <a:t>("\</a:t>
            </a:r>
            <a:r>
              <a:rPr lang="en-IN" dirty="0" err="1"/>
              <a:t>nFactorial</a:t>
            </a:r>
            <a:r>
              <a:rPr lang="en-IN" dirty="0"/>
              <a:t> of %d is %d\n", n, fact) ;</a:t>
            </a:r>
          </a:p>
          <a:p>
            <a:pPr marL="0" indent="0">
              <a:buNone/>
            </a:pPr>
            <a:r>
              <a:rPr lang="en-IN" dirty="0"/>
              <a:t>        return 0;</a:t>
            </a:r>
          </a:p>
          <a:p>
            <a:pPr marL="0" indent="0">
              <a:buNone/>
            </a:pPr>
            <a:r>
              <a:rPr lang="en-IN" dirty="0"/>
              <a:t>}</a:t>
            </a:r>
          </a:p>
          <a:p>
            <a:pPr marL="0" indent="0">
              <a:buNone/>
            </a:pPr>
            <a:r>
              <a:rPr lang="en-IN" dirty="0" err="1"/>
              <a:t>int</a:t>
            </a:r>
            <a:r>
              <a:rPr lang="en-IN" dirty="0"/>
              <a:t>  factorial( </a:t>
            </a:r>
            <a:r>
              <a:rPr lang="en-IN" dirty="0" err="1"/>
              <a:t>int</a:t>
            </a:r>
            <a:r>
              <a:rPr lang="en-IN" dirty="0"/>
              <a:t>  n )</a:t>
            </a:r>
          </a:p>
          <a:p>
            <a:pPr marL="0" indent="0">
              <a:buNone/>
            </a:pPr>
            <a:r>
              <a:rPr lang="en-IN" dirty="0"/>
              <a:t>{</a:t>
            </a:r>
          </a:p>
          <a:p>
            <a:pPr marL="0" indent="0">
              <a:buNone/>
            </a:pPr>
            <a:r>
              <a:rPr lang="en-IN" dirty="0"/>
              <a:t>	</a:t>
            </a:r>
            <a:r>
              <a:rPr lang="en-IN" dirty="0" err="1"/>
              <a:t>int</a:t>
            </a:r>
            <a:r>
              <a:rPr lang="en-IN" dirty="0"/>
              <a:t>  temp ;</a:t>
            </a:r>
          </a:p>
          <a:p>
            <a:pPr marL="0" indent="0">
              <a:buNone/>
            </a:pPr>
            <a:r>
              <a:rPr lang="en-IN" dirty="0"/>
              <a:t>	if( n == 0)</a:t>
            </a:r>
          </a:p>
          <a:p>
            <a:pPr marL="0" indent="0">
              <a:buNone/>
            </a:pPr>
            <a:r>
              <a:rPr lang="en-IN" dirty="0"/>
              <a:t>	      return  1 ;</a:t>
            </a:r>
          </a:p>
          <a:p>
            <a:pPr marL="0" indent="0">
              <a:buNone/>
            </a:pPr>
            <a:r>
              <a:rPr lang="en-IN" dirty="0"/>
              <a:t>	else</a:t>
            </a:r>
          </a:p>
          <a:p>
            <a:pPr marL="0" indent="0">
              <a:buNone/>
            </a:pPr>
            <a:r>
              <a:rPr lang="en-IN" dirty="0"/>
              <a:t>	       temp = n * factorial( n-1 ) ; // recursive function call</a:t>
            </a:r>
          </a:p>
          <a:p>
            <a:pPr marL="0" indent="0">
              <a:buNone/>
            </a:pPr>
            <a:r>
              <a:rPr lang="en-IN" dirty="0"/>
              <a:t>	return  temp ;</a:t>
            </a:r>
          </a:p>
          <a:p>
            <a:pPr marL="0" indent="0">
              <a:buNone/>
            </a:pPr>
            <a:r>
              <a:rPr lang="en-IN" dirty="0"/>
              <a:t>}</a:t>
            </a:r>
          </a:p>
        </p:txBody>
      </p:sp>
    </p:spTree>
    <p:extLst>
      <p:ext uri="{BB962C8B-B14F-4D97-AF65-F5344CB8AC3E}">
        <p14:creationId xmlns:p14="http://schemas.microsoft.com/office/powerpoint/2010/main" val="174115552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5500" y="2505869"/>
            <a:ext cx="4953000" cy="32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210188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6640"/>
          </a:xfrm>
        </p:spPr>
        <p:txBody>
          <a:bodyPr>
            <a:normAutofit fontScale="90000"/>
          </a:bodyPr>
          <a:lstStyle/>
          <a:p>
            <a:endParaRPr lang="en-IN" dirty="0"/>
          </a:p>
        </p:txBody>
      </p:sp>
      <p:pic>
        <p:nvPicPr>
          <p:cNvPr id="2051"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1196752"/>
            <a:ext cx="4628837" cy="566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697558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endParaRPr lang="en-IN"/>
          </a:p>
        </p:txBody>
      </p:sp>
      <p:sp>
        <p:nvSpPr>
          <p:cNvPr id="7" name="Subtitle 6"/>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774543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14507</TotalTime>
  <Words>14476</Words>
  <Application>Microsoft Office PowerPoint</Application>
  <PresentationFormat>On-screen Show (4:3)</PresentationFormat>
  <Paragraphs>1914</Paragraphs>
  <Slides>180</Slides>
  <Notes>0</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180</vt:i4>
      </vt:variant>
    </vt:vector>
  </HeadingPairs>
  <TitlesOfParts>
    <vt:vector size="186" baseType="lpstr">
      <vt:lpstr>Arial</vt:lpstr>
      <vt:lpstr>Calibri</vt:lpstr>
      <vt:lpstr>Constantia</vt:lpstr>
      <vt:lpstr>Times New Roman</vt:lpstr>
      <vt:lpstr>Wingdings 2</vt:lpstr>
      <vt:lpstr>Flow</vt:lpstr>
      <vt:lpstr>UNIT 3: Control Flow</vt:lpstr>
      <vt:lpstr>IF-ElSE</vt:lpstr>
      <vt:lpstr>Continue</vt:lpstr>
      <vt:lpstr>if statement in c </vt:lpstr>
      <vt:lpstr>Simple if statement </vt:lpstr>
      <vt:lpstr>PowerPoint Presentation</vt:lpstr>
      <vt:lpstr>PowerPoint Presentation</vt:lpstr>
      <vt:lpstr>Write a program to input user age and check if he is eligible to vote in India or not. A person in India is eligible to vote if he is 18+ </vt:lpstr>
      <vt:lpstr>PowerPoint Presentation</vt:lpstr>
      <vt:lpstr>Program</vt:lpstr>
      <vt:lpstr>ALGO</vt:lpstr>
      <vt:lpstr>PowerPoint Presentation</vt:lpstr>
      <vt:lpstr>Program for evaluating the whether given no is greater than 0 </vt:lpstr>
      <vt:lpstr>if-else statement</vt:lpstr>
      <vt:lpstr>SYNTAX of If-else</vt:lpstr>
      <vt:lpstr>PowerPoint Presentation</vt:lpstr>
      <vt:lpstr>PowerPoint Presentation</vt:lpstr>
      <vt:lpstr>even or odd </vt:lpstr>
      <vt:lpstr>Program for Odd n even</vt:lpstr>
      <vt:lpstr>PowerPoint Presentation</vt:lpstr>
      <vt:lpstr>Write a program to input two numbers from user. Print maximum between both the given numbers.</vt:lpstr>
      <vt:lpstr>PowerPoint Presentation</vt:lpstr>
      <vt:lpstr>PowerPoint Presentation</vt:lpstr>
      <vt:lpstr>if-else-if ladder</vt:lpstr>
      <vt:lpstr>Syntax</vt:lpstr>
      <vt:lpstr>PowerPoint Presentation</vt:lpstr>
      <vt:lpstr>Program to check alphabet, digit or special character</vt:lpstr>
      <vt:lpstr>Program to check alphabet, digit or special character </vt:lpstr>
      <vt:lpstr>PowerPoint Presentation</vt:lpstr>
      <vt:lpstr>PowerPoint Presentation</vt:lpstr>
      <vt:lpstr>PowerPoint Presentation</vt:lpstr>
      <vt:lpstr>PowerPoint Presentation</vt:lpstr>
      <vt:lpstr> Program to find out grade according to marks given of students.   </vt:lpstr>
      <vt:lpstr>PowerPoint Presentation</vt:lpstr>
      <vt:lpstr>PowerPoint Presentation</vt:lpstr>
      <vt:lpstr>PowerPoint Presentation</vt:lpstr>
      <vt:lpstr>Write  a c program to print grade of  a students according to their marks</vt:lpstr>
      <vt:lpstr>PowerPoint Presentation</vt:lpstr>
      <vt:lpstr>PowerPoint Presentation</vt:lpstr>
      <vt:lpstr>PowerPoint Presentation</vt:lpstr>
      <vt:lpstr>Nested IF</vt:lpstr>
      <vt:lpstr>Syntax: </vt:lpstr>
      <vt:lpstr>PowerPoint Presentation</vt:lpstr>
      <vt:lpstr>PowerPoint Presentation</vt:lpstr>
      <vt:lpstr>PowerPoint Presentation</vt:lpstr>
      <vt:lpstr>Switch statement</vt:lpstr>
      <vt:lpstr>Continue</vt:lpstr>
      <vt:lpstr>Continue</vt:lpstr>
      <vt:lpstr>Syntax</vt:lpstr>
      <vt:lpstr>PowerPoint Presentation</vt:lpstr>
      <vt:lpstr>C program to check vowel or consonant using switch case </vt:lpstr>
      <vt:lpstr>Algorithm</vt:lpstr>
      <vt:lpstr>Algorithm to check vowel or consonant using switch case</vt:lpstr>
      <vt:lpstr>PowerPoint Presentation</vt:lpstr>
      <vt:lpstr>PowerPoint Presentation</vt:lpstr>
      <vt:lpstr>PowerPoint Presentation</vt:lpstr>
      <vt:lpstr>Program to calculate the area of a rectangle or circle or triangle by taking the user’s choice. </vt:lpstr>
      <vt:lpstr>Flowchart</vt:lpstr>
      <vt:lpstr>Program to calculate the area of a rectangle or circle or triangle by taking the user’s choice. </vt:lpstr>
      <vt:lpstr>PowerPoint Presentation</vt:lpstr>
      <vt:lpstr>C program to design calculator with basic operations using switch </vt:lpstr>
      <vt:lpstr>PowerPoint Presentation</vt:lpstr>
      <vt:lpstr>PowerPoint Presentation</vt:lpstr>
      <vt:lpstr>PowerPoint Presentation</vt:lpstr>
      <vt:lpstr>C program to create calculator using switch case and functions </vt:lpstr>
      <vt:lpstr>PowerPoint Presentation</vt:lpstr>
      <vt:lpstr>C Loops</vt:lpstr>
      <vt:lpstr>C Loops </vt:lpstr>
      <vt:lpstr>Advantage of loops in C </vt:lpstr>
      <vt:lpstr>while loop in C </vt:lpstr>
      <vt:lpstr>Syntax</vt:lpstr>
      <vt:lpstr>Flowchart</vt:lpstr>
      <vt:lpstr>Program to print natural numbers from 1 to 10</vt:lpstr>
      <vt:lpstr>Algorithm for program to print natural numbers from 1 to n</vt:lpstr>
      <vt:lpstr>PowerPoint Presentation</vt:lpstr>
      <vt:lpstr>PowerPoint Presentation</vt:lpstr>
      <vt:lpstr>Program to print natural numbers from 1 to n</vt:lpstr>
      <vt:lpstr>Program to print table for the 2  using while loop in C </vt:lpstr>
      <vt:lpstr> Program to print table for the given number using while loop in C </vt:lpstr>
      <vt:lpstr>Program to print alphabets from a-z </vt:lpstr>
      <vt:lpstr>Do-While Loop </vt:lpstr>
      <vt:lpstr>Working of Do-While Loop</vt:lpstr>
      <vt:lpstr>The syntax of do-while loop</vt:lpstr>
      <vt:lpstr>Flowchart </vt:lpstr>
      <vt:lpstr>Program to print alphabetical character from  a-z </vt:lpstr>
      <vt:lpstr>program to print ASCII values of all characters </vt:lpstr>
      <vt:lpstr>Program to display even numbers upto 10.</vt:lpstr>
      <vt:lpstr>For loop</vt:lpstr>
      <vt:lpstr>PowerPoint Presentation</vt:lpstr>
      <vt:lpstr>Syntax </vt:lpstr>
      <vt:lpstr>Flowchart</vt:lpstr>
      <vt:lpstr>Program to sum of numbers</vt:lpstr>
      <vt:lpstr>C program to find factorial of a number</vt:lpstr>
      <vt:lpstr>C program to find factorial of a number</vt:lpstr>
      <vt:lpstr>program to print ASCII values of all characters </vt:lpstr>
      <vt:lpstr>break, continue and goto in C </vt:lpstr>
      <vt:lpstr>break</vt:lpstr>
      <vt:lpstr>PowerPoint Presentation</vt:lpstr>
      <vt:lpstr>PowerPoint Presentation</vt:lpstr>
      <vt:lpstr>PowerPoint Presentation</vt:lpstr>
      <vt:lpstr>PowerPoint Presentation</vt:lpstr>
      <vt:lpstr>PowerPoint Presentation</vt:lpstr>
      <vt:lpstr>PowerPoint Presentation</vt:lpstr>
      <vt:lpstr>continue statement</vt:lpstr>
      <vt:lpstr>PowerPoint Presentation</vt:lpstr>
      <vt:lpstr>PowerPoint Presentation</vt:lpstr>
      <vt:lpstr>Example Program Program to illustrate continue statement. </vt:lpstr>
      <vt:lpstr>goto statement </vt:lpstr>
      <vt:lpstr>Example Program for goto statement. </vt:lpstr>
      <vt:lpstr>Example Program for goto statement.</vt:lpstr>
      <vt:lpstr>PowerPoint Presentation</vt:lpstr>
      <vt:lpstr>Functions</vt:lpstr>
      <vt:lpstr>Why use function ? </vt:lpstr>
      <vt:lpstr>PowerPoint Presentation</vt:lpstr>
      <vt:lpstr>Function Aspects </vt:lpstr>
      <vt:lpstr>Function Aspects</vt:lpstr>
      <vt:lpstr>Function Aspects</vt:lpstr>
      <vt:lpstr>Types of Functions in C </vt:lpstr>
      <vt:lpstr>System Defined Functions </vt:lpstr>
      <vt:lpstr>System Defined Functions </vt:lpstr>
      <vt:lpstr>User Defined Functions </vt:lpstr>
      <vt:lpstr>User Defined Functions </vt:lpstr>
      <vt:lpstr>Advantage of functions in C </vt:lpstr>
      <vt:lpstr>Demonstration of Function</vt:lpstr>
      <vt:lpstr>PowerPoint Presentation</vt:lpstr>
      <vt:lpstr>PowerPoint Presentation</vt:lpstr>
      <vt:lpstr>Function without Parameters and without Return value </vt:lpstr>
      <vt:lpstr>Demonstration of Function</vt:lpstr>
      <vt:lpstr>PowerPoint Presentation</vt:lpstr>
      <vt:lpstr>Function with Parameters and without Return value </vt:lpstr>
      <vt:lpstr>PowerPoint Presentation</vt:lpstr>
      <vt:lpstr>PowerPoint Presentation</vt:lpstr>
      <vt:lpstr>PowerPoint Presentation</vt:lpstr>
      <vt:lpstr>PowerPoint Presentation</vt:lpstr>
      <vt:lpstr>PowerPoint Presentation</vt:lpstr>
      <vt:lpstr>PowerPoint Presentation</vt:lpstr>
      <vt:lpstr>Function without Parameters and with Return value </vt:lpstr>
      <vt:lpstr>Find Cube of A no</vt:lpstr>
      <vt:lpstr> program to calculate the area of the square </vt:lpstr>
      <vt:lpstr>Area of Circle</vt:lpstr>
      <vt:lpstr>Addition of a no</vt:lpstr>
      <vt:lpstr>Function with Parameters and with Return value </vt:lpstr>
      <vt:lpstr>Square root of a function</vt:lpstr>
      <vt:lpstr>Program to check whether a number is even or odd </vt:lpstr>
      <vt:lpstr>Factorial of a number n</vt:lpstr>
      <vt:lpstr> To check whether given no is Prime or Not </vt:lpstr>
      <vt:lpstr>PowerPoint Presentation</vt:lpstr>
      <vt:lpstr>PowerPoint Presentation</vt:lpstr>
      <vt:lpstr>call by value</vt:lpstr>
      <vt:lpstr>PowerPoint Presentation</vt:lpstr>
      <vt:lpstr>PowerPoint Presentation</vt:lpstr>
      <vt:lpstr>  Call by Reference</vt:lpstr>
      <vt:lpstr>pointer</vt:lpstr>
      <vt:lpstr>PowerPoint Presentation</vt:lpstr>
      <vt:lpstr>PowerPoint Presentation</vt:lpstr>
      <vt:lpstr>PowerPoint Presentation</vt:lpstr>
      <vt:lpstr>Difference between call by value and call by reference in c </vt:lpstr>
      <vt:lpstr>Storage Classes in C </vt:lpstr>
      <vt:lpstr>Storage Classes in C: auto, extern, static, register class in C  </vt:lpstr>
      <vt:lpstr>PowerPoint Presentation</vt:lpstr>
      <vt:lpstr>PowerPoint Presentation</vt:lpstr>
      <vt:lpstr>Automatic variables: auto </vt:lpstr>
      <vt:lpstr>PowerPoint Presentation</vt:lpstr>
      <vt:lpstr>PowerPoint Presentation</vt:lpstr>
      <vt:lpstr>PowerPoint Presentation</vt:lpstr>
      <vt:lpstr>Static variables </vt:lpstr>
      <vt:lpstr>PowerPoint Presentation</vt:lpstr>
      <vt:lpstr>PowerPoint Presentation</vt:lpstr>
      <vt:lpstr>External or Global variable(extern)  </vt:lpstr>
      <vt:lpstr>PowerPoint Presentation</vt:lpstr>
      <vt:lpstr>PowerPoint Presentation</vt:lpstr>
      <vt:lpstr>PowerPoint Presentation</vt:lpstr>
      <vt:lpstr>Register variable </vt:lpstr>
      <vt:lpstr>PowerPoint Presentation</vt:lpstr>
      <vt:lpstr>PowerPoint Presentation</vt:lpstr>
      <vt:lpstr>Recursive Functions in C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Control Flow</dc:title>
  <dc:creator>Darshan</dc:creator>
  <cp:lastModifiedBy>priyanka.sonwane2021@outlook.com</cp:lastModifiedBy>
  <cp:revision>382</cp:revision>
  <dcterms:created xsi:type="dcterms:W3CDTF">2021-02-17T06:24:58Z</dcterms:created>
  <dcterms:modified xsi:type="dcterms:W3CDTF">2022-02-03T05:44:24Z</dcterms:modified>
</cp:coreProperties>
</file>