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7" r:id="rId1"/>
  </p:sldMasterIdLst>
  <p:notesMasterIdLst>
    <p:notesMasterId r:id="rId94"/>
  </p:notesMasterIdLst>
  <p:sldIdLst>
    <p:sldId id="452" r:id="rId2"/>
    <p:sldId id="488" r:id="rId3"/>
    <p:sldId id="331" r:id="rId4"/>
    <p:sldId id="267" r:id="rId5"/>
    <p:sldId id="332" r:id="rId6"/>
    <p:sldId id="333" r:id="rId7"/>
    <p:sldId id="334" r:id="rId8"/>
    <p:sldId id="344" r:id="rId9"/>
    <p:sldId id="345" r:id="rId10"/>
    <p:sldId id="336" r:id="rId11"/>
    <p:sldId id="269" r:id="rId12"/>
    <p:sldId id="270" r:id="rId13"/>
    <p:sldId id="335" r:id="rId14"/>
    <p:sldId id="339" r:id="rId15"/>
    <p:sldId id="340" r:id="rId16"/>
    <p:sldId id="341" r:id="rId17"/>
    <p:sldId id="338" r:id="rId18"/>
    <p:sldId id="342" r:id="rId19"/>
    <p:sldId id="343" r:id="rId20"/>
    <p:sldId id="489" r:id="rId21"/>
    <p:sldId id="346" r:id="rId22"/>
    <p:sldId id="490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7" r:id="rId31"/>
    <p:sldId id="491" r:id="rId32"/>
    <p:sldId id="492" r:id="rId33"/>
    <p:sldId id="265" r:id="rId34"/>
    <p:sldId id="371" r:id="rId35"/>
    <p:sldId id="372" r:id="rId36"/>
    <p:sldId id="273" r:id="rId37"/>
    <p:sldId id="274" r:id="rId38"/>
    <p:sldId id="356" r:id="rId39"/>
    <p:sldId id="497" r:id="rId40"/>
    <p:sldId id="272" r:id="rId41"/>
    <p:sldId id="276" r:id="rId42"/>
    <p:sldId id="275" r:id="rId43"/>
    <p:sldId id="277" r:id="rId44"/>
    <p:sldId id="358" r:id="rId45"/>
    <p:sldId id="374" r:id="rId46"/>
    <p:sldId id="359" r:id="rId47"/>
    <p:sldId id="360" r:id="rId48"/>
    <p:sldId id="361" r:id="rId49"/>
    <p:sldId id="362" r:id="rId50"/>
    <p:sldId id="363" r:id="rId51"/>
    <p:sldId id="364" r:id="rId52"/>
    <p:sldId id="365" r:id="rId53"/>
    <p:sldId id="366" r:id="rId54"/>
    <p:sldId id="367" r:id="rId55"/>
    <p:sldId id="375" r:id="rId56"/>
    <p:sldId id="498" r:id="rId57"/>
    <p:sldId id="376" r:id="rId58"/>
    <p:sldId id="379" r:id="rId59"/>
    <p:sldId id="377" r:id="rId60"/>
    <p:sldId id="378" r:id="rId61"/>
    <p:sldId id="370" r:id="rId62"/>
    <p:sldId id="499" r:id="rId63"/>
    <p:sldId id="384" r:id="rId64"/>
    <p:sldId id="380" r:id="rId65"/>
    <p:sldId id="382" r:id="rId66"/>
    <p:sldId id="386" r:id="rId67"/>
    <p:sldId id="381" r:id="rId68"/>
    <p:sldId id="383" r:id="rId69"/>
    <p:sldId id="385" r:id="rId70"/>
    <p:sldId id="500" r:id="rId71"/>
    <p:sldId id="368" r:id="rId72"/>
    <p:sldId id="403" r:id="rId73"/>
    <p:sldId id="369" r:id="rId74"/>
    <p:sldId id="402" r:id="rId75"/>
    <p:sldId id="392" r:id="rId76"/>
    <p:sldId id="387" r:id="rId77"/>
    <p:sldId id="388" r:id="rId78"/>
    <p:sldId id="501" r:id="rId79"/>
    <p:sldId id="389" r:id="rId80"/>
    <p:sldId id="393" r:id="rId81"/>
    <p:sldId id="390" r:id="rId82"/>
    <p:sldId id="373" r:id="rId83"/>
    <p:sldId id="394" r:id="rId84"/>
    <p:sldId id="395" r:id="rId85"/>
    <p:sldId id="396" r:id="rId86"/>
    <p:sldId id="495" r:id="rId87"/>
    <p:sldId id="460" r:id="rId88"/>
    <p:sldId id="401" r:id="rId89"/>
    <p:sldId id="400" r:id="rId90"/>
    <p:sldId id="397" r:id="rId91"/>
    <p:sldId id="459" r:id="rId92"/>
    <p:sldId id="425" r:id="rId9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iyanka.sonwane2021@outlook.com" initials="p" lastIdx="1" clrIdx="0">
    <p:extLst>
      <p:ext uri="{19B8F6BF-5375-455C-9EA6-DF929625EA0E}">
        <p15:presenceInfo xmlns:p15="http://schemas.microsoft.com/office/powerpoint/2012/main" userId="1916dbadb4ca197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660"/>
  </p:normalViewPr>
  <p:slideViewPr>
    <p:cSldViewPr>
      <p:cViewPr varScale="1">
        <p:scale>
          <a:sx n="66" d="100"/>
          <a:sy n="66" d="100"/>
        </p:scale>
        <p:origin x="131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commentAuthors" Target="commentAuthor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C62F9-DE69-474B-A076-D518F79ABE4C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E5EC1-1DF7-4B09-89CE-9B7FFA6F3E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08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4E5EC1-1DF7-4B09-89CE-9B7FFA6F3E55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066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4E5EC1-1DF7-4B09-89CE-9B7FFA6F3E55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525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27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8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4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8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85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10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53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69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720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9430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95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6332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695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238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6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93C9A-8ECC-4155-B87B-BCDF775D9782}" type="datetimeFigureOut">
              <a:rPr lang="en-IN" smtClean="0"/>
              <a:t>29-01-2022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29D60C1-1573-4A65-BD70-4B653F181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09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8" r:id="rId1"/>
    <p:sldLayoutId id="2147484189" r:id="rId2"/>
    <p:sldLayoutId id="2147484190" r:id="rId3"/>
    <p:sldLayoutId id="2147484191" r:id="rId4"/>
    <p:sldLayoutId id="2147484192" r:id="rId5"/>
    <p:sldLayoutId id="2147484193" r:id="rId6"/>
    <p:sldLayoutId id="2147484194" r:id="rId7"/>
    <p:sldLayoutId id="2147484195" r:id="rId8"/>
    <p:sldLayoutId id="2147484196" r:id="rId9"/>
    <p:sldLayoutId id="2147484197" r:id="rId10"/>
    <p:sldLayoutId id="2147484198" r:id="rId11"/>
    <p:sldLayoutId id="2147484199" r:id="rId12"/>
    <p:sldLayoutId id="2147484200" r:id="rId13"/>
    <p:sldLayoutId id="2147484201" r:id="rId14"/>
    <p:sldLayoutId id="2147484202" r:id="rId15"/>
    <p:sldLayoutId id="21474842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c-programs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constants-in-c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TYPES ,OPERATORS AND EXPRESSIONS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67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Similarities Between C and English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3608" y="2168922"/>
            <a:ext cx="7490792" cy="4064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275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 of a C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15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992888" cy="720080"/>
          </a:xfrm>
        </p:spPr>
        <p:txBody>
          <a:bodyPr>
            <a:normAutofit/>
          </a:bodyPr>
          <a:lstStyle/>
          <a:p>
            <a:r>
              <a:rPr lang="en-IN" b="1" dirty="0"/>
              <a:t>Header Files Inclusion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980728"/>
            <a:ext cx="7776864" cy="568863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The file containing the definitions and prototypes of the functions being used in the program are called a header file. </a:t>
            </a:r>
          </a:p>
          <a:p>
            <a:r>
              <a:rPr lang="en-IN" dirty="0"/>
              <a:t>It is also known as a library file.</a:t>
            </a:r>
          </a:p>
          <a:p>
            <a:r>
              <a:rPr lang="en-IN" dirty="0"/>
              <a:t> The first and foremost component is the inclusion of the Header files in a C program.</a:t>
            </a:r>
            <a:br>
              <a:rPr lang="en-IN" dirty="0"/>
            </a:br>
            <a:r>
              <a:rPr lang="en-IN" dirty="0"/>
              <a:t>A header file is a file with extension .h which contains C function declarations and macro definitions to be shared between several source files. </a:t>
            </a:r>
          </a:p>
          <a:p>
            <a:r>
              <a:rPr lang="en-IN" dirty="0"/>
              <a:t>Some of C Header files:</a:t>
            </a:r>
          </a:p>
          <a:p>
            <a:r>
              <a:rPr lang="en-IN" dirty="0" err="1"/>
              <a:t>stdint.h</a:t>
            </a:r>
            <a:r>
              <a:rPr lang="en-IN" dirty="0"/>
              <a:t> – Defines exact width integer types. </a:t>
            </a:r>
          </a:p>
          <a:p>
            <a:r>
              <a:rPr lang="en-IN" b="1" dirty="0" err="1"/>
              <a:t>stdio.h</a:t>
            </a:r>
            <a:r>
              <a:rPr lang="en-IN" b="1" dirty="0"/>
              <a:t> – Defines core input and output functions </a:t>
            </a:r>
          </a:p>
          <a:p>
            <a:r>
              <a:rPr lang="en-IN" dirty="0" err="1"/>
              <a:t>stdlib.h</a:t>
            </a:r>
            <a:r>
              <a:rPr lang="en-IN" dirty="0"/>
              <a:t> – Defines numeric conversion functions, pseudo-random network generator, memory allocation </a:t>
            </a:r>
          </a:p>
          <a:p>
            <a:r>
              <a:rPr lang="en-IN" dirty="0" err="1"/>
              <a:t>string.h</a:t>
            </a:r>
            <a:r>
              <a:rPr lang="en-IN" dirty="0"/>
              <a:t> – Defines string handling functions </a:t>
            </a:r>
          </a:p>
          <a:p>
            <a:r>
              <a:rPr lang="en-IN" dirty="0" err="1"/>
              <a:t>math.h</a:t>
            </a:r>
            <a:r>
              <a:rPr lang="en-IN" dirty="0"/>
              <a:t> – Defines common mathematical functions </a:t>
            </a:r>
          </a:p>
          <a:p>
            <a:endParaRPr lang="en-IN" dirty="0"/>
          </a:p>
          <a:p>
            <a:r>
              <a:rPr lang="en-IN" b="1" dirty="0" err="1"/>
              <a:t>conio.h</a:t>
            </a:r>
            <a:r>
              <a:rPr lang="en-IN" b="1" dirty="0"/>
              <a:t>- library functions </a:t>
            </a:r>
            <a:r>
              <a:rPr lang="en-IN" dirty="0"/>
              <a:t>(</a:t>
            </a:r>
            <a:r>
              <a:rPr lang="en-IN" dirty="0" err="1"/>
              <a:t>clrscr</a:t>
            </a:r>
            <a:r>
              <a:rPr lang="en-IN" dirty="0"/>
              <a:t>(),</a:t>
            </a:r>
            <a:r>
              <a:rPr lang="en-IN" dirty="0" err="1"/>
              <a:t>getch</a:t>
            </a:r>
            <a:r>
              <a:rPr lang="en-IN" dirty="0"/>
              <a:t>(),</a:t>
            </a:r>
            <a:r>
              <a:rPr lang="en-IN" dirty="0" err="1"/>
              <a:t>getche</a:t>
            </a:r>
            <a:r>
              <a:rPr lang="en-IN" dirty="0"/>
              <a:t>(),</a:t>
            </a:r>
            <a:r>
              <a:rPr lang="en-IN" dirty="0" err="1"/>
              <a:t>textcolor</a:t>
            </a:r>
            <a:r>
              <a:rPr lang="en-IN" dirty="0"/>
              <a:t>(),</a:t>
            </a:r>
            <a:r>
              <a:rPr lang="en-IN" dirty="0" err="1"/>
              <a:t>textbackground</a:t>
            </a:r>
            <a:r>
              <a:rPr lang="en-IN" dirty="0"/>
              <a:t>())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26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 of a C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</p:txBody>
      </p:sp>
    </p:spTree>
    <p:extLst>
      <p:ext uri="{BB962C8B-B14F-4D97-AF65-F5344CB8AC3E}">
        <p14:creationId xmlns:p14="http://schemas.microsoft.com/office/powerpoint/2010/main" val="189342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648072"/>
          </a:xfrm>
        </p:spPr>
        <p:txBody>
          <a:bodyPr>
            <a:normAutofit/>
          </a:bodyPr>
          <a:lstStyle/>
          <a:p>
            <a:r>
              <a:rPr lang="en-IN" b="1" dirty="0"/>
              <a:t>main()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/>
          </a:bodyPr>
          <a:lstStyle/>
          <a:p>
            <a:r>
              <a:rPr lang="en-IN" b="1" dirty="0"/>
              <a:t>main()</a:t>
            </a:r>
            <a:r>
              <a:rPr lang="en-IN" dirty="0"/>
              <a:t> function is the entry point of any C program. </a:t>
            </a:r>
          </a:p>
          <a:p>
            <a:r>
              <a:rPr lang="en-IN" dirty="0"/>
              <a:t>It is the point at which execution of program is started.</a:t>
            </a:r>
          </a:p>
          <a:p>
            <a:r>
              <a:rPr lang="en-IN" dirty="0"/>
              <a:t>When a C program is executed, the execution control goes directly to the main() function. </a:t>
            </a:r>
          </a:p>
          <a:p>
            <a:r>
              <a:rPr lang="en-IN" dirty="0"/>
              <a:t>Every C program have a main() function.</a:t>
            </a:r>
          </a:p>
          <a:p>
            <a:r>
              <a:rPr lang="en-IN" b="1" dirty="0"/>
              <a:t>void: </a:t>
            </a:r>
            <a:r>
              <a:rPr lang="en-IN" dirty="0"/>
              <a:t>is a keyword in C language, void means nothing, whenever we use void as a function return type then that function nothing return. here main() function no return any value.</a:t>
            </a:r>
          </a:p>
          <a:p>
            <a:r>
              <a:rPr lang="en-IN" dirty="0"/>
              <a:t>In place of void we can also use </a:t>
            </a:r>
            <a:r>
              <a:rPr lang="en-IN" b="1" dirty="0" err="1"/>
              <a:t>int</a:t>
            </a:r>
            <a:r>
              <a:rPr lang="en-IN" dirty="0"/>
              <a:t> return type of main() function, at that time main() return integer type value.</a:t>
            </a:r>
          </a:p>
          <a:p>
            <a:r>
              <a:rPr lang="en-IN" b="1" dirty="0"/>
              <a:t>main: </a:t>
            </a:r>
            <a:r>
              <a:rPr lang="en-IN" dirty="0"/>
              <a:t>is a name of function which is predefined function in C library.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03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 of a C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356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704088"/>
            <a:ext cx="6563072" cy="6366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Memory Units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909118"/>
              </p:ext>
            </p:extLst>
          </p:nvPr>
        </p:nvGraphicFramePr>
        <p:xfrm>
          <a:off x="1907704" y="1628800"/>
          <a:ext cx="6624736" cy="50637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5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394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>
                          <a:effectLst/>
                        </a:rPr>
                        <a:t>S.No</a:t>
                      </a:r>
                      <a:r>
                        <a:rPr lang="en-IN" sz="1500" dirty="0">
                          <a:effectLst/>
                        </a:rPr>
                        <a:t>.</a:t>
                      </a:r>
                    </a:p>
                  </a:txBody>
                  <a:tcPr marL="77296" marR="77296" marT="38648" marB="38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effectLst/>
                        </a:rPr>
                        <a:t>Unit &amp; Description</a:t>
                      </a:r>
                    </a:p>
                  </a:txBody>
                  <a:tcPr marL="77296" marR="77296" marT="38648" marB="3864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>
                          <a:effectLst/>
                        </a:rPr>
                        <a:t>1</a:t>
                      </a:r>
                    </a:p>
                  </a:txBody>
                  <a:tcPr marL="77296" marR="77296" marT="38648" marB="38648" anchor="ctr"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Bit (Binary Digit)</a:t>
                      </a:r>
                    </a:p>
                    <a:p>
                      <a:r>
                        <a:rPr lang="en-IN" sz="1500" dirty="0"/>
                        <a:t>A binary digit is logical 0 and 1 representing a passive or an active state of a component in an electric circuit.</a:t>
                      </a:r>
                    </a:p>
                  </a:txBody>
                  <a:tcPr marL="77296" marR="77296" marT="38648" marB="3864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>
                          <a:effectLst/>
                        </a:rPr>
                        <a:t>2</a:t>
                      </a:r>
                    </a:p>
                  </a:txBody>
                  <a:tcPr marL="77296" marR="77296" marT="38648" marB="38648" anchor="ctr"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Nibble</a:t>
                      </a:r>
                    </a:p>
                    <a:p>
                      <a:r>
                        <a:rPr lang="en-IN" sz="1500" dirty="0"/>
                        <a:t>A group of 4 bits is called nibble.</a:t>
                      </a:r>
                    </a:p>
                  </a:txBody>
                  <a:tcPr marL="77296" marR="77296" marT="38648" marB="3864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>
                          <a:effectLst/>
                        </a:rPr>
                        <a:t>3</a:t>
                      </a:r>
                    </a:p>
                  </a:txBody>
                  <a:tcPr marL="77296" marR="77296" marT="38648" marB="38648" anchor="ctr"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Byte</a:t>
                      </a:r>
                    </a:p>
                    <a:p>
                      <a:r>
                        <a:rPr lang="en-IN" sz="1500" dirty="0"/>
                        <a:t>A group of 8 bits is called byte. A byte is the smallest unit, which can represent a data item or a character.</a:t>
                      </a:r>
                    </a:p>
                  </a:txBody>
                  <a:tcPr marL="77296" marR="77296" marT="38648" marB="386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9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>
                          <a:effectLst/>
                        </a:rPr>
                        <a:t>4</a:t>
                      </a:r>
                    </a:p>
                  </a:txBody>
                  <a:tcPr marL="77296" marR="77296" marT="38648" marB="38648" anchor="ctr"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Word</a:t>
                      </a:r>
                    </a:p>
                    <a:p>
                      <a:r>
                        <a:rPr lang="en-IN" sz="1500" dirty="0"/>
                        <a:t>A computer word, like a byte, is a group of fixed number of bits processed as a unit, which varies from computer to computer but is fixed for each computer.</a:t>
                      </a:r>
                    </a:p>
                    <a:p>
                      <a:r>
                        <a:rPr lang="en-IN" sz="1500" dirty="0"/>
                        <a:t>The length of a computer word is called word-size or word length. It may be as small as 8 bits or may be as long as 96 bits. A computer stores the information in the form of computer words.</a:t>
                      </a:r>
                    </a:p>
                  </a:txBody>
                  <a:tcPr marL="77296" marR="77296" marT="38648" marB="3864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54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7697703"/>
              </p:ext>
            </p:extLst>
          </p:nvPr>
        </p:nvGraphicFramePr>
        <p:xfrm>
          <a:off x="1945200" y="2060847"/>
          <a:ext cx="5219088" cy="38521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96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2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089"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effectLst/>
                        </a:rPr>
                        <a:t>S.No</a:t>
                      </a:r>
                      <a:r>
                        <a:rPr lang="en-IN" dirty="0">
                          <a:effectLst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Unit &amp;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405"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Kilobyte (KB)</a:t>
                      </a:r>
                    </a:p>
                    <a:p>
                      <a:r>
                        <a:rPr lang="en-IN" dirty="0"/>
                        <a:t>1 KB = 1024 Bytes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405"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Megabyte (MB)</a:t>
                      </a:r>
                    </a:p>
                    <a:p>
                      <a:r>
                        <a:rPr lang="en-IN" dirty="0"/>
                        <a:t>1 MB = 1024 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405"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GigaByte (GB)</a:t>
                      </a:r>
                    </a:p>
                    <a:p>
                      <a:r>
                        <a:rPr lang="en-IN"/>
                        <a:t>1 GB = 1024 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405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TeraByte (TB)</a:t>
                      </a:r>
                    </a:p>
                    <a:p>
                      <a:r>
                        <a:rPr lang="en-IN"/>
                        <a:t>1 TB = 1024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405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PetaByte</a:t>
                      </a:r>
                      <a:r>
                        <a:rPr lang="en-IN" dirty="0"/>
                        <a:t> (PB)</a:t>
                      </a:r>
                    </a:p>
                    <a:p>
                      <a:r>
                        <a:rPr lang="en-IN" dirty="0"/>
                        <a:t>1 PB = 1024 TB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76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 of a C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9" y="2133600"/>
            <a:ext cx="6770712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   ;</a:t>
            </a:r>
          </a:p>
          <a:p>
            <a:pPr marL="0" indent="0">
              <a:buNone/>
            </a:pPr>
            <a:r>
              <a:rPr lang="en-US" dirty="0"/>
              <a:t> char   ;</a:t>
            </a:r>
          </a:p>
          <a:p>
            <a:pPr marL="0" indent="0">
              <a:buNone/>
            </a:pPr>
            <a:r>
              <a:rPr lang="en-US" dirty="0"/>
              <a:t> float    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68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92088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Data Types in C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980728"/>
            <a:ext cx="7787208" cy="5343872"/>
          </a:xfrm>
        </p:spPr>
        <p:txBody>
          <a:bodyPr/>
          <a:lstStyle/>
          <a:p>
            <a:r>
              <a:rPr lang="en-IN" dirty="0"/>
              <a:t>A data type specifies the type of data that a variable can store such as integer, floating, character, etc.</a:t>
            </a:r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88840"/>
            <a:ext cx="6120680" cy="3106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4460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 in C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the following data types in C language.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30901"/>
              </p:ext>
            </p:extLst>
          </p:nvPr>
        </p:nvGraphicFramePr>
        <p:xfrm>
          <a:off x="1835696" y="2852936"/>
          <a:ext cx="5616623" cy="3522822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284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Types</a:t>
                      </a:r>
                    </a:p>
                  </a:txBody>
                  <a:tcPr marL="113512" marR="113512" marT="113512" marB="113512">
                    <a:lnL w="9525" cap="flat" cmpd="sng" algn="ctr">
                      <a:solidFill>
                        <a:srgbClr val="E02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2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2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Data Types</a:t>
                      </a:r>
                    </a:p>
                  </a:txBody>
                  <a:tcPr marL="113512" marR="113512" marT="113512" marB="113512">
                    <a:lnL w="9525" cap="flat" cmpd="sng" algn="ctr">
                      <a:solidFill>
                        <a:srgbClr val="E02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2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2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74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Basic Data Type</a:t>
                      </a:r>
                    </a:p>
                  </a:txBody>
                  <a:tcPr marL="75674" marR="75674" marT="75674" marB="7567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int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char, float, double</a:t>
                      </a:r>
                    </a:p>
                  </a:txBody>
                  <a:tcPr marL="75674" marR="75674" marT="75674" marB="7567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74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Derived Data Type</a:t>
                      </a:r>
                    </a:p>
                  </a:txBody>
                  <a:tcPr marL="75674" marR="75674" marT="75674" marB="7567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array, pointer, structure, union</a:t>
                      </a:r>
                    </a:p>
                  </a:txBody>
                  <a:tcPr marL="75674" marR="75674" marT="75674" marB="7567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74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Enumeration Data Type</a:t>
                      </a:r>
                    </a:p>
                  </a:txBody>
                  <a:tcPr marL="75674" marR="75674" marT="75674" marB="7567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enum</a:t>
                      </a:r>
                      <a:endParaRPr lang="en-IN" sz="1800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75674" marR="75674" marT="75674" marB="7567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281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Void Data Type</a:t>
                      </a:r>
                    </a:p>
                  </a:txBody>
                  <a:tcPr marL="75674" marR="75674" marT="75674" marB="7567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void</a:t>
                      </a:r>
                    </a:p>
                  </a:txBody>
                  <a:tcPr marL="75674" marR="75674" marT="75674" marB="7567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760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INTEGER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692696"/>
            <a:ext cx="7355160" cy="616530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Integer data type allows a variable to store numeric values.</a:t>
            </a:r>
          </a:p>
          <a:p>
            <a:r>
              <a:rPr lang="en-IN" b="1" dirty="0"/>
              <a:t>“</a:t>
            </a:r>
            <a:r>
              <a:rPr lang="en-IN" b="1" dirty="0" err="1"/>
              <a:t>int</a:t>
            </a:r>
            <a:r>
              <a:rPr lang="en-IN" b="1" dirty="0"/>
              <a:t>”</a:t>
            </a:r>
            <a:r>
              <a:rPr lang="en-IN" dirty="0"/>
              <a:t> keyword is used to refer integer data type.</a:t>
            </a:r>
          </a:p>
          <a:p>
            <a:r>
              <a:rPr lang="en-IN" dirty="0"/>
              <a:t>The storage size of </a:t>
            </a:r>
            <a:r>
              <a:rPr lang="en-IN" dirty="0" err="1"/>
              <a:t>int</a:t>
            </a:r>
            <a:r>
              <a:rPr lang="en-IN" dirty="0"/>
              <a:t> data type is 2 or 4 or 8 byte.</a:t>
            </a:r>
          </a:p>
          <a:p>
            <a:r>
              <a:rPr lang="en-IN" dirty="0"/>
              <a:t>It varies depend upon the processor in the CPU that we use.  If we are using 16 bit processor, 2 byte  (16 bit) of memory will be allocated for </a:t>
            </a:r>
            <a:r>
              <a:rPr lang="en-IN" dirty="0" err="1"/>
              <a:t>int</a:t>
            </a:r>
            <a:r>
              <a:rPr lang="en-IN" dirty="0"/>
              <a:t> data type.</a:t>
            </a:r>
          </a:p>
          <a:p>
            <a:r>
              <a:rPr lang="en-IN" dirty="0"/>
              <a:t>Like wise, 4 byte (32 bit) of memory for 32 bit processor and 8 byte (64 bit) of memory for 64 bit processor is allocated for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datatype</a:t>
            </a:r>
            <a:r>
              <a:rPr lang="en-IN" dirty="0"/>
              <a:t>.</a:t>
            </a:r>
          </a:p>
          <a:p>
            <a:r>
              <a:rPr lang="en-IN" dirty="0" err="1"/>
              <a:t>int</a:t>
            </a:r>
            <a:r>
              <a:rPr lang="en-IN" dirty="0"/>
              <a:t> (2 byte) can store values from -32,768 to +32,767</a:t>
            </a:r>
          </a:p>
          <a:p>
            <a:r>
              <a:rPr lang="en-IN" dirty="0" err="1"/>
              <a:t>int</a:t>
            </a:r>
            <a:r>
              <a:rPr lang="en-IN" dirty="0"/>
              <a:t> (4 byte) can store values from -2,147,483,648 to +2,147,483,647.</a:t>
            </a:r>
          </a:p>
          <a:p>
            <a:r>
              <a:rPr lang="en-IN" dirty="0"/>
              <a:t>If you want to use the integer value that crosses the above limit, you can go for “long </a:t>
            </a:r>
            <a:r>
              <a:rPr lang="en-IN" dirty="0" err="1"/>
              <a:t>int</a:t>
            </a:r>
            <a:r>
              <a:rPr lang="en-IN" dirty="0"/>
              <a:t>” and “long </a:t>
            </a:r>
            <a:r>
              <a:rPr lang="en-IN" dirty="0" err="1"/>
              <a:t>long</a:t>
            </a: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” for which the limits are very high.</a:t>
            </a:r>
          </a:p>
          <a:p>
            <a:r>
              <a:rPr lang="en-IN" dirty="0"/>
              <a:t>We can’t store decimal values using </a:t>
            </a:r>
            <a:r>
              <a:rPr lang="en-IN" dirty="0" err="1"/>
              <a:t>int</a:t>
            </a:r>
            <a:r>
              <a:rPr lang="en-IN" dirty="0"/>
              <a:t> data type.</a:t>
            </a:r>
          </a:p>
          <a:p>
            <a:r>
              <a:rPr lang="en-IN" dirty="0"/>
              <a:t>%d format specifier to display the value of an integer variable.</a:t>
            </a:r>
          </a:p>
          <a:p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1133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644852"/>
              </p:ext>
            </p:extLst>
          </p:nvPr>
        </p:nvGraphicFramePr>
        <p:xfrm>
          <a:off x="1763688" y="1412777"/>
          <a:ext cx="6336705" cy="419280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00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</a:rPr>
                        <a:t>Type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effectLst/>
                        </a:rPr>
                        <a:t>Storage size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effectLst/>
                        </a:rPr>
                        <a:t>Value range</a:t>
                      </a:r>
                    </a:p>
                  </a:txBody>
                  <a:tcPr marL="79808" marR="79808" marT="39904" marB="3990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079">
                <a:tc>
                  <a:txBody>
                    <a:bodyPr/>
                    <a:lstStyle/>
                    <a:p>
                      <a:pPr fontAlgn="ctr"/>
                      <a:r>
                        <a:rPr lang="en-IN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or 4 bytes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-32,768 to 32,767 or -2,147,483,648 to 2,147,483,647</a:t>
                      </a:r>
                    </a:p>
                  </a:txBody>
                  <a:tcPr marL="79808" marR="79808" marT="39904" marB="399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656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unsigned </a:t>
                      </a:r>
                      <a:r>
                        <a:rPr lang="en-IN" sz="1600" dirty="0" err="1"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2 or 4 bytes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0 to 65,535 or 0 to 4,294,967,295</a:t>
                      </a:r>
                    </a:p>
                  </a:txBody>
                  <a:tcPr marL="79808" marR="79808" marT="39904" marB="3990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23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short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2 bytes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-32,768 to 32,767</a:t>
                      </a:r>
                    </a:p>
                  </a:txBody>
                  <a:tcPr marL="79808" marR="79808" marT="39904" marB="3990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23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unsigned short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itchFamily="18" charset="0"/>
                          <a:cs typeface="Times New Roman" pitchFamily="18" charset="0"/>
                        </a:rPr>
                        <a:t>2 bytes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0 to 65,535</a:t>
                      </a:r>
                    </a:p>
                  </a:txBody>
                  <a:tcPr marL="79808" marR="79808" marT="39904" marB="3990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656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long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8 bytes or (4bytes for 32 bit OS)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-9223372036854775808 to 9223372036854775807</a:t>
                      </a:r>
                    </a:p>
                  </a:txBody>
                  <a:tcPr marL="79808" marR="79808" marT="39904" marB="3990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9126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unsigned long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8 bytes</a:t>
                      </a:r>
                    </a:p>
                  </a:txBody>
                  <a:tcPr marL="79808" marR="79808" marT="39904" marB="39904"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0 to 18446744073709551615</a:t>
                      </a:r>
                    </a:p>
                  </a:txBody>
                  <a:tcPr marL="79808" marR="79808" marT="39904" marB="3990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493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Character data type: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484784"/>
            <a:ext cx="6591985" cy="4176464"/>
          </a:xfrm>
        </p:spPr>
        <p:txBody>
          <a:bodyPr>
            <a:normAutofit/>
          </a:bodyPr>
          <a:lstStyle/>
          <a:p>
            <a:r>
              <a:rPr lang="en-IN" dirty="0"/>
              <a:t>Character data type allows a variable to store only one character.</a:t>
            </a:r>
          </a:p>
          <a:p>
            <a:r>
              <a:rPr lang="en-IN" dirty="0" err="1"/>
              <a:t>E.g</a:t>
            </a:r>
            <a:r>
              <a:rPr lang="en-IN" dirty="0"/>
              <a:t> ram,  </a:t>
            </a:r>
            <a:r>
              <a:rPr lang="en-IN" dirty="0" err="1"/>
              <a:t>rohan</a:t>
            </a:r>
            <a:endParaRPr lang="en-IN" dirty="0"/>
          </a:p>
          <a:p>
            <a:r>
              <a:rPr lang="en-IN" dirty="0" err="1"/>
              <a:t>r,r</a:t>
            </a:r>
            <a:endParaRPr lang="en-IN" dirty="0"/>
          </a:p>
          <a:p>
            <a:r>
              <a:rPr lang="en-IN" dirty="0"/>
              <a:t>Storage size of character data type is 1. We can store only one character using character data type.</a:t>
            </a:r>
          </a:p>
          <a:p>
            <a:r>
              <a:rPr lang="en-IN" b="1" dirty="0"/>
              <a:t>“char” </a:t>
            </a:r>
            <a:r>
              <a:rPr lang="en-IN" dirty="0"/>
              <a:t>keyword is used to refer character data type.</a:t>
            </a:r>
          </a:p>
          <a:p>
            <a:r>
              <a:rPr lang="en-IN" dirty="0"/>
              <a:t>For example, ‘A’ can be stored using char </a:t>
            </a:r>
            <a:r>
              <a:rPr lang="en-IN" dirty="0" err="1"/>
              <a:t>datatype</a:t>
            </a:r>
            <a:r>
              <a:rPr lang="en-IN" dirty="0"/>
              <a:t>. You can’t store more than one character using char data type.</a:t>
            </a:r>
          </a:p>
          <a:p>
            <a:r>
              <a:rPr lang="en-IN" b="1" dirty="0"/>
              <a:t>%c </a:t>
            </a:r>
            <a:r>
              <a:rPr lang="en-IN" dirty="0"/>
              <a:t>format </a:t>
            </a:r>
            <a:r>
              <a:rPr lang="en-IN" dirty="0" err="1"/>
              <a:t>specifier</a:t>
            </a:r>
            <a:r>
              <a:rPr lang="en-IN" dirty="0"/>
              <a:t> to display the value of an Character variable.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2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9760145"/>
              </p:ext>
            </p:extLst>
          </p:nvPr>
        </p:nvGraphicFramePr>
        <p:xfrm>
          <a:off x="1691680" y="1988840"/>
          <a:ext cx="7005465" cy="291096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35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5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5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54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Storage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 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54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-128 to 127 or 0 to 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54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unsigned 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0 to 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32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signed 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-128 to 127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631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116632"/>
            <a:ext cx="7571184" cy="108012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float and double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1268760"/>
            <a:ext cx="7427168" cy="505584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Floating point data type consists of 2 types. They are,</a:t>
            </a:r>
          </a:p>
          <a:p>
            <a:pPr marL="0" indent="0">
              <a:buNone/>
            </a:pPr>
            <a:r>
              <a:rPr lang="en-IN" dirty="0"/>
              <a:t>float</a:t>
            </a:r>
          </a:p>
          <a:p>
            <a:pPr marL="0" indent="0">
              <a:buNone/>
            </a:pPr>
            <a:r>
              <a:rPr lang="en-IN" dirty="0"/>
              <a:t>double</a:t>
            </a:r>
          </a:p>
          <a:p>
            <a:r>
              <a:rPr lang="en-IN" b="1" dirty="0"/>
              <a:t>1. float:</a:t>
            </a:r>
          </a:p>
          <a:p>
            <a:r>
              <a:rPr lang="en-IN" dirty="0"/>
              <a:t>Float data type allows a variable to store decimal values.</a:t>
            </a:r>
          </a:p>
          <a:p>
            <a:r>
              <a:rPr lang="en-IN" dirty="0"/>
              <a:t>Storage size of float data type is 4. This also varies depend upon the processor in the CPU as “</a:t>
            </a:r>
            <a:r>
              <a:rPr lang="en-IN" dirty="0" err="1"/>
              <a:t>int</a:t>
            </a:r>
            <a:r>
              <a:rPr lang="en-IN" dirty="0"/>
              <a:t>” data type.</a:t>
            </a:r>
          </a:p>
          <a:p>
            <a:r>
              <a:rPr lang="en-IN" dirty="0"/>
              <a:t>We can use up-to 6 digits after decimal using float data type.</a:t>
            </a:r>
          </a:p>
          <a:p>
            <a:r>
              <a:rPr lang="en-IN" dirty="0"/>
              <a:t>For example, 10.456789 can be stored in a variable using float data type.</a:t>
            </a:r>
          </a:p>
          <a:p>
            <a:r>
              <a:rPr lang="en-IN" b="1" dirty="0"/>
              <a:t>2. double:</a:t>
            </a:r>
          </a:p>
          <a:p>
            <a:r>
              <a:rPr lang="en-IN" dirty="0"/>
              <a:t>Double data type is also same as float data type which allows up-to 10 digits after decimal.</a:t>
            </a:r>
          </a:p>
          <a:p>
            <a:r>
              <a:rPr lang="en-IN" dirty="0"/>
              <a:t>The range for double </a:t>
            </a:r>
            <a:r>
              <a:rPr lang="en-IN" dirty="0" err="1"/>
              <a:t>datatype</a:t>
            </a:r>
            <a:r>
              <a:rPr lang="en-IN" dirty="0"/>
              <a:t> is from 1E–37 to 1E+37.</a:t>
            </a:r>
          </a:p>
          <a:p>
            <a:r>
              <a:rPr lang="en-IN" b="1" dirty="0"/>
              <a:t>%f </a:t>
            </a:r>
            <a:r>
              <a:rPr lang="en-IN" dirty="0"/>
              <a:t>format specifier to display the value of an Float  variable.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39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526641"/>
              </p:ext>
            </p:extLst>
          </p:nvPr>
        </p:nvGraphicFramePr>
        <p:xfrm>
          <a:off x="2097600" y="2276873"/>
          <a:ext cx="6589200" cy="323289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5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526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Storage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2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4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1.2E-38 to 3.4E+38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6 decimal places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17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8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2.3E-308 to 1.7E+308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15 decimal places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812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long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10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3.4E-4932 to 1.1E+4932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19 decimal places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772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 of a C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roll_no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 char  name  ;</a:t>
            </a:r>
          </a:p>
          <a:p>
            <a:pPr marL="0" indent="0">
              <a:buNone/>
            </a:pPr>
            <a:r>
              <a:rPr lang="en-US" dirty="0"/>
              <a:t> float  marks ;</a:t>
            </a:r>
          </a:p>
          <a:p>
            <a:pPr marL="0" indent="0">
              <a:buNone/>
            </a:pPr>
            <a:r>
              <a:rPr lang="en-US" dirty="0"/>
              <a:t>  }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32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664" y="404664"/>
            <a:ext cx="7139136" cy="1442424"/>
          </a:xfrm>
        </p:spPr>
        <p:txBody>
          <a:bodyPr>
            <a:normAutofit/>
          </a:bodyPr>
          <a:lstStyle/>
          <a:p>
            <a:r>
              <a:rPr lang="en-IN" b="1" dirty="0"/>
              <a:t>Variables in C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variable</a:t>
            </a:r>
            <a:r>
              <a:rPr lang="en-IN" dirty="0"/>
              <a:t> is a name of the memory location. It is used to store data. Its value can be changed, and it can be reused many times.</a:t>
            </a:r>
          </a:p>
          <a:p>
            <a:r>
              <a:rPr lang="en-IN" dirty="0"/>
              <a:t>It is a way to represent memory location through symbol so that it can be easily identified.</a:t>
            </a:r>
          </a:p>
          <a:p>
            <a:r>
              <a:rPr lang="en-IN" dirty="0"/>
              <a:t>Let's see the syntax to declare a variable:</a:t>
            </a:r>
          </a:p>
          <a:p>
            <a:r>
              <a:rPr lang="en-IN" dirty="0" err="1"/>
              <a:t>E.g</a:t>
            </a:r>
            <a:r>
              <a:rPr lang="en-IN" dirty="0"/>
              <a:t>  int a;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813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697" y="2133600"/>
            <a:ext cx="6698703" cy="377762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int  roll_no12 ; </a:t>
            </a:r>
          </a:p>
          <a:p>
            <a:pPr marL="0" indent="0">
              <a:buNone/>
            </a:pPr>
            <a:r>
              <a:rPr lang="en-US" dirty="0"/>
              <a:t>Int _a;</a:t>
            </a:r>
          </a:p>
          <a:p>
            <a:pPr marL="0" indent="0">
              <a:buNone/>
            </a:pPr>
            <a:r>
              <a:rPr lang="en-US" dirty="0"/>
              <a:t>Int ab23;</a:t>
            </a:r>
          </a:p>
          <a:p>
            <a:pPr marL="0" indent="0">
              <a:buNone/>
            </a:pPr>
            <a:r>
              <a:rPr lang="en-US" dirty="0"/>
              <a:t>Not acceptable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Int 4as;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Int r   u;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Int  </a:t>
            </a:r>
            <a:r>
              <a:rPr lang="en-US" dirty="0" err="1">
                <a:highlight>
                  <a:srgbClr val="FFFF00"/>
                </a:highlight>
              </a:rPr>
              <a:t>int</a:t>
            </a:r>
            <a:r>
              <a:rPr lang="en-US" dirty="0">
                <a:highlight>
                  <a:srgbClr val="FFFF00"/>
                </a:highlight>
              </a:rPr>
              <a:t>;</a:t>
            </a:r>
          </a:p>
          <a:p>
            <a:pPr marL="0" indent="0">
              <a:buNone/>
            </a:pPr>
            <a:r>
              <a:rPr lang="en-US" dirty="0"/>
              <a:t> char  name  ;</a:t>
            </a:r>
          </a:p>
          <a:p>
            <a:pPr marL="0" indent="0">
              <a:buNone/>
            </a:pPr>
            <a:r>
              <a:rPr lang="en-US" dirty="0"/>
              <a:t> float  marks ;</a:t>
            </a:r>
          </a:p>
          <a:p>
            <a:pPr marL="0" indent="0">
              <a:buNone/>
            </a:pPr>
            <a:r>
              <a:rPr lang="en-US" dirty="0"/>
              <a:t>  }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096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Rules for defining variables</a:t>
            </a:r>
          </a:p>
          <a:p>
            <a:r>
              <a:rPr lang="en-IN" dirty="0"/>
              <a:t>A variable can have alphabets, digits, and underscore.</a:t>
            </a:r>
          </a:p>
          <a:p>
            <a:r>
              <a:rPr lang="en-IN" dirty="0"/>
              <a:t>A variable name can start with the alphabet, and underscore only. It can't start with a digit.</a:t>
            </a:r>
          </a:p>
          <a:p>
            <a:r>
              <a:rPr lang="en-IN" dirty="0"/>
              <a:t>No whitespace is allowed within the variable name.</a:t>
            </a:r>
          </a:p>
          <a:p>
            <a:r>
              <a:rPr lang="en-IN" dirty="0"/>
              <a:t>A variable name must not be any reserved word or keyword, e.g. </a:t>
            </a:r>
            <a:r>
              <a:rPr lang="en-IN" dirty="0" err="1"/>
              <a:t>int</a:t>
            </a:r>
            <a:r>
              <a:rPr lang="en-IN" dirty="0"/>
              <a:t>, float,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1196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704088"/>
            <a:ext cx="5976664" cy="708688"/>
          </a:xfrm>
        </p:spPr>
        <p:txBody>
          <a:bodyPr>
            <a:normAutofit fontScale="90000"/>
          </a:bodyPr>
          <a:lstStyle/>
          <a:p>
            <a:r>
              <a:rPr lang="en-IN" dirty="0"/>
              <a:t>C </a:t>
            </a:r>
            <a:r>
              <a:rPr lang="en-IN" dirty="0" err="1"/>
              <a:t>printf</a:t>
            </a:r>
            <a:r>
              <a:rPr lang="en-IN" dirty="0"/>
              <a:t>() and </a:t>
            </a:r>
            <a:r>
              <a:rPr lang="en-IN" dirty="0" err="1"/>
              <a:t>scanf</a:t>
            </a:r>
            <a:r>
              <a:rPr lang="en-IN" dirty="0"/>
              <a:t>()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772816"/>
            <a:ext cx="7344816" cy="4032448"/>
          </a:xfrm>
        </p:spPr>
        <p:txBody>
          <a:bodyPr/>
          <a:lstStyle/>
          <a:p>
            <a:pPr fontAlgn="base"/>
            <a:r>
              <a:rPr lang="en-IN" dirty="0" err="1"/>
              <a:t>printf</a:t>
            </a:r>
            <a:r>
              <a:rPr lang="en-IN" dirty="0"/>
              <a:t>() and </a:t>
            </a:r>
            <a:r>
              <a:rPr lang="en-IN" dirty="0" err="1"/>
              <a:t>scanf</a:t>
            </a:r>
            <a:r>
              <a:rPr lang="en-IN" dirty="0"/>
              <a:t>() functions are inbuilt library functions in C programming language which are available in C library by default. </a:t>
            </a:r>
          </a:p>
          <a:p>
            <a:pPr fontAlgn="base"/>
            <a:r>
              <a:rPr lang="en-IN" dirty="0"/>
              <a:t>These functions are declared and related macros are defined in “</a:t>
            </a:r>
            <a:r>
              <a:rPr lang="en-IN" dirty="0" err="1"/>
              <a:t>stdio.h</a:t>
            </a:r>
            <a:r>
              <a:rPr lang="en-IN" dirty="0"/>
              <a:t>” which is a header file in C language.</a:t>
            </a:r>
          </a:p>
          <a:p>
            <a:pPr fontAlgn="base"/>
            <a:r>
              <a:rPr lang="en-IN" dirty="0"/>
              <a:t>We have to include “</a:t>
            </a:r>
            <a:r>
              <a:rPr lang="en-IN" dirty="0" err="1"/>
              <a:t>stdio.h</a:t>
            </a:r>
            <a:r>
              <a:rPr lang="en-IN" dirty="0"/>
              <a:t>” file as shown in below C program to make use of these </a:t>
            </a:r>
            <a:r>
              <a:rPr lang="en-IN" dirty="0" err="1"/>
              <a:t>printf</a:t>
            </a:r>
            <a:r>
              <a:rPr lang="en-IN" dirty="0"/>
              <a:t>() and </a:t>
            </a:r>
            <a:r>
              <a:rPr lang="en-IN" dirty="0" err="1"/>
              <a:t>scanf</a:t>
            </a:r>
            <a:r>
              <a:rPr lang="en-IN" dirty="0"/>
              <a:t>() library functions in C language.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65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36680"/>
          </a:xfrm>
        </p:spPr>
        <p:txBody>
          <a:bodyPr>
            <a:normAutofit fontScale="90000"/>
          </a:bodyPr>
          <a:lstStyle/>
          <a:p>
            <a:r>
              <a:rPr lang="en-IN" sz="3600" b="1" cap="all" dirty="0"/>
              <a:t>PRINTF() FUNCTION IN C LANGUAGE</a:t>
            </a:r>
            <a:br>
              <a:rPr lang="en-IN" sz="3600" b="1" cap="all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412776"/>
            <a:ext cx="7560840" cy="4741136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IN" b="1" dirty="0"/>
              <a:t>In C programming language, </a:t>
            </a:r>
            <a:r>
              <a:rPr lang="en-IN" b="1" dirty="0" err="1"/>
              <a:t>printf</a:t>
            </a:r>
            <a:r>
              <a:rPr lang="en-IN" b="1" dirty="0"/>
              <a:t>() function is used to print the (“character, string, float, integer, octal and hexadecimal values”) onto the output screen.</a:t>
            </a:r>
          </a:p>
          <a:p>
            <a:pPr fontAlgn="base"/>
            <a:endParaRPr lang="en-IN" b="1" dirty="0"/>
          </a:p>
          <a:p>
            <a:pPr fontAlgn="base"/>
            <a:r>
              <a:rPr lang="en-IN" dirty="0"/>
              <a:t>We use </a:t>
            </a:r>
            <a:r>
              <a:rPr lang="en-IN" dirty="0" err="1"/>
              <a:t>printf</a:t>
            </a:r>
            <a:r>
              <a:rPr lang="en-IN" dirty="0"/>
              <a:t>() function with %d format </a:t>
            </a:r>
            <a:r>
              <a:rPr lang="en-IN" dirty="0" err="1"/>
              <a:t>specifier</a:t>
            </a:r>
            <a:r>
              <a:rPr lang="en-IN" dirty="0"/>
              <a:t> to display the value of an integer variable.</a:t>
            </a:r>
          </a:p>
          <a:p>
            <a:pPr fontAlgn="base"/>
            <a:endParaRPr lang="en-IN" dirty="0"/>
          </a:p>
          <a:p>
            <a:pPr fontAlgn="base"/>
            <a:r>
              <a:rPr lang="en-IN" b="1" dirty="0"/>
              <a:t>Similarly %c is used to display character, %f for float variable, %s for string variable, %lf for double and %x for hexadecimal variable.</a:t>
            </a:r>
          </a:p>
          <a:p>
            <a:pPr fontAlgn="base"/>
            <a:endParaRPr lang="en-IN" b="1" dirty="0"/>
          </a:p>
          <a:p>
            <a:pPr fontAlgn="base"/>
            <a:r>
              <a:rPr lang="en-IN" b="1" dirty="0"/>
              <a:t>C language is case sensitive. </a:t>
            </a:r>
          </a:p>
          <a:p>
            <a:pPr fontAlgn="base"/>
            <a:r>
              <a:rPr lang="en-IN" dirty="0"/>
              <a:t>For example, </a:t>
            </a:r>
            <a:r>
              <a:rPr lang="en-IN" dirty="0" err="1"/>
              <a:t>printf</a:t>
            </a:r>
            <a:r>
              <a:rPr lang="en-IN" dirty="0"/>
              <a:t>() and </a:t>
            </a:r>
            <a:r>
              <a:rPr lang="en-IN" dirty="0" err="1"/>
              <a:t>scanf</a:t>
            </a:r>
            <a:r>
              <a:rPr lang="en-IN" dirty="0"/>
              <a:t>() are different from </a:t>
            </a:r>
            <a:r>
              <a:rPr lang="en-IN" dirty="0" err="1"/>
              <a:t>Printf</a:t>
            </a:r>
            <a:r>
              <a:rPr lang="en-IN" dirty="0"/>
              <a:t>() and </a:t>
            </a:r>
            <a:r>
              <a:rPr lang="en-IN" dirty="0" err="1"/>
              <a:t>Scanf</a:t>
            </a:r>
            <a:r>
              <a:rPr lang="en-IN" dirty="0"/>
              <a:t>(). All characters in </a:t>
            </a:r>
            <a:r>
              <a:rPr lang="en-IN" dirty="0" err="1"/>
              <a:t>printf</a:t>
            </a:r>
            <a:r>
              <a:rPr lang="en-IN" dirty="0"/>
              <a:t>() and </a:t>
            </a:r>
            <a:r>
              <a:rPr lang="en-IN" dirty="0" err="1"/>
              <a:t>scanf</a:t>
            </a:r>
            <a:r>
              <a:rPr lang="en-IN" dirty="0"/>
              <a:t>() functions must be in lower case.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287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664" y="704088"/>
            <a:ext cx="7139136" cy="636680"/>
          </a:xfrm>
        </p:spPr>
        <p:txBody>
          <a:bodyPr>
            <a:normAutofit fontScale="90000"/>
          </a:bodyPr>
          <a:lstStyle/>
          <a:p>
            <a:r>
              <a:rPr lang="en-US" dirty="0"/>
              <a:t>SYNTAX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916832"/>
            <a:ext cx="7643192" cy="4407768"/>
          </a:xfrm>
        </p:spPr>
        <p:txBody>
          <a:bodyPr/>
          <a:lstStyle/>
          <a:p>
            <a:r>
              <a:rPr lang="en-IN" b="1" dirty="0" err="1"/>
              <a:t>printf</a:t>
            </a:r>
            <a:r>
              <a:rPr lang="en-IN" b="1" dirty="0"/>
              <a:t>("format  </a:t>
            </a:r>
            <a:r>
              <a:rPr lang="en-IN" b="1" dirty="0" err="1"/>
              <a:t>speciier</a:t>
            </a:r>
            <a:r>
              <a:rPr lang="en-IN" b="1" dirty="0"/>
              <a:t> + format </a:t>
            </a:r>
            <a:r>
              <a:rPr lang="en-IN" b="1" dirty="0" err="1"/>
              <a:t>strig</a:t>
            </a:r>
            <a:r>
              <a:rPr lang="en-IN" b="1" dirty="0"/>
              <a:t>",</a:t>
            </a:r>
            <a:r>
              <a:rPr lang="en-IN" b="1" dirty="0" err="1"/>
              <a:t>argument_list</a:t>
            </a:r>
            <a:r>
              <a:rPr lang="en-IN" b="1" dirty="0"/>
              <a:t>); </a:t>
            </a:r>
          </a:p>
          <a:p>
            <a:r>
              <a:rPr lang="en-IN" b="1" dirty="0" err="1"/>
              <a:t>printf</a:t>
            </a:r>
            <a:r>
              <a:rPr lang="en-IN" b="1" dirty="0"/>
              <a:t>("format string”); </a:t>
            </a:r>
          </a:p>
          <a:p>
            <a:endParaRPr lang="en-US" b="1" dirty="0"/>
          </a:p>
          <a:p>
            <a:endParaRPr lang="en-IN" dirty="0"/>
          </a:p>
          <a:p>
            <a:r>
              <a:rPr lang="en-IN" dirty="0"/>
              <a:t>The </a:t>
            </a:r>
            <a:r>
              <a:rPr lang="en-IN" b="1" dirty="0"/>
              <a:t>format string</a:t>
            </a:r>
            <a:r>
              <a:rPr lang="en-IN" dirty="0"/>
              <a:t> can be %d (integer), %c (character), %s (string), %f (float) etc.</a:t>
            </a:r>
          </a:p>
        </p:txBody>
      </p:sp>
    </p:spTree>
    <p:extLst>
      <p:ext uri="{BB962C8B-B14F-4D97-AF65-F5344CB8AC3E}">
        <p14:creationId xmlns:p14="http://schemas.microsoft.com/office/powerpoint/2010/main" val="305732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9751" y="2133600"/>
            <a:ext cx="4752529" cy="4175720"/>
          </a:xfrm>
        </p:spPr>
        <p:txBody>
          <a:bodyPr>
            <a:normAutofit fontScale="40000" lnSpcReduction="20000"/>
          </a:bodyPr>
          <a:lstStyle/>
          <a:p>
            <a:pPr fontAlgn="base"/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fontAlgn="base"/>
            <a:r>
              <a:rPr lang="en-US" dirty="0"/>
              <a:t>#include&lt;</a:t>
            </a:r>
            <a:r>
              <a:rPr lang="en-US" dirty="0" err="1"/>
              <a:t>coni.h</a:t>
            </a:r>
            <a:r>
              <a:rPr lang="en-US" dirty="0"/>
              <a:t>&gt;</a:t>
            </a:r>
          </a:p>
          <a:p>
            <a:pPr fontAlgn="base"/>
            <a:endParaRPr lang="en-IN" dirty="0"/>
          </a:p>
          <a:p>
            <a:pPr marL="0" indent="0" fontAlgn="base">
              <a:buNone/>
            </a:pPr>
            <a:r>
              <a:rPr lang="en-IN" b="1" dirty="0"/>
              <a:t> Void </a:t>
            </a:r>
            <a:r>
              <a:rPr lang="en-IN" dirty="0"/>
              <a:t> main()</a:t>
            </a:r>
          </a:p>
          <a:p>
            <a:pPr fontAlgn="base"/>
            <a:r>
              <a:rPr lang="en-IN" dirty="0"/>
              <a:t>{</a:t>
            </a:r>
          </a:p>
          <a:p>
            <a:pPr fontAlgn="base"/>
            <a:r>
              <a:rPr lang="en-IN" dirty="0"/>
              <a:t>   </a:t>
            </a:r>
            <a:r>
              <a:rPr lang="en-IN" b="1" dirty="0"/>
              <a:t>char</a:t>
            </a:r>
            <a:r>
              <a:rPr lang="en-IN" dirty="0"/>
              <a:t> </a:t>
            </a:r>
            <a:r>
              <a:rPr lang="en-IN" dirty="0" err="1"/>
              <a:t>ch</a:t>
            </a:r>
            <a:r>
              <a:rPr lang="en-IN" dirty="0"/>
              <a:t> = 'A';</a:t>
            </a:r>
          </a:p>
          <a:p>
            <a:pPr fontAlgn="base"/>
            <a:r>
              <a:rPr lang="en-IN" dirty="0"/>
              <a:t>   </a:t>
            </a:r>
            <a:r>
              <a:rPr lang="en-IN" b="1" dirty="0"/>
              <a:t>char</a:t>
            </a:r>
            <a:r>
              <a:rPr lang="en-IN" dirty="0"/>
              <a:t> </a:t>
            </a:r>
            <a:r>
              <a:rPr lang="en-IN" dirty="0" err="1"/>
              <a:t>str</a:t>
            </a:r>
            <a:r>
              <a:rPr lang="en-IN" dirty="0"/>
              <a:t>[20] = "fresh2refresh.com";</a:t>
            </a:r>
          </a:p>
          <a:p>
            <a:pPr fontAlgn="base"/>
            <a:r>
              <a:rPr lang="en-IN" dirty="0"/>
              <a:t>   </a:t>
            </a:r>
            <a:r>
              <a:rPr lang="en-IN" b="1" dirty="0"/>
              <a:t>float</a:t>
            </a:r>
            <a:r>
              <a:rPr lang="en-IN" dirty="0"/>
              <a:t> </a:t>
            </a:r>
            <a:r>
              <a:rPr lang="en-IN" dirty="0" err="1"/>
              <a:t>flt</a:t>
            </a:r>
            <a:r>
              <a:rPr lang="en-IN" dirty="0"/>
              <a:t> = 10.234;</a:t>
            </a:r>
          </a:p>
          <a:p>
            <a:pPr fontAlgn="base"/>
            <a:r>
              <a:rPr lang="en-IN" dirty="0"/>
              <a:t>   </a:t>
            </a:r>
            <a:r>
              <a:rPr lang="en-IN" b="1" dirty="0" err="1"/>
              <a:t>int</a:t>
            </a:r>
            <a:r>
              <a:rPr lang="en-IN" dirty="0"/>
              <a:t> no = 150;</a:t>
            </a:r>
          </a:p>
          <a:p>
            <a:pPr fontAlgn="base"/>
            <a:r>
              <a:rPr lang="en-IN" dirty="0"/>
              <a:t>   </a:t>
            </a:r>
            <a:r>
              <a:rPr lang="en-IN" b="1" dirty="0"/>
              <a:t>double</a:t>
            </a:r>
            <a:r>
              <a:rPr lang="en-IN" dirty="0"/>
              <a:t> </a:t>
            </a:r>
            <a:r>
              <a:rPr lang="en-IN" dirty="0" err="1"/>
              <a:t>dbl</a:t>
            </a:r>
            <a:r>
              <a:rPr lang="en-IN" dirty="0"/>
              <a:t> = 20.123456;</a:t>
            </a:r>
          </a:p>
          <a:p>
            <a:pPr fontAlgn="base"/>
            <a:r>
              <a:rPr lang="en-IN" dirty="0"/>
              <a:t>   </a:t>
            </a:r>
            <a:r>
              <a:rPr lang="en-IN" b="1" dirty="0" err="1"/>
              <a:t>printf</a:t>
            </a:r>
            <a:r>
              <a:rPr lang="en-IN" dirty="0"/>
              <a:t>("Character is %c \n", 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  <a:p>
            <a:pPr fontAlgn="base"/>
            <a:r>
              <a:rPr lang="en-IN" dirty="0"/>
              <a:t>   </a:t>
            </a:r>
            <a:r>
              <a:rPr lang="en-IN" b="1" dirty="0" err="1"/>
              <a:t>printf</a:t>
            </a:r>
            <a:r>
              <a:rPr lang="en-IN" dirty="0"/>
              <a:t>("String is %s \n" , </a:t>
            </a:r>
            <a:r>
              <a:rPr lang="en-IN" dirty="0" err="1"/>
              <a:t>str</a:t>
            </a:r>
            <a:r>
              <a:rPr lang="en-IN" dirty="0"/>
              <a:t>);</a:t>
            </a:r>
          </a:p>
          <a:p>
            <a:pPr fontAlgn="base"/>
            <a:r>
              <a:rPr lang="en-IN" dirty="0"/>
              <a:t>   </a:t>
            </a:r>
            <a:r>
              <a:rPr lang="en-IN" b="1" dirty="0" err="1"/>
              <a:t>printf</a:t>
            </a:r>
            <a:r>
              <a:rPr lang="en-IN" dirty="0"/>
              <a:t>("Float value is %f \n", </a:t>
            </a:r>
            <a:r>
              <a:rPr lang="en-IN" dirty="0" err="1"/>
              <a:t>flt</a:t>
            </a:r>
            <a:r>
              <a:rPr lang="en-IN" dirty="0"/>
              <a:t>);</a:t>
            </a:r>
          </a:p>
          <a:p>
            <a:pPr fontAlgn="base"/>
            <a:r>
              <a:rPr lang="en-IN" dirty="0"/>
              <a:t>   </a:t>
            </a:r>
            <a:r>
              <a:rPr lang="en-IN" b="1" dirty="0" err="1"/>
              <a:t>printf</a:t>
            </a:r>
            <a:r>
              <a:rPr lang="en-IN" dirty="0"/>
              <a:t>("Integer value is %d\n" , no);</a:t>
            </a:r>
          </a:p>
          <a:p>
            <a:pPr fontAlgn="base"/>
            <a:r>
              <a:rPr lang="en-IN" dirty="0"/>
              <a:t>   </a:t>
            </a:r>
            <a:r>
              <a:rPr lang="en-IN" b="1" dirty="0" err="1"/>
              <a:t>printf</a:t>
            </a:r>
            <a:r>
              <a:rPr lang="en-IN" dirty="0"/>
              <a:t>("Double value is %lf \n", </a:t>
            </a:r>
            <a:r>
              <a:rPr lang="en-IN" dirty="0" err="1"/>
              <a:t>dbl</a:t>
            </a:r>
            <a:r>
              <a:rPr lang="en-IN" dirty="0"/>
              <a:t>);</a:t>
            </a:r>
          </a:p>
          <a:p>
            <a:pPr fontAlgn="base"/>
            <a:r>
              <a:rPr lang="en-IN" dirty="0"/>
              <a:t>   </a:t>
            </a:r>
            <a:r>
              <a:rPr lang="en-IN" b="1" dirty="0" err="1"/>
              <a:t>printf</a:t>
            </a:r>
            <a:r>
              <a:rPr lang="en-IN" dirty="0"/>
              <a:t>("Octal value is %o \n", no);</a:t>
            </a:r>
          </a:p>
          <a:p>
            <a:pPr fontAlgn="base"/>
            <a:r>
              <a:rPr lang="en-IN" dirty="0"/>
              <a:t>   </a:t>
            </a:r>
            <a:r>
              <a:rPr lang="en-IN" b="1" dirty="0" err="1"/>
              <a:t>printf</a:t>
            </a:r>
            <a:r>
              <a:rPr lang="en-IN" dirty="0"/>
              <a:t>("Hexadecimal value is %x \n", no);</a:t>
            </a:r>
          </a:p>
          <a:p>
            <a:pPr fontAlgn="base"/>
            <a:r>
              <a:rPr lang="en-IN" dirty="0"/>
              <a:t>   }</a:t>
            </a:r>
          </a:p>
        </p:txBody>
      </p:sp>
    </p:spTree>
    <p:extLst>
      <p:ext uri="{BB962C8B-B14F-4D97-AF65-F5344CB8AC3E}">
        <p14:creationId xmlns:p14="http://schemas.microsoft.com/office/powerpoint/2010/main" val="1481130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  <a:p>
            <a:r>
              <a:rPr lang="en-IN" dirty="0"/>
              <a:t>Character is A</a:t>
            </a:r>
            <a:br>
              <a:rPr lang="en-IN" dirty="0"/>
            </a:br>
            <a:r>
              <a:rPr lang="en-IN" dirty="0"/>
              <a:t>String is fresh2refresh.com</a:t>
            </a:r>
            <a:br>
              <a:rPr lang="en-IN" dirty="0"/>
            </a:br>
            <a:r>
              <a:rPr lang="en-IN" dirty="0"/>
              <a:t>Float value is 10.234000</a:t>
            </a:r>
            <a:br>
              <a:rPr lang="en-IN" dirty="0"/>
            </a:br>
            <a:r>
              <a:rPr lang="en-IN" dirty="0"/>
              <a:t>Integer value is 150</a:t>
            </a:r>
            <a:br>
              <a:rPr lang="en-IN" dirty="0"/>
            </a:br>
            <a:r>
              <a:rPr lang="en-IN" dirty="0"/>
              <a:t>Double value is 20.123456</a:t>
            </a:r>
            <a:br>
              <a:rPr lang="en-IN" dirty="0"/>
            </a:br>
            <a:r>
              <a:rPr lang="en-IN" dirty="0"/>
              <a:t>Octal value is 226</a:t>
            </a:r>
            <a:br>
              <a:rPr lang="en-IN" dirty="0"/>
            </a:br>
            <a:r>
              <a:rPr lang="en-IN" dirty="0"/>
              <a:t>Hexadecimal value is 96</a:t>
            </a:r>
          </a:p>
        </p:txBody>
      </p:sp>
    </p:spTree>
    <p:extLst>
      <p:ext uri="{BB962C8B-B14F-4D97-AF65-F5344CB8AC3E}">
        <p14:creationId xmlns:p14="http://schemas.microsoft.com/office/powerpoint/2010/main" val="2206565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IN" dirty="0"/>
              <a:t>You can see the output with the same data which are placed within the double quotes of </a:t>
            </a:r>
            <a:r>
              <a:rPr lang="en-IN" dirty="0" err="1"/>
              <a:t>printf</a:t>
            </a:r>
            <a:r>
              <a:rPr lang="en-IN" dirty="0"/>
              <a:t> statement in the program except</a:t>
            </a:r>
          </a:p>
          <a:p>
            <a:pPr fontAlgn="base"/>
            <a:br>
              <a:rPr lang="en-IN" dirty="0"/>
            </a:br>
            <a:endParaRPr lang="en-IN" dirty="0"/>
          </a:p>
          <a:p>
            <a:pPr fontAlgn="base"/>
            <a:r>
              <a:rPr lang="en-IN" b="1" dirty="0"/>
              <a:t>%d got replaced by value of an integer variable  (no),</a:t>
            </a:r>
          </a:p>
          <a:p>
            <a:pPr fontAlgn="base"/>
            <a:r>
              <a:rPr lang="en-IN" b="1" dirty="0"/>
              <a:t>%c got replaced by value of a character variable  (</a:t>
            </a:r>
            <a:r>
              <a:rPr lang="en-IN" b="1" dirty="0" err="1"/>
              <a:t>ch</a:t>
            </a:r>
            <a:r>
              <a:rPr lang="en-IN" b="1" dirty="0"/>
              <a:t>),</a:t>
            </a:r>
          </a:p>
          <a:p>
            <a:pPr fontAlgn="base"/>
            <a:r>
              <a:rPr lang="en-IN" b="1" dirty="0"/>
              <a:t>%f got replaced by value of a float variable  (</a:t>
            </a:r>
            <a:r>
              <a:rPr lang="en-IN" b="1" dirty="0" err="1"/>
              <a:t>flt</a:t>
            </a:r>
            <a:r>
              <a:rPr lang="en-IN" b="1" dirty="0"/>
              <a:t>),</a:t>
            </a:r>
          </a:p>
          <a:p>
            <a:pPr fontAlgn="base"/>
            <a:r>
              <a:rPr lang="en-IN" dirty="0"/>
              <a:t>%lf got replaced by value of a double variable  (</a:t>
            </a:r>
            <a:r>
              <a:rPr lang="en-IN" dirty="0" err="1"/>
              <a:t>dbl</a:t>
            </a:r>
            <a:r>
              <a:rPr lang="en-IN" dirty="0"/>
              <a:t>),</a:t>
            </a:r>
          </a:p>
          <a:p>
            <a:pPr fontAlgn="base"/>
            <a:r>
              <a:rPr lang="en-IN" dirty="0"/>
              <a:t>%s got replaced by value of a string variable  (</a:t>
            </a:r>
            <a:r>
              <a:rPr lang="en-IN" dirty="0" err="1"/>
              <a:t>str</a:t>
            </a:r>
            <a:r>
              <a:rPr lang="en-IN" dirty="0"/>
              <a:t>),</a:t>
            </a:r>
          </a:p>
          <a:p>
            <a:pPr fontAlgn="base"/>
            <a:r>
              <a:rPr lang="en-IN" dirty="0"/>
              <a:t>%o got replaced by a octal value corresponding to integer variable  (no),</a:t>
            </a:r>
          </a:p>
          <a:p>
            <a:pPr fontAlgn="base"/>
            <a:r>
              <a:rPr lang="en-IN" dirty="0"/>
              <a:t>%x got replaced by a hexadecimal value corresponding to integer variable</a:t>
            </a:r>
          </a:p>
          <a:p>
            <a:pPr fontAlgn="base"/>
            <a:r>
              <a:rPr lang="en-IN" dirty="0"/>
              <a:t>\n got replaced by a newline.</a:t>
            </a:r>
          </a:p>
          <a:p>
            <a:pPr fontAlgn="base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268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9" y="404664"/>
            <a:ext cx="7130752" cy="936104"/>
          </a:xfrm>
        </p:spPr>
        <p:txBody>
          <a:bodyPr>
            <a:normAutofit fontScale="90000"/>
          </a:bodyPr>
          <a:lstStyle/>
          <a:p>
            <a:r>
              <a:rPr lang="en-IN" sz="3600" b="1" cap="all" dirty="0"/>
              <a:t>2. SCANF FUNCTION IN C LANGUAGE:</a:t>
            </a:r>
            <a:br>
              <a:rPr lang="en-IN" sz="3600" b="1" cap="all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1680" y="1556792"/>
            <a:ext cx="6995120" cy="4767808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en-IN" dirty="0"/>
              <a:t>In C programming language, </a:t>
            </a:r>
            <a:r>
              <a:rPr lang="en-IN" dirty="0" err="1"/>
              <a:t>scanf</a:t>
            </a:r>
            <a:r>
              <a:rPr lang="en-IN" dirty="0"/>
              <a:t>() function is used to read character, string, numeric data from keyboard</a:t>
            </a:r>
          </a:p>
          <a:p>
            <a:pPr fontAlgn="base"/>
            <a:endParaRPr lang="en-IN" dirty="0"/>
          </a:p>
          <a:p>
            <a:pPr fontAlgn="base"/>
            <a:r>
              <a:rPr lang="en-IN" dirty="0"/>
              <a:t>Ampersand is used before variable name in </a:t>
            </a:r>
            <a:r>
              <a:rPr lang="en-IN" dirty="0" err="1"/>
              <a:t>scanf</a:t>
            </a:r>
            <a:r>
              <a:rPr lang="en-IN" dirty="0"/>
              <a:t>() statement as </a:t>
            </a:r>
          </a:p>
          <a:p>
            <a:pPr fontAlgn="base"/>
            <a:r>
              <a:rPr lang="en-IN" dirty="0"/>
              <a:t>.</a:t>
            </a:r>
          </a:p>
          <a:p>
            <a:pPr fontAlgn="base"/>
            <a:r>
              <a:rPr lang="en-IN" dirty="0"/>
              <a:t>It is just like in a pointer which is used to point to the variable. For more information about how pointer works, please </a:t>
            </a:r>
          </a:p>
          <a:p>
            <a:pPr fontAlgn="base"/>
            <a:endParaRPr lang="en-IN" b="1" cap="all" dirty="0"/>
          </a:p>
          <a:p>
            <a:pPr fontAlgn="base"/>
            <a:r>
              <a:rPr lang="en-IN" b="1" cap="all" dirty="0"/>
              <a:t>KEY POINTS TO REMEMBER IN C PRINTF() AND SCANF():</a:t>
            </a:r>
          </a:p>
          <a:p>
            <a:pPr fontAlgn="base"/>
            <a:endParaRPr lang="en-IN" b="1" cap="all" dirty="0"/>
          </a:p>
          <a:p>
            <a:pPr fontAlgn="base"/>
            <a:r>
              <a:rPr lang="en-IN" dirty="0" err="1"/>
              <a:t>printf</a:t>
            </a:r>
            <a:r>
              <a:rPr lang="en-IN" dirty="0"/>
              <a:t>() is used to display the output and </a:t>
            </a:r>
            <a:r>
              <a:rPr lang="en-IN" dirty="0" err="1"/>
              <a:t>scanf</a:t>
            </a:r>
            <a:r>
              <a:rPr lang="en-IN" dirty="0"/>
              <a:t>() is used to read the inputs.</a:t>
            </a:r>
          </a:p>
          <a:p>
            <a:pPr fontAlgn="base"/>
            <a:r>
              <a:rPr lang="en-IN" dirty="0" err="1"/>
              <a:t>printf</a:t>
            </a:r>
            <a:r>
              <a:rPr lang="en-IN" dirty="0"/>
              <a:t>() and </a:t>
            </a:r>
            <a:r>
              <a:rPr lang="en-IN" dirty="0" err="1"/>
              <a:t>scanf</a:t>
            </a:r>
            <a:r>
              <a:rPr lang="en-IN" dirty="0"/>
              <a:t>() functions are declared in “</a:t>
            </a:r>
            <a:r>
              <a:rPr lang="en-IN" dirty="0" err="1"/>
              <a:t>stdio.h</a:t>
            </a:r>
            <a:r>
              <a:rPr lang="en-IN" dirty="0"/>
              <a:t>” header file in C library.</a:t>
            </a:r>
          </a:p>
          <a:p>
            <a:pPr fontAlgn="base"/>
            <a:r>
              <a:rPr lang="en-IN" dirty="0"/>
              <a:t>All syntax in C language including </a:t>
            </a:r>
            <a:r>
              <a:rPr lang="en-IN" dirty="0" err="1"/>
              <a:t>printf</a:t>
            </a:r>
            <a:r>
              <a:rPr lang="en-IN" dirty="0"/>
              <a:t>() and </a:t>
            </a:r>
            <a:r>
              <a:rPr lang="en-IN" dirty="0" err="1"/>
              <a:t>scanf</a:t>
            </a:r>
            <a:r>
              <a:rPr lang="en-IN" dirty="0"/>
              <a:t>() functions are case sensitive.</a:t>
            </a:r>
          </a:p>
          <a:p>
            <a:pPr fontAlgn="base"/>
            <a:endParaRPr lang="en-IN" dirty="0"/>
          </a:p>
          <a:p>
            <a:pPr fontAlgn="base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860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sz="2000" b="1" dirty="0" err="1"/>
              <a:t>scanf</a:t>
            </a:r>
            <a:r>
              <a:rPr lang="en-IN" sz="2000" b="1" dirty="0"/>
              <a:t>("format string",&amp; </a:t>
            </a:r>
            <a:r>
              <a:rPr lang="en-IN" sz="2000" b="1" dirty="0" err="1"/>
              <a:t>argument_list</a:t>
            </a:r>
            <a:r>
              <a:rPr lang="en-IN" sz="2000" b="1" dirty="0"/>
              <a:t>); </a:t>
            </a:r>
          </a:p>
          <a:p>
            <a:r>
              <a:rPr lang="en-IN" dirty="0" err="1"/>
              <a:t>scanf</a:t>
            </a:r>
            <a:r>
              <a:rPr lang="en-IN" dirty="0"/>
              <a:t>(“%</a:t>
            </a:r>
            <a:r>
              <a:rPr lang="en-IN" dirty="0" err="1"/>
              <a:t>d%c%f</a:t>
            </a:r>
            <a:r>
              <a:rPr lang="en-IN" dirty="0"/>
              <a:t>”,&amp;</a:t>
            </a:r>
            <a:r>
              <a:rPr lang="en-IN" dirty="0" err="1"/>
              <a:t>a,&amp;b,&amp;c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16222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 Format </a:t>
            </a:r>
            <a:r>
              <a:rPr lang="en-IN" b="1" dirty="0" err="1"/>
              <a:t>Specifier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Format </a:t>
            </a:r>
            <a:r>
              <a:rPr lang="en-IN" dirty="0" err="1"/>
              <a:t>specifier</a:t>
            </a:r>
            <a:r>
              <a:rPr lang="en-IN" dirty="0"/>
              <a:t> is a string used in the formatted input and output functions. The format string determines the format of the input and output. The format string always starts with a '%' character.</a:t>
            </a:r>
          </a:p>
          <a:p>
            <a:r>
              <a:rPr lang="en-IN" b="1" dirty="0"/>
              <a:t>The commonly used format </a:t>
            </a:r>
            <a:r>
              <a:rPr lang="en-IN" b="1" dirty="0" err="1"/>
              <a:t>specifiers</a:t>
            </a:r>
            <a:r>
              <a:rPr lang="en-IN" b="1" dirty="0"/>
              <a:t> in </a:t>
            </a:r>
            <a:r>
              <a:rPr lang="en-IN" b="1" dirty="0" err="1"/>
              <a:t>printf</a:t>
            </a:r>
            <a:r>
              <a:rPr lang="en-IN" b="1" dirty="0"/>
              <a:t>() function are: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440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16658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837564"/>
              </p:ext>
            </p:extLst>
          </p:nvPr>
        </p:nvGraphicFramePr>
        <p:xfrm>
          <a:off x="1835696" y="1412776"/>
          <a:ext cx="6912768" cy="4904262"/>
        </p:xfrm>
        <a:graphic>
          <a:graphicData uri="http://schemas.openxmlformats.org/drawingml/2006/table">
            <a:tbl>
              <a:tblPr/>
              <a:tblGrid>
                <a:gridCol w="1503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6532">
                <a:tc>
                  <a:txBody>
                    <a:bodyPr/>
                    <a:lstStyle/>
                    <a:p>
                      <a:r>
                        <a:rPr lang="en-IN" sz="700" dirty="0"/>
                        <a:t>Format </a:t>
                      </a:r>
                      <a:r>
                        <a:rPr lang="en-IN" sz="700" dirty="0" err="1"/>
                        <a:t>specifier</a:t>
                      </a:r>
                      <a:endParaRPr lang="en-IN" sz="700" dirty="0"/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Description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27">
                <a:tc>
                  <a:txBody>
                    <a:bodyPr/>
                    <a:lstStyle/>
                    <a:p>
                      <a:r>
                        <a:rPr lang="en-IN" sz="700"/>
                        <a:t>%d or %i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 dirty="0"/>
                        <a:t>It is used to print the signed integer value where signed integer means that the variable can hold both positive and negative values.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27">
                <a:tc>
                  <a:txBody>
                    <a:bodyPr/>
                    <a:lstStyle/>
                    <a:p>
                      <a:r>
                        <a:rPr lang="en-IN" sz="700" dirty="0"/>
                        <a:t>%u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 dirty="0"/>
                        <a:t>It is used to print the unsigned integer value where the unsigned integer means that the variable can hold only positive value.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28">
                <a:tc>
                  <a:txBody>
                    <a:bodyPr/>
                    <a:lstStyle/>
                    <a:p>
                      <a:r>
                        <a:rPr lang="en-IN" sz="700"/>
                        <a:t>%o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 dirty="0"/>
                        <a:t>It is used to print the octal unsigned integer where octal integer value always starts with a 0 value.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022">
                <a:tc>
                  <a:txBody>
                    <a:bodyPr/>
                    <a:lstStyle/>
                    <a:p>
                      <a:r>
                        <a:rPr lang="en-IN" sz="700"/>
                        <a:t>%x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 dirty="0"/>
                        <a:t>It is used to print the hexadecimal unsigned integer where the hexadecimal integer value always starts with a 0x value. In this, alphabetical characters are printed in small letters such as a, b, c, etc.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27">
                <a:tc>
                  <a:txBody>
                    <a:bodyPr/>
                    <a:lstStyle/>
                    <a:p>
                      <a:r>
                        <a:rPr lang="en-IN" sz="700"/>
                        <a:t>%X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It is used to print the hexadecimal unsigned integer, but %X prints the alphabetical characters in uppercase such as A, B, C, etc.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28">
                <a:tc>
                  <a:txBody>
                    <a:bodyPr/>
                    <a:lstStyle/>
                    <a:p>
                      <a:r>
                        <a:rPr lang="en-IN" sz="700"/>
                        <a:t>%f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It is used for printing the decimal floating-point values. By default, it prints the 6 values after '.'.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429">
                <a:tc>
                  <a:txBody>
                    <a:bodyPr/>
                    <a:lstStyle/>
                    <a:p>
                      <a:r>
                        <a:rPr lang="en-IN" sz="700"/>
                        <a:t>%e/%E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It is used for scientific notation. It is also known as Mantissa or Exponent. 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2123">
                <a:tc>
                  <a:txBody>
                    <a:bodyPr/>
                    <a:lstStyle/>
                    <a:p>
                      <a:r>
                        <a:rPr lang="en-IN" sz="700"/>
                        <a:t>%g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It is used to print the decimal floating-point values, and it uses the fixed precision, i.e., the value after the decimal in input would be exactly the same as the value in the output.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429">
                <a:tc>
                  <a:txBody>
                    <a:bodyPr/>
                    <a:lstStyle/>
                    <a:p>
                      <a:r>
                        <a:rPr lang="en-IN" sz="700"/>
                        <a:t>%p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It is used to print the address in a hexadecimal form.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429">
                <a:tc>
                  <a:txBody>
                    <a:bodyPr/>
                    <a:lstStyle/>
                    <a:p>
                      <a:r>
                        <a:rPr lang="en-IN" sz="700"/>
                        <a:t>%c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/>
                        <a:t>It is used to print the unsigned character.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6532">
                <a:tc>
                  <a:txBody>
                    <a:bodyPr/>
                    <a:lstStyle/>
                    <a:p>
                      <a:r>
                        <a:rPr lang="en-IN" sz="700"/>
                        <a:t>%s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 dirty="0"/>
                        <a:t>It is used to print the strings.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429">
                <a:tc>
                  <a:txBody>
                    <a:bodyPr/>
                    <a:lstStyle/>
                    <a:p>
                      <a:r>
                        <a:rPr lang="en-IN" sz="700"/>
                        <a:t>%ld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700" dirty="0"/>
                        <a:t>It is used to print the long-signed integer value.</a:t>
                      </a:r>
                    </a:p>
                  </a:txBody>
                  <a:tcPr marL="33765" marR="33765" marT="16882" marB="168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8333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792088"/>
          </a:xfrm>
        </p:spPr>
        <p:txBody>
          <a:bodyPr>
            <a:normAutofit/>
          </a:bodyPr>
          <a:lstStyle/>
          <a:p>
            <a:r>
              <a:rPr lang="en-IN" b="1" dirty="0"/>
              <a:t>Structure of a C program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16362" y="2133600"/>
            <a:ext cx="6444776" cy="377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8621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715200" cy="648072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Escape Sequence in C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5960" y="980728"/>
            <a:ext cx="7560840" cy="5343872"/>
          </a:xfrm>
        </p:spPr>
        <p:txBody>
          <a:bodyPr/>
          <a:lstStyle/>
          <a:p>
            <a:r>
              <a:rPr lang="en-IN" dirty="0"/>
              <a:t>An escape sequence in C language is a sequence of characters that doesn't represent itself when used inside string literal or character.</a:t>
            </a:r>
          </a:p>
          <a:p>
            <a:r>
              <a:rPr lang="en-IN" dirty="0"/>
              <a:t>It is composed of two or more characters starting with backslash \. 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609577"/>
              </p:ext>
            </p:extLst>
          </p:nvPr>
        </p:nvGraphicFramePr>
        <p:xfrm>
          <a:off x="1619672" y="3040897"/>
          <a:ext cx="6552728" cy="34382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Escape Sequence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Meaning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/>
                        <a:t>\a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Alarm or Beep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 b="1" dirty="0"/>
                        <a:t>\b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Backspace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/>
                        <a:t>\f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Form Feed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 b="1" dirty="0"/>
                        <a:t>\n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New Line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/>
                        <a:t>\r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Carriage Return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 b="1" dirty="0"/>
                        <a:t>\t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Tab (Horizontal)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/>
                        <a:t>\v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Vertical Tab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/>
                        <a:t>\\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Backslash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/>
                        <a:t>\'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Single Quote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/>
                        <a:t>\"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Double Quote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516">
                <a:tc>
                  <a:txBody>
                    <a:bodyPr/>
                    <a:lstStyle/>
                    <a:p>
                      <a:r>
                        <a:rPr lang="en-IN" sz="1400"/>
                        <a:t>\?</a:t>
                      </a:r>
                    </a:p>
                  </a:txBody>
                  <a:tcPr marL="73157" marR="73157" marT="36579" marB="3657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Question Mark</a:t>
                      </a:r>
                    </a:p>
                  </a:txBody>
                  <a:tcPr marL="73157" marR="73157" marT="36579" marB="36579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846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Comments in C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648" y="1484784"/>
            <a:ext cx="7283152" cy="483981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Comments in C</a:t>
            </a:r>
          </a:p>
          <a:p>
            <a:r>
              <a:rPr lang="en-IN" dirty="0"/>
              <a:t>Comments in C language are used to provide information about lines of code. It is widely used for documenting code. There are 2 types of comments in the C language.</a:t>
            </a:r>
          </a:p>
          <a:p>
            <a:r>
              <a:rPr lang="en-IN" b="1" dirty="0"/>
              <a:t>Single Line Comments</a:t>
            </a:r>
          </a:p>
          <a:p>
            <a:r>
              <a:rPr lang="en-IN" dirty="0"/>
              <a:t>Single line comments are represented by double slash </a:t>
            </a:r>
          </a:p>
          <a:p>
            <a:r>
              <a:rPr lang="en-US" dirty="0" err="1"/>
              <a:t>E.g</a:t>
            </a:r>
            <a:r>
              <a:rPr lang="en-US" dirty="0"/>
              <a:t> //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Multi-Line Comments</a:t>
            </a:r>
          </a:p>
          <a:p>
            <a:endParaRPr lang="en-IN" dirty="0"/>
          </a:p>
          <a:p>
            <a:r>
              <a:rPr lang="en-IN" dirty="0" err="1"/>
              <a:t>E.g</a:t>
            </a:r>
            <a:r>
              <a:rPr lang="en-IN" dirty="0"/>
              <a:t>   /*  </a:t>
            </a:r>
          </a:p>
          <a:p>
            <a:r>
              <a:rPr lang="en-IN" dirty="0"/>
              <a:t>code </a:t>
            </a:r>
          </a:p>
          <a:p>
            <a:r>
              <a:rPr lang="en-IN" dirty="0"/>
              <a:t>to be commented </a:t>
            </a:r>
          </a:p>
          <a:p>
            <a:r>
              <a:rPr lang="en-IN" dirty="0"/>
              <a:t>*/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440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IN" dirty="0"/>
              <a:t>Variables in C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96752"/>
            <a:ext cx="7715200" cy="512784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 </a:t>
            </a:r>
            <a:r>
              <a:rPr lang="en-IN" b="1" dirty="0"/>
              <a:t>variable</a:t>
            </a:r>
            <a:r>
              <a:rPr lang="en-IN" dirty="0"/>
              <a:t> is a name of the memory location. It is used to store data. Its value can be changed, and it can be reused many times.</a:t>
            </a:r>
          </a:p>
          <a:p>
            <a:r>
              <a:rPr lang="en-IN" dirty="0"/>
              <a:t>It is a way to represent memory location through symbol so that it can be easily identified.</a:t>
            </a:r>
          </a:p>
          <a:p>
            <a:r>
              <a:rPr lang="en-IN" dirty="0"/>
              <a:t>Let's see the syntax to declare a variable:</a:t>
            </a:r>
          </a:p>
          <a:p>
            <a:r>
              <a:rPr lang="en-IN" b="1" dirty="0"/>
              <a:t>type </a:t>
            </a:r>
            <a:r>
              <a:rPr lang="en-IN" b="1" dirty="0" err="1"/>
              <a:t>variable_list</a:t>
            </a:r>
            <a:r>
              <a:rPr lang="en-IN" b="1" dirty="0"/>
              <a:t>; </a:t>
            </a:r>
            <a:r>
              <a:rPr lang="en-IN" dirty="0"/>
              <a:t> </a:t>
            </a:r>
          </a:p>
          <a:p>
            <a:r>
              <a:rPr lang="en-IN" dirty="0"/>
              <a:t>The example of declaring the variable is given below:</a:t>
            </a:r>
          </a:p>
          <a:p>
            <a:pPr marL="0" indent="0">
              <a:buNone/>
            </a:pPr>
            <a:r>
              <a:rPr lang="en-IN" b="1" dirty="0"/>
              <a:t>        -</a:t>
            </a:r>
            <a:r>
              <a:rPr lang="en-US" dirty="0"/>
              <a:t>int  </a:t>
            </a:r>
            <a:r>
              <a:rPr lang="en-US" dirty="0" err="1"/>
              <a:t>roll_no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Int Roll1_;</a:t>
            </a:r>
          </a:p>
          <a:p>
            <a:pPr marL="0" indent="0">
              <a:buNone/>
            </a:pPr>
            <a:r>
              <a:rPr lang="en-US" dirty="0"/>
              <a:t>         char  name  ;</a:t>
            </a:r>
          </a:p>
          <a:p>
            <a:pPr marL="0" indent="0">
              <a:buNone/>
            </a:pPr>
            <a:r>
              <a:rPr lang="en-US" dirty="0"/>
              <a:t>         float  marks ;</a:t>
            </a:r>
          </a:p>
          <a:p>
            <a:r>
              <a:rPr lang="en-IN" dirty="0"/>
              <a:t>Here, </a:t>
            </a:r>
            <a:r>
              <a:rPr lang="en-IN" dirty="0" err="1"/>
              <a:t>roll_no</a:t>
            </a:r>
            <a:r>
              <a:rPr lang="en-IN" dirty="0"/>
              <a:t>, name, marks are variables. </a:t>
            </a:r>
          </a:p>
          <a:p>
            <a:r>
              <a:rPr lang="en-IN" dirty="0"/>
              <a:t>The </a:t>
            </a:r>
            <a:r>
              <a:rPr lang="en-IN" dirty="0" err="1"/>
              <a:t>int</a:t>
            </a:r>
            <a:r>
              <a:rPr lang="en-IN" dirty="0"/>
              <a:t>, float, char are the data types.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33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Rules for defining variables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variable can have alphabets, digits, and underscore.</a:t>
            </a:r>
          </a:p>
          <a:p>
            <a:r>
              <a:rPr lang="en-IN" dirty="0"/>
              <a:t>A variable name can start with the alphabet, and underscore only. It can't start with a digit.</a:t>
            </a:r>
          </a:p>
          <a:p>
            <a:r>
              <a:rPr lang="en-IN" dirty="0"/>
              <a:t>No whitespace is allowed within the variable name.</a:t>
            </a:r>
          </a:p>
          <a:p>
            <a:r>
              <a:rPr lang="en-IN" dirty="0"/>
              <a:t>A variable name must not be any reserved word or keyword, e.g. </a:t>
            </a:r>
            <a:r>
              <a:rPr lang="en-IN" dirty="0" err="1"/>
              <a:t>int</a:t>
            </a:r>
            <a:r>
              <a:rPr lang="en-IN" dirty="0"/>
              <a:t>, float, etc.</a:t>
            </a:r>
          </a:p>
          <a:p>
            <a:r>
              <a:rPr lang="en-US" dirty="0"/>
              <a:t>A variable name does not contain the special symbol like</a:t>
            </a:r>
          </a:p>
          <a:p>
            <a:r>
              <a:rPr lang="en-US" dirty="0" err="1"/>
              <a:t>E.g</a:t>
            </a:r>
            <a:r>
              <a:rPr lang="en-US" dirty="0"/>
              <a:t> #,$,*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1902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92088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Tokens in C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12776"/>
            <a:ext cx="7344816" cy="4911824"/>
          </a:xfrm>
        </p:spPr>
        <p:txBody>
          <a:bodyPr/>
          <a:lstStyle/>
          <a:p>
            <a:r>
              <a:rPr lang="en-IN" sz="2000" dirty="0"/>
              <a:t>Tokens in C is the most important element to be used in creating a program in C. </a:t>
            </a:r>
          </a:p>
          <a:p>
            <a:r>
              <a:rPr lang="en-IN" sz="2000" dirty="0"/>
              <a:t>We can define the token as the smallest individual element in C. </a:t>
            </a:r>
          </a:p>
          <a:p>
            <a:r>
              <a:rPr lang="en-IN" sz="2000" dirty="0"/>
              <a:t>For `example, we cannot create a sentence without using words; similarly, we cannot create a program in C without using tokens in C. Therefore, we can say that tokens in C is the building block or the basic component for creating a </a:t>
            </a:r>
            <a:r>
              <a:rPr lang="en-IN" sz="2000" dirty="0">
                <a:hlinkClick r:id="rId2"/>
              </a:rPr>
              <a:t>program in C language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8142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E0D2-17F2-4968-AD0F-2B32EA89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8712D3-489D-4C11-BEAF-60C946D78B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451100"/>
            <a:ext cx="6476578" cy="314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6093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Keywords in C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keyword is a </a:t>
            </a:r>
            <a:r>
              <a:rPr lang="en-IN" b="1" dirty="0"/>
              <a:t>reserved word</a:t>
            </a:r>
            <a:r>
              <a:rPr lang="en-IN" dirty="0"/>
              <a:t>. You cannot use it as a variable name, constant name, etc. </a:t>
            </a:r>
          </a:p>
          <a:p>
            <a:r>
              <a:rPr lang="en-IN" dirty="0"/>
              <a:t>There are only 32 reserved words (keywords) in the C language.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1730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81942"/>
              </p:ext>
            </p:extLst>
          </p:nvPr>
        </p:nvGraphicFramePr>
        <p:xfrm>
          <a:off x="539552" y="2564904"/>
          <a:ext cx="8219256" cy="27434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1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5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15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81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1583">
                <a:tc>
                  <a:txBody>
                    <a:bodyPr/>
                    <a:lstStyle/>
                    <a:p>
                      <a:r>
                        <a:rPr lang="en-IN" dirty="0"/>
                        <a:t>auto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const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continue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904">
                <a:tc>
                  <a:txBody>
                    <a:bodyPr/>
                    <a:lstStyle/>
                    <a:p>
                      <a:r>
                        <a:rPr lang="en-IN"/>
                        <a:t>double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else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enum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 </a:t>
                      </a:r>
                      <a:r>
                        <a:rPr lang="en-IN" dirty="0" err="1"/>
                        <a:t>oto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904">
                <a:tc>
                  <a:txBody>
                    <a:bodyPr/>
                    <a:lstStyle/>
                    <a:p>
                      <a:r>
                        <a:rPr lang="en-IN" dirty="0" err="1"/>
                        <a:t>int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sizeof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904">
                <a:tc>
                  <a:txBody>
                    <a:bodyPr/>
                    <a:lstStyle/>
                    <a:p>
                      <a:r>
                        <a:rPr lang="en-IN"/>
                        <a:t>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typedef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unsignd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volatile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3558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88640"/>
            <a:ext cx="7067128" cy="115212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 Identifiers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556792"/>
            <a:ext cx="7355160" cy="4767808"/>
          </a:xfrm>
        </p:spPr>
        <p:txBody>
          <a:bodyPr>
            <a:normAutofit/>
          </a:bodyPr>
          <a:lstStyle/>
          <a:p>
            <a:r>
              <a:rPr lang="en-IN" dirty="0"/>
              <a:t>C identifiers represent the name in the C program, for example, variables, functions, arrays, structures, unions, labels, etc. </a:t>
            </a:r>
          </a:p>
          <a:p>
            <a:r>
              <a:rPr lang="en-IN" dirty="0"/>
              <a:t>An identifier can be composed of letters such as uppercase, lowercase letters, underscore, digits, but the starting letter should be either an alphabet or an underscore. </a:t>
            </a:r>
          </a:p>
          <a:p>
            <a:r>
              <a:rPr lang="en-US" dirty="0" err="1"/>
              <a:t>E.g</a:t>
            </a:r>
            <a:r>
              <a:rPr lang="en-US" dirty="0"/>
              <a:t>   </a:t>
            </a:r>
            <a:r>
              <a:rPr lang="en-US" dirty="0" err="1"/>
              <a:t>er,Lr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65544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548680"/>
            <a:ext cx="7571184" cy="720080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Rules for constructing C identifiers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1680" y="1556792"/>
            <a:ext cx="7128792" cy="476780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The first character of an identifier should be either an alphabet or an underscore, and then it can be followed by any of the character, digit, or underscore.</a:t>
            </a:r>
          </a:p>
          <a:p>
            <a:r>
              <a:rPr lang="en-IN" dirty="0"/>
              <a:t>int </a:t>
            </a:r>
            <a:r>
              <a:rPr lang="en-IN" dirty="0" err="1"/>
              <a:t>roll_no</a:t>
            </a:r>
            <a:r>
              <a:rPr lang="en-IN" dirty="0"/>
              <a:t>;</a:t>
            </a:r>
          </a:p>
          <a:p>
            <a:r>
              <a:rPr lang="en-IN" dirty="0"/>
              <a:t>It should not begin with any numerical digit.</a:t>
            </a:r>
          </a:p>
          <a:p>
            <a:r>
              <a:rPr lang="en-IN" dirty="0"/>
              <a:t>In identifiers, both uppercase and lowercase letters are distinct. Therefore, we can say that identifiers are case sensitive.</a:t>
            </a:r>
          </a:p>
          <a:p>
            <a:r>
              <a:rPr lang="en-IN" dirty="0"/>
              <a:t>Commas or blank spaces cannot be specified within an identifier.</a:t>
            </a:r>
          </a:p>
          <a:p>
            <a:r>
              <a:rPr lang="en-IN" dirty="0"/>
              <a:t>Keywords cannot be represented as an identifier.</a:t>
            </a:r>
          </a:p>
          <a:p>
            <a:r>
              <a:rPr lang="en-IN" dirty="0"/>
              <a:t>The length of the identifiers should not be more than 31 characters.</a:t>
            </a:r>
          </a:p>
          <a:p>
            <a:r>
              <a:rPr lang="en-IN" dirty="0"/>
              <a:t>Identifiers should be written in such a way that it is meaningful, short, and easy to read.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671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646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        Constants in 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432" y="1529408"/>
            <a:ext cx="8229600" cy="5328592"/>
          </a:xfrm>
        </p:spPr>
        <p:txBody>
          <a:bodyPr/>
          <a:lstStyle/>
          <a:p>
            <a:r>
              <a:rPr lang="en-IN" dirty="0"/>
              <a:t>A constant is a value assigned to the variable which will remain the same throughout the program, i.e., the constant value cannot be changed.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426635"/>
              </p:ext>
            </p:extLst>
          </p:nvPr>
        </p:nvGraphicFramePr>
        <p:xfrm>
          <a:off x="1547664" y="3573016"/>
          <a:ext cx="7139136" cy="2560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69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9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Integer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10, 11, 34,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Floating-point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45.6, 67.8, 11.2,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Octal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011, 088, 022,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Hexadecimal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0x1a, 0x4b, 0x6b,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Character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'a', 'b', 'c',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String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"java", "</a:t>
                      </a:r>
                      <a:r>
                        <a:rPr lang="en-IN" dirty="0" err="1"/>
                        <a:t>c++</a:t>
                      </a:r>
                      <a:r>
                        <a:rPr lang="en-IN" dirty="0"/>
                        <a:t>", "</a:t>
                      </a:r>
                      <a:r>
                        <a:rPr lang="en-IN" dirty="0" err="1"/>
                        <a:t>.net</a:t>
                      </a:r>
                      <a:r>
                        <a:rPr lang="en-IN" dirty="0"/>
                        <a:t>",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2754998"/>
            <a:ext cx="25922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effectLst/>
                <a:latin typeface="Arial" charset="0"/>
                <a:cs typeface="Arial" charset="0"/>
              </a:rPr>
              <a:t>Types of    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effectLst/>
                <a:latin typeface="Arial" charset="0"/>
                <a:cs typeface="Arial" charset="0"/>
                <a:hlinkClick r:id="rId2"/>
              </a:rPr>
              <a:t>constants in C</a:t>
            </a:r>
            <a:endParaRPr kumimoji="0" lang="en-US" sz="1800" b="1" i="0" u="none" strike="noStrike" cap="none" normalizeH="0" baseline="0" dirty="0">
              <a:ln>
                <a:noFill/>
              </a:ln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7174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conio.h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void main()</a:t>
            </a:r>
          </a:p>
          <a:p>
            <a:pPr marL="0" indent="0">
              <a:buNone/>
            </a:pPr>
            <a:r>
              <a:rPr lang="en-IN" dirty="0"/>
              <a:t>{ 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a=3,b=4;       //Declaration with </a:t>
            </a:r>
            <a:r>
              <a:rPr lang="en-IN" dirty="0" err="1"/>
              <a:t>intialization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   char   g=‘a’;             body</a:t>
            </a:r>
          </a:p>
          <a:p>
            <a:pPr marL="0" indent="0">
              <a:buNone/>
            </a:pPr>
            <a:r>
              <a:rPr lang="en-US" dirty="0"/>
              <a:t>    float   f=3.4;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IN" dirty="0"/>
              <a:t> }</a:t>
            </a:r>
          </a:p>
        </p:txBody>
      </p:sp>
      <p:sp>
        <p:nvSpPr>
          <p:cNvPr id="6" name="Right Brace 5"/>
          <p:cNvSpPr/>
          <p:nvPr/>
        </p:nvSpPr>
        <p:spPr>
          <a:xfrm>
            <a:off x="2627784" y="4149080"/>
            <a:ext cx="288032" cy="11521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62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476672"/>
            <a:ext cx="7643192" cy="576064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Special characters in C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1628800"/>
            <a:ext cx="7427168" cy="5112568"/>
          </a:xfrm>
        </p:spPr>
        <p:txBody>
          <a:bodyPr>
            <a:normAutofit/>
          </a:bodyPr>
          <a:lstStyle/>
          <a:p>
            <a:r>
              <a:rPr lang="en-IN" b="1" dirty="0"/>
              <a:t>Square brackets [ ]:</a:t>
            </a:r>
            <a:r>
              <a:rPr lang="en-IN" dirty="0"/>
              <a:t> The opening and closing brackets represent the single and multidimensional subscripts.</a:t>
            </a:r>
          </a:p>
          <a:p>
            <a:r>
              <a:rPr lang="en-IN" b="1" dirty="0"/>
              <a:t>Simple brackets ( ):</a:t>
            </a:r>
            <a:r>
              <a:rPr lang="en-IN" dirty="0"/>
              <a:t> It is used in function declaration and function calling. For example, </a:t>
            </a:r>
            <a:r>
              <a:rPr lang="en-IN" dirty="0" err="1"/>
              <a:t>printf</a:t>
            </a:r>
            <a:r>
              <a:rPr lang="en-IN" dirty="0"/>
              <a:t>() is a pre-defined function.</a:t>
            </a:r>
          </a:p>
          <a:p>
            <a:r>
              <a:rPr lang="en-IN" b="1" dirty="0"/>
              <a:t>Curly braces { }:</a:t>
            </a:r>
            <a:r>
              <a:rPr lang="en-IN" dirty="0"/>
              <a:t> It is used in the opening and closing of the code. It is used in the opening and closing of the loops. </a:t>
            </a:r>
          </a:p>
          <a:p>
            <a:r>
              <a:rPr lang="en-IN" b="1" dirty="0"/>
              <a:t>Comma (,):</a:t>
            </a:r>
            <a:r>
              <a:rPr lang="en-IN" dirty="0"/>
              <a:t> It is used for separating for more than one statement and for example, separating function parameters in a function call, </a:t>
            </a:r>
            <a:r>
              <a:rPr lang="en-IN" b="1" dirty="0"/>
              <a:t>separating the variable when printing the value of more than one variable using a single </a:t>
            </a:r>
            <a:r>
              <a:rPr lang="en-IN" b="1" dirty="0" err="1"/>
              <a:t>printf</a:t>
            </a:r>
            <a:r>
              <a:rPr lang="en-IN" b="1" dirty="0"/>
              <a:t> statement. </a:t>
            </a:r>
          </a:p>
        </p:txBody>
      </p:sp>
    </p:spTree>
    <p:extLst>
      <p:ext uri="{BB962C8B-B14F-4D97-AF65-F5344CB8AC3E}">
        <p14:creationId xmlns:p14="http://schemas.microsoft.com/office/powerpoint/2010/main" val="401890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Special characters in C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556792"/>
            <a:ext cx="6589199" cy="4104456"/>
          </a:xfrm>
        </p:spPr>
        <p:txBody>
          <a:bodyPr/>
          <a:lstStyle/>
          <a:p>
            <a:r>
              <a:rPr lang="en-IN" b="1" dirty="0"/>
              <a:t>Hash/pre-processor (#):</a:t>
            </a:r>
            <a:r>
              <a:rPr lang="en-IN" dirty="0"/>
              <a:t> It is used for pre-processor directive. It basically denotes that we are using the header file.</a:t>
            </a:r>
          </a:p>
          <a:p>
            <a:r>
              <a:rPr lang="en-IN" b="1" dirty="0"/>
              <a:t>Asterisk (*):</a:t>
            </a:r>
            <a:r>
              <a:rPr lang="en-IN" dirty="0"/>
              <a:t> This symbol is used to represent pointers and also used as an operator for multiplication.</a:t>
            </a:r>
          </a:p>
          <a:p>
            <a:r>
              <a:rPr lang="en-IN" b="1" dirty="0"/>
              <a:t>Tilde (~):</a:t>
            </a:r>
            <a:r>
              <a:rPr lang="en-IN" dirty="0"/>
              <a:t> It is used as a destructor to free memory.</a:t>
            </a:r>
          </a:p>
          <a:p>
            <a:r>
              <a:rPr lang="en-IN" b="1" dirty="0"/>
              <a:t>Period (.):</a:t>
            </a:r>
            <a:r>
              <a:rPr lang="en-IN" dirty="0"/>
              <a:t> It is used to access a member of a structure or a union.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42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04664"/>
            <a:ext cx="7355160" cy="50405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Strings in 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124744"/>
            <a:ext cx="7776864" cy="5256584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Strings are nothing but an array of characters ended with a null character (‘\0’). </a:t>
            </a:r>
          </a:p>
          <a:p>
            <a:r>
              <a:rPr lang="en-IN" dirty="0" err="1"/>
              <a:t>Eg</a:t>
            </a:r>
            <a:r>
              <a:rPr lang="en-IN" dirty="0"/>
              <a:t> .ram\0</a:t>
            </a:r>
          </a:p>
          <a:p>
            <a:r>
              <a:rPr lang="en-IN" dirty="0"/>
              <a:t>This null character indicates the end of the string. Strings are always enclosed in double-quotes. </a:t>
            </a:r>
          </a:p>
          <a:p>
            <a:r>
              <a:rPr lang="en-IN" dirty="0"/>
              <a:t>Char ‘a’</a:t>
            </a:r>
          </a:p>
          <a:p>
            <a:r>
              <a:rPr lang="en-IN" dirty="0"/>
              <a:t>Char </a:t>
            </a:r>
          </a:p>
          <a:p>
            <a:r>
              <a:rPr lang="en-IN" dirty="0"/>
              <a:t>Whereas, a character is enclosed in single quotes in C.</a:t>
            </a:r>
          </a:p>
          <a:p>
            <a:pPr marL="0" indent="0">
              <a:buNone/>
            </a:pPr>
            <a:r>
              <a:rPr lang="en-IN" b="1" dirty="0"/>
              <a:t>Declarations for String:</a:t>
            </a:r>
            <a:r>
              <a:rPr lang="en-IN" dirty="0"/>
              <a:t> </a:t>
            </a:r>
            <a:br>
              <a:rPr lang="en-IN" dirty="0"/>
            </a:br>
            <a:r>
              <a:rPr lang="en-IN" dirty="0"/>
              <a:t> </a:t>
            </a:r>
          </a:p>
          <a:p>
            <a:r>
              <a:rPr lang="en-IN" dirty="0"/>
              <a:t>char roll[23] = {‘g’, ’e’, ‘e’, ‘k’, ‘s’, ‘f’, ‘o’, ‘r’, ‘g’, ’e’, ‘e’,\0 ‘k’, ‘s’, ‘\0’};</a:t>
            </a:r>
          </a:p>
          <a:p>
            <a:r>
              <a:rPr lang="en-IN" dirty="0"/>
              <a:t>30</a:t>
            </a:r>
          </a:p>
          <a:p>
            <a:r>
              <a:rPr lang="en-IN" dirty="0"/>
              <a:t>Ramm=20 </a:t>
            </a:r>
          </a:p>
          <a:p>
            <a:r>
              <a:rPr lang="en-IN" dirty="0"/>
              <a:t>char string[20] = “</a:t>
            </a:r>
            <a:r>
              <a:rPr lang="en-IN" dirty="0" err="1"/>
              <a:t>geeksforgeeks</a:t>
            </a:r>
            <a:r>
              <a:rPr lang="en-IN" dirty="0"/>
              <a:t>”;</a:t>
            </a:r>
          </a:p>
          <a:p>
            <a:r>
              <a:rPr lang="en-IN" dirty="0"/>
              <a:t>char string [] = “</a:t>
            </a:r>
            <a:r>
              <a:rPr lang="en-IN" dirty="0" err="1"/>
              <a:t>geeksforgeeks</a:t>
            </a:r>
            <a:r>
              <a:rPr lang="en-IN" dirty="0"/>
              <a:t>\0”;</a:t>
            </a:r>
          </a:p>
          <a:p>
            <a:r>
              <a:rPr lang="en-IN" dirty="0"/>
              <a:t>when we declare char as “string[20]”, 20 bytes of memory space is allocated for holding the string value.</a:t>
            </a:r>
          </a:p>
          <a:p>
            <a:r>
              <a:rPr lang="en-IN" dirty="0"/>
              <a:t>When we declare char as “string[]”, memory space will be allocated as per the requirement during the execution of the program.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04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476672"/>
            <a:ext cx="7293496" cy="43204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Operators in 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484784"/>
            <a:ext cx="7643192" cy="483981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Operators in C </a:t>
            </a:r>
            <a:r>
              <a:rPr lang="en-IN" dirty="0"/>
              <a:t>is a special symbol used to perform the functions. </a:t>
            </a:r>
          </a:p>
          <a:p>
            <a:pPr marL="0" indent="0">
              <a:buNone/>
            </a:pPr>
            <a:r>
              <a:rPr lang="en-IN" dirty="0"/>
              <a:t>The data items on which the operators are applied are known as operands. </a:t>
            </a:r>
          </a:p>
          <a:p>
            <a:pPr marL="0" indent="0">
              <a:buNone/>
            </a:pPr>
            <a:r>
              <a:rPr lang="en-IN" dirty="0"/>
              <a:t>Operators are applied between the operands. </a:t>
            </a:r>
          </a:p>
          <a:p>
            <a:pPr marL="0" indent="0">
              <a:buNone/>
            </a:pPr>
            <a:r>
              <a:rPr lang="en-IN" dirty="0"/>
              <a:t>Depending on the number of operands, operators are classified as follows:</a:t>
            </a:r>
          </a:p>
          <a:p>
            <a:pPr marL="0" indent="0">
              <a:buNone/>
            </a:pPr>
            <a:r>
              <a:rPr lang="en-IN" dirty="0"/>
              <a:t>              </a:t>
            </a:r>
            <a:r>
              <a:rPr lang="en-IN" dirty="0" err="1"/>
              <a:t>e.g</a:t>
            </a:r>
            <a:r>
              <a:rPr lang="en-IN" dirty="0"/>
              <a:t>    A +  b  /4+ 6</a:t>
            </a:r>
          </a:p>
          <a:p>
            <a:r>
              <a:rPr lang="en-IN" b="1" dirty="0"/>
              <a:t>Binary Operator</a:t>
            </a:r>
          </a:p>
          <a:p>
            <a:r>
              <a:rPr lang="en-IN" b="1" dirty="0"/>
              <a:t>Unary Operator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869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628800"/>
            <a:ext cx="7355160" cy="46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Binary Operator</a:t>
            </a:r>
            <a:endParaRPr lang="en-IN" dirty="0"/>
          </a:p>
          <a:p>
            <a:r>
              <a:rPr lang="en-IN" dirty="0"/>
              <a:t>The binary operator is an operator applied between two operands. </a:t>
            </a:r>
          </a:p>
          <a:p>
            <a:pPr marL="0" indent="0">
              <a:buNone/>
            </a:pPr>
            <a:r>
              <a:rPr lang="en-IN" dirty="0"/>
              <a:t>The following is the list of the binary operators:</a:t>
            </a:r>
          </a:p>
          <a:p>
            <a:r>
              <a:rPr lang="en-IN" dirty="0"/>
              <a:t>Arithmetic Operators</a:t>
            </a:r>
          </a:p>
          <a:p>
            <a:r>
              <a:rPr lang="en-IN" dirty="0"/>
              <a:t>Relational Operators</a:t>
            </a:r>
          </a:p>
          <a:p>
            <a:r>
              <a:rPr lang="en-IN" dirty="0"/>
              <a:t>Shift Operators</a:t>
            </a:r>
          </a:p>
          <a:p>
            <a:r>
              <a:rPr lang="en-IN" dirty="0"/>
              <a:t>Logical Operators</a:t>
            </a:r>
          </a:p>
          <a:p>
            <a:r>
              <a:rPr lang="en-IN" dirty="0"/>
              <a:t>Bitwise Operators</a:t>
            </a:r>
          </a:p>
          <a:p>
            <a:r>
              <a:rPr lang="en-IN" dirty="0"/>
              <a:t>Conditional Operators</a:t>
            </a:r>
          </a:p>
          <a:p>
            <a:r>
              <a:rPr lang="en-IN" dirty="0"/>
              <a:t>Assignment Operator</a:t>
            </a:r>
          </a:p>
          <a:p>
            <a:r>
              <a:rPr lang="en-IN" dirty="0" err="1"/>
              <a:t>Misc</a:t>
            </a:r>
            <a:r>
              <a:rPr lang="en-IN" dirty="0"/>
              <a:t> Operator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85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Unary Operator</a:t>
            </a:r>
            <a:endParaRPr lang="en-IN" dirty="0"/>
          </a:p>
          <a:p>
            <a:r>
              <a:rPr lang="en-IN" dirty="0"/>
              <a:t>A unary operator is an operator applied to the single operand. </a:t>
            </a:r>
          </a:p>
          <a:p>
            <a:r>
              <a:rPr lang="en-IN" dirty="0"/>
              <a:t>For example: </a:t>
            </a:r>
          </a:p>
          <a:p>
            <a:r>
              <a:rPr lang="en-IN" dirty="0"/>
              <a:t>increment operator (++), </a:t>
            </a:r>
          </a:p>
          <a:p>
            <a:r>
              <a:rPr lang="en-IN" dirty="0"/>
              <a:t>decrement operator (--), </a:t>
            </a:r>
          </a:p>
          <a:p>
            <a:r>
              <a:rPr lang="en-IN" dirty="0" err="1"/>
              <a:t>sizeof</a:t>
            </a:r>
            <a:r>
              <a:rPr lang="en-IN" dirty="0"/>
              <a:t>, (type)*.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5819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Arithmetic Operators in C: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/>
          <a:lstStyle/>
          <a:p>
            <a:r>
              <a:rPr lang="en-IN" dirty="0"/>
              <a:t>C Arithmetic operators are used to perform mathematical calculations like addition, subtraction, multiplication, division and modulus in C programs.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91640" y="2895441"/>
          <a:ext cx="5760720" cy="2468880"/>
        </p:xfrm>
        <a:graphic>
          <a:graphicData uri="http://schemas.openxmlformats.org/drawingml/2006/table">
            <a:tbl>
              <a:tblPr/>
              <a:tblGrid>
                <a:gridCol w="3587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effectLst/>
                        </a:rPr>
                        <a:t>Arithmetic Operators/Operation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effectLst/>
                        </a:rPr>
                        <a:t>Example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+ (Addition)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A+B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– (Subtraction)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A-B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* (multiplication)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A*B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/ (Division)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A/B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% (Modulus)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A%B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930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665" y="2133600"/>
            <a:ext cx="6986736" cy="467977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Void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   int a=40,b=20, </a:t>
            </a:r>
            <a:r>
              <a:rPr lang="en-IN" dirty="0" err="1"/>
              <a:t>add,sub,mul,div,mod</a:t>
            </a:r>
            <a:r>
              <a:rPr lang="en-IN" dirty="0"/>
              <a:t>;</a:t>
            </a:r>
          </a:p>
          <a:p>
            <a:r>
              <a:rPr lang="en-IN" dirty="0"/>
              <a:t>   add = </a:t>
            </a:r>
            <a:r>
              <a:rPr lang="en-IN" dirty="0" err="1"/>
              <a:t>a+b</a:t>
            </a:r>
            <a:r>
              <a:rPr lang="en-IN" dirty="0"/>
              <a:t>;</a:t>
            </a:r>
          </a:p>
          <a:p>
            <a:r>
              <a:rPr lang="en-IN" dirty="0"/>
              <a:t>   sub = a-b;</a:t>
            </a:r>
          </a:p>
          <a:p>
            <a:r>
              <a:rPr lang="en-IN" dirty="0"/>
              <a:t>   </a:t>
            </a:r>
            <a:r>
              <a:rPr lang="en-IN" dirty="0" err="1"/>
              <a:t>mul</a:t>
            </a:r>
            <a:r>
              <a:rPr lang="en-IN" dirty="0"/>
              <a:t> = a*b;</a:t>
            </a:r>
          </a:p>
          <a:p>
            <a:r>
              <a:rPr lang="en-IN" dirty="0"/>
              <a:t>   div = a/b;</a:t>
            </a:r>
          </a:p>
          <a:p>
            <a:r>
              <a:rPr lang="en-IN" dirty="0"/>
              <a:t>   mod = </a:t>
            </a:r>
            <a:r>
              <a:rPr lang="en-IN" dirty="0" err="1"/>
              <a:t>a%b</a:t>
            </a:r>
            <a:r>
              <a:rPr lang="en-IN" dirty="0"/>
              <a:t>;</a:t>
            </a:r>
          </a:p>
          <a:p>
            <a:r>
              <a:rPr lang="en-IN" dirty="0"/>
              <a:t>   </a:t>
            </a:r>
            <a:r>
              <a:rPr lang="en-IN" dirty="0" err="1"/>
              <a:t>printf</a:t>
            </a:r>
            <a:r>
              <a:rPr lang="en-IN" dirty="0"/>
              <a:t>("Addition of a, b is : %d\n", add);</a:t>
            </a:r>
          </a:p>
          <a:p>
            <a:r>
              <a:rPr lang="en-IN" dirty="0"/>
              <a:t>   </a:t>
            </a:r>
            <a:r>
              <a:rPr lang="en-IN" dirty="0" err="1"/>
              <a:t>printf</a:t>
            </a:r>
            <a:r>
              <a:rPr lang="en-IN" dirty="0"/>
              <a:t>("Subtraction of a, b is : %d\n", sub);</a:t>
            </a:r>
          </a:p>
          <a:p>
            <a:r>
              <a:rPr lang="en-IN" dirty="0"/>
              <a:t>   </a:t>
            </a:r>
            <a:r>
              <a:rPr lang="en-IN" dirty="0" err="1"/>
              <a:t>printf</a:t>
            </a:r>
            <a:r>
              <a:rPr lang="en-IN" dirty="0"/>
              <a:t>("Multiplication of a, b is : %d\n", </a:t>
            </a:r>
            <a:r>
              <a:rPr lang="en-IN" dirty="0" err="1"/>
              <a:t>mul</a:t>
            </a:r>
            <a:r>
              <a:rPr lang="en-IN" dirty="0"/>
              <a:t>);</a:t>
            </a:r>
          </a:p>
          <a:p>
            <a:r>
              <a:rPr lang="en-IN" dirty="0"/>
              <a:t>   </a:t>
            </a:r>
            <a:r>
              <a:rPr lang="en-IN" dirty="0" err="1"/>
              <a:t>printf</a:t>
            </a:r>
            <a:r>
              <a:rPr lang="en-IN" dirty="0"/>
              <a:t>("Division of a, b is : %d\n", div);</a:t>
            </a:r>
          </a:p>
          <a:p>
            <a:r>
              <a:rPr lang="en-IN" dirty="0"/>
              <a:t>   </a:t>
            </a:r>
            <a:r>
              <a:rPr lang="en-IN" dirty="0" err="1"/>
              <a:t>printf</a:t>
            </a:r>
            <a:r>
              <a:rPr lang="en-IN" dirty="0"/>
              <a:t>("Modulus of a, b is : %d\n", mod);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2369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704088"/>
            <a:ext cx="7643192" cy="780696"/>
          </a:xfrm>
        </p:spPr>
        <p:txBody>
          <a:bodyPr>
            <a:noAutofit/>
          </a:bodyPr>
          <a:lstStyle/>
          <a:p>
            <a:r>
              <a:rPr lang="en-IN" b="1" dirty="0"/>
              <a:t>Assignment </a:t>
            </a:r>
            <a:r>
              <a:rPr lang="en-IN" sz="3600" b="1" dirty="0"/>
              <a:t>operators in C: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672" y="1700808"/>
            <a:ext cx="6768752" cy="4453104"/>
          </a:xfrm>
        </p:spPr>
        <p:txBody>
          <a:bodyPr/>
          <a:lstStyle/>
          <a:p>
            <a:r>
              <a:rPr lang="en-IN" dirty="0"/>
              <a:t>In C programs, values for the variables are assigned using assignment operators.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    int a=4,b=6;</a:t>
            </a:r>
          </a:p>
          <a:p>
            <a:r>
              <a:rPr lang="en-IN" dirty="0"/>
              <a:t>For example, if the value “10” is to be assigned for the variable “sum”, it can be assigned as “sum = 10;”</a:t>
            </a:r>
          </a:p>
          <a:p>
            <a:r>
              <a:rPr lang="en-IN" dirty="0"/>
              <a:t>There are 2 categories of assignment operators in C language. They are,</a:t>
            </a:r>
            <a:br>
              <a:rPr lang="en-IN" dirty="0"/>
            </a:br>
            <a:r>
              <a:rPr lang="en-IN" dirty="0"/>
              <a:t>1. Simple assignment operator ( Example: = )</a:t>
            </a:r>
            <a:br>
              <a:rPr lang="en-IN" dirty="0"/>
            </a:br>
            <a:r>
              <a:rPr lang="en-IN" dirty="0"/>
              <a:t>2. Compound assignment operators ( Example: +=, -=, *=, /=, %=, &amp;=, ^= 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9951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7606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3030402"/>
              </p:ext>
            </p:extLst>
          </p:nvPr>
        </p:nvGraphicFramePr>
        <p:xfrm>
          <a:off x="1259632" y="1196752"/>
          <a:ext cx="5946030" cy="5328592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857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Operators</a:t>
                      </a:r>
                      <a:endParaRPr lang="en-IN" sz="1400" dirty="0">
                        <a:effectLst/>
                      </a:endParaRP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00000"/>
                          </a:solidFill>
                          <a:effectLst/>
                        </a:rPr>
                        <a:t>Example/Description</a:t>
                      </a:r>
                      <a:endParaRPr lang="en-IN" sz="1400">
                        <a:effectLst/>
                      </a:endParaRP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24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=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sum = 10;</a:t>
                      </a:r>
                      <a:br>
                        <a:rPr lang="en-IN" sz="1400" dirty="0">
                          <a:effectLst/>
                        </a:rPr>
                      </a:br>
                      <a:r>
                        <a:rPr lang="en-IN" sz="1400" dirty="0">
                          <a:effectLst/>
                        </a:rPr>
                        <a:t>10 is assigned to variable sum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24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+=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sum += 10;</a:t>
                      </a:r>
                    </a:p>
                    <a:p>
                      <a:r>
                        <a:rPr lang="en-IN" sz="1400" dirty="0">
                          <a:effectLst/>
                        </a:rPr>
                        <a:t>This is same as sum = sum + 10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24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-=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sum -= 10;</a:t>
                      </a:r>
                    </a:p>
                    <a:p>
                      <a:r>
                        <a:rPr lang="en-IN" sz="1400" dirty="0">
                          <a:effectLst/>
                        </a:rPr>
                        <a:t>This is same as sum = sum – 10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24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*=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sum *= 10;</a:t>
                      </a:r>
                    </a:p>
                    <a:p>
                      <a:r>
                        <a:rPr lang="en-IN" sz="1400" dirty="0">
                          <a:effectLst/>
                        </a:rPr>
                        <a:t>This is same as sum = sum * 10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249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/=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sum /= 10;</a:t>
                      </a:r>
                    </a:p>
                    <a:p>
                      <a:r>
                        <a:rPr lang="en-IN" sz="1400" dirty="0">
                          <a:effectLst/>
                        </a:rPr>
                        <a:t>This is same as sum = sum / 10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24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%=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sum %= 10;</a:t>
                      </a:r>
                    </a:p>
                    <a:p>
                      <a:r>
                        <a:rPr lang="en-IN" sz="1400" dirty="0">
                          <a:effectLst/>
                        </a:rPr>
                        <a:t>This is same as sum = sum % 10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824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&amp;=(</a:t>
                      </a:r>
                      <a:r>
                        <a:rPr lang="en-IN" sz="1400" dirty="0"/>
                        <a:t>Bitwise and assignment )</a:t>
                      </a:r>
                      <a:endParaRPr lang="en-IN" sz="1400" dirty="0">
                        <a:effectLst/>
                      </a:endParaRP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sum&amp;=10;</a:t>
                      </a:r>
                    </a:p>
                    <a:p>
                      <a:r>
                        <a:rPr lang="en-IN" sz="1400" dirty="0">
                          <a:effectLst/>
                        </a:rPr>
                        <a:t>This is same as sum = sum &amp; 10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899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^=(</a:t>
                      </a:r>
                      <a:r>
                        <a:rPr lang="en-IN" sz="1400" dirty="0"/>
                        <a:t>Bitwise XOR assignment )</a:t>
                      </a:r>
                      <a:endParaRPr lang="en-IN" sz="1400" dirty="0">
                        <a:effectLst/>
                      </a:endParaRP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sum ^= 10;</a:t>
                      </a:r>
                    </a:p>
                    <a:p>
                      <a:r>
                        <a:rPr lang="en-IN" sz="1400" dirty="0">
                          <a:effectLst/>
                        </a:rPr>
                        <a:t>This is same as sum = sum ^ 10</a:t>
                      </a:r>
                    </a:p>
                  </a:txBody>
                  <a:tcPr marL="73157" marR="73157" marT="36579" marB="3657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4305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C3E4-7738-4DBE-9297-36317C7A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52F28-B518-41F5-970C-08EBDC05B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916832"/>
            <a:ext cx="6591985" cy="3777622"/>
          </a:xfrm>
        </p:spPr>
        <p:txBody>
          <a:bodyPr/>
          <a:lstStyle/>
          <a:p>
            <a:r>
              <a:rPr lang="en-US" dirty="0"/>
              <a:t>Int a=2,b=3,c;</a:t>
            </a:r>
          </a:p>
          <a:p>
            <a:endParaRPr lang="en-US" dirty="0"/>
          </a:p>
          <a:p>
            <a:r>
              <a:rPr lang="en-US" dirty="0"/>
              <a:t>a=3,b=2;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0614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Algorithm : swapping of 2 no using a third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672" y="2133600"/>
            <a:ext cx="6984775" cy="4391744"/>
          </a:xfrm>
        </p:spPr>
        <p:txBody>
          <a:bodyPr/>
          <a:lstStyle/>
          <a:p>
            <a:pPr lvl="1"/>
            <a:r>
              <a:rPr lang="en-IN" dirty="0"/>
              <a:t>Step 1 : Start</a:t>
            </a:r>
          </a:p>
          <a:p>
            <a:pPr lvl="1"/>
            <a:r>
              <a:rPr lang="en-IN" dirty="0"/>
              <a:t>Start 2 : READ num1=4, num2=3,temp</a:t>
            </a:r>
          </a:p>
          <a:p>
            <a:pPr lvl="1"/>
            <a:r>
              <a:rPr lang="en-IN" dirty="0"/>
              <a:t>Start 3 : temp = num1 </a:t>
            </a:r>
          </a:p>
          <a:p>
            <a:pPr lvl="1"/>
            <a:r>
              <a:rPr lang="en-IN" dirty="0"/>
              <a:t>Start 4 : num1 = num2</a:t>
            </a:r>
          </a:p>
          <a:p>
            <a:pPr lvl="1"/>
            <a:r>
              <a:rPr lang="en-IN" dirty="0"/>
              <a:t>Start 5 : num2 = temp</a:t>
            </a:r>
          </a:p>
          <a:p>
            <a:pPr lvl="1"/>
            <a:r>
              <a:rPr lang="en-IN" dirty="0"/>
              <a:t>Start 6 : PRINT num1, num2</a:t>
            </a:r>
          </a:p>
          <a:p>
            <a:pPr lvl="1"/>
            <a:r>
              <a:rPr lang="en-IN" dirty="0"/>
              <a:t>Start 7 : Stop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07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a=2 </a:t>
            </a:r>
          </a:p>
          <a:p>
            <a:r>
              <a:rPr lang="en-US" dirty="0"/>
              <a:t> b=3</a:t>
            </a:r>
          </a:p>
          <a:p>
            <a:endParaRPr lang="en-US" dirty="0"/>
          </a:p>
          <a:p>
            <a:r>
              <a:rPr lang="en-US" dirty="0"/>
              <a:t>num1=3</a:t>
            </a:r>
          </a:p>
          <a:p>
            <a:r>
              <a:rPr lang="en-US" dirty="0"/>
              <a:t>num2=2</a:t>
            </a:r>
          </a:p>
          <a:p>
            <a:r>
              <a:rPr lang="en-US" dirty="0"/>
              <a:t>Num1=num1+num2    =3+2=5</a:t>
            </a:r>
          </a:p>
          <a:p>
            <a:r>
              <a:rPr lang="en-US" dirty="0"/>
              <a:t>Num2=num1-num2     = 5-2=3</a:t>
            </a:r>
          </a:p>
          <a:p>
            <a:r>
              <a:rPr lang="en-US" dirty="0"/>
              <a:t>Num1=num1-num2      =5-3=2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6857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swapping of 2 no using a third variable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9632" y="2060848"/>
            <a:ext cx="7726238" cy="46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3729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1" y="624110"/>
            <a:ext cx="6842720" cy="1280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Write a one program to do swapping of 2 no without using a third variable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    Algorithm : b. without using a third variable</a:t>
            </a:r>
          </a:p>
          <a:p>
            <a:r>
              <a:rPr lang="en-IN" dirty="0"/>
              <a:t>        Step 1 : Start</a:t>
            </a:r>
          </a:p>
          <a:p>
            <a:r>
              <a:rPr lang="en-IN" dirty="0"/>
              <a:t>        Start 2 : READ num1, num2</a:t>
            </a:r>
          </a:p>
          <a:p>
            <a:r>
              <a:rPr lang="en-IN" dirty="0"/>
              <a:t>        Start 3 : num1 = num1 + num2</a:t>
            </a:r>
          </a:p>
          <a:p>
            <a:r>
              <a:rPr lang="en-IN" dirty="0"/>
              <a:t>        Start 4 : num2 = num1 - num2</a:t>
            </a:r>
          </a:p>
          <a:p>
            <a:r>
              <a:rPr lang="en-IN" dirty="0"/>
              <a:t>        Start 5 : num1 = num1 - num2</a:t>
            </a:r>
          </a:p>
          <a:p>
            <a:r>
              <a:rPr lang="en-IN" dirty="0"/>
              <a:t>        Start 6 : PRINT num1, num2</a:t>
            </a:r>
          </a:p>
          <a:p>
            <a:r>
              <a:rPr lang="en-IN" dirty="0"/>
              <a:t>        Start 7 : Stop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10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606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Conditional Operators in C: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665" y="1556792"/>
            <a:ext cx="7344816" cy="5040560"/>
          </a:xfrm>
        </p:spPr>
        <p:txBody>
          <a:bodyPr>
            <a:normAutofit/>
          </a:bodyPr>
          <a:lstStyle/>
          <a:p>
            <a:r>
              <a:rPr lang="en-IN" dirty="0"/>
              <a:t>Conditional operators return one value if condition is true and returns another value is condition is false.</a:t>
            </a:r>
          </a:p>
          <a:p>
            <a:r>
              <a:rPr lang="en-IN" dirty="0"/>
              <a:t>This operator is also called as ternary operator.</a:t>
            </a:r>
          </a:p>
          <a:p>
            <a:r>
              <a:rPr lang="en-IN" b="1" dirty="0"/>
              <a:t>Syntax     :   </a:t>
            </a:r>
          </a:p>
          <a:p>
            <a:r>
              <a:rPr lang="en-IN" b="1" dirty="0"/>
              <a:t>    (Condition? expression 1: expression 2);</a:t>
            </a:r>
          </a:p>
          <a:p>
            <a:endParaRPr lang="en-IN" b="1" dirty="0"/>
          </a:p>
          <a:p>
            <a:r>
              <a:rPr lang="en-IN" b="1" dirty="0"/>
              <a:t>  (Condition? </a:t>
            </a:r>
            <a:r>
              <a:rPr lang="en-IN" b="1" dirty="0" err="1"/>
              <a:t>true_value</a:t>
            </a:r>
            <a:r>
              <a:rPr lang="en-IN" b="1" dirty="0"/>
              <a:t>: </a:t>
            </a:r>
            <a:r>
              <a:rPr lang="en-IN" b="1" dirty="0" err="1"/>
              <a:t>false_value</a:t>
            </a:r>
            <a:r>
              <a:rPr lang="en-IN" b="1" dirty="0"/>
              <a:t>);</a:t>
            </a:r>
          </a:p>
          <a:p>
            <a:r>
              <a:rPr lang="en-IN" dirty="0"/>
              <a:t>Example :         (a&gt;b   ?  a  :  b);</a:t>
            </a:r>
          </a:p>
          <a:p>
            <a:r>
              <a:rPr lang="en-IN" dirty="0"/>
              <a:t>E.g. 4&gt;6,5&gt;3</a:t>
            </a:r>
          </a:p>
          <a:p>
            <a:r>
              <a:rPr lang="en-IN" dirty="0"/>
              <a:t>In above example, if A is greater than b, a is returned as true else b is returned as false. </a:t>
            </a:r>
          </a:p>
          <a:p>
            <a:r>
              <a:rPr lang="en-IN" dirty="0"/>
              <a:t>This is equal to if else conditional statements.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1487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7331-2F79-440B-9AA8-0C1337026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428626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3EC07-83BD-45AB-9FF3-9A3E230F0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657" y="1484784"/>
            <a:ext cx="7058744" cy="518457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 &lt;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stdio.h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a,b,c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clrscr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Enetr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value of a &amp; b\n");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d%d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",&amp;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a,&amp;b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c=(a&gt;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b?a:b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   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("The greater value \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n%d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",c);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getch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0891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BIT-WISE  OPERATOR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276872"/>
            <a:ext cx="5678760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12200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Decimal	Binary</a:t>
            </a:r>
          </a:p>
          <a:p>
            <a:r>
              <a:rPr lang="en-IN" dirty="0"/>
              <a:t>1	             0001</a:t>
            </a:r>
          </a:p>
          <a:p>
            <a:r>
              <a:rPr lang="en-IN" dirty="0"/>
              <a:t>2	             0010</a:t>
            </a:r>
          </a:p>
          <a:p>
            <a:r>
              <a:rPr lang="en-IN" dirty="0"/>
              <a:t>3	              0011</a:t>
            </a:r>
          </a:p>
          <a:p>
            <a:r>
              <a:rPr lang="en-IN" dirty="0"/>
              <a:t>4	             0100</a:t>
            </a:r>
          </a:p>
          <a:p>
            <a:r>
              <a:rPr lang="en-IN" dirty="0"/>
              <a:t>5	             0101</a:t>
            </a:r>
          </a:p>
          <a:p>
            <a:r>
              <a:rPr lang="en-IN" dirty="0"/>
              <a:t>6	             0110</a:t>
            </a:r>
          </a:p>
          <a:p>
            <a:r>
              <a:rPr lang="en-IN" dirty="0"/>
              <a:t>7	             0111</a:t>
            </a:r>
          </a:p>
          <a:p>
            <a:r>
              <a:rPr lang="en-IN" dirty="0"/>
              <a:t>8	            1000 =0111</a:t>
            </a:r>
          </a:p>
          <a:p>
            <a:r>
              <a:rPr lang="en-IN" dirty="0"/>
              <a:t>9	            1001</a:t>
            </a:r>
          </a:p>
          <a:p>
            <a:r>
              <a:rPr lang="en-IN" dirty="0"/>
              <a:t>10	            1010</a:t>
            </a:r>
          </a:p>
        </p:txBody>
      </p:sp>
    </p:spTree>
    <p:extLst>
      <p:ext uri="{BB962C8B-B14F-4D97-AF65-F5344CB8AC3E}">
        <p14:creationId xmlns:p14="http://schemas.microsoft.com/office/powerpoint/2010/main" val="37197898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2- 4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8" y="2348879"/>
            <a:ext cx="2448272" cy="31683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856" y="2348879"/>
            <a:ext cx="2448272" cy="31683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348879"/>
            <a:ext cx="2448272" cy="3168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2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Decimal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64" y="2492896"/>
            <a:ext cx="3413579" cy="360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492896"/>
            <a:ext cx="4608512" cy="37444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75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50405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0"/>
            <a:ext cx="9684568" cy="5055840"/>
          </a:xfrm>
        </p:spPr>
        <p:txBody>
          <a:bodyPr/>
          <a:lstStyle/>
          <a:p>
            <a:r>
              <a:rPr lang="en-US" dirty="0"/>
              <a:t>   AND                                OR                          EXOR                                  NOT</a:t>
            </a:r>
            <a:endParaRPr lang="en-IN" dirty="0"/>
          </a:p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00" y="2126850"/>
            <a:ext cx="2195736" cy="2046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883" y="2068333"/>
            <a:ext cx="2359387" cy="217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102" y="2068333"/>
            <a:ext cx="1795947" cy="1921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270" y="2068333"/>
            <a:ext cx="2088231" cy="2046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3596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 &amp; 5                     </a:t>
            </a:r>
          </a:p>
          <a:p>
            <a:r>
              <a:rPr lang="en-US" dirty="0"/>
              <a:t>     01 00</a:t>
            </a:r>
          </a:p>
          <a:p>
            <a:r>
              <a:rPr lang="en-US" dirty="0"/>
              <a:t>     01 0 1</a:t>
            </a:r>
          </a:p>
          <a:p>
            <a:r>
              <a:rPr lang="en-US" dirty="0"/>
              <a:t>=  0 1 0 0 (4)</a:t>
            </a:r>
          </a:p>
          <a:p>
            <a:endParaRPr lang="en-US" dirty="0"/>
          </a:p>
          <a:p>
            <a:r>
              <a:rPr lang="en-US" dirty="0"/>
              <a:t>4 or 5</a:t>
            </a:r>
          </a:p>
          <a:p>
            <a:r>
              <a:rPr lang="en-US" dirty="0"/>
              <a:t>     0 1 0 0</a:t>
            </a:r>
          </a:p>
          <a:p>
            <a:r>
              <a:rPr lang="en-US" dirty="0"/>
              <a:t>     0 1 0 1</a:t>
            </a:r>
          </a:p>
          <a:p>
            <a:r>
              <a:rPr lang="en-US" dirty="0"/>
              <a:t>=   0 1 0 1    (5)</a:t>
            </a:r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555776" y="3284984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267744" y="5373216"/>
            <a:ext cx="136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9613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42862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7" y="1196755"/>
            <a:ext cx="7058744" cy="532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= 0 1 </a:t>
            </a:r>
          </a:p>
          <a:p>
            <a:pPr marL="0" indent="0">
              <a:buNone/>
            </a:pPr>
            <a:r>
              <a:rPr lang="en-US" b="1" dirty="0"/>
              <a:t>Left side operand will be shifted by 2 position</a:t>
            </a:r>
          </a:p>
          <a:p>
            <a:r>
              <a:rPr lang="en-US" b="1" dirty="0"/>
              <a:t>4&lt;&lt;2 (LEFT SHIFT)</a:t>
            </a:r>
          </a:p>
          <a:p>
            <a:r>
              <a:rPr lang="en-US" dirty="0"/>
              <a:t>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0100</a:t>
            </a:r>
          </a:p>
          <a:p>
            <a:r>
              <a:rPr lang="en-US" dirty="0"/>
              <a:t>    </a:t>
            </a:r>
            <a:r>
              <a:rPr lang="en-US" dirty="0">
                <a:highlight>
                  <a:srgbClr val="FFFF00"/>
                </a:highlight>
              </a:rPr>
              <a:t>     </a:t>
            </a:r>
            <a:r>
              <a:rPr lang="en-US" dirty="0"/>
              <a:t> 0 0 0 1 00   (8 bit)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     000100 00=16</a:t>
            </a:r>
          </a:p>
          <a:p>
            <a:endParaRPr lang="en-US" dirty="0"/>
          </a:p>
          <a:p>
            <a:r>
              <a:rPr lang="en-US" dirty="0"/>
              <a:t>      +1</a:t>
            </a:r>
          </a:p>
          <a:p>
            <a:pPr marL="0" indent="0">
              <a:buNone/>
            </a:pPr>
            <a:r>
              <a:rPr lang="en-US" dirty="0"/>
              <a:t>= 0 1 0 1(5)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411760" y="2852936"/>
            <a:ext cx="17281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5616" y="4149080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977525" y="4389791"/>
            <a:ext cx="14401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 flipH="1">
            <a:off x="3139358" y="4366129"/>
            <a:ext cx="152872" cy="4433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2881833" y="4292968"/>
            <a:ext cx="167700" cy="4246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H="1">
            <a:off x="2730887" y="4292968"/>
            <a:ext cx="151910" cy="4586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 flipH="1">
            <a:off x="2575029" y="4345313"/>
            <a:ext cx="144017" cy="4586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 flipH="1">
            <a:off x="2363434" y="4379303"/>
            <a:ext cx="200236" cy="4898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0430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F70D-5E8A-4428-A739-FF61EB42F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88665"/>
          </a:xfrm>
        </p:spPr>
        <p:txBody>
          <a:bodyPr>
            <a:normAutofit fontScale="90000"/>
          </a:bodyPr>
          <a:lstStyle/>
          <a:p>
            <a:r>
              <a:rPr lang="en-IN" dirty="0"/>
              <a:t>Logical not operator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74BF2-E1BF-40F6-BE4A-7B13AB653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649" y="1700808"/>
            <a:ext cx="7416824" cy="4210414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As per compiler size</a:t>
            </a:r>
          </a:p>
          <a:p>
            <a:r>
              <a:rPr lang="en-IN" dirty="0"/>
              <a:t>1byte=8bit, 2byte=16 bit, 4byte=32bit</a:t>
            </a:r>
          </a:p>
          <a:p>
            <a:pPr marL="0" indent="0">
              <a:buNone/>
            </a:pPr>
            <a:r>
              <a:rPr lang="en-IN" dirty="0"/>
              <a:t>So    I consider it is 8 bit.                  </a:t>
            </a:r>
          </a:p>
          <a:p>
            <a:pPr marL="0" indent="0">
              <a:buNone/>
            </a:pPr>
            <a:r>
              <a:rPr lang="en-IN" dirty="0"/>
              <a:t>                         </a:t>
            </a:r>
            <a:r>
              <a:rPr lang="en-IN" dirty="0" err="1"/>
              <a:t>e.g</a:t>
            </a:r>
            <a:r>
              <a:rPr lang="en-IN" dirty="0"/>
              <a:t>)  10= 00001010</a:t>
            </a:r>
          </a:p>
          <a:p>
            <a:pPr marL="0" indent="0">
              <a:buNone/>
            </a:pPr>
            <a:r>
              <a:rPr lang="en-IN" dirty="0"/>
              <a:t>      1’s complement10 =</a:t>
            </a:r>
            <a:r>
              <a:rPr lang="en-IN" dirty="0">
                <a:highlight>
                  <a:srgbClr val="FFFF00"/>
                </a:highlight>
              </a:rPr>
              <a:t>1</a:t>
            </a:r>
            <a:r>
              <a:rPr lang="en-IN" dirty="0"/>
              <a:t>1110101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(MSB=most significant bit so we get negative sign </a:t>
            </a:r>
            <a:r>
              <a:rPr lang="en-IN" dirty="0" err="1">
                <a:solidFill>
                  <a:srgbClr val="FF0000"/>
                </a:solidFill>
              </a:rPr>
              <a:t>i.e</a:t>
            </a:r>
            <a:r>
              <a:rPr lang="en-IN" dirty="0">
                <a:solidFill>
                  <a:srgbClr val="FF0000"/>
                </a:solidFill>
              </a:rPr>
              <a:t> 1-negative,0-positive).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But our compiler stored only  2’s complement form .so how to calculate it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So again convert this </a:t>
            </a:r>
            <a:r>
              <a:rPr lang="en-IN" dirty="0"/>
              <a:t> 1’s complement to </a:t>
            </a:r>
            <a:r>
              <a:rPr lang="en-IN" dirty="0">
                <a:solidFill>
                  <a:srgbClr val="FF0000"/>
                </a:solidFill>
              </a:rPr>
              <a:t>2’s complement .</a:t>
            </a:r>
          </a:p>
          <a:p>
            <a:pPr marL="0" indent="0">
              <a:buNone/>
            </a:pPr>
            <a:r>
              <a:rPr lang="en-IN" dirty="0"/>
              <a:t>So again </a:t>
            </a:r>
            <a:r>
              <a:rPr lang="en-IN" dirty="0">
                <a:highlight>
                  <a:srgbClr val="FFFF00"/>
                </a:highlight>
              </a:rPr>
              <a:t>1</a:t>
            </a:r>
            <a:r>
              <a:rPr lang="en-IN" dirty="0"/>
              <a:t>1110101</a:t>
            </a:r>
          </a:p>
          <a:p>
            <a:pPr marL="0" indent="0">
              <a:buNone/>
            </a:pPr>
            <a:r>
              <a:rPr lang="en-IN" dirty="0"/>
              <a:t>                 00001010</a:t>
            </a:r>
          </a:p>
          <a:p>
            <a:pPr marL="0" indent="0">
              <a:buNone/>
            </a:pPr>
            <a:r>
              <a:rPr lang="en-IN" dirty="0"/>
              <a:t>                             +1</a:t>
            </a:r>
          </a:p>
          <a:p>
            <a:pPr marL="0" indent="0">
              <a:buNone/>
            </a:pPr>
            <a:r>
              <a:rPr lang="en-IN" dirty="0"/>
              <a:t>                                </a:t>
            </a:r>
          </a:p>
          <a:p>
            <a:pPr marL="0" indent="0">
              <a:buNone/>
            </a:pPr>
            <a:r>
              <a:rPr lang="en-IN" dirty="0"/>
              <a:t>                  00001011                </a:t>
            </a:r>
            <a:r>
              <a:rPr lang="en-IN" dirty="0" err="1"/>
              <a:t>ans</a:t>
            </a:r>
            <a:r>
              <a:rPr lang="en-IN" dirty="0"/>
              <a:t> (-11)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382911-EF47-457A-96B9-24BD71860045}"/>
              </a:ext>
            </a:extLst>
          </p:cNvPr>
          <p:cNvCxnSpPr/>
          <p:nvPr/>
        </p:nvCxnSpPr>
        <p:spPr>
          <a:xfrm>
            <a:off x="2267744" y="508518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8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620688"/>
            <a:ext cx="7355160" cy="720080"/>
          </a:xfrm>
        </p:spPr>
        <p:txBody>
          <a:bodyPr>
            <a:noAutofit/>
          </a:bodyPr>
          <a:lstStyle/>
          <a:p>
            <a:r>
              <a:rPr lang="en-IN" sz="4000" b="1" dirty="0"/>
              <a:t>Relational operators in C: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628800"/>
            <a:ext cx="7787208" cy="4695800"/>
          </a:xfrm>
        </p:spPr>
        <p:txBody>
          <a:bodyPr/>
          <a:lstStyle/>
          <a:p>
            <a:r>
              <a:rPr lang="en-IN" dirty="0"/>
              <a:t>Relational operators are used to find the relation between two variables. i.e. to compare the values of two variables in a C program.</a:t>
            </a:r>
          </a:p>
          <a:p>
            <a:r>
              <a:rPr lang="en-IN" dirty="0"/>
              <a:t>Note : </a:t>
            </a:r>
            <a:r>
              <a:rPr lang="en-IN" b="1" dirty="0"/>
              <a:t>double equal sign (==)</a:t>
            </a:r>
            <a:r>
              <a:rPr lang="en-IN" dirty="0"/>
              <a:t> should be used to compare 2 values. We should not single equal sign (=).</a:t>
            </a:r>
          </a:p>
          <a:p>
            <a:r>
              <a:rPr lang="en-US" dirty="0"/>
              <a:t>X==10</a:t>
            </a:r>
          </a:p>
          <a:p>
            <a:r>
              <a:rPr lang="en-US" dirty="0" err="1"/>
              <a:t>tr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671968"/>
              </p:ext>
            </p:extLst>
          </p:nvPr>
        </p:nvGraphicFramePr>
        <p:xfrm>
          <a:off x="1043608" y="4124323"/>
          <a:ext cx="6548704" cy="26398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5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7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Operators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Example/Description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7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x &gt; y (x is greater than 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x &lt; y (x is less than 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66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x &gt;= y (x is greater than or equal to 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7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x &lt;= y (x is less than or equal to 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24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x == y (x is equal to 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7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x != y (x is not equal to 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278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8136904" cy="648072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Write a program for check </a:t>
            </a:r>
            <a:r>
              <a:rPr lang="en-IN" sz="2400" dirty="0"/>
              <a:t>whether</a:t>
            </a:r>
            <a:r>
              <a:rPr lang="en-IN" sz="2400" b="1" dirty="0"/>
              <a:t> given is Positive or Negative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1556792"/>
            <a:ext cx="7427168" cy="5184576"/>
          </a:xfrm>
        </p:spPr>
        <p:txBody>
          <a:bodyPr>
            <a:noAutofit/>
          </a:bodyPr>
          <a:lstStyle/>
          <a:p>
            <a:r>
              <a:rPr lang="en-IN" sz="2400" dirty="0"/>
              <a:t>#include &lt;</a:t>
            </a:r>
            <a:r>
              <a:rPr lang="en-IN" sz="2400" dirty="0" err="1"/>
              <a:t>stdio.h</a:t>
            </a:r>
            <a:r>
              <a:rPr lang="en-IN" sz="2400" dirty="0"/>
              <a:t>&gt;  </a:t>
            </a:r>
          </a:p>
          <a:p>
            <a:r>
              <a:rPr lang="en-IN" sz="2400" dirty="0" err="1"/>
              <a:t>int</a:t>
            </a:r>
            <a:r>
              <a:rPr lang="en-IN" sz="2400" dirty="0"/>
              <a:t> main()  </a:t>
            </a:r>
          </a:p>
          <a:p>
            <a:r>
              <a:rPr lang="en-IN" sz="2400" dirty="0"/>
              <a:t>{      </a:t>
            </a:r>
            <a:r>
              <a:rPr lang="en-IN" sz="2400" dirty="0" err="1"/>
              <a:t>int</a:t>
            </a:r>
            <a:r>
              <a:rPr lang="en-IN" sz="2400" dirty="0"/>
              <a:t> x;    </a:t>
            </a:r>
          </a:p>
          <a:p>
            <a:r>
              <a:rPr lang="en-IN" sz="2400" dirty="0" err="1"/>
              <a:t>printf</a:t>
            </a:r>
            <a:r>
              <a:rPr lang="en-IN" sz="2400" dirty="0"/>
              <a:t>("Enter a no");    </a:t>
            </a:r>
          </a:p>
          <a:p>
            <a:r>
              <a:rPr lang="en-IN" sz="2400" dirty="0" err="1"/>
              <a:t>scanf</a:t>
            </a:r>
            <a:r>
              <a:rPr lang="en-IN" sz="2400" dirty="0"/>
              <a:t>("%</a:t>
            </a:r>
            <a:r>
              <a:rPr lang="en-IN" sz="2400" dirty="0" err="1"/>
              <a:t>d",&amp;x</a:t>
            </a:r>
            <a:r>
              <a:rPr lang="en-IN" sz="2400" dirty="0"/>
              <a:t>);       </a:t>
            </a:r>
          </a:p>
          <a:p>
            <a:r>
              <a:rPr lang="en-IN" sz="2400" dirty="0"/>
              <a:t> if(x&gt;=0)   </a:t>
            </a:r>
          </a:p>
          <a:p>
            <a:r>
              <a:rPr lang="en-IN" sz="2400" dirty="0"/>
              <a:t> {        </a:t>
            </a:r>
            <a:r>
              <a:rPr lang="en-IN" sz="2400" dirty="0" err="1"/>
              <a:t>printf</a:t>
            </a:r>
            <a:r>
              <a:rPr lang="en-IN" sz="2400" dirty="0"/>
              <a:t>("</a:t>
            </a:r>
            <a:r>
              <a:rPr lang="en-IN" sz="2400" dirty="0" err="1"/>
              <a:t>Postitive</a:t>
            </a:r>
            <a:r>
              <a:rPr lang="en-IN" sz="2400" dirty="0"/>
              <a:t>");      </a:t>
            </a:r>
          </a:p>
          <a:p>
            <a:r>
              <a:rPr lang="en-IN" sz="2400" dirty="0"/>
              <a:t>}     </a:t>
            </a:r>
          </a:p>
          <a:p>
            <a:r>
              <a:rPr lang="en-IN" sz="2400" dirty="0"/>
              <a:t> else     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printf</a:t>
            </a:r>
            <a:r>
              <a:rPr lang="en-IN" sz="2400" dirty="0"/>
              <a:t>("Negative");      </a:t>
            </a: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79115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008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Logical operators in C: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124744"/>
            <a:ext cx="7560840" cy="5616624"/>
          </a:xfrm>
        </p:spPr>
        <p:txBody>
          <a:bodyPr/>
          <a:lstStyle/>
          <a:p>
            <a:r>
              <a:rPr lang="en-IN" dirty="0"/>
              <a:t>These operators are used to perform logical operations on the given expressions.</a:t>
            </a:r>
          </a:p>
          <a:p>
            <a:r>
              <a:rPr lang="en-IN" dirty="0"/>
              <a:t>There are 3 logical operators in C language. They are, logical AND (&amp;&amp;), logical OR (||) and logical NOT (!).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79224"/>
              </p:ext>
            </p:extLst>
          </p:nvPr>
        </p:nvGraphicFramePr>
        <p:xfrm>
          <a:off x="1187624" y="3068960"/>
          <a:ext cx="6264696" cy="3657600"/>
        </p:xfrm>
        <a:graphic>
          <a:graphicData uri="http://schemas.openxmlformats.org/drawingml/2006/table">
            <a:tbl>
              <a:tblPr/>
              <a:tblGrid>
                <a:gridCol w="1343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</a:rPr>
                        <a:t>Operators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effectLst/>
                        </a:rPr>
                        <a:t>Example/Description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&amp;&amp; (logical AND)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(x&gt;5)&amp;&amp;(y&lt;5)=      (7&gt;5)&amp;&amp;(6&lt;5)</a:t>
                      </a:r>
                      <a:br>
                        <a:rPr lang="en-IN" dirty="0">
                          <a:effectLst/>
                        </a:rPr>
                      </a:br>
                      <a:r>
                        <a:rPr lang="en-IN" dirty="0">
                          <a:effectLst/>
                        </a:rPr>
                        <a:t>It returns true when both conditions are 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|| (logical OR)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(x&gt;=10)||(y&gt;=10)</a:t>
                      </a:r>
                    </a:p>
                    <a:p>
                      <a:pPr algn="l"/>
                      <a:r>
                        <a:rPr lang="en-IN" dirty="0">
                          <a:effectLst/>
                        </a:rPr>
                        <a:t>It returns true when at-least one of the condition is 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! (logical NOT)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!((x&gt;5)&amp;&amp;(y&lt;5))</a:t>
                      </a:r>
                    </a:p>
                    <a:p>
                      <a:pPr algn="l"/>
                      <a:r>
                        <a:rPr lang="en-IN" dirty="0">
                          <a:effectLst/>
                        </a:rPr>
                        <a:t>It reverses the state of the operand “((x&gt;5) &amp;&amp; (y&lt;5))”</a:t>
                      </a:r>
                    </a:p>
                    <a:p>
                      <a:pPr algn="l"/>
                      <a:r>
                        <a:rPr lang="en-IN" dirty="0">
                          <a:effectLst/>
                        </a:rPr>
                        <a:t>If “((x&gt;5) &amp;&amp; (y&lt;5))” is true, logical NOT operator makes it 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3677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 </a:t>
            </a:r>
          </a:p>
          <a:p>
            <a:r>
              <a:rPr lang="en-IN" dirty="0" err="1"/>
              <a:t>int</a:t>
            </a:r>
            <a:r>
              <a:rPr lang="en-IN" dirty="0"/>
              <a:t> main()  </a:t>
            </a:r>
          </a:p>
          <a:p>
            <a:r>
              <a:rPr lang="en-IN" dirty="0"/>
              <a:t>{      </a:t>
            </a:r>
          </a:p>
          <a:p>
            <a:r>
              <a:rPr lang="en-IN" dirty="0" err="1"/>
              <a:t>int</a:t>
            </a:r>
            <a:r>
              <a:rPr lang="en-IN" dirty="0"/>
              <a:t> x = 4, y = 10;      </a:t>
            </a:r>
          </a:p>
          <a:p>
            <a:r>
              <a:rPr lang="en-IN" dirty="0"/>
              <a:t>if ( (x&gt;8)&amp;&amp;(y&lt;7))      </a:t>
            </a:r>
          </a:p>
          <a:p>
            <a:r>
              <a:rPr lang="en-IN" dirty="0"/>
              <a:t>{          </a:t>
            </a:r>
          </a:p>
          <a:p>
            <a:r>
              <a:rPr lang="en-IN" dirty="0" err="1"/>
              <a:t>printf</a:t>
            </a:r>
            <a:r>
              <a:rPr lang="en-IN" dirty="0"/>
              <a:t>("Condition is true");     </a:t>
            </a:r>
          </a:p>
          <a:p>
            <a:r>
              <a:rPr lang="en-IN" dirty="0"/>
              <a:t> }      </a:t>
            </a:r>
          </a:p>
          <a:p>
            <a:r>
              <a:rPr lang="en-IN" dirty="0"/>
              <a:t>else      </a:t>
            </a:r>
            <a:r>
              <a:rPr lang="en-IN" dirty="0" err="1"/>
              <a:t>printf</a:t>
            </a:r>
            <a:r>
              <a:rPr lang="en-IN" dirty="0"/>
              <a:t>("Condition is false");    </a:t>
            </a:r>
          </a:p>
          <a:p>
            <a:r>
              <a:rPr lang="en-IN" dirty="0"/>
              <a:t>  } </a:t>
            </a:r>
          </a:p>
        </p:txBody>
      </p:sp>
    </p:spTree>
    <p:extLst>
      <p:ext uri="{BB962C8B-B14F-4D97-AF65-F5344CB8AC3E}">
        <p14:creationId xmlns:p14="http://schemas.microsoft.com/office/powerpoint/2010/main" val="32183328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/>
              <a:t>Increment /Decrement Operator</a:t>
            </a:r>
          </a:p>
          <a:p>
            <a:r>
              <a:rPr lang="en-US" sz="2800" b="1" dirty="0"/>
              <a:t>Size of operator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285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Increment and Decrement Operator in C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556792"/>
            <a:ext cx="7200800" cy="5184576"/>
          </a:xfrm>
        </p:spPr>
        <p:txBody>
          <a:bodyPr/>
          <a:lstStyle/>
          <a:p>
            <a:r>
              <a:rPr lang="en-IN" b="1" dirty="0"/>
              <a:t>Increment Operators</a:t>
            </a:r>
            <a:r>
              <a:rPr lang="en-IN" dirty="0"/>
              <a:t> are used to increased the value of the variable by one and </a:t>
            </a:r>
            <a:r>
              <a:rPr lang="en-IN" b="1" dirty="0"/>
              <a:t>Decrement Operators</a:t>
            </a:r>
            <a:r>
              <a:rPr lang="en-IN" dirty="0"/>
              <a:t> are used to decrease the value of the variable by one in C programs.</a:t>
            </a:r>
          </a:p>
          <a:p>
            <a:r>
              <a:rPr lang="en-IN" dirty="0"/>
              <a:t>Both increment and decrement operator are used on a single operand or variable, so it is called as a unary operator. </a:t>
            </a:r>
          </a:p>
          <a:p>
            <a:r>
              <a:rPr lang="en-IN" dirty="0"/>
              <a:t>Unary operators are having higher priority than the other operators it means unary operators are executed before other operators. </a:t>
            </a:r>
          </a:p>
          <a:p>
            <a:r>
              <a:rPr lang="en-IN" dirty="0"/>
              <a:t>++  // increment operator</a:t>
            </a:r>
          </a:p>
          <a:p>
            <a:r>
              <a:rPr lang="en-IN" dirty="0"/>
              <a:t> --   // decrement operator</a:t>
            </a:r>
          </a:p>
          <a:p>
            <a:r>
              <a:rPr lang="en-US" dirty="0" err="1"/>
              <a:t>E.g</a:t>
            </a:r>
            <a:r>
              <a:rPr lang="en-US" dirty="0"/>
              <a:t> ++4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3062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64096"/>
          </a:xfrm>
        </p:spPr>
        <p:txBody>
          <a:bodyPr>
            <a:noAutofit/>
          </a:bodyPr>
          <a:lstStyle/>
          <a:p>
            <a:r>
              <a:rPr lang="en-IN" sz="3600" b="1" dirty="0"/>
              <a:t>Type of Increment /Decrement Operator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700808"/>
            <a:ext cx="7200800" cy="4623792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pre-increment/</a:t>
            </a:r>
            <a:r>
              <a:rPr lang="en-IN" sz="2800" b="1" dirty="0"/>
              <a:t>pre- Decrement </a:t>
            </a:r>
            <a:endParaRPr lang="en-IN" b="1" dirty="0"/>
          </a:p>
          <a:p>
            <a:r>
              <a:rPr lang="en-IN" dirty="0"/>
              <a:t>In pre-increment first increment the value of variable and then used inside the </a:t>
            </a:r>
            <a:r>
              <a:rPr lang="en-IN" b="1" dirty="0"/>
              <a:t>expression(initialize into another variable).</a:t>
            </a:r>
          </a:p>
          <a:p>
            <a:r>
              <a:rPr lang="en-IN" b="1" dirty="0"/>
              <a:t>Syntax</a:t>
            </a:r>
          </a:p>
          <a:p>
            <a:r>
              <a:rPr lang="en-IN" dirty="0"/>
              <a:t>++ variable; </a:t>
            </a:r>
          </a:p>
          <a:p>
            <a:endParaRPr lang="en-US" dirty="0"/>
          </a:p>
          <a:p>
            <a:r>
              <a:rPr lang="en-US" dirty="0"/>
              <a:t>A=++44=45</a:t>
            </a:r>
            <a:endParaRPr lang="en-IN" dirty="0"/>
          </a:p>
          <a:p>
            <a:endParaRPr lang="en-IN" b="1" dirty="0"/>
          </a:p>
          <a:p>
            <a:r>
              <a:rPr lang="en-IN" dirty="0"/>
              <a:t>In pre-decrement first decrement the value of variable and then used inside the expression </a:t>
            </a:r>
            <a:r>
              <a:rPr lang="en-IN" b="1" dirty="0"/>
              <a:t>(initialize into another variable).</a:t>
            </a:r>
          </a:p>
          <a:p>
            <a:r>
              <a:rPr lang="en-IN" b="1" dirty="0"/>
              <a:t>Syntax</a:t>
            </a:r>
          </a:p>
          <a:p>
            <a:r>
              <a:rPr lang="en-IN" dirty="0"/>
              <a:t>-- variable; 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724526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6547-B770-4539-8863-B4A74E57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116632"/>
            <a:ext cx="6589199" cy="576064"/>
          </a:xfrm>
        </p:spPr>
        <p:txBody>
          <a:bodyPr>
            <a:normAutofit fontScale="90000"/>
          </a:bodyPr>
          <a:lstStyle/>
          <a:p>
            <a:r>
              <a:rPr lang="en-IN" dirty="0"/>
              <a:t>PRG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9FCD3-8A3A-4034-9D6D-27771C59D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764704"/>
            <a:ext cx="7418784" cy="568863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 &lt;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stdio.h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main()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=10,x;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x=++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("\n\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nThe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value of x=%d after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preincremnt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",x);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("\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nThe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value of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=%d after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preincrement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",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O/P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X=11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I=11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69149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6467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Post-increment</a:t>
            </a:r>
          </a:p>
          <a:p>
            <a:r>
              <a:rPr lang="en-IN" dirty="0"/>
              <a:t>In post-increment first value of variable is used in the expression (initialize into another variable) and then increment the value of variable.</a:t>
            </a:r>
          </a:p>
          <a:p>
            <a:r>
              <a:rPr lang="en-IN" b="1" dirty="0"/>
              <a:t>Syntax</a:t>
            </a:r>
          </a:p>
          <a:p>
            <a:r>
              <a:rPr lang="en-IN" dirty="0"/>
              <a:t> variable++; </a:t>
            </a:r>
          </a:p>
          <a:p>
            <a:endParaRPr lang="en-IN" dirty="0"/>
          </a:p>
          <a:p>
            <a:r>
              <a:rPr lang="en-IN" dirty="0"/>
              <a:t>In </a:t>
            </a:r>
            <a:r>
              <a:rPr lang="en-IN" b="1" dirty="0"/>
              <a:t>Post-decrement</a:t>
            </a:r>
            <a:r>
              <a:rPr lang="en-IN" dirty="0"/>
              <a:t> first value of variable is used in the expression (initialize into another variable) and then decrement the value of variable.</a:t>
            </a:r>
          </a:p>
          <a:p>
            <a:r>
              <a:rPr lang="en-IN" b="1" dirty="0"/>
              <a:t>Syntax</a:t>
            </a:r>
          </a:p>
          <a:p>
            <a:r>
              <a:rPr lang="en-IN" dirty="0"/>
              <a:t>Variable--;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0350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#include&lt;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#include&lt;</a:t>
            </a:r>
            <a:r>
              <a:rPr lang="en-IN" dirty="0" err="1"/>
              <a:t>conio.h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void main()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x,i</a:t>
            </a:r>
            <a:r>
              <a:rPr lang="en-IN" dirty="0"/>
              <a:t>;</a:t>
            </a:r>
          </a:p>
          <a:p>
            <a:r>
              <a:rPr lang="en-IN" dirty="0"/>
              <a:t>i=10;</a:t>
            </a:r>
          </a:p>
          <a:p>
            <a:r>
              <a:rPr lang="en-IN" dirty="0"/>
              <a:t>x=++i;</a:t>
            </a:r>
          </a:p>
          <a:p>
            <a:r>
              <a:rPr lang="en-IN" dirty="0" err="1"/>
              <a:t>printf</a:t>
            </a:r>
            <a:r>
              <a:rPr lang="en-IN" dirty="0"/>
              <a:t>("x: %</a:t>
            </a:r>
            <a:r>
              <a:rPr lang="en-IN" dirty="0" err="1"/>
              <a:t>d",x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("i: %</a:t>
            </a:r>
            <a:r>
              <a:rPr lang="en-IN" dirty="0" err="1"/>
              <a:t>d",i</a:t>
            </a:r>
            <a:r>
              <a:rPr lang="en-IN" dirty="0"/>
              <a:t>);</a:t>
            </a:r>
          </a:p>
          <a:p>
            <a:r>
              <a:rPr lang="en-IN" dirty="0" err="1"/>
              <a:t>getch</a:t>
            </a:r>
            <a:r>
              <a:rPr lang="en-IN" dirty="0"/>
              <a:t>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0313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366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Size of operator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24536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b="1" dirty="0" err="1"/>
              <a:t>sizeof</a:t>
            </a:r>
            <a:r>
              <a:rPr lang="en-IN" dirty="0"/>
              <a:t> operator is used to calculate the size of data type or variables. This operator returns the size of its variable in bytes.</a:t>
            </a:r>
          </a:p>
          <a:p>
            <a:r>
              <a:rPr lang="en-IN" b="1" dirty="0"/>
              <a:t>For example: </a:t>
            </a:r>
          </a:p>
          <a:p>
            <a:r>
              <a:rPr lang="en-IN" dirty="0" err="1"/>
              <a:t>sizeof</a:t>
            </a:r>
            <a:r>
              <a:rPr lang="en-IN" dirty="0"/>
              <a:t>(a), where a is </a:t>
            </a:r>
            <a:r>
              <a:rPr lang="en-IN" dirty="0" err="1"/>
              <a:t>interger</a:t>
            </a:r>
            <a:r>
              <a:rPr lang="en-IN" dirty="0"/>
              <a:t>, will return 4.</a:t>
            </a:r>
          </a:p>
          <a:p>
            <a:r>
              <a:rPr lang="en-IN" dirty="0"/>
              <a:t>Ass 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3334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#include&lt;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#include&lt;</a:t>
            </a:r>
            <a:r>
              <a:rPr lang="en-IN" dirty="0" err="1"/>
              <a:t>conio.h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void main()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a,f</a:t>
            </a:r>
            <a:r>
              <a:rPr lang="en-IN" dirty="0"/>
              <a:t>;</a:t>
            </a:r>
          </a:p>
          <a:p>
            <a:r>
              <a:rPr lang="en-IN" dirty="0"/>
              <a:t>float b;</a:t>
            </a:r>
          </a:p>
          <a:p>
            <a:r>
              <a:rPr lang="en-IN" dirty="0"/>
              <a:t>double c;</a:t>
            </a:r>
          </a:p>
          <a:p>
            <a:r>
              <a:rPr lang="en-IN" dirty="0"/>
              <a:t>char d;</a:t>
            </a:r>
          </a:p>
          <a:p>
            <a:r>
              <a:rPr lang="en-US" dirty="0"/>
              <a:t>f=</a:t>
            </a:r>
            <a:r>
              <a:rPr lang="en-IN" dirty="0" err="1"/>
              <a:t>sizeof</a:t>
            </a:r>
            <a:r>
              <a:rPr lang="en-IN" dirty="0"/>
              <a:t>(a);</a:t>
            </a:r>
          </a:p>
          <a:p>
            <a:r>
              <a:rPr lang="en-IN" dirty="0" err="1"/>
              <a:t>printf</a:t>
            </a:r>
            <a:r>
              <a:rPr lang="en-IN" dirty="0"/>
              <a:t>("Size of Integer: %d bytes\</a:t>
            </a:r>
            <a:r>
              <a:rPr lang="en-IN" dirty="0" err="1"/>
              <a:t>n",f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("Size of float: %d bytes\n",</a:t>
            </a:r>
            <a:r>
              <a:rPr lang="en-IN" dirty="0" err="1"/>
              <a:t>sizeof</a:t>
            </a:r>
            <a:r>
              <a:rPr lang="en-IN" dirty="0"/>
              <a:t>(b));</a:t>
            </a:r>
          </a:p>
          <a:p>
            <a:r>
              <a:rPr lang="en-IN" dirty="0" err="1"/>
              <a:t>printf</a:t>
            </a:r>
            <a:r>
              <a:rPr lang="en-IN" dirty="0"/>
              <a:t>("Size of double: %d bytes\n",</a:t>
            </a:r>
            <a:r>
              <a:rPr lang="en-IN" dirty="0" err="1"/>
              <a:t>sizeof</a:t>
            </a:r>
            <a:r>
              <a:rPr lang="en-IN" dirty="0"/>
              <a:t>(c));</a:t>
            </a:r>
          </a:p>
          <a:p>
            <a:r>
              <a:rPr lang="en-IN" dirty="0" err="1"/>
              <a:t>printf</a:t>
            </a:r>
            <a:r>
              <a:rPr lang="en-IN" dirty="0"/>
              <a:t>("Size of character: %d byte\n",</a:t>
            </a:r>
            <a:r>
              <a:rPr lang="en-IN" dirty="0" err="1"/>
              <a:t>sizeof</a:t>
            </a:r>
            <a:r>
              <a:rPr lang="en-IN" dirty="0"/>
              <a:t>(d));</a:t>
            </a:r>
          </a:p>
          <a:p>
            <a:r>
              <a:rPr lang="en-IN" dirty="0" err="1"/>
              <a:t>getch</a:t>
            </a:r>
            <a:r>
              <a:rPr lang="en-IN" dirty="0"/>
              <a:t>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7892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8640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Expression Evaluation in C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700808"/>
            <a:ext cx="7787208" cy="4968552"/>
          </a:xfrm>
        </p:spPr>
        <p:txBody>
          <a:bodyPr/>
          <a:lstStyle/>
          <a:p>
            <a:r>
              <a:rPr lang="en-IN" dirty="0"/>
              <a:t>In c language expression evaluation is mainly depends on priority and associativity. </a:t>
            </a:r>
          </a:p>
          <a:p>
            <a:r>
              <a:rPr lang="en-IN" dirty="0"/>
              <a:t>An expression is a sequence of operands and operators that reduces to a single value. </a:t>
            </a:r>
          </a:p>
          <a:p>
            <a:r>
              <a:rPr lang="en-IN" dirty="0"/>
              <a:t>For example, </a:t>
            </a:r>
          </a:p>
          <a:p>
            <a:r>
              <a:rPr lang="en-IN" dirty="0"/>
              <a:t>the expression, 10+15 reduces to the value of 25.</a:t>
            </a:r>
          </a:p>
          <a:p>
            <a:r>
              <a:rPr lang="en-IN" dirty="0"/>
              <a:t>An expression is a combination of variables constants and operators written according to the syntax of C language. </a:t>
            </a:r>
          </a:p>
          <a:p>
            <a:r>
              <a:rPr lang="en-IN" dirty="0"/>
              <a:t>every expression results in some value of a certain type that can be assigned to a variable.</a:t>
            </a:r>
          </a:p>
        </p:txBody>
      </p:sp>
    </p:spTree>
    <p:extLst>
      <p:ext uri="{BB962C8B-B14F-4D97-AF65-F5344CB8AC3E}">
        <p14:creationId xmlns:p14="http://schemas.microsoft.com/office/powerpoint/2010/main" val="9668413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Priority</a:t>
            </a:r>
          </a:p>
          <a:p>
            <a:r>
              <a:rPr lang="en-IN" dirty="0"/>
              <a:t>This represents the evaluation of expression starts from "what" operator.</a:t>
            </a:r>
          </a:p>
          <a:p>
            <a:r>
              <a:rPr lang="en-IN" b="1" dirty="0"/>
              <a:t>Associativity</a:t>
            </a:r>
          </a:p>
          <a:p>
            <a:r>
              <a:rPr lang="en-IN" dirty="0"/>
              <a:t>It represents which operator should be evaluated first if an expression is containing more than one operator with same priority.</a:t>
            </a:r>
          </a:p>
          <a:p>
            <a:r>
              <a:rPr lang="en-US" dirty="0"/>
              <a:t>2+5+(6/7)%89[4*6]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7248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133717"/>
              </p:ext>
            </p:extLst>
          </p:nvPr>
        </p:nvGraphicFramePr>
        <p:xfrm>
          <a:off x="899592" y="2301081"/>
          <a:ext cx="7488831" cy="365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96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Associativity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{}, (), []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Left to 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++, --, 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Right to left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*, /,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Left to 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+, 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Left to 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&lt;, &lt;=, &gt;, &gt;=, ==, 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Left to 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Left to 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Left to 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?: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Right to left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=, +=, -=, *=, /=, 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Right to left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6529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{2+3}/[6+7]= 5 /   13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740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11760" y="1988840"/>
            <a:ext cx="4248472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98718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10-3%8+6/4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10- 3%8 + 6/4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10-3+6/4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10-3+1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7+1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8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Block Arc 12"/>
          <p:cNvSpPr/>
          <p:nvPr/>
        </p:nvSpPr>
        <p:spPr>
          <a:xfrm>
            <a:off x="1691680" y="2420888"/>
            <a:ext cx="648072" cy="144016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/>
        </p:nvSpPr>
        <p:spPr>
          <a:xfrm>
            <a:off x="2195736" y="3356992"/>
            <a:ext cx="432048" cy="45719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Block Arc 14"/>
          <p:cNvSpPr/>
          <p:nvPr/>
        </p:nvSpPr>
        <p:spPr>
          <a:xfrm>
            <a:off x="1475656" y="4365104"/>
            <a:ext cx="540060" cy="72008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6109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6*2/ (2+1 * 2/3 + 6) + 8 * (8/4)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15045"/>
              </p:ext>
            </p:extLst>
          </p:nvPr>
        </p:nvGraphicFramePr>
        <p:xfrm>
          <a:off x="1115616" y="1556792"/>
          <a:ext cx="7571184" cy="502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85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112">
                <a:tc>
                  <a:txBody>
                    <a:bodyPr/>
                    <a:lstStyle/>
                    <a:p>
                      <a:r>
                        <a:rPr lang="en-IN" dirty="0"/>
                        <a:t>Evaluation of expression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 of each 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12">
                <a:tc>
                  <a:txBody>
                    <a:bodyPr/>
                    <a:lstStyle/>
                    <a:p>
                      <a:r>
                        <a:rPr lang="en-IN" dirty="0"/>
                        <a:t>6*2/( 2+1 * 2/3 +6) +8 * (8/4)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An expression is given.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197">
                <a:tc>
                  <a:txBody>
                    <a:bodyPr/>
                    <a:lstStyle/>
                    <a:p>
                      <a:r>
                        <a:rPr lang="en-IN" dirty="0"/>
                        <a:t>6*2/(2+2/3 + 6) + 8 * (8/4)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 is multiplied by 1, giving value 2.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12">
                <a:tc>
                  <a:txBody>
                    <a:bodyPr/>
                    <a:lstStyle/>
                    <a:p>
                      <a:r>
                        <a:rPr lang="en-IN"/>
                        <a:t>6*2/(2+0+6) + 8 * (8/4)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 is divided by 3, giving value 0.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112">
                <a:tc>
                  <a:txBody>
                    <a:bodyPr/>
                    <a:lstStyle/>
                    <a:p>
                      <a:r>
                        <a:rPr lang="en-IN"/>
                        <a:t>6*2/ 8+ 8 * (8/4)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 is added to 6, giving value 8.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112">
                <a:tc>
                  <a:txBody>
                    <a:bodyPr/>
                    <a:lstStyle/>
                    <a:p>
                      <a:r>
                        <a:rPr lang="en-IN"/>
                        <a:t>6*2/8 + 8 *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 is divided by 4, giving value 2.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197">
                <a:tc>
                  <a:txBody>
                    <a:bodyPr/>
                    <a:lstStyle/>
                    <a:p>
                      <a:r>
                        <a:rPr lang="en-IN"/>
                        <a:t>12/8 +8 *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 is multiplied by 2, giving value 12.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197">
                <a:tc>
                  <a:txBody>
                    <a:bodyPr/>
                    <a:lstStyle/>
                    <a:p>
                      <a:r>
                        <a:rPr lang="en-IN"/>
                        <a:t>1 + 8 *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12 is divided by 8, giving value 1.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197">
                <a:tc>
                  <a:txBody>
                    <a:bodyPr/>
                    <a:lstStyle/>
                    <a:p>
                      <a:r>
                        <a:rPr lang="en-IN"/>
                        <a:t>1 + 16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 is multiplied by 2, giving value 16.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197">
                <a:tc>
                  <a:txBody>
                    <a:bodyPr/>
                    <a:lstStyle/>
                    <a:p>
                      <a:r>
                        <a:rPr lang="en-IN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is added to 16, giving value 17.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1154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008112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Types of Expression Evaluation in C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551" y="1412776"/>
            <a:ext cx="6596777" cy="504056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Based on the operators and operators used in the expression, they are divided into several types. Types of Expression Evaluation in C are:</a:t>
            </a:r>
          </a:p>
          <a:p>
            <a:r>
              <a:rPr lang="en-IN" b="1" dirty="0"/>
              <a:t>Integer expressions</a:t>
            </a:r>
            <a:r>
              <a:rPr lang="en-IN" dirty="0"/>
              <a:t> – expressions which contains integers and operators</a:t>
            </a:r>
          </a:p>
          <a:p>
            <a:r>
              <a:rPr lang="en-IN" b="1" dirty="0"/>
              <a:t>Real expressions</a:t>
            </a:r>
            <a:r>
              <a:rPr lang="en-IN" dirty="0"/>
              <a:t> – expressions which contains floating point values and operators</a:t>
            </a:r>
          </a:p>
          <a:p>
            <a:r>
              <a:rPr lang="en-IN" b="1" dirty="0"/>
              <a:t>Arithmetic expressions</a:t>
            </a:r>
            <a:r>
              <a:rPr lang="en-IN" dirty="0"/>
              <a:t> – expressions which contain operands and arithmetic operators</a:t>
            </a:r>
          </a:p>
          <a:p>
            <a:r>
              <a:rPr lang="en-IN" b="1" dirty="0"/>
              <a:t>Mixed mode arithmetic expressions</a:t>
            </a:r>
            <a:r>
              <a:rPr lang="en-IN" dirty="0"/>
              <a:t> – expressions which contain both integer and real operands</a:t>
            </a:r>
          </a:p>
          <a:p>
            <a:r>
              <a:rPr lang="en-IN" b="1" dirty="0"/>
              <a:t>Relational expressions</a:t>
            </a:r>
            <a:r>
              <a:rPr lang="en-IN" dirty="0"/>
              <a:t> – expressions which contain relational operators and operands</a:t>
            </a:r>
          </a:p>
          <a:p>
            <a:r>
              <a:rPr lang="en-IN" b="1" dirty="0"/>
              <a:t>Logical expressions</a:t>
            </a:r>
            <a:r>
              <a:rPr lang="en-IN" dirty="0"/>
              <a:t> – expressions which contain logical operators and operands</a:t>
            </a:r>
          </a:p>
          <a:p>
            <a:r>
              <a:rPr lang="en-IN" b="1" dirty="0"/>
              <a:t>Assignment expressions and so on…</a:t>
            </a:r>
            <a:r>
              <a:rPr lang="en-IN" dirty="0"/>
              <a:t> – expressions which contain assignment operators and operands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8576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</a:t>
            </a:r>
            <a:r>
              <a:rPr lang="en-US"/>
              <a:t>UNIT 2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84014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5159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17251</TotalTime>
  <Words>6336</Words>
  <Application>Microsoft Office PowerPoint</Application>
  <PresentationFormat>On-screen Show (4:3)</PresentationFormat>
  <Paragraphs>871</Paragraphs>
  <Slides>92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0" baseType="lpstr">
      <vt:lpstr>Arial</vt:lpstr>
      <vt:lpstr>Calibri</vt:lpstr>
      <vt:lpstr>Century Gothic</vt:lpstr>
      <vt:lpstr>times new roman</vt:lpstr>
      <vt:lpstr>times new roman</vt:lpstr>
      <vt:lpstr>verdana</vt:lpstr>
      <vt:lpstr>Wingdings 3</vt:lpstr>
      <vt:lpstr>Wisp</vt:lpstr>
      <vt:lpstr>UNIT 2</vt:lpstr>
      <vt:lpstr>Similarities Between C and English</vt:lpstr>
      <vt:lpstr>Structure of a C program</vt:lpstr>
      <vt:lpstr>Header Files Inclusion</vt:lpstr>
      <vt:lpstr>Structure of a C program</vt:lpstr>
      <vt:lpstr>main()</vt:lpstr>
      <vt:lpstr>Structure of a C program</vt:lpstr>
      <vt:lpstr>Memory Units </vt:lpstr>
      <vt:lpstr>PowerPoint Presentation</vt:lpstr>
      <vt:lpstr>Structure of a C program</vt:lpstr>
      <vt:lpstr>        Data Types in C </vt:lpstr>
      <vt:lpstr>Data Types in C </vt:lpstr>
      <vt:lpstr>       INTEGER</vt:lpstr>
      <vt:lpstr>PowerPoint Presentation</vt:lpstr>
      <vt:lpstr>Character data type: </vt:lpstr>
      <vt:lpstr>PowerPoint Presentation</vt:lpstr>
      <vt:lpstr>float and double </vt:lpstr>
      <vt:lpstr>PowerPoint Presentation</vt:lpstr>
      <vt:lpstr>Structure of a C program</vt:lpstr>
      <vt:lpstr>Variables in C </vt:lpstr>
      <vt:lpstr>PowerPoint Presentation</vt:lpstr>
      <vt:lpstr>PowerPoint Presentation</vt:lpstr>
      <vt:lpstr>C printf() and scanf() functions</vt:lpstr>
      <vt:lpstr>PRINTF() FUNCTION IN C LANGUAGE </vt:lpstr>
      <vt:lpstr>SYNTAX   </vt:lpstr>
      <vt:lpstr>PowerPoint Presentation</vt:lpstr>
      <vt:lpstr>PowerPoint Presentation</vt:lpstr>
      <vt:lpstr>PowerPoint Presentation</vt:lpstr>
      <vt:lpstr>2. SCANF FUNCTION IN C LANGUAGE: </vt:lpstr>
      <vt:lpstr>PowerPoint Presentation</vt:lpstr>
      <vt:lpstr>C Format Specifier </vt:lpstr>
      <vt:lpstr>PowerPoint Presentation</vt:lpstr>
      <vt:lpstr>Structure of a C program</vt:lpstr>
      <vt:lpstr>Escape Sequence in C </vt:lpstr>
      <vt:lpstr>Comments in C </vt:lpstr>
      <vt:lpstr>Variables in C </vt:lpstr>
      <vt:lpstr>Rules for defining variables </vt:lpstr>
      <vt:lpstr>Tokens in C </vt:lpstr>
      <vt:lpstr>PowerPoint Presentation</vt:lpstr>
      <vt:lpstr>Keywords in C </vt:lpstr>
      <vt:lpstr>PowerPoint Presentation</vt:lpstr>
      <vt:lpstr>C Identifiers </vt:lpstr>
      <vt:lpstr>Rules for constructing C identifiers </vt:lpstr>
      <vt:lpstr>         Constants in C</vt:lpstr>
      <vt:lpstr>PowerPoint Presentation</vt:lpstr>
      <vt:lpstr>Special characters in C</vt:lpstr>
      <vt:lpstr>Special characters in C</vt:lpstr>
      <vt:lpstr>Strings in C</vt:lpstr>
      <vt:lpstr>Operators in C</vt:lpstr>
      <vt:lpstr>PowerPoint Presentation</vt:lpstr>
      <vt:lpstr>PowerPoint Presentation</vt:lpstr>
      <vt:lpstr>Arithmetic Operators in C: </vt:lpstr>
      <vt:lpstr>PowerPoint Presentation</vt:lpstr>
      <vt:lpstr>Assignment operators in C: </vt:lpstr>
      <vt:lpstr>PowerPoint Presentation</vt:lpstr>
      <vt:lpstr>PowerPoint Presentation</vt:lpstr>
      <vt:lpstr>Algorithm : swapping of 2 no using a third variable</vt:lpstr>
      <vt:lpstr>PowerPoint Presentation</vt:lpstr>
      <vt:lpstr>swapping of 2 no using a third variable</vt:lpstr>
      <vt:lpstr>Write a one program to do swapping of 2 no without using a third variable</vt:lpstr>
      <vt:lpstr>Conditional Operators in C: </vt:lpstr>
      <vt:lpstr>PowerPoint Presentation</vt:lpstr>
      <vt:lpstr>BIT-WISE  OPERATOR</vt:lpstr>
      <vt:lpstr>PowerPoint Presentation</vt:lpstr>
      <vt:lpstr>PowerPoint Presentation</vt:lpstr>
      <vt:lpstr>Binary to Decimal</vt:lpstr>
      <vt:lpstr>PowerPoint Presentation</vt:lpstr>
      <vt:lpstr>PowerPoint Presentation</vt:lpstr>
      <vt:lpstr>PowerPoint Presentation</vt:lpstr>
      <vt:lpstr>Logical not operator </vt:lpstr>
      <vt:lpstr>Relational operators in C: </vt:lpstr>
      <vt:lpstr>Write a program for check whether given is Positive or Negative </vt:lpstr>
      <vt:lpstr>Logical operators in C: </vt:lpstr>
      <vt:lpstr>PowerPoint Presentation</vt:lpstr>
      <vt:lpstr>UNARY OPERATOR</vt:lpstr>
      <vt:lpstr>Increment and Decrement Operator in C </vt:lpstr>
      <vt:lpstr>Type of Increment /Decrement Operator </vt:lpstr>
      <vt:lpstr>PRG</vt:lpstr>
      <vt:lpstr>PowerPoint Presentation</vt:lpstr>
      <vt:lpstr>PowerPoint Presentation</vt:lpstr>
      <vt:lpstr>Size of operator </vt:lpstr>
      <vt:lpstr>PowerPoint Presentation</vt:lpstr>
      <vt:lpstr>Expression Evaluation in C </vt:lpstr>
      <vt:lpstr>PowerPoint Presentation</vt:lpstr>
      <vt:lpstr>PowerPoint Presentation</vt:lpstr>
      <vt:lpstr>PowerPoint Presentation</vt:lpstr>
      <vt:lpstr>PowerPoint Presentation</vt:lpstr>
      <vt:lpstr>10-3%8+6/4</vt:lpstr>
      <vt:lpstr>6*2/ (2+1 * 2/3 + 6) + 8 * (8/4)</vt:lpstr>
      <vt:lpstr>Types of Expression Evaluation in C </vt:lpstr>
      <vt:lpstr>END OF UNIT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Language</dc:title>
  <dc:creator>Darshan</dc:creator>
  <cp:lastModifiedBy>priyanka.sonwane2021@outlook.com</cp:lastModifiedBy>
  <cp:revision>257</cp:revision>
  <dcterms:created xsi:type="dcterms:W3CDTF">2020-11-05T07:38:56Z</dcterms:created>
  <dcterms:modified xsi:type="dcterms:W3CDTF">2022-01-29T05:13:19Z</dcterms:modified>
</cp:coreProperties>
</file>